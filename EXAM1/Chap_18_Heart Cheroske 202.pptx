
<file path=[Content_Types].xml><?xml version="1.0" encoding="utf-8"?>
<Types xmlns="http://schemas.openxmlformats.org/package/2006/content-types">
  <Default ContentType="image/x-emf" Extension="emf"/>
  <Default ContentType="image/jpeg" Extension="jpeg"/>
  <Default ContentType="image/jpe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88"/>
  </p:notesMasterIdLst>
  <p:sldIdLst>
    <p:sldId id="352" r:id="rId2"/>
    <p:sldId id="342" r:id="rId3"/>
    <p:sldId id="353" r:id="rId4"/>
    <p:sldId id="354" r:id="rId5"/>
    <p:sldId id="355" r:id="rId6"/>
    <p:sldId id="261" r:id="rId7"/>
    <p:sldId id="264" r:id="rId8"/>
    <p:sldId id="356" r:id="rId9"/>
    <p:sldId id="265" r:id="rId10"/>
    <p:sldId id="288" r:id="rId11"/>
    <p:sldId id="268" r:id="rId12"/>
    <p:sldId id="271" r:id="rId13"/>
    <p:sldId id="272" r:id="rId14"/>
    <p:sldId id="273" r:id="rId15"/>
    <p:sldId id="274" r:id="rId16"/>
    <p:sldId id="289" r:id="rId17"/>
    <p:sldId id="276" r:id="rId18"/>
    <p:sldId id="275" r:id="rId19"/>
    <p:sldId id="277" r:id="rId20"/>
    <p:sldId id="278" r:id="rId21"/>
    <p:sldId id="279" r:id="rId22"/>
    <p:sldId id="280" r:id="rId23"/>
    <p:sldId id="281" r:id="rId24"/>
    <p:sldId id="282" r:id="rId25"/>
    <p:sldId id="283" r:id="rId26"/>
    <p:sldId id="284" r:id="rId27"/>
    <p:sldId id="285" r:id="rId28"/>
    <p:sldId id="357" r:id="rId29"/>
    <p:sldId id="358" r:id="rId30"/>
    <p:sldId id="359" r:id="rId31"/>
    <p:sldId id="286" r:id="rId32"/>
    <p:sldId id="287" r:id="rId33"/>
    <p:sldId id="360" r:id="rId34"/>
    <p:sldId id="291" r:id="rId35"/>
    <p:sldId id="292" r:id="rId36"/>
    <p:sldId id="293" r:id="rId37"/>
    <p:sldId id="361" r:id="rId38"/>
    <p:sldId id="362" r:id="rId39"/>
    <p:sldId id="363" r:id="rId40"/>
    <p:sldId id="343" r:id="rId41"/>
    <p:sldId id="296" r:id="rId42"/>
    <p:sldId id="297" r:id="rId43"/>
    <p:sldId id="364" r:id="rId44"/>
    <p:sldId id="365" r:id="rId45"/>
    <p:sldId id="298" r:id="rId46"/>
    <p:sldId id="374" r:id="rId47"/>
    <p:sldId id="344" r:id="rId48"/>
    <p:sldId id="366" r:id="rId49"/>
    <p:sldId id="367" r:id="rId50"/>
    <p:sldId id="368" r:id="rId51"/>
    <p:sldId id="306" r:id="rId52"/>
    <p:sldId id="307" r:id="rId53"/>
    <p:sldId id="309" r:id="rId54"/>
    <p:sldId id="300" r:id="rId55"/>
    <p:sldId id="301" r:id="rId56"/>
    <p:sldId id="302" r:id="rId57"/>
    <p:sldId id="303" r:id="rId58"/>
    <p:sldId id="304" r:id="rId59"/>
    <p:sldId id="375" r:id="rId60"/>
    <p:sldId id="369" r:id="rId61"/>
    <p:sldId id="391" r:id="rId62"/>
    <p:sldId id="305" r:id="rId63"/>
    <p:sldId id="334" r:id="rId64"/>
    <p:sldId id="308" r:id="rId65"/>
    <p:sldId id="310" r:id="rId66"/>
    <p:sldId id="311" r:id="rId67"/>
    <p:sldId id="370" r:id="rId68"/>
    <p:sldId id="371" r:id="rId69"/>
    <p:sldId id="372" r:id="rId70"/>
    <p:sldId id="316" r:id="rId71"/>
    <p:sldId id="317" r:id="rId72"/>
    <p:sldId id="319" r:id="rId73"/>
    <p:sldId id="320" r:id="rId74"/>
    <p:sldId id="321" r:id="rId75"/>
    <p:sldId id="322" r:id="rId76"/>
    <p:sldId id="323" r:id="rId77"/>
    <p:sldId id="373" r:id="rId78"/>
    <p:sldId id="335" r:id="rId79"/>
    <p:sldId id="339" r:id="rId80"/>
    <p:sldId id="345" r:id="rId81"/>
    <p:sldId id="346" r:id="rId82"/>
    <p:sldId id="347" r:id="rId83"/>
    <p:sldId id="348" r:id="rId84"/>
    <p:sldId id="349" r:id="rId85"/>
    <p:sldId id="350" r:id="rId86"/>
    <p:sldId id="351" r:id="rId8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CC"/>
    <a:srgbClr val="FFCC00"/>
    <a:srgbClr val="99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27" autoAdjust="0"/>
  </p:normalViewPr>
  <p:slideViewPr>
    <p:cSldViewPr snapToGrid="0">
      <p:cViewPr varScale="1">
        <p:scale>
          <a:sx n="52" d="100"/>
          <a:sy n="52" d="100"/>
        </p:scale>
        <p:origin x="78" y="12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slides/slide45.xml" Type="http://schemas.openxmlformats.org/officeDocument/2006/relationships/slide"/><Relationship Id="rId47" Target="slides/slide46.xml" Type="http://schemas.openxmlformats.org/officeDocument/2006/relationships/slide"/><Relationship Id="rId48" Target="slides/slide47.xml" Type="http://schemas.openxmlformats.org/officeDocument/2006/relationships/slide"/><Relationship Id="rId49" Target="slides/slide48.xml" Type="http://schemas.openxmlformats.org/officeDocument/2006/relationships/slide"/><Relationship Id="rId5" Target="slides/slide4.xml" Type="http://schemas.openxmlformats.org/officeDocument/2006/relationships/slide"/><Relationship Id="rId50" Target="slides/slide49.xml" Type="http://schemas.openxmlformats.org/officeDocument/2006/relationships/slide"/><Relationship Id="rId51" Target="slides/slide50.xml" Type="http://schemas.openxmlformats.org/officeDocument/2006/relationships/slide"/><Relationship Id="rId52" Target="slides/slide51.xml" Type="http://schemas.openxmlformats.org/officeDocument/2006/relationships/slide"/><Relationship Id="rId53" Target="slides/slide52.xml" Type="http://schemas.openxmlformats.org/officeDocument/2006/relationships/slide"/><Relationship Id="rId54" Target="slides/slide53.xml" Type="http://schemas.openxmlformats.org/officeDocument/2006/relationships/slide"/><Relationship Id="rId55" Target="slides/slide54.xml" Type="http://schemas.openxmlformats.org/officeDocument/2006/relationships/slide"/><Relationship Id="rId56" Target="slides/slide55.xml" Type="http://schemas.openxmlformats.org/officeDocument/2006/relationships/slide"/><Relationship Id="rId57" Target="slides/slide56.xml" Type="http://schemas.openxmlformats.org/officeDocument/2006/relationships/slide"/><Relationship Id="rId58" Target="slides/slide57.xml" Type="http://schemas.openxmlformats.org/officeDocument/2006/relationships/slide"/><Relationship Id="rId59" Target="slides/slide58.xml" Type="http://schemas.openxmlformats.org/officeDocument/2006/relationships/slide"/><Relationship Id="rId6" Target="slides/slide5.xml" Type="http://schemas.openxmlformats.org/officeDocument/2006/relationships/slide"/><Relationship Id="rId60" Target="slides/slide59.xml" Type="http://schemas.openxmlformats.org/officeDocument/2006/relationships/slide"/><Relationship Id="rId61" Target="slides/slide60.xml" Type="http://schemas.openxmlformats.org/officeDocument/2006/relationships/slide"/><Relationship Id="rId62" Target="slides/slide61.xml" Type="http://schemas.openxmlformats.org/officeDocument/2006/relationships/slide"/><Relationship Id="rId63" Target="slides/slide62.xml" Type="http://schemas.openxmlformats.org/officeDocument/2006/relationships/slide"/><Relationship Id="rId64" Target="slides/slide63.xml" Type="http://schemas.openxmlformats.org/officeDocument/2006/relationships/slide"/><Relationship Id="rId65" Target="slides/slide64.xml" Type="http://schemas.openxmlformats.org/officeDocument/2006/relationships/slide"/><Relationship Id="rId66" Target="slides/slide65.xml" Type="http://schemas.openxmlformats.org/officeDocument/2006/relationships/slide"/><Relationship Id="rId67" Target="slides/slide66.xml" Type="http://schemas.openxmlformats.org/officeDocument/2006/relationships/slide"/><Relationship Id="rId68" Target="slides/slide67.xml" Type="http://schemas.openxmlformats.org/officeDocument/2006/relationships/slide"/><Relationship Id="rId69" Target="slides/slide68.xml" Type="http://schemas.openxmlformats.org/officeDocument/2006/relationships/slide"/><Relationship Id="rId7" Target="slides/slide6.xml" Type="http://schemas.openxmlformats.org/officeDocument/2006/relationships/slide"/><Relationship Id="rId70" Target="slides/slide69.xml" Type="http://schemas.openxmlformats.org/officeDocument/2006/relationships/slide"/><Relationship Id="rId71" Target="slides/slide70.xml" Type="http://schemas.openxmlformats.org/officeDocument/2006/relationships/slide"/><Relationship Id="rId72" Target="slides/slide71.xml" Type="http://schemas.openxmlformats.org/officeDocument/2006/relationships/slide"/><Relationship Id="rId73" Target="slides/slide72.xml" Type="http://schemas.openxmlformats.org/officeDocument/2006/relationships/slide"/><Relationship Id="rId74" Target="slides/slide73.xml" Type="http://schemas.openxmlformats.org/officeDocument/2006/relationships/slide"/><Relationship Id="rId75" Target="slides/slide74.xml" Type="http://schemas.openxmlformats.org/officeDocument/2006/relationships/slide"/><Relationship Id="rId76" Target="slides/slide75.xml" Type="http://schemas.openxmlformats.org/officeDocument/2006/relationships/slide"/><Relationship Id="rId77" Target="slides/slide76.xml" Type="http://schemas.openxmlformats.org/officeDocument/2006/relationships/slide"/><Relationship Id="rId78" Target="slides/slide77.xml" Type="http://schemas.openxmlformats.org/officeDocument/2006/relationships/slide"/><Relationship Id="rId79" Target="slides/slide78.xml" Type="http://schemas.openxmlformats.org/officeDocument/2006/relationships/slide"/><Relationship Id="rId8" Target="slides/slide7.xml" Type="http://schemas.openxmlformats.org/officeDocument/2006/relationships/slide"/><Relationship Id="rId80" Target="slides/slide79.xml" Type="http://schemas.openxmlformats.org/officeDocument/2006/relationships/slide"/><Relationship Id="rId81" Target="slides/slide80.xml" Type="http://schemas.openxmlformats.org/officeDocument/2006/relationships/slide"/><Relationship Id="rId82" Target="slides/slide81.xml" Type="http://schemas.openxmlformats.org/officeDocument/2006/relationships/slide"/><Relationship Id="rId83" Target="slides/slide82.xml" Type="http://schemas.openxmlformats.org/officeDocument/2006/relationships/slide"/><Relationship Id="rId84" Target="slides/slide83.xml" Type="http://schemas.openxmlformats.org/officeDocument/2006/relationships/slide"/><Relationship Id="rId85" Target="slides/slide84.xml" Type="http://schemas.openxmlformats.org/officeDocument/2006/relationships/slide"/><Relationship Id="rId86" Target="slides/slide85.xml" Type="http://schemas.openxmlformats.org/officeDocument/2006/relationships/slide"/><Relationship Id="rId87" Target="slides/slide86.xml" Type="http://schemas.openxmlformats.org/officeDocument/2006/relationships/slide"/><Relationship Id="rId88" Target="notesMasters/notesMaster1.xml" Type="http://schemas.openxmlformats.org/officeDocument/2006/relationships/notesMaster"/><Relationship Id="rId89" Target="presProps.xml" Type="http://schemas.openxmlformats.org/officeDocument/2006/relationships/presProps"/><Relationship Id="rId9" Target="slides/slide8.xml" Type="http://schemas.openxmlformats.org/officeDocument/2006/relationships/slide"/><Relationship Id="rId90" Target="viewProps.xml" Type="http://schemas.openxmlformats.org/officeDocument/2006/relationships/viewProps"/><Relationship Id="rId91" Target="theme/theme1.xml" Type="http://schemas.openxmlformats.org/officeDocument/2006/relationships/theme"/><Relationship Id="rId92" Target="tableStyles.xml" Type="http://schemas.openxmlformats.org/officeDocument/2006/relationships/tableStyles"/></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B3655-2AD9-40AA-9DFD-DDC93041BD5E}" type="datetimeFigureOut">
              <a:rPr lang="en-US" smtClean="0"/>
              <a:t>10/10/2025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6B7F57-FC6F-4DA6-B7FD-3827DD22DC42}" type="slidenum">
              <a:rPr lang="en-US" smtClean="0"/>
              <a:t>‹#›</a:t>
            </a:fld>
            <a:endParaRPr lang="en-US"/>
          </a:p>
        </p:txBody>
      </p:sp>
    </p:spTree>
    <p:extLst>
      <p:ext uri="{BB962C8B-B14F-4D97-AF65-F5344CB8AC3E}">
        <p14:creationId xmlns:p14="http://schemas.microsoft.com/office/powerpoint/2010/main" val="701015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7.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8.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9.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1126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1126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A4FA6636-A73D-D44A-8742-9F9FE95DC2D8}" type="slidenum">
              <a:rPr lang="en-US" sz="1200"/>
              <a:pPr/>
              <a:t>4</a:t>
            </a:fld>
            <a:endParaRPr lang="en-US" sz="1200"/>
          </a:p>
        </p:txBody>
      </p:sp>
    </p:spTree>
    <p:extLst>
      <p:ext uri="{BB962C8B-B14F-4D97-AF65-F5344CB8AC3E}">
        <p14:creationId xmlns:p14="http://schemas.microsoft.com/office/powerpoint/2010/main" val="2613170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1146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1146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45736AB0-BC8D-0744-82C0-5DDECDF9B4F9}" type="slidenum">
              <a:rPr lang="en-US" sz="1200">
                <a:solidFill>
                  <a:srgbClr val="000000"/>
                </a:solidFill>
                <a:latin typeface="Calibri" charset="0"/>
              </a:rPr>
              <a:pPr/>
              <a:t>5</a:t>
            </a:fld>
            <a:endParaRPr lang="en-US" sz="1200">
              <a:solidFill>
                <a:srgbClr val="000000"/>
              </a:solidFill>
              <a:latin typeface="Calibri" charset="0"/>
            </a:endParaRPr>
          </a:p>
        </p:txBody>
      </p:sp>
    </p:spTree>
    <p:extLst>
      <p:ext uri="{BB962C8B-B14F-4D97-AF65-F5344CB8AC3E}">
        <p14:creationId xmlns:p14="http://schemas.microsoft.com/office/powerpoint/2010/main" val="1718065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1863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1863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387FACBC-F2D9-604A-B653-8FAE39691494}" type="slidenum">
              <a:rPr lang="en-US" sz="1200"/>
              <a:pPr/>
              <a:t>29</a:t>
            </a:fld>
            <a:endParaRPr lang="en-US" sz="1200"/>
          </a:p>
        </p:txBody>
      </p:sp>
    </p:spTree>
    <p:extLst>
      <p:ext uri="{BB962C8B-B14F-4D97-AF65-F5344CB8AC3E}">
        <p14:creationId xmlns:p14="http://schemas.microsoft.com/office/powerpoint/2010/main" val="2855789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CF5E3587-F356-6C45-8DCA-1D697099B432}" type="slidenum">
              <a:rPr lang="en-US" sz="1200"/>
              <a:pPr/>
              <a:t>38</a:t>
            </a:fld>
            <a:endParaRPr lang="en-US" sz="1200"/>
          </a:p>
        </p:txBody>
      </p:sp>
    </p:spTree>
    <p:extLst>
      <p:ext uri="{BB962C8B-B14F-4D97-AF65-F5344CB8AC3E}">
        <p14:creationId xmlns:p14="http://schemas.microsoft.com/office/powerpoint/2010/main" val="1755793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CF5E3587-F356-6C45-8DCA-1D697099B432}" type="slidenum">
              <a:rPr lang="en-US" sz="1200"/>
              <a:pPr/>
              <a:t>39</a:t>
            </a:fld>
            <a:endParaRPr lang="en-US" sz="1200"/>
          </a:p>
        </p:txBody>
      </p:sp>
    </p:spTree>
    <p:extLst>
      <p:ext uri="{BB962C8B-B14F-4D97-AF65-F5344CB8AC3E}">
        <p14:creationId xmlns:p14="http://schemas.microsoft.com/office/powerpoint/2010/main" val="3385160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B13482-9845-4980-9FEF-3E7C3D6B17AC}" type="slidenum">
              <a:rPr lang="en-US" smtClean="0">
                <a:solidFill>
                  <a:prstClr val="black"/>
                </a:solidFill>
                <a:latin typeface="Calibri"/>
              </a:rPr>
              <a:pPr/>
              <a:t>43</a:t>
            </a:fld>
            <a:endParaRPr lang="en-US">
              <a:solidFill>
                <a:prstClr val="black"/>
              </a:solidFill>
              <a:latin typeface="Calibri"/>
            </a:endParaRPr>
          </a:p>
        </p:txBody>
      </p:sp>
    </p:spTree>
    <p:extLst>
      <p:ext uri="{BB962C8B-B14F-4D97-AF65-F5344CB8AC3E}">
        <p14:creationId xmlns:p14="http://schemas.microsoft.com/office/powerpoint/2010/main" val="1122848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9C14ED5-625E-4E2D-BCF7-913D3ADF9560}" type="slidenum">
              <a:rPr lang="en-US" altLang="en-US" smtClean="0"/>
              <a:pPr/>
              <a:t>61</a:t>
            </a:fld>
            <a:endParaRPr lang="en-US" altLang="en-US" dirty="0"/>
          </a:p>
        </p:txBody>
      </p:sp>
    </p:spTree>
    <p:extLst>
      <p:ext uri="{BB962C8B-B14F-4D97-AF65-F5344CB8AC3E}">
        <p14:creationId xmlns:p14="http://schemas.microsoft.com/office/powerpoint/2010/main" val="2024772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72B987AB-F83B-B241-B540-781B9F291FAB}" type="slidenum">
              <a:rPr lang="en-US" sz="1200"/>
              <a:pPr/>
              <a:t>67</a:t>
            </a:fld>
            <a:endParaRPr lang="en-US" sz="1200"/>
          </a:p>
        </p:txBody>
      </p:sp>
    </p:spTree>
    <p:extLst>
      <p:ext uri="{BB962C8B-B14F-4D97-AF65-F5344CB8AC3E}">
        <p14:creationId xmlns:p14="http://schemas.microsoft.com/office/powerpoint/2010/main" val="404651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96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962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690D47B0-1BB4-1D4C-97BD-7EB15329FDF9}" type="slidenum">
              <a:rPr lang="en-US" sz="1200"/>
              <a:pPr/>
              <a:t>68</a:t>
            </a:fld>
            <a:endParaRPr lang="en-US" sz="1200"/>
          </a:p>
        </p:txBody>
      </p:sp>
    </p:spTree>
    <p:extLst>
      <p:ext uri="{BB962C8B-B14F-4D97-AF65-F5344CB8AC3E}">
        <p14:creationId xmlns:p14="http://schemas.microsoft.com/office/powerpoint/2010/main" val="3554297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
        <p:nvSpPr>
          <p:cNvPr id="97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fld id="{C75C1028-5B63-F842-A74F-BEE3570278AD}" type="slidenum">
              <a:rPr lang="en-US" sz="1200"/>
              <a:pPr/>
              <a:t>69</a:t>
            </a:fld>
            <a:endParaRPr lang="en-US" sz="1200"/>
          </a:p>
        </p:txBody>
      </p:sp>
    </p:spTree>
    <p:extLst>
      <p:ext uri="{BB962C8B-B14F-4D97-AF65-F5344CB8AC3E}">
        <p14:creationId xmlns:p14="http://schemas.microsoft.com/office/powerpoint/2010/main" val="39806252"/>
      </p:ext>
    </p:extLst>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emf" Type="http://schemas.openxmlformats.org/officeDocument/2006/relationships/image"/><Relationship Id="rId3" Target="../media/image3.jpe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305154" name="Picture 2" descr="35910Marieb7e_lo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26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305155" name="AutoShape 3"/>
          <p:cNvSpPr>
            <a:spLocks noChangeArrowheads="1"/>
          </p:cNvSpPr>
          <p:nvPr/>
        </p:nvSpPr>
        <p:spPr bwMode="auto">
          <a:xfrm>
            <a:off x="5334000" y="0"/>
            <a:ext cx="3043238" cy="6858000"/>
          </a:xfrm>
          <a:prstGeom prst="flowChartDelay">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56" name="Text Box 4"/>
          <p:cNvSpPr txBox="1">
            <a:spLocks noChangeArrowheads="1"/>
          </p:cNvSpPr>
          <p:nvPr/>
        </p:nvSpPr>
        <p:spPr bwMode="auto">
          <a:xfrm>
            <a:off x="514350" y="6483350"/>
            <a:ext cx="45513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a:solidFill>
                  <a:srgbClr val="D9E30D"/>
                </a:solidFill>
                <a:latin typeface="Arial" panose="020B0604020202020204" pitchFamily="34" charset="0"/>
              </a:rPr>
              <a:t>Copyright © 2006 Pearson Education, Inc., publishing as Benjamin Cummings</a:t>
            </a:r>
          </a:p>
        </p:txBody>
      </p:sp>
      <p:sp>
        <p:nvSpPr>
          <p:cNvPr id="305157" name="Text Box 5"/>
          <p:cNvSpPr txBox="1">
            <a:spLocks noChangeArrowheads="1"/>
          </p:cNvSpPr>
          <p:nvPr/>
        </p:nvSpPr>
        <p:spPr bwMode="auto">
          <a:xfrm>
            <a:off x="2511425" y="4135438"/>
            <a:ext cx="2532063" cy="172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en-US" altLang="en-US" sz="3200">
                <a:solidFill>
                  <a:schemeClr val="accent2"/>
                </a:solidFill>
                <a:latin typeface="Arial" panose="020B0604020202020204" pitchFamily="34" charset="0"/>
              </a:rPr>
              <a:t>Human </a:t>
            </a:r>
          </a:p>
          <a:p>
            <a:pPr>
              <a:lnSpc>
                <a:spcPct val="90000"/>
              </a:lnSpc>
            </a:pPr>
            <a:r>
              <a:rPr lang="en-US" altLang="en-US" sz="3200">
                <a:solidFill>
                  <a:schemeClr val="accent2"/>
                </a:solidFill>
                <a:latin typeface="Arial" panose="020B0604020202020204" pitchFamily="34" charset="0"/>
              </a:rPr>
              <a:t>Anatomy </a:t>
            </a:r>
          </a:p>
          <a:p>
            <a:pPr>
              <a:lnSpc>
                <a:spcPct val="90000"/>
              </a:lnSpc>
            </a:pPr>
            <a:r>
              <a:rPr lang="en-US" altLang="en-US" sz="3200">
                <a:solidFill>
                  <a:schemeClr val="accent2"/>
                </a:solidFill>
                <a:latin typeface="Arial" panose="020B0604020202020204" pitchFamily="34" charset="0"/>
              </a:rPr>
              <a:t>&amp; Physiology</a:t>
            </a:r>
          </a:p>
          <a:p>
            <a:pPr>
              <a:spcBef>
                <a:spcPct val="50000"/>
              </a:spcBef>
            </a:pPr>
            <a:r>
              <a:rPr lang="en-US" altLang="en-US" sz="1400" b="1">
                <a:solidFill>
                  <a:srgbClr val="D9E30D"/>
                </a:solidFill>
                <a:latin typeface="Arial" panose="020B0604020202020204" pitchFamily="34" charset="0"/>
              </a:rPr>
              <a:t>SEVENTH EDITION</a:t>
            </a:r>
          </a:p>
        </p:txBody>
      </p:sp>
      <p:sp>
        <p:nvSpPr>
          <p:cNvPr id="305158" name="Text Box 6"/>
          <p:cNvSpPr txBox="1">
            <a:spLocks noChangeArrowheads="1"/>
          </p:cNvSpPr>
          <p:nvPr/>
        </p:nvSpPr>
        <p:spPr bwMode="auto">
          <a:xfrm>
            <a:off x="42863" y="352425"/>
            <a:ext cx="22510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200">
                <a:solidFill>
                  <a:schemeClr val="bg1"/>
                </a:solidFill>
                <a:latin typeface="Arial" panose="020B0604020202020204" pitchFamily="34" charset="0"/>
              </a:rPr>
              <a:t>Elaine N. Marieb</a:t>
            </a:r>
          </a:p>
          <a:p>
            <a:r>
              <a:rPr lang="en-US" altLang="en-US" sz="2200">
                <a:solidFill>
                  <a:schemeClr val="bg1"/>
                </a:solidFill>
                <a:latin typeface="Arial" panose="020B0604020202020204" pitchFamily="34" charset="0"/>
              </a:rPr>
              <a:t>Katja Hoehn</a:t>
            </a:r>
          </a:p>
        </p:txBody>
      </p:sp>
      <p:sp>
        <p:nvSpPr>
          <p:cNvPr id="305159" name="Rectangle 7"/>
          <p:cNvSpPr>
            <a:spLocks noChangeArrowheads="1"/>
          </p:cNvSpPr>
          <p:nvPr/>
        </p:nvSpPr>
        <p:spPr bwMode="auto">
          <a:xfrm>
            <a:off x="5308600" y="0"/>
            <a:ext cx="3835400" cy="6858000"/>
          </a:xfrm>
          <a:prstGeom prst="rect">
            <a:avLst/>
          </a:prstGeom>
          <a:solidFill>
            <a:srgbClr val="0989C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5160" name="Line 8"/>
          <p:cNvSpPr>
            <a:spLocks noChangeShapeType="1"/>
          </p:cNvSpPr>
          <p:nvPr/>
        </p:nvSpPr>
        <p:spPr bwMode="auto">
          <a:xfrm>
            <a:off x="5530850" y="3268663"/>
            <a:ext cx="3613150" cy="0"/>
          </a:xfrm>
          <a:prstGeom prst="line">
            <a:avLst/>
          </a:prstGeom>
          <a:noFill/>
          <a:ln w="57150">
            <a:solidFill>
              <a:srgbClr val="D9E30D"/>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05161" name="Rectangle 9"/>
          <p:cNvSpPr>
            <a:spLocks noGrp="1" noChangeArrowheads="1"/>
          </p:cNvSpPr>
          <p:nvPr>
            <p:ph type="ctrTitle"/>
          </p:nvPr>
        </p:nvSpPr>
        <p:spPr>
          <a:xfrm>
            <a:off x="5827713" y="2039938"/>
            <a:ext cx="3316287" cy="1414462"/>
          </a:xfrm>
          <a:extLst>
            <a:ext uri="{909E8E84-426E-40DD-AFC4-6F175D3DCCD1}">
              <a14:hiddenFill xmlns:a14="http://schemas.microsoft.com/office/drawing/2010/main">
                <a:solidFill>
                  <a:schemeClr val="accent1"/>
                </a:solidFill>
              </a14:hiddenFill>
            </a:ext>
          </a:extLst>
        </p:spPr>
        <p:txBody>
          <a:bodyPr anchor="ctr"/>
          <a:lstStyle>
            <a:lvl1pPr>
              <a:defRPr sz="20000" i="1">
                <a:solidFill>
                  <a:srgbClr val="4DC2E7"/>
                </a:solidFill>
              </a:defRPr>
            </a:lvl1pPr>
          </a:lstStyle>
          <a:p>
            <a:pPr lvl="0"/>
            <a:r>
              <a:rPr lang="en-US" altLang="en-US" noProof="0"/>
              <a:t>Click to edit Master title style</a:t>
            </a:r>
          </a:p>
        </p:txBody>
      </p:sp>
      <p:sp>
        <p:nvSpPr>
          <p:cNvPr id="305162" name="Rectangle 10"/>
          <p:cNvSpPr>
            <a:spLocks noGrp="1" noChangeArrowheads="1"/>
          </p:cNvSpPr>
          <p:nvPr>
            <p:ph type="subTitle" idx="1"/>
          </p:nvPr>
        </p:nvSpPr>
        <p:spPr>
          <a:xfrm>
            <a:off x="5756275" y="4086225"/>
            <a:ext cx="3113088" cy="2286000"/>
          </a:xfrm>
        </p:spPr>
        <p:txBody>
          <a:bodyPr/>
          <a:lstStyle>
            <a:lvl1pPr marL="0" indent="0">
              <a:lnSpc>
                <a:spcPct val="90000"/>
              </a:lnSpc>
              <a:buFont typeface="Wingdings" panose="05000000000000000000" pitchFamily="2" charset="2"/>
              <a:buNone/>
              <a:defRPr sz="3500">
                <a:solidFill>
                  <a:schemeClr val="bg1"/>
                </a:solidFill>
                <a:latin typeface="Arial" panose="020B0604020202020204" pitchFamily="34" charset="0"/>
              </a:defRPr>
            </a:lvl1pPr>
          </a:lstStyle>
          <a:p>
            <a:pPr lvl="0"/>
            <a:r>
              <a:rPr lang="en-US" altLang="en-US" noProof="0"/>
              <a:t>Click to edit Master subtitle style</a:t>
            </a:r>
          </a:p>
        </p:txBody>
      </p:sp>
      <p:sp>
        <p:nvSpPr>
          <p:cNvPr id="305163" name="Text Box 11"/>
          <p:cNvSpPr txBox="1">
            <a:spLocks noChangeArrowheads="1"/>
          </p:cNvSpPr>
          <p:nvPr/>
        </p:nvSpPr>
        <p:spPr bwMode="auto">
          <a:xfrm>
            <a:off x="5741988" y="274638"/>
            <a:ext cx="3302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solidFill>
                  <a:srgbClr val="D9E30D"/>
                </a:solidFill>
                <a:latin typeface="Arial" panose="020B0604020202020204" pitchFamily="34" charset="0"/>
              </a:rPr>
              <a:t>PowerPoint</a:t>
            </a:r>
            <a:r>
              <a:rPr lang="en-US" altLang="en-US" sz="2000" baseline="30000">
                <a:solidFill>
                  <a:srgbClr val="D9E30D"/>
                </a:solidFill>
                <a:latin typeface="Arial" panose="020B0604020202020204" pitchFamily="34" charset="0"/>
              </a:rPr>
              <a:t>®</a:t>
            </a:r>
            <a:r>
              <a:rPr lang="en-US" altLang="en-US" sz="2000">
                <a:solidFill>
                  <a:srgbClr val="D9E30D"/>
                </a:solidFill>
                <a:latin typeface="Arial" panose="020B0604020202020204" pitchFamily="34" charset="0"/>
              </a:rPr>
              <a:t> Lecture Slides</a:t>
            </a:r>
            <a:r>
              <a:rPr lang="en-US" altLang="en-US" sz="2000">
                <a:solidFill>
                  <a:srgbClr val="08A5CA"/>
                </a:solidFill>
                <a:latin typeface="Arial" panose="020B0604020202020204" pitchFamily="34" charset="0"/>
              </a:rPr>
              <a:t> </a:t>
            </a:r>
          </a:p>
          <a:p>
            <a:r>
              <a:rPr lang="en-US" altLang="en-US" sz="2000">
                <a:solidFill>
                  <a:schemeClr val="bg1"/>
                </a:solidFill>
                <a:latin typeface="Arial" panose="020B0604020202020204" pitchFamily="34" charset="0"/>
              </a:rPr>
              <a:t>prepared by Vince Austin, </a:t>
            </a:r>
          </a:p>
          <a:p>
            <a:r>
              <a:rPr lang="en-US" altLang="en-US" sz="2000">
                <a:solidFill>
                  <a:schemeClr val="bg1"/>
                </a:solidFill>
                <a:latin typeface="Arial" panose="020B0604020202020204" pitchFamily="34" charset="0"/>
              </a:rPr>
              <a:t>Bluegrass Technical </a:t>
            </a:r>
            <a:br>
              <a:rPr lang="en-US" altLang="en-US" sz="2000">
                <a:solidFill>
                  <a:schemeClr val="bg1"/>
                </a:solidFill>
                <a:latin typeface="Arial" panose="020B0604020202020204" pitchFamily="34" charset="0"/>
              </a:rPr>
            </a:br>
            <a:r>
              <a:rPr lang="en-US" altLang="en-US" sz="2000">
                <a:solidFill>
                  <a:schemeClr val="bg1"/>
                </a:solidFill>
                <a:latin typeface="Arial" panose="020B0604020202020204" pitchFamily="34" charset="0"/>
              </a:rPr>
              <a:t>and Community College</a:t>
            </a:r>
          </a:p>
        </p:txBody>
      </p:sp>
      <p:sp>
        <p:nvSpPr>
          <p:cNvPr id="305164" name="Line 12"/>
          <p:cNvSpPr>
            <a:spLocks noChangeShapeType="1"/>
          </p:cNvSpPr>
          <p:nvPr/>
        </p:nvSpPr>
        <p:spPr bwMode="auto">
          <a:xfrm>
            <a:off x="5307013" y="0"/>
            <a:ext cx="0" cy="6858000"/>
          </a:xfrm>
          <a:prstGeom prst="line">
            <a:avLst/>
          </a:prstGeom>
          <a:noFill/>
          <a:ln w="457200">
            <a:solidFill>
              <a:srgbClr val="D9E3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5165" name="Text Box 13"/>
          <p:cNvSpPr txBox="1">
            <a:spLocks noChangeArrowheads="1"/>
          </p:cNvSpPr>
          <p:nvPr/>
        </p:nvSpPr>
        <p:spPr bwMode="auto">
          <a:xfrm rot="-5400000">
            <a:off x="4851401" y="2211387"/>
            <a:ext cx="16700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Aft>
                <a:spcPct val="50000"/>
              </a:spcAft>
              <a:buClr>
                <a:srgbClr val="669900"/>
              </a:buClr>
              <a:buFont typeface="Wingdings" panose="05000000000000000000" pitchFamily="2" charset="2"/>
              <a:buNone/>
            </a:pPr>
            <a:r>
              <a:rPr lang="en-US" altLang="en-US" sz="1800" b="1">
                <a:solidFill>
                  <a:srgbClr val="D9E30D"/>
                </a:solidFill>
                <a:latin typeface="Arial" panose="020B0604020202020204" pitchFamily="34" charset="0"/>
              </a:rPr>
              <a:t>C H A P T E 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196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9758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98450" y="977900"/>
            <a:ext cx="4059238"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10088" y="977900"/>
            <a:ext cx="4059237"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4176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1110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78575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0226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34121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03822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113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1163" y="261938"/>
            <a:ext cx="2154237" cy="57721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8450" y="261938"/>
            <a:ext cx="6310313" cy="57721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9163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261938"/>
            <a:ext cx="8610600" cy="609600"/>
          </a:xfrm>
        </p:spPr>
        <p:txBody>
          <a:bodyPr/>
          <a:lstStyle/>
          <a:p>
            <a:r>
              <a:rPr lang="en-US"/>
              <a:t>Click to edit Master title style</a:t>
            </a:r>
          </a:p>
        </p:txBody>
      </p:sp>
      <p:sp>
        <p:nvSpPr>
          <p:cNvPr id="3" name="Online Image Placeholder 2"/>
          <p:cNvSpPr>
            <a:spLocks noGrp="1"/>
          </p:cNvSpPr>
          <p:nvPr>
            <p:ph type="clipArt" sz="half" idx="1"/>
          </p:nvPr>
        </p:nvSpPr>
        <p:spPr>
          <a:xfrm>
            <a:off x="298450" y="977900"/>
            <a:ext cx="4059238" cy="5056188"/>
          </a:xfrm>
        </p:spPr>
        <p:txBody>
          <a:bodyPr/>
          <a:lstStyle/>
          <a:p>
            <a:endParaRPr lang="en-US"/>
          </a:p>
        </p:txBody>
      </p:sp>
      <p:sp>
        <p:nvSpPr>
          <p:cNvPr id="4" name="Text Placeholder 3"/>
          <p:cNvSpPr>
            <a:spLocks noGrp="1"/>
          </p:cNvSpPr>
          <p:nvPr>
            <p:ph type="body" sz="half" idx="2"/>
          </p:nvPr>
        </p:nvSpPr>
        <p:spPr>
          <a:xfrm>
            <a:off x="4510088" y="977900"/>
            <a:ext cx="4059237"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6150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gradFill rotWithShape="0">
          <a:gsLst>
            <a:gs pos="0">
              <a:srgbClr val="EED390"/>
            </a:gs>
            <a:gs pos="17000">
              <a:srgbClr val="EED390"/>
            </a:gs>
            <a:gs pos="100000">
              <a:srgbClr val="DEB657"/>
            </a:gs>
          </a:gsLst>
          <a:lin ang="5400000" scaled="1"/>
        </a:gradFill>
        <a:effectLst/>
      </p:bgPr>
    </p:bg>
    <p:spTree>
      <p:nvGrpSpPr>
        <p:cNvPr id="1" name=""/>
        <p:cNvGrpSpPr/>
        <p:nvPr/>
      </p:nvGrpSpPr>
      <p:grpSpPr>
        <a:xfrm>
          <a:off x="0" y="0"/>
          <a:ext cx="0" cy="0"/>
          <a:chOff x="0" y="0"/>
          <a:chExt cx="0" cy="0"/>
        </a:xfrm>
      </p:grpSpPr>
      <p:sp>
        <p:nvSpPr>
          <p:cNvPr id="2" name="Rectangle 8"/>
          <p:cNvSpPr>
            <a:spLocks noChangeArrowheads="1"/>
          </p:cNvSpPr>
          <p:nvPr/>
        </p:nvSpPr>
        <p:spPr bwMode="auto">
          <a:xfrm>
            <a:off x="5359400" y="0"/>
            <a:ext cx="74613" cy="6635750"/>
          </a:xfrm>
          <a:prstGeom prst="rect">
            <a:avLst/>
          </a:prstGeom>
          <a:solidFill>
            <a:schemeClr val="tx1"/>
          </a:solidFill>
          <a:ln w="9525">
            <a:solidFill>
              <a:schemeClr val="tx1"/>
            </a:solidFill>
            <a:miter lim="800000"/>
            <a:headEnd/>
            <a:tailEnd/>
          </a:ln>
        </p:spPr>
        <p:txBody>
          <a:bodyPr wrap="none" anchor="ctr"/>
          <a:lstStyle/>
          <a:p>
            <a:pPr eaLnBrk="1" hangingPunct="1">
              <a:spcAft>
                <a:spcPct val="50000"/>
              </a:spcAft>
              <a:buClr>
                <a:srgbClr val="669900"/>
              </a:buClr>
              <a:buFont typeface="Wingdings" charset="0"/>
              <a:buChar char="§"/>
            </a:pPr>
            <a:endParaRPr lang="en-US">
              <a:latin typeface="Times New Roman" charset="0"/>
            </a:endParaRPr>
          </a:p>
        </p:txBody>
      </p:sp>
      <p:sp>
        <p:nvSpPr>
          <p:cNvPr id="3" name="Text Box 6"/>
          <p:cNvSpPr txBox="1">
            <a:spLocks noChangeArrowheads="1"/>
          </p:cNvSpPr>
          <p:nvPr/>
        </p:nvSpPr>
        <p:spPr bwMode="auto">
          <a:xfrm>
            <a:off x="5651500" y="5581650"/>
            <a:ext cx="34020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pPr algn="ctr">
              <a:defRPr/>
            </a:pPr>
            <a:r>
              <a:rPr lang="en-US" sz="1800">
                <a:solidFill>
                  <a:srgbClr val="CD6A47"/>
                </a:solidFill>
                <a:latin typeface="Arial" charset="0"/>
              </a:rPr>
              <a:t>PowerPoint</a:t>
            </a:r>
            <a:r>
              <a:rPr lang="en-US" sz="1800" baseline="30000">
                <a:solidFill>
                  <a:srgbClr val="CD6A47"/>
                </a:solidFill>
                <a:latin typeface="Arial" charset="0"/>
              </a:rPr>
              <a:t>®</a:t>
            </a:r>
            <a:r>
              <a:rPr lang="en-US" sz="1800">
                <a:solidFill>
                  <a:srgbClr val="CD6A47"/>
                </a:solidFill>
                <a:latin typeface="Arial" charset="0"/>
              </a:rPr>
              <a:t> Lecture Slides</a:t>
            </a:r>
          </a:p>
          <a:p>
            <a:pPr algn="ctr">
              <a:defRPr/>
            </a:pPr>
            <a:r>
              <a:rPr lang="en-US" sz="1800">
                <a:solidFill>
                  <a:srgbClr val="CD6A47"/>
                </a:solidFill>
                <a:latin typeface="Arial" charset="0"/>
              </a:rPr>
              <a:t>prepared by</a:t>
            </a:r>
          </a:p>
          <a:p>
            <a:pPr algn="ctr">
              <a:defRPr/>
            </a:pPr>
            <a:r>
              <a:rPr lang="en-US" sz="1800">
                <a:solidFill>
                  <a:srgbClr val="CD6A47"/>
                </a:solidFill>
                <a:latin typeface="Arial" charset="0"/>
              </a:rPr>
              <a:t>Karen Dunbar Kareiva</a:t>
            </a:r>
          </a:p>
          <a:p>
            <a:pPr algn="ctr">
              <a:defRPr/>
            </a:pPr>
            <a:r>
              <a:rPr lang="en-US" sz="1800">
                <a:solidFill>
                  <a:srgbClr val="CD6A47"/>
                </a:solidFill>
                <a:latin typeface="Arial" charset="0"/>
              </a:rPr>
              <a:t>Ivy Tech Community College</a:t>
            </a:r>
          </a:p>
        </p:txBody>
      </p:sp>
      <p:pic>
        <p:nvPicPr>
          <p:cNvPr id="4" name="Picture 13" descr="Pearson_Strap_Bound_Whit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0" y="6516688"/>
            <a:ext cx="17621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p:cNvSpPr>
            <a:spLocks noChangeArrowheads="1"/>
          </p:cNvSpPr>
          <p:nvPr/>
        </p:nvSpPr>
        <p:spPr bwMode="auto">
          <a:xfrm>
            <a:off x="0" y="6451600"/>
            <a:ext cx="22320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900">
                <a:solidFill>
                  <a:schemeClr val="bg1"/>
                </a:solidFill>
                <a:latin typeface="Arial" charset="0"/>
              </a:rPr>
              <a:t>© Annie Leibovitz/Contact Press Images</a:t>
            </a:r>
          </a:p>
        </p:txBody>
      </p:sp>
      <p:pic>
        <p:nvPicPr>
          <p:cNvPr id="6"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5451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6"/>
          <p:cNvSpPr txBox="1">
            <a:spLocks noChangeArrowheads="1"/>
          </p:cNvSpPr>
          <p:nvPr/>
        </p:nvSpPr>
        <p:spPr bwMode="auto">
          <a:xfrm>
            <a:off x="5181600" y="1219200"/>
            <a:ext cx="38862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cs typeface="ＭＳ Ｐゴシック" charset="0"/>
              </a:defRPr>
            </a:lvl2pPr>
            <a:lvl3pPr marL="1143000" indent="-228600">
              <a:defRPr sz="2400">
                <a:solidFill>
                  <a:schemeClr val="tx1"/>
                </a:solidFill>
                <a:latin typeface="Times" charset="0"/>
                <a:ea typeface="ＭＳ Ｐゴシック" charset="0"/>
                <a:cs typeface="ＭＳ Ｐゴシック" charset="0"/>
              </a:defRPr>
            </a:lvl3pPr>
            <a:lvl4pPr marL="1600200" indent="-228600">
              <a:defRPr sz="2400">
                <a:solidFill>
                  <a:schemeClr val="tx1"/>
                </a:solidFill>
                <a:latin typeface="Times" charset="0"/>
                <a:ea typeface="ＭＳ Ｐゴシック" charset="0"/>
                <a:cs typeface="ＭＳ Ｐゴシック" charset="0"/>
              </a:defRPr>
            </a:lvl4pPr>
            <a:lvl5pPr marL="2057400" indent="-228600">
              <a:defRPr sz="2400">
                <a:solidFill>
                  <a:schemeClr val="tx1"/>
                </a:solidFill>
                <a:latin typeface="Times"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cs typeface="ＭＳ Ｐゴシック" charset="0"/>
              </a:defRPr>
            </a:lvl9pPr>
          </a:lstStyle>
          <a:p>
            <a:pPr algn="ctr">
              <a:defRPr/>
            </a:pPr>
            <a:r>
              <a:rPr lang="en-US" sz="2800" b="1" dirty="0">
                <a:solidFill>
                  <a:srgbClr val="CD6A47"/>
                </a:solidFill>
                <a:latin typeface="Arial" charset="0"/>
              </a:rPr>
              <a:t>Chapter 18   Part A</a:t>
            </a:r>
          </a:p>
          <a:p>
            <a:pPr algn="ctr">
              <a:defRPr/>
            </a:pPr>
            <a:endParaRPr lang="en-US" sz="2800" b="1" dirty="0">
              <a:solidFill>
                <a:srgbClr val="CD6A47"/>
              </a:solidFill>
              <a:latin typeface="Arial" charset="0"/>
            </a:endParaRPr>
          </a:p>
          <a:p>
            <a:pPr algn="ctr">
              <a:defRPr/>
            </a:pPr>
            <a:r>
              <a:rPr lang="en-US" sz="4000" b="1" dirty="0">
                <a:solidFill>
                  <a:srgbClr val="CD6A47"/>
                </a:solidFill>
                <a:latin typeface="Arial" charset="0"/>
              </a:rPr>
              <a:t>The Cardiovascular System</a:t>
            </a:r>
            <a:endParaRPr lang="en-US" sz="4000" b="1" dirty="0">
              <a:latin typeface="Arial" charset="0"/>
            </a:endParaRPr>
          </a:p>
        </p:txBody>
      </p:sp>
      <p:sp>
        <p:nvSpPr>
          <p:cNvPr id="8" name="Footer Placeholder 1"/>
          <p:cNvSpPr>
            <a:spLocks noGrp="1"/>
          </p:cNvSpPr>
          <p:nvPr>
            <p:ph type="ftr" sz="quarter" idx="10"/>
          </p:nvPr>
        </p:nvSpPr>
        <p:spPr>
          <a:xfrm>
            <a:off x="0" y="6492875"/>
            <a:ext cx="3086100" cy="365125"/>
          </a:xfrm>
          <a:prstGeom prst="rect">
            <a:avLst/>
          </a:prstGeom>
        </p:spPr>
        <p:txBody>
          <a:bodyPr/>
          <a:lstStyle>
            <a:lvl1pPr algn="l">
              <a:defRPr sz="900">
                <a:solidFill>
                  <a:schemeClr val="tx1"/>
                </a:solidFill>
                <a:latin typeface="+mj-lt"/>
              </a:defRPr>
            </a:lvl1pPr>
          </a:lstStyle>
          <a:p>
            <a:pPr>
              <a:defRPr/>
            </a:pPr>
            <a:r>
              <a:rPr lang="en-GB"/>
              <a:t>© 2016 Pearson Education, Inc.</a:t>
            </a:r>
          </a:p>
        </p:txBody>
      </p:sp>
    </p:spTree>
    <p:extLst>
      <p:ext uri="{BB962C8B-B14F-4D97-AF65-F5344CB8AC3E}">
        <p14:creationId xmlns:p14="http://schemas.microsoft.com/office/powerpoint/2010/main" val="1059588794"/>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bwMode="auto">
          <a:xfrm>
            <a:off x="304800" y="261938"/>
            <a:ext cx="8610600" cy="6096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04131" name="Rectangle 3"/>
          <p:cNvSpPr>
            <a:spLocks noGrp="1" noChangeArrowheads="1"/>
          </p:cNvSpPr>
          <p:nvPr>
            <p:ph type="body" idx="1"/>
          </p:nvPr>
        </p:nvSpPr>
        <p:spPr bwMode="auto">
          <a:xfrm>
            <a:off x="298450" y="977900"/>
            <a:ext cx="8270875" cy="505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4132" name="Text Box 4"/>
          <p:cNvSpPr txBox="1">
            <a:spLocks noChangeArrowheads="1"/>
          </p:cNvSpPr>
          <p:nvPr/>
        </p:nvSpPr>
        <p:spPr bwMode="auto">
          <a:xfrm>
            <a:off x="228600" y="6521450"/>
            <a:ext cx="45513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a:solidFill>
                  <a:srgbClr val="0989C9"/>
                </a:solidFill>
                <a:latin typeface="Arial" panose="020B0604020202020204" pitchFamily="34" charset="0"/>
              </a:rPr>
              <a:t>Copyright © 2006 Pearson Education, Inc., publishing as Benjamin Cummings</a:t>
            </a:r>
          </a:p>
        </p:txBody>
      </p:sp>
      <p:sp>
        <p:nvSpPr>
          <p:cNvPr id="304133" name="Line 5"/>
          <p:cNvSpPr>
            <a:spLocks noChangeShapeType="1"/>
          </p:cNvSpPr>
          <p:nvPr/>
        </p:nvSpPr>
        <p:spPr bwMode="auto">
          <a:xfrm>
            <a:off x="298450" y="258763"/>
            <a:ext cx="8586788" cy="0"/>
          </a:xfrm>
          <a:prstGeom prst="line">
            <a:avLst/>
          </a:prstGeom>
          <a:noFill/>
          <a:ln w="38100">
            <a:solidFill>
              <a:srgbClr val="D9E3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04134" name="Line 6"/>
          <p:cNvSpPr>
            <a:spLocks noChangeShapeType="1"/>
          </p:cNvSpPr>
          <p:nvPr/>
        </p:nvSpPr>
        <p:spPr bwMode="auto">
          <a:xfrm>
            <a:off x="293688" y="225425"/>
            <a:ext cx="85867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xStyles>
    <p:titleStyle>
      <a:lvl1pPr algn="l" rtl="0" fontAlgn="base">
        <a:spcBef>
          <a:spcPct val="0"/>
        </a:spcBef>
        <a:spcAft>
          <a:spcPct val="0"/>
        </a:spcAft>
        <a:defRPr sz="3000" b="1" kern="1200">
          <a:solidFill>
            <a:srgbClr val="0989C9"/>
          </a:solidFill>
          <a:latin typeface="+mj-lt"/>
          <a:ea typeface="+mj-ea"/>
          <a:cs typeface="+mj-cs"/>
        </a:defRPr>
      </a:lvl1pPr>
      <a:lvl2pPr algn="l" rtl="0" fontAlgn="base">
        <a:spcBef>
          <a:spcPct val="0"/>
        </a:spcBef>
        <a:spcAft>
          <a:spcPct val="0"/>
        </a:spcAft>
        <a:defRPr sz="3000" b="1">
          <a:solidFill>
            <a:srgbClr val="0989C9"/>
          </a:solidFill>
          <a:latin typeface="Arial" panose="020B0604020202020204" pitchFamily="34" charset="0"/>
        </a:defRPr>
      </a:lvl2pPr>
      <a:lvl3pPr algn="l" rtl="0" fontAlgn="base">
        <a:spcBef>
          <a:spcPct val="0"/>
        </a:spcBef>
        <a:spcAft>
          <a:spcPct val="0"/>
        </a:spcAft>
        <a:defRPr sz="3000" b="1">
          <a:solidFill>
            <a:srgbClr val="0989C9"/>
          </a:solidFill>
          <a:latin typeface="Arial" panose="020B0604020202020204" pitchFamily="34" charset="0"/>
        </a:defRPr>
      </a:lvl3pPr>
      <a:lvl4pPr algn="l" rtl="0" fontAlgn="base">
        <a:spcBef>
          <a:spcPct val="0"/>
        </a:spcBef>
        <a:spcAft>
          <a:spcPct val="0"/>
        </a:spcAft>
        <a:defRPr sz="3000" b="1">
          <a:solidFill>
            <a:srgbClr val="0989C9"/>
          </a:solidFill>
          <a:latin typeface="Arial" panose="020B0604020202020204" pitchFamily="34" charset="0"/>
        </a:defRPr>
      </a:lvl4pPr>
      <a:lvl5pPr algn="l" rtl="0" fontAlgn="base">
        <a:spcBef>
          <a:spcPct val="0"/>
        </a:spcBef>
        <a:spcAft>
          <a:spcPct val="0"/>
        </a:spcAft>
        <a:defRPr sz="3000" b="1">
          <a:solidFill>
            <a:srgbClr val="0989C9"/>
          </a:solidFill>
          <a:latin typeface="Arial" panose="020B0604020202020204" pitchFamily="34" charset="0"/>
        </a:defRPr>
      </a:lvl5pPr>
      <a:lvl6pPr marL="457200" algn="l" rtl="0" fontAlgn="base">
        <a:spcBef>
          <a:spcPct val="0"/>
        </a:spcBef>
        <a:spcAft>
          <a:spcPct val="0"/>
        </a:spcAft>
        <a:defRPr sz="3000" b="1">
          <a:solidFill>
            <a:srgbClr val="0989C9"/>
          </a:solidFill>
          <a:latin typeface="Arial" panose="020B0604020202020204" pitchFamily="34" charset="0"/>
        </a:defRPr>
      </a:lvl6pPr>
      <a:lvl7pPr marL="914400" algn="l" rtl="0" fontAlgn="base">
        <a:spcBef>
          <a:spcPct val="0"/>
        </a:spcBef>
        <a:spcAft>
          <a:spcPct val="0"/>
        </a:spcAft>
        <a:defRPr sz="3000" b="1">
          <a:solidFill>
            <a:srgbClr val="0989C9"/>
          </a:solidFill>
          <a:latin typeface="Arial" panose="020B0604020202020204" pitchFamily="34" charset="0"/>
        </a:defRPr>
      </a:lvl7pPr>
      <a:lvl8pPr marL="1371600" algn="l" rtl="0" fontAlgn="base">
        <a:spcBef>
          <a:spcPct val="0"/>
        </a:spcBef>
        <a:spcAft>
          <a:spcPct val="0"/>
        </a:spcAft>
        <a:defRPr sz="3000" b="1">
          <a:solidFill>
            <a:srgbClr val="0989C9"/>
          </a:solidFill>
          <a:latin typeface="Arial" panose="020B0604020202020204" pitchFamily="34" charset="0"/>
        </a:defRPr>
      </a:lvl8pPr>
      <a:lvl9pPr marL="1828800" algn="l" rtl="0" fontAlgn="base">
        <a:spcBef>
          <a:spcPct val="0"/>
        </a:spcBef>
        <a:spcAft>
          <a:spcPct val="0"/>
        </a:spcAft>
        <a:defRPr sz="3000" b="1">
          <a:solidFill>
            <a:srgbClr val="0989C9"/>
          </a:solidFill>
          <a:latin typeface="Arial" panose="020B0604020202020204" pitchFamily="34" charset="0"/>
        </a:defRPr>
      </a:lvl9pPr>
    </p:titleStyle>
    <p:bodyStyle>
      <a:lvl1pPr marL="231775" indent="-231775" algn="l" rtl="0" fontAlgn="base">
        <a:spcBef>
          <a:spcPct val="0"/>
        </a:spcBef>
        <a:spcAft>
          <a:spcPct val="50000"/>
        </a:spcAft>
        <a:buClr>
          <a:srgbClr val="0989C9"/>
        </a:buClr>
        <a:buSzPct val="60000"/>
        <a:buFont typeface="Wingdings" panose="05000000000000000000" pitchFamily="2" charset="2"/>
        <a:buChar char="§"/>
        <a:defRPr sz="3000" kern="1200">
          <a:solidFill>
            <a:schemeClr val="tx1"/>
          </a:solidFill>
          <a:latin typeface="+mn-lt"/>
          <a:ea typeface="+mn-ea"/>
          <a:cs typeface="+mn-cs"/>
        </a:defRPr>
      </a:lvl1pPr>
      <a:lvl2pPr marL="742950" indent="-285750" algn="l" rtl="0" fontAlgn="base">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3pPr>
      <a:lvl4pPr marL="1600200" indent="-228600" algn="l" rtl="0" fontAlgn="base">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4pPr>
      <a:lvl5pPr marL="2057400" indent="-228600" algn="l" rtl="0" fontAlgn="base">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xml" Type="http://schemas.openxmlformats.org/officeDocument/2006/relationships/notesSlide"/><Relationship Id="rId3" Target="../media/image4.jp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jpg" Type="http://schemas.openxmlformats.org/officeDocument/2006/relationships/image"/><Relationship Id="rId3" Target="../media/image6.jp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jp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jp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jp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jp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jp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2.jp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jp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jp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jp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7.jpg" Type="http://schemas.openxmlformats.org/officeDocument/2006/relationships/image"/><Relationship Id="rId3" Target="../media/image18.jp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9.jpg" Type="http://schemas.openxmlformats.org/officeDocument/2006/relationships/image"/><Relationship Id="rId3" Target="../media/image20.jp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 Id="rId2" Target="18_PPT_Lect/18PPTLect-anim/IP_Cardio_FILES/9-System%20Suite/ipweb/systems/heartrev_pg_03.html" TargetMode="External" Type="http://schemas.openxmlformats.org/officeDocument/2006/relationships/hyperlink"/></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1.jpg" Type="http://schemas.openxmlformats.org/officeDocument/2006/relationships/image"/><Relationship Id="rId3" Target="../media/image22.jp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4.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5.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4.jp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6.xml" Type="http://schemas.openxmlformats.org/officeDocument/2006/relationships/notesSlide"/><Relationship Id="rId3" Target="../media/image25.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6.jp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7.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2.xml" Type="http://schemas.openxmlformats.org/officeDocument/2006/relationships/slideLayout"/><Relationship Id="rId2" Target="18_PPT_Lect/18PPTLect-anim/IP_Cardio_FILES/9-System%20Suite/ipweb/systems/intrcond_pg_03.html" TargetMode="External" Type="http://schemas.openxmlformats.org/officeDocument/2006/relationships/hyperlink"/></Relationships>
</file>

<file path=ppt/slides/_rels/slide5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8.jpe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9.jp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0.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1.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2.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3.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4.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5.jp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7.xml" Type="http://schemas.openxmlformats.org/officeDocument/2006/relationships/notesSlide"/></Relationships>
</file>

<file path=ppt/slides/_rels/slide6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6.jpe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2.xml" Type="http://schemas.openxmlformats.org/officeDocument/2006/relationships/slideLayout"/><Relationship Id="rId2" Target="18_PPT_Lect/18PPTLect-anim/IP_Cardio_FILES/9-System%20Suite/ipweb/systems/cardoutp_pg_03.html" TargetMode="External" Type="http://schemas.openxmlformats.org/officeDocument/2006/relationships/hyperlink"/></Relationships>
</file>

<file path=ppt/slides/_rels/slide6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7.jp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8.xml" Type="http://schemas.openxmlformats.org/officeDocument/2006/relationships/notesSlide"/></Relationships>
</file>

<file path=ppt/slides/_rels/slide68.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9.xml" Type="http://schemas.openxmlformats.org/officeDocument/2006/relationships/notesSlide"/></Relationships>
</file>

<file path=ppt/slides/_rels/slide6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0.xml" Type="http://schemas.openxmlformats.org/officeDocument/2006/relationships/notesSlide"/></Relationships>
</file>

<file path=ppt/slides/_rels/slide7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8.jpe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9.png" Type="http://schemas.openxmlformats.org/officeDocument/2006/relationships/image"/></Relationships>
</file>

<file path=ppt/slides/_rels/slide7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0.jpeg" Type="http://schemas.openxmlformats.org/officeDocument/2006/relationships/image"/></Relationships>
</file>

<file path=ppt/slides/_rels/slide82.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41.jpeg" Type="http://schemas.openxmlformats.org/officeDocument/2006/relationships/image"/></Relationships>
</file>

<file path=ppt/slides/_rels/slide83.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41.jpeg" Type="http://schemas.openxmlformats.org/officeDocument/2006/relationships/image"/></Relationships>
</file>

<file path=ppt/slides/_rels/slide8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8C5D1-2A06-DB60-968A-3A79F9A1B1DC}"/>
              </a:ext>
            </a:extLst>
          </p:cNvPr>
          <p:cNvSpPr>
            <a:spLocks noGrp="1"/>
          </p:cNvSpPr>
          <p:nvPr>
            <p:ph idx="4294967295" type="title"/>
          </p:nvPr>
        </p:nvSpPr>
        <p:spPr>
          <a:xfrm>
            <a:off x="533400" y="-609600"/>
            <a:ext cx="8610600" cy="609600"/>
          </a:xfrm>
        </p:spPr>
        <p:txBody>
          <a:bodyPr/>
          <a:lstStyle/>
          <a:p>
            <a:r>
              <a:rPr dirty="0" lang="en-US"/>
              <a:t>Cardiovascular system</a:t>
            </a:r>
          </a:p>
        </p:txBody>
      </p:sp>
    </p:spTree>
    <p:extLst>
      <p:ext uri="{BB962C8B-B14F-4D97-AF65-F5344CB8AC3E}">
        <p14:creationId xmlns:p14="http://schemas.microsoft.com/office/powerpoint/2010/main" val="1307915331"/>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0450" name="Rectangle 2"/>
          <p:cNvSpPr>
            <a:spLocks noChangeArrowheads="1" noGrp="1"/>
          </p:cNvSpPr>
          <p:nvPr>
            <p:ph type="title"/>
          </p:nvPr>
        </p:nvSpPr>
        <p:spPr>
          <a:xfrm>
            <a:off x="457200" y="241300"/>
            <a:ext cx="8229600" cy="1143000"/>
          </a:xfrm>
        </p:spPr>
        <p:txBody>
          <a:bodyPr/>
          <a:lstStyle/>
          <a:p>
            <a:r>
              <a:rPr altLang="en-US" lang="en-US"/>
              <a:t>Random cardiovascular facts</a:t>
            </a:r>
          </a:p>
        </p:txBody>
      </p:sp>
      <p:sp>
        <p:nvSpPr>
          <p:cNvPr id="360451" name="Rectangle 3"/>
          <p:cNvSpPr>
            <a:spLocks noChangeArrowheads="1" noGrp="1"/>
          </p:cNvSpPr>
          <p:nvPr>
            <p:ph idx="1" type="body"/>
          </p:nvPr>
        </p:nvSpPr>
        <p:spPr>
          <a:xfrm>
            <a:off x="457200" y="1066800"/>
            <a:ext cx="8229600" cy="4495800"/>
          </a:xfrm>
        </p:spPr>
        <p:txBody>
          <a:bodyPr/>
          <a:lstStyle/>
          <a:p>
            <a:r>
              <a:rPr altLang="en-US" lang="en-US"/>
              <a:t>there are about 100,000 km of blood vessels in the body that would go around the world 2.5 times</a:t>
            </a:r>
          </a:p>
          <a:p>
            <a:r>
              <a:rPr altLang="en-US" lang="en-US"/>
              <a:t>the heart creates enough pressure in the left ventricle to squirt blood 9.1 meters</a:t>
            </a:r>
          </a:p>
          <a:p>
            <a:r>
              <a:rPr altLang="en-US" lang="en-US"/>
              <a:t>capillaries are about 1/30</a:t>
            </a:r>
            <a:r>
              <a:rPr altLang="en-US" baseline="30000" lang="en-US"/>
              <a:t>th</a:t>
            </a:r>
            <a:r>
              <a:rPr altLang="en-US" lang="en-US"/>
              <a:t> the diameter of a human hair</a:t>
            </a:r>
          </a:p>
          <a:p>
            <a:r>
              <a:rPr altLang="en-US" lang="en-US"/>
              <a:t>it takes 1 minute for a blood cell to circulate around the entire body</a:t>
            </a:r>
          </a:p>
          <a:p>
            <a:r>
              <a:rPr altLang="en-US" lang="en-US"/>
              <a:t>human heart rate = 100,800 beats/day</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360451">
                                            <p:txEl>
                                              <p:pRg end="0" st="0"/>
                                            </p:txEl>
                                          </p:spTgt>
                                        </p:tgtEl>
                                        <p:attrNameLst>
                                          <p:attrName>style.visibility</p:attrName>
                                        </p:attrNameLst>
                                      </p:cBhvr>
                                      <p:to>
                                        <p:strVal val="visible"/>
                                      </p:to>
                                    </p:set>
                                    <p:anim calcmode="discrete" valueType="clr">
                                      <p:cBhvr override="childStyle">
                                        <p:cTn dur="80" id="7"/>
                                        <p:tgtEl>
                                          <p:spTgt spid="360451">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360451">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360451">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360451">
                                            <p:txEl>
                                              <p:pRg end="1" st="1"/>
                                            </p:txEl>
                                          </p:spTgt>
                                        </p:tgtEl>
                                        <p:attrNameLst>
                                          <p:attrName>style.visibility</p:attrName>
                                        </p:attrNameLst>
                                      </p:cBhvr>
                                      <p:to>
                                        <p:strVal val="visible"/>
                                      </p:to>
                                    </p:set>
                                    <p:anim calcmode="discrete" valueType="clr">
                                      <p:cBhvr override="childStyle">
                                        <p:cTn dur="80" id="14"/>
                                        <p:tgtEl>
                                          <p:spTgt spid="360451">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360451">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360451">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360451">
                                            <p:txEl>
                                              <p:pRg end="2" st="2"/>
                                            </p:txEl>
                                          </p:spTgt>
                                        </p:tgtEl>
                                        <p:attrNameLst>
                                          <p:attrName>style.visibility</p:attrName>
                                        </p:attrNameLst>
                                      </p:cBhvr>
                                      <p:to>
                                        <p:strVal val="visible"/>
                                      </p:to>
                                    </p:set>
                                    <p:anim calcmode="discrete" valueType="clr">
                                      <p:cBhvr override="childStyle">
                                        <p:cTn dur="80" id="21"/>
                                        <p:tgtEl>
                                          <p:spTgt spid="360451">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360451">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360451">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360451">
                                            <p:txEl>
                                              <p:pRg end="3" st="3"/>
                                            </p:txEl>
                                          </p:spTgt>
                                        </p:tgtEl>
                                        <p:attrNameLst>
                                          <p:attrName>style.visibility</p:attrName>
                                        </p:attrNameLst>
                                      </p:cBhvr>
                                      <p:to>
                                        <p:strVal val="visible"/>
                                      </p:to>
                                    </p:set>
                                    <p:anim calcmode="discrete" valueType="clr">
                                      <p:cBhvr override="childStyle">
                                        <p:cTn dur="80" id="28"/>
                                        <p:tgtEl>
                                          <p:spTgt spid="360451">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360451">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360451">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360451">
                                            <p:txEl>
                                              <p:pRg end="4" st="4"/>
                                            </p:txEl>
                                          </p:spTgt>
                                        </p:tgtEl>
                                        <p:attrNameLst>
                                          <p:attrName>style.visibility</p:attrName>
                                        </p:attrNameLst>
                                      </p:cBhvr>
                                      <p:to>
                                        <p:strVal val="visible"/>
                                      </p:to>
                                    </p:set>
                                    <p:anim calcmode="discrete" valueType="clr">
                                      <p:cBhvr override="childStyle">
                                        <p:cTn dur="80" id="35"/>
                                        <p:tgtEl>
                                          <p:spTgt spid="360451">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360451">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360451">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dirty="0" lang="en-US">
                <a:ea typeface="+mj-ea"/>
              </a:rPr>
              <a:t>BIG PICTURE: Heart Anatomy</a:t>
            </a:r>
          </a:p>
        </p:txBody>
      </p:sp>
      <p:sp>
        <p:nvSpPr>
          <p:cNvPr id="23554" name="Content Placeholder 2"/>
          <p:cNvSpPr>
            <a:spLocks noGrp="1"/>
          </p:cNvSpPr>
          <p:nvPr>
            <p:ph idx="1"/>
          </p:nvPr>
        </p:nvSpPr>
        <p:spPr/>
        <p:txBody>
          <a:bodyPr/>
          <a:lstStyle/>
          <a:p>
            <a:pPr eaLnBrk="1" hangingPunct="1" indent="0" marL="0">
              <a:buFontTx/>
              <a:buNone/>
              <a:defRPr/>
            </a:pPr>
            <a:r>
              <a:rPr b="1" dirty="0" lang="en-US" sz="3200">
                <a:solidFill>
                  <a:srgbClr val="000000"/>
                </a:solidFill>
                <a:ea typeface="+mn-ea"/>
                <a:cs typeface="+mn-cs"/>
              </a:rPr>
              <a:t>The Pulmonary and Systemic Circuits</a:t>
            </a:r>
          </a:p>
          <a:p>
            <a:pPr eaLnBrk="1" hangingPunct="1">
              <a:defRPr/>
            </a:pPr>
            <a:r>
              <a:rPr dirty="0" lang="en-US">
                <a:ea typeface="+mn-ea"/>
                <a:cs typeface="+mn-cs"/>
              </a:rPr>
              <a:t>Heart is a transport system consisting of two </a:t>
            </a:r>
            <a:br>
              <a:rPr dirty="0" lang="en-US">
                <a:ea typeface="+mn-ea"/>
                <a:cs typeface="+mn-cs"/>
              </a:rPr>
            </a:br>
            <a:r>
              <a:rPr dirty="0" lang="en-US">
                <a:ea typeface="+mn-ea"/>
                <a:cs typeface="+mn-cs"/>
              </a:rPr>
              <a:t>side-by-side pumps</a:t>
            </a:r>
          </a:p>
          <a:p>
            <a:pPr eaLnBrk="1" hangingPunct="1" lvl="1">
              <a:defRPr/>
            </a:pPr>
            <a:r>
              <a:rPr dirty="0" i="1" lang="en-US"/>
              <a:t>Right side </a:t>
            </a:r>
            <a:r>
              <a:rPr dirty="0" lang="en-US"/>
              <a:t>receives oxygen-poor blood from tissues</a:t>
            </a:r>
          </a:p>
          <a:p>
            <a:pPr eaLnBrk="1" hangingPunct="1" lvl="2">
              <a:defRPr/>
            </a:pPr>
            <a:r>
              <a:rPr dirty="0" lang="en-US"/>
              <a:t>Pumps blood to lungs to get rid of CO</a:t>
            </a:r>
            <a:r>
              <a:rPr baseline="-25000" dirty="0" lang="en-US"/>
              <a:t>2</a:t>
            </a:r>
            <a:r>
              <a:rPr dirty="0" lang="en-US"/>
              <a:t>, pick up O</a:t>
            </a:r>
            <a:r>
              <a:rPr baseline="-25000" dirty="0" lang="en-US"/>
              <a:t>2</a:t>
            </a:r>
            <a:r>
              <a:rPr dirty="0" lang="en-US"/>
              <a:t>, via </a:t>
            </a:r>
            <a:r>
              <a:rPr b="1" dirty="0" lang="en-US"/>
              <a:t>pulmonary circuit</a:t>
            </a:r>
          </a:p>
          <a:p>
            <a:pPr eaLnBrk="1" hangingPunct="1" lvl="1">
              <a:defRPr/>
            </a:pPr>
            <a:r>
              <a:rPr dirty="0" i="1" lang="en-US"/>
              <a:t>Left side </a:t>
            </a:r>
            <a:r>
              <a:rPr dirty="0" lang="en-US"/>
              <a:t>receives oxygenated blood from lungs</a:t>
            </a:r>
          </a:p>
          <a:p>
            <a:pPr eaLnBrk="1" hangingPunct="1" lvl="2">
              <a:defRPr/>
            </a:pPr>
            <a:r>
              <a:rPr dirty="0" lang="en-US"/>
              <a:t>Pumps blood to body tissues via </a:t>
            </a:r>
            <a:r>
              <a:rPr b="1" dirty="0" lang="en-US"/>
              <a:t>systemic circuit</a:t>
            </a:r>
          </a:p>
          <a:p>
            <a:pPr eaLnBrk="1" hangingPunct="1">
              <a:defRPr/>
            </a:pPr>
            <a:endParaRPr dirty="0" lang="en-US">
              <a:ea typeface="+mn-ea"/>
              <a:cs typeface="+mn-cs"/>
            </a:endParaRPr>
          </a:p>
        </p:txBody>
      </p:sp>
    </p:spTree>
    <p:extLst>
      <p:ext uri="{BB962C8B-B14F-4D97-AF65-F5344CB8AC3E}">
        <p14:creationId xmlns:p14="http://schemas.microsoft.com/office/powerpoint/2010/main" val="4143458511"/>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1617" name="Title 6"/>
          <p:cNvSpPr>
            <a:spLocks noGrp="1"/>
          </p:cNvSpPr>
          <p:nvPr>
            <p:ph type="title"/>
          </p:nvPr>
        </p:nvSpPr>
        <p:spPr/>
        <p:txBody>
          <a:bodyPr/>
          <a:lstStyle/>
          <a:p>
            <a:pPr eaLnBrk="1" hangingPunct="1"/>
            <a:r>
              <a:rPr dirty="0" lang="en-US">
                <a:latin charset="0" typeface="Arial"/>
              </a:rPr>
              <a:t>The Pulmonary and Systemic Circuits (cont.)</a:t>
            </a:r>
          </a:p>
        </p:txBody>
      </p:sp>
      <p:sp>
        <p:nvSpPr>
          <p:cNvPr id="111618" name="Rectangle 5"/>
          <p:cNvSpPr>
            <a:spLocks noChangeArrowheads="1" noGrp="1"/>
          </p:cNvSpPr>
          <p:nvPr>
            <p:ph idx="1"/>
          </p:nvPr>
        </p:nvSpPr>
        <p:spPr/>
        <p:txBody>
          <a:bodyPr/>
          <a:lstStyle/>
          <a:p>
            <a:pPr eaLnBrk="1" hangingPunct="1"/>
            <a:r>
              <a:rPr dirty="0" lang="en-US" sz="2800">
                <a:latin charset="0" panose="02020603050405020304" pitchFamily="18" typeface="Times New Roman"/>
                <a:cs charset="0" panose="02020603050405020304" pitchFamily="18" typeface="Times New Roman"/>
              </a:rPr>
              <a:t>Receiving chambers of heart</a:t>
            </a:r>
          </a:p>
          <a:p>
            <a:pPr eaLnBrk="1" hangingPunct="1" lvl="1"/>
            <a:r>
              <a:rPr b="1" dirty="0" lang="en-US" sz="2400">
                <a:latin charset="0" panose="02020603050405020304" pitchFamily="18" typeface="Times New Roman"/>
                <a:cs charset="0" panose="02020603050405020304" pitchFamily="18" typeface="Times New Roman"/>
              </a:rPr>
              <a:t>Right atrium  </a:t>
            </a:r>
          </a:p>
          <a:p>
            <a:pPr eaLnBrk="1" hangingPunct="1" lvl="2"/>
            <a:r>
              <a:rPr dirty="0" lang="en-US" sz="2400">
                <a:latin charset="0" panose="02020603050405020304" pitchFamily="18" typeface="Times New Roman"/>
                <a:cs charset="0" panose="02020603050405020304" pitchFamily="18" typeface="Times New Roman"/>
              </a:rPr>
              <a:t>Receives blood returning from systemic circuit</a:t>
            </a:r>
          </a:p>
          <a:p>
            <a:pPr eaLnBrk="1" hangingPunct="1" lvl="1"/>
            <a:r>
              <a:rPr b="1" dirty="0" lang="en-US" sz="2400">
                <a:latin charset="0" panose="02020603050405020304" pitchFamily="18" typeface="Times New Roman"/>
                <a:cs charset="0" panose="02020603050405020304" pitchFamily="18" typeface="Times New Roman"/>
              </a:rPr>
              <a:t>Left atrium</a:t>
            </a:r>
          </a:p>
          <a:p>
            <a:pPr eaLnBrk="1" hangingPunct="1" lvl="2"/>
            <a:r>
              <a:rPr dirty="0" lang="en-US" sz="2400">
                <a:latin charset="0" panose="02020603050405020304" pitchFamily="18" typeface="Times New Roman"/>
                <a:cs charset="0" panose="02020603050405020304" pitchFamily="18" typeface="Times New Roman"/>
              </a:rPr>
              <a:t>Receives blood returning from pulmonary circuit</a:t>
            </a:r>
          </a:p>
          <a:p>
            <a:pPr eaLnBrk="1" hangingPunct="1"/>
            <a:r>
              <a:rPr dirty="0" lang="en-US" sz="2800">
                <a:latin charset="0" panose="02020603050405020304" pitchFamily="18" typeface="Times New Roman"/>
                <a:cs charset="0" panose="02020603050405020304" pitchFamily="18" typeface="Times New Roman"/>
              </a:rPr>
              <a:t>Pumping chambers of heart</a:t>
            </a:r>
          </a:p>
          <a:p>
            <a:pPr eaLnBrk="1" hangingPunct="1" lvl="1"/>
            <a:r>
              <a:rPr b="1" dirty="0" lang="en-US" sz="2400">
                <a:latin charset="0" panose="02020603050405020304" pitchFamily="18" typeface="Times New Roman"/>
                <a:cs charset="0" panose="02020603050405020304" pitchFamily="18" typeface="Times New Roman"/>
              </a:rPr>
              <a:t>Right ventricle</a:t>
            </a:r>
          </a:p>
          <a:p>
            <a:pPr eaLnBrk="1" hangingPunct="1" lvl="2"/>
            <a:r>
              <a:rPr dirty="0" lang="en-US" sz="2400">
                <a:latin charset="0" panose="02020603050405020304" pitchFamily="18" typeface="Times New Roman"/>
                <a:cs charset="0" panose="02020603050405020304" pitchFamily="18" typeface="Times New Roman"/>
              </a:rPr>
              <a:t>Pumps blood through pulmonary circuit</a:t>
            </a:r>
          </a:p>
          <a:p>
            <a:pPr eaLnBrk="1" hangingPunct="1" lvl="1"/>
            <a:r>
              <a:rPr b="1" dirty="0" lang="en-US" sz="2400">
                <a:latin charset="0" panose="02020603050405020304" pitchFamily="18" typeface="Times New Roman"/>
                <a:cs charset="0" panose="02020603050405020304" pitchFamily="18" typeface="Times New Roman"/>
              </a:rPr>
              <a:t>Left ventricle</a:t>
            </a:r>
          </a:p>
          <a:p>
            <a:pPr eaLnBrk="1" hangingPunct="1" lvl="2"/>
            <a:r>
              <a:rPr dirty="0" lang="en-US" sz="2400">
                <a:latin charset="0" panose="02020603050405020304" pitchFamily="18" typeface="Times New Roman"/>
                <a:cs charset="0" panose="02020603050405020304" pitchFamily="18" typeface="Times New Roman"/>
              </a:rPr>
              <a:t>Pumps blood through systemic circuit</a:t>
            </a:r>
          </a:p>
          <a:p>
            <a:pPr eaLnBrk="1" hangingPunct="1" lvl="2"/>
            <a:endParaRPr dirty="0" lang="en-US" sz="2400">
              <a:latin charset="0" panose="02020603050405020304" pitchFamily="18" typeface="Times New Roman"/>
              <a:cs charset="0" panose="02020603050405020304" pitchFamily="18" typeface="Times New Roman"/>
            </a:endParaRPr>
          </a:p>
        </p:txBody>
      </p:sp>
    </p:spTree>
    <p:extLst>
      <p:ext uri="{BB962C8B-B14F-4D97-AF65-F5344CB8AC3E}">
        <p14:creationId xmlns:p14="http://schemas.microsoft.com/office/powerpoint/2010/main" val="651170730"/>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3666" name="Title 3"/>
          <p:cNvSpPr>
            <a:spLocks noGrp="1"/>
          </p:cNvSpPr>
          <p:nvPr>
            <p:ph type="title"/>
          </p:nvPr>
        </p:nvSpPr>
        <p:spPr>
          <a:xfrm>
            <a:off x="17463" y="279917"/>
            <a:ext cx="3729826" cy="1903446"/>
          </a:xfrm>
        </p:spPr>
        <p:txBody>
          <a:bodyPr/>
          <a:lstStyle/>
          <a:p>
            <a:pPr eaLnBrk="1" hangingPunct="1"/>
            <a:r>
              <a:rPr dirty="0" lang="en-US">
                <a:latin charset="0" typeface="Arial"/>
              </a:rPr>
              <a:t>The systemic and pulmonary circuits.</a:t>
            </a:r>
          </a:p>
        </p:txBody>
      </p:sp>
      <p:pic>
        <p:nvPicPr>
          <p:cNvPr descr="This figure shows the pulmonary and systemic circuits as two interconnected loops. The loop on top is the pulmonary circuit with a drawing of the lungs. The loop on the bottom is the systemic circuit with a drawing of the entire human body. In the center of the figure, between the two loops, is a drawing of the heart.  Figure also shows the right side of the heart pumps blood through the pulmonary circuit and the left side of the heart pumps blood through the systemic circuit.  Figure contains arrows that indicate direction of blood flow.   -  Systemic circuit:  capillaries of the systemic circuit carry oxygen-poor blood (shown in blue) from body  tissues into veins, then into the venae cavae, and returned to the right atrium, then into right ventricle, then into pulmonary arteries to enter the pulmonary circuit where blood is carried to lungs.  - Pulmonary circuit:  oxygen-poor blood enters capillary beds of lungs where gas exchange occurs.  Oxygen-rich blood (shown in red) then exits from the lungs, and flows through pulmonary veins left atrium, then into left ventricle which pumps blood into the systemic circuit via the aorta that branches as it travels to the rest of the body starting systemic circuit again." id="2" name="Picture 1">
            <a:extLst>
              <a:ext uri="{FF2B5EF4-FFF2-40B4-BE49-F238E27FC236}">
                <a16:creationId xmlns:a16="http://schemas.microsoft.com/office/drawing/2014/main" id="{815C222A-FCF6-00E4-EE1B-532B67ADB6B5}"/>
              </a:ext>
            </a:extLst>
          </p:cNvPr>
          <p:cNvPicPr>
            <a:picLocks noChangeAspect="1"/>
          </p:cNvPicPr>
          <p:nvPr/>
        </p:nvPicPr>
        <p:blipFill rotWithShape="1">
          <a:blip r:embed="rId3">
            <a:extLst>
              <a:ext uri="{28A0092B-C50C-407E-A947-70E740481C1C}">
                <a14:useLocalDpi xmlns:a14="http://schemas.microsoft.com/office/drawing/2010/main" val="0"/>
              </a:ext>
            </a:extLst>
          </a:blip>
          <a:srcRect b="1795"/>
          <a:stretch/>
        </p:blipFill>
        <p:spPr>
          <a:xfrm>
            <a:off x="4718191" y="-23142"/>
            <a:ext cx="4108567" cy="6881142"/>
          </a:xfrm>
          <a:prstGeom prst="rect">
            <a:avLst/>
          </a:prstGeom>
        </p:spPr>
      </p:pic>
    </p:spTree>
    <p:extLst>
      <p:ext uri="{BB962C8B-B14F-4D97-AF65-F5344CB8AC3E}">
        <p14:creationId xmlns:p14="http://schemas.microsoft.com/office/powerpoint/2010/main" val="1722069155"/>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7090" name="Rectangle 2"/>
          <p:cNvSpPr>
            <a:spLocks noChangeArrowheads="1" noGrp="1"/>
          </p:cNvSpPr>
          <p:nvPr>
            <p:ph type="title"/>
          </p:nvPr>
        </p:nvSpPr>
        <p:spPr/>
        <p:txBody>
          <a:bodyPr/>
          <a:lstStyle/>
          <a:p>
            <a:r>
              <a:rPr altLang="en-US" lang="en-US"/>
              <a:t>Heart Anatomy</a:t>
            </a:r>
          </a:p>
        </p:txBody>
      </p:sp>
      <p:pic>
        <p:nvPicPr>
          <p:cNvPr descr="Part (a) is an illustration that shows relationship of the heart to the sternum, ribs and diaphragm in a person who is lying down.  Heart is slightly inferior to this position in a standing person." id="2" name="Picture 1">
            <a:extLst>
              <a:ext uri="{FF2B5EF4-FFF2-40B4-BE49-F238E27FC236}">
                <a16:creationId xmlns:a16="http://schemas.microsoft.com/office/drawing/2014/main" id="{5F2F391F-238E-63B6-6B57-0EC1D54C81CB}"/>
              </a:ext>
            </a:extLst>
          </p:cNvPr>
          <p:cNvPicPr>
            <a:picLocks noChangeAspect="1"/>
          </p:cNvPicPr>
          <p:nvPr/>
        </p:nvPicPr>
        <p:blipFill rotWithShape="1">
          <a:blip r:embed="rId2">
            <a:extLst>
              <a:ext uri="{28A0092B-C50C-407E-A947-70E740481C1C}">
                <a14:useLocalDpi xmlns:a14="http://schemas.microsoft.com/office/drawing/2010/main" val="0"/>
              </a:ext>
            </a:extLst>
          </a:blip>
          <a:srcRect b="3548"/>
          <a:stretch/>
        </p:blipFill>
        <p:spPr>
          <a:xfrm>
            <a:off x="2525908" y="871538"/>
            <a:ext cx="6618092" cy="4143555"/>
          </a:xfrm>
          <a:prstGeom prst="rect">
            <a:avLst/>
          </a:prstGeom>
        </p:spPr>
      </p:pic>
      <p:pic>
        <p:nvPicPr>
          <p:cNvPr descr="Part (b) is an illustration of inferior view of a cross section showing heart’s relative position in the thorax." id="3" name="Picture 2">
            <a:extLst>
              <a:ext uri="{FF2B5EF4-FFF2-40B4-BE49-F238E27FC236}">
                <a16:creationId xmlns:a16="http://schemas.microsoft.com/office/drawing/2014/main" id="{5D2DEEA2-9EBD-B3CB-D731-AE6CF00C33C1}"/>
              </a:ext>
            </a:extLst>
          </p:cNvPr>
          <p:cNvPicPr>
            <a:picLocks noChangeAspect="1"/>
          </p:cNvPicPr>
          <p:nvPr/>
        </p:nvPicPr>
        <p:blipFill rotWithShape="1">
          <a:blip r:embed="rId3">
            <a:extLst>
              <a:ext uri="{28A0092B-C50C-407E-A947-70E740481C1C}">
                <a14:useLocalDpi xmlns:a14="http://schemas.microsoft.com/office/drawing/2010/main" val="0"/>
              </a:ext>
            </a:extLst>
          </a:blip>
          <a:srcRect b="3544"/>
          <a:stretch/>
        </p:blipFill>
        <p:spPr>
          <a:xfrm>
            <a:off x="304800" y="3638939"/>
            <a:ext cx="3615629" cy="3142861"/>
          </a:xfrm>
          <a:prstGeom prst="rect">
            <a:avLst/>
          </a:prstGeom>
        </p:spPr>
      </p:pic>
    </p:spTree>
  </p:cSld>
  <p:clrMapOvr>
    <a:masterClrMapping/>
  </p:clrMapOvr>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20162" name="Rectangle 2"/>
          <p:cNvSpPr>
            <a:spLocks noChangeArrowheads="1" noGrp="1"/>
          </p:cNvSpPr>
          <p:nvPr>
            <p:ph type="title"/>
          </p:nvPr>
        </p:nvSpPr>
        <p:spPr/>
        <p:txBody>
          <a:bodyPr/>
          <a:lstStyle/>
          <a:p>
            <a:r>
              <a:rPr altLang="en-US" lang="en-US"/>
              <a:t>Pericardial Layers of the Heart</a:t>
            </a:r>
          </a:p>
        </p:txBody>
      </p:sp>
      <p:sp>
        <p:nvSpPr>
          <p:cNvPr id="220165" name="Text Box 5"/>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lgn="r"/>
            <a:r>
              <a:rPr altLang="en-US" b="1" lang="en-US" sz="1200">
                <a:solidFill>
                  <a:schemeClr val="accent2"/>
                </a:solidFill>
                <a:latin charset="0" panose="020B0604020202020204" pitchFamily="34" typeface="Arial"/>
              </a:rPr>
              <a:t>Figure 18.2</a:t>
            </a:r>
          </a:p>
        </p:txBody>
      </p:sp>
      <p:pic>
        <p:nvPicPr>
          <p:cNvPr descr="This figure is an illustration of the layers of pericardium.  Shown is a cross section of the heart showing location of pericardium and myocardium.  Other figure is an enlargement of a small section of the outer wall of the heart near the pulmonary trunk.  Enlarged view shows fibrous pericardium, parietal layer of serous pericardium, pericardial cavity, heart wall (made up of epicardium (visceral layer of serous pericardium), myocardium, and endocardium), and heart chamber." id="2" name="Picture 1">
            <a:extLst>
              <a:ext uri="{FF2B5EF4-FFF2-40B4-BE49-F238E27FC236}">
                <a16:creationId xmlns:a16="http://schemas.microsoft.com/office/drawing/2014/main" id="{B9D440CE-21F7-95BA-5124-1C7988FC265D}"/>
              </a:ext>
            </a:extLst>
          </p:cNvPr>
          <p:cNvPicPr>
            <a:picLocks noChangeAspect="1"/>
          </p:cNvPicPr>
          <p:nvPr/>
        </p:nvPicPr>
        <p:blipFill rotWithShape="1">
          <a:blip r:embed="rId2">
            <a:extLst>
              <a:ext uri="{28A0092B-C50C-407E-A947-70E740481C1C}">
                <a14:useLocalDpi xmlns:a14="http://schemas.microsoft.com/office/drawing/2010/main" val="0"/>
              </a:ext>
            </a:extLst>
          </a:blip>
          <a:srcRect b="3194"/>
          <a:stretch/>
        </p:blipFill>
        <p:spPr>
          <a:xfrm>
            <a:off x="207503" y="2045207"/>
            <a:ext cx="8737803" cy="3086630"/>
          </a:xfrm>
          <a:prstGeom prst="rect">
            <a:avLst/>
          </a:prstGeom>
        </p:spPr>
      </p:pic>
    </p:spTree>
  </p:cSld>
  <p:clrMapOvr>
    <a:masterClrMapping/>
  </p:clrMapOvr>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1073" name="Title 1"/>
          <p:cNvSpPr>
            <a:spLocks noGrp="1"/>
          </p:cNvSpPr>
          <p:nvPr>
            <p:ph type="title"/>
          </p:nvPr>
        </p:nvSpPr>
        <p:spPr/>
        <p:txBody>
          <a:bodyPr/>
          <a:lstStyle/>
          <a:p>
            <a:pPr eaLnBrk="1" hangingPunct="1"/>
            <a:r>
              <a:rPr altLang="en-US" dirty="0" lang="en-US">
                <a:solidFill>
                  <a:srgbClr val="000000"/>
                </a:solidFill>
              </a:rPr>
              <a:t>Clinical – </a:t>
            </a:r>
            <a:r>
              <a:rPr altLang="en-US" dirty="0" lang="en-US">
                <a:solidFill>
                  <a:srgbClr val="000000"/>
                </a:solidFill>
              </a:rPr>
              <a:t>Homeostatic Imbalance 18.1</a:t>
            </a:r>
            <a:endParaRPr dirty="0" lang="en-US">
              <a:latin charset="0" typeface="Arial"/>
            </a:endParaRPr>
          </a:p>
        </p:txBody>
      </p:sp>
      <p:sp>
        <p:nvSpPr>
          <p:cNvPr id="131074" name="Content Placeholder 2"/>
          <p:cNvSpPr>
            <a:spLocks noGrp="1"/>
          </p:cNvSpPr>
          <p:nvPr>
            <p:ph idx="1"/>
          </p:nvPr>
        </p:nvSpPr>
        <p:spPr>
          <a:xfrm>
            <a:off x="298450" y="876300"/>
            <a:ext cx="8270875" cy="5056188"/>
          </a:xfrm>
        </p:spPr>
        <p:txBody>
          <a:bodyPr/>
          <a:lstStyle/>
          <a:p>
            <a:pPr eaLnBrk="1" hangingPunct="1"/>
            <a:r>
              <a:rPr dirty="0" i="1" lang="en-US"/>
              <a:t>Pericarditis</a:t>
            </a:r>
          </a:p>
          <a:p>
            <a:pPr eaLnBrk="1" hangingPunct="1" lvl="1"/>
            <a:r>
              <a:rPr dirty="0" lang="en-US"/>
              <a:t>Inflammation of pericardium</a:t>
            </a:r>
          </a:p>
          <a:p>
            <a:pPr eaLnBrk="1" hangingPunct="1" lvl="1"/>
            <a:r>
              <a:rPr dirty="0" lang="en-US"/>
              <a:t>Roughens membrane surfaces, </a:t>
            </a:r>
            <a:r>
              <a:rPr dirty="0" lang="en-US">
                <a:sym charset="0" typeface="Wingdings"/>
              </a:rPr>
              <a:t>causing </a:t>
            </a:r>
            <a:r>
              <a:rPr b="1" dirty="0" lang="en-US">
                <a:sym charset="0" typeface="Wingdings"/>
              </a:rPr>
              <a:t>pericardial friction rub </a:t>
            </a:r>
            <a:r>
              <a:rPr dirty="0" lang="en-US">
                <a:sym charset="0" typeface="Wingdings"/>
              </a:rPr>
              <a:t>(creaking sound) heard with stethoscope</a:t>
            </a:r>
          </a:p>
          <a:p>
            <a:pPr eaLnBrk="1" hangingPunct="1" lvl="1"/>
            <a:r>
              <a:rPr dirty="0" i="1" lang="en-US">
                <a:sym charset="0" typeface="Wingdings"/>
              </a:rPr>
              <a:t>Cardiac </a:t>
            </a:r>
            <a:r>
              <a:rPr dirty="0" err="1" i="1" lang="en-US">
                <a:sym charset="0" typeface="Wingdings"/>
              </a:rPr>
              <a:t>tamponade</a:t>
            </a:r>
            <a:endParaRPr dirty="0" i="1" lang="en-US">
              <a:sym charset="0" typeface="Wingdings"/>
            </a:endParaRPr>
          </a:p>
          <a:p>
            <a:pPr eaLnBrk="1" hangingPunct="1" lvl="2"/>
            <a:r>
              <a:rPr dirty="0" lang="en-US">
                <a:sym charset="0" typeface="Wingdings"/>
              </a:rPr>
              <a:t>Excess fluid that leaks into pericardial space</a:t>
            </a:r>
          </a:p>
          <a:p>
            <a:pPr eaLnBrk="1" hangingPunct="1" lvl="2"/>
            <a:r>
              <a:rPr dirty="0" lang="en-US">
                <a:sym charset="0" typeface="Wingdings"/>
              </a:rPr>
              <a:t>Can compress heart’s pumping ability</a:t>
            </a:r>
          </a:p>
          <a:p>
            <a:pPr eaLnBrk="1" hangingPunct="1" lvl="2"/>
            <a:r>
              <a:rPr dirty="0" lang="en-US">
                <a:sym charset="0" typeface="Wingdings"/>
              </a:rPr>
              <a:t>Treatment: fluid is drawn out of cavity (usually with syringe)</a:t>
            </a:r>
            <a:endParaRPr dirty="0" lang="en-US"/>
          </a:p>
          <a:p>
            <a:pPr eaLnBrk="1" hangingPunct="1" lvl="3"/>
            <a:endParaRPr dirty="0" lang="en-US"/>
          </a:p>
        </p:txBody>
      </p:sp>
    </p:spTree>
    <p:extLst>
      <p:ext uri="{BB962C8B-B14F-4D97-AF65-F5344CB8AC3E}">
        <p14:creationId xmlns:p14="http://schemas.microsoft.com/office/powerpoint/2010/main" val="582295339"/>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21186" name="Rectangle 2"/>
          <p:cNvSpPr>
            <a:spLocks noChangeArrowheads="1" noGrp="1"/>
          </p:cNvSpPr>
          <p:nvPr>
            <p:ph type="title"/>
          </p:nvPr>
        </p:nvSpPr>
        <p:spPr/>
        <p:txBody>
          <a:bodyPr/>
          <a:lstStyle/>
          <a:p>
            <a:r>
              <a:rPr altLang="en-US" lang="en-US"/>
              <a:t>Heart Wall</a:t>
            </a:r>
          </a:p>
        </p:txBody>
      </p:sp>
      <p:sp>
        <p:nvSpPr>
          <p:cNvPr id="221187" name="Rectangle 3"/>
          <p:cNvSpPr>
            <a:spLocks noChangeArrowheads="1" noGrp="1"/>
          </p:cNvSpPr>
          <p:nvPr>
            <p:ph idx="1" type="body"/>
          </p:nvPr>
        </p:nvSpPr>
        <p:spPr/>
        <p:txBody>
          <a:bodyPr/>
          <a:lstStyle/>
          <a:p>
            <a:r>
              <a:rPr altLang="en-US" b="1" lang="en-US">
                <a:solidFill>
                  <a:srgbClr val="000000"/>
                </a:solidFill>
              </a:rPr>
              <a:t>Epicardium</a:t>
            </a:r>
            <a:r>
              <a:rPr altLang="en-US" lang="en-US">
                <a:solidFill>
                  <a:srgbClr val="000000"/>
                </a:solidFill>
              </a:rPr>
              <a:t> – visceral layer of the serous pericardium</a:t>
            </a:r>
          </a:p>
          <a:p>
            <a:r>
              <a:rPr altLang="en-US" b="1" lang="en-US">
                <a:solidFill>
                  <a:srgbClr val="000000"/>
                </a:solidFill>
              </a:rPr>
              <a:t>Myocardium</a:t>
            </a:r>
            <a:r>
              <a:rPr altLang="en-US" lang="en-US">
                <a:solidFill>
                  <a:srgbClr val="000000"/>
                </a:solidFill>
              </a:rPr>
              <a:t> – cardiac muscle layer forming the bulk of the heart</a:t>
            </a:r>
          </a:p>
          <a:p>
            <a:r>
              <a:rPr altLang="en-US" lang="en-US">
                <a:solidFill>
                  <a:srgbClr val="000000"/>
                </a:solidFill>
              </a:rPr>
              <a:t>Fibrous skeleton of the heart – crisscrossing, interlacing layer of connective tissue</a:t>
            </a:r>
          </a:p>
          <a:p>
            <a:r>
              <a:rPr altLang="en-US" b="1" lang="en-US"/>
              <a:t>Endocardium</a:t>
            </a:r>
            <a:r>
              <a:rPr altLang="en-US" lang="en-US"/>
              <a:t> – endothelial layer of the inner myocardial surface</a:t>
            </a:r>
          </a:p>
        </p:txBody>
      </p:sp>
    </p:spTree>
  </p:cSld>
  <p:clrMapOvr>
    <a:masterClrMapping/>
  </p:clrMapOvr>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6178" name="Rectangle 2"/>
          <p:cNvSpPr>
            <a:spLocks noChangeArrowheads="1" noGrp="1"/>
          </p:cNvSpPr>
          <p:nvPr>
            <p:ph type="title"/>
          </p:nvPr>
        </p:nvSpPr>
        <p:spPr/>
        <p:txBody>
          <a:bodyPr/>
          <a:lstStyle/>
          <a:p>
            <a:r>
              <a:rPr altLang="en-US" lang="en-US"/>
              <a:t>Cardiac Muscle Bundles</a:t>
            </a:r>
          </a:p>
        </p:txBody>
      </p:sp>
      <p:pic>
        <p:nvPicPr>
          <p:cNvPr descr="This figure shows an outline of the heart with the three great vessels branching from it. One group of cardiac muscle bundles wraps around the aorta and connects with another group of cardiac muscle bundles that wrap around the pulmonary trunk. Both groups of cardiac muscle bundles extend downward into the apex of the heart in a continuous loop. The muscle bundles from the aorta extend downward diagonally across the anterior surface of the heart, and then angle upward along the posterior surface of the heart to the cardiac muscle bundles encircling the pulmonary trunk." id="2" name="Picture 1">
            <a:extLst>
              <a:ext uri="{FF2B5EF4-FFF2-40B4-BE49-F238E27FC236}">
                <a16:creationId xmlns:a16="http://schemas.microsoft.com/office/drawing/2014/main" id="{508CB839-AFD4-80E2-C3FD-6D574FD97A81}"/>
              </a:ext>
            </a:extLst>
          </p:cNvPr>
          <p:cNvPicPr>
            <a:picLocks noChangeAspect="1"/>
          </p:cNvPicPr>
          <p:nvPr/>
        </p:nvPicPr>
        <p:blipFill rotWithShape="1">
          <a:blip r:embed="rId2">
            <a:extLst>
              <a:ext uri="{28A0092B-C50C-407E-A947-70E740481C1C}">
                <a14:useLocalDpi xmlns:a14="http://schemas.microsoft.com/office/drawing/2010/main" val="0"/>
              </a:ext>
            </a:extLst>
          </a:blip>
          <a:srcRect b="3501"/>
          <a:stretch/>
        </p:blipFill>
        <p:spPr>
          <a:xfrm>
            <a:off x="2519266" y="1232093"/>
            <a:ext cx="4422710" cy="504579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DD8E7A-01D1-EDFF-1C15-254B6D5E7238}"/>
              </a:ext>
            </a:extLst>
          </p:cNvPr>
          <p:cNvSpPr>
            <a:spLocks noGrp="1"/>
          </p:cNvSpPr>
          <p:nvPr>
            <p:ph type="title"/>
          </p:nvPr>
        </p:nvSpPr>
        <p:spPr>
          <a:xfrm>
            <a:off x="354289" y="359162"/>
            <a:ext cx="8435422" cy="553998"/>
          </a:xfrm>
        </p:spPr>
        <p:txBody>
          <a:bodyPr wrap="square">
            <a:spAutoFit/>
          </a:bodyPr>
          <a:lstStyle/>
          <a:p>
            <a:r>
              <a:rPr dirty="0" lang="en-US">
                <a:latin typeface="Times New Roman"/>
              </a:rPr>
              <a:t>Gross Anatomy of the Heart </a:t>
            </a:r>
            <a:r>
              <a:rPr dirty="0" lang="en-US" sz="2800">
                <a:latin typeface="Times New Roman"/>
              </a:rPr>
              <a:t>pt 1</a:t>
            </a:r>
            <a:endParaRPr dirty="0" lang="en-IN" sz="2800">
              <a:latin typeface="Times New Roman"/>
            </a:endParaRPr>
          </a:p>
        </p:txBody>
      </p:sp>
      <p:pic>
        <p:nvPicPr>
          <p:cNvPr descr="Part (b) is a diagram that correlates with Part (a) view showing major structures of the heart from an anterior view.  Vessels with oxygen-rich blood are shown in red, while oxygen-poor vessels are shown in blue.  Labels include brachiocephalic trunk, superior vena cava, right pulmonary artery, ascending aorta, pulmonary trunk, right pulmonary veins, right atrium, right coronary artery (in coronary sulcus), anterior cardiac vein, right ventricle, right marginal artery, small cardiac vein, inferior vena cava, left common carotid artery, left subclavian artery, aortic arch, ligamentum arteriosum, left pulmonary artery, left pulmonary veins, auricle of left atrium, circumflex artery, left coronary artery (in coronary sulcus), left ventricle, great cardiac vein, anterior interventricular artery (in anterior interventricular sulcus), apex." id="2" name="Picture 2">
            <a:extLst>
              <a:ext uri="{FF2B5EF4-FFF2-40B4-BE49-F238E27FC236}">
                <a16:creationId xmlns:a16="http://schemas.microsoft.com/office/drawing/2014/main" id="{00FD54EE-8366-9C4F-7E2A-96A1C7B2E2E5}"/>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2933"/>
          <a:stretch/>
        </p:blipFill>
        <p:spPr bwMode="auto">
          <a:xfrm>
            <a:off x="177281" y="937399"/>
            <a:ext cx="7259215" cy="58226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descr="Part (d) is a diagram of posterior view of heart showing aorta, left pulmonary artery, left pulmonary veins, auricle of left atrium, left atrium, great cardiac vein, posterior vein of left ventricle, left ventricle, apex, superior vena cava, right pulmonary artery, right pulmonary veins, right atrium, inferior vena cava, coronary sinus, right coronary artery (in coronary sulcus), posterior interventricular artery (in posterior interventricular sulcus), middle cardiac vein and right ventricle." id="2" name="Picture 2">
            <a:extLst>
              <a:ext uri="{FF2B5EF4-FFF2-40B4-BE49-F238E27FC236}">
                <a16:creationId xmlns:a16="http://schemas.microsoft.com/office/drawing/2014/main" id="{AC728136-DE7D-7A68-0766-52003E19A692}"/>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2760"/>
          <a:stretch/>
        </p:blipFill>
        <p:spPr bwMode="auto">
          <a:xfrm>
            <a:off x="961053" y="684630"/>
            <a:ext cx="7221894" cy="581420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E731E011-014A-F6FB-D1AE-BF8A039F19B2}"/>
              </a:ext>
            </a:extLst>
          </p:cNvPr>
          <p:cNvSpPr>
            <a:spLocks noGrp="1"/>
          </p:cNvSpPr>
          <p:nvPr>
            <p:ph type="title"/>
          </p:nvPr>
        </p:nvSpPr>
        <p:spPr>
          <a:xfrm>
            <a:off x="354289" y="359162"/>
            <a:ext cx="8435422" cy="553998"/>
          </a:xfrm>
        </p:spPr>
        <p:txBody>
          <a:bodyPr wrap="square">
            <a:spAutoFit/>
          </a:bodyPr>
          <a:lstStyle/>
          <a:p>
            <a:r>
              <a:rPr dirty="0" lang="en-US">
                <a:latin typeface="Times New Roman"/>
              </a:rPr>
              <a:t>Gross Anatomy of the Heart </a:t>
            </a:r>
            <a:r>
              <a:rPr dirty="0" lang="en-US" sz="2800">
                <a:latin typeface="Times New Roman"/>
              </a:rPr>
              <a:t>pt 2</a:t>
            </a:r>
            <a:endParaRPr dirty="0" lang="en-IN" sz="2800">
              <a:latin typeface="Times New Roman"/>
            </a:endParaRPr>
          </a:p>
        </p:txBody>
      </p:sp>
    </p:spTree>
  </p:cSld>
  <p:clrMapOvr>
    <a:masterClrMapping/>
  </p:clrMapOvr>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E650643-BBB0-8FF3-CF90-6A943013AE59}"/>
              </a:ext>
            </a:extLst>
          </p:cNvPr>
          <p:cNvSpPr>
            <a:spLocks noGrp="1"/>
          </p:cNvSpPr>
          <p:nvPr>
            <p:ph type="title"/>
          </p:nvPr>
        </p:nvSpPr>
        <p:spPr>
          <a:xfrm>
            <a:off x="354289" y="359162"/>
            <a:ext cx="8435422" cy="553998"/>
          </a:xfrm>
        </p:spPr>
        <p:txBody>
          <a:bodyPr wrap="square">
            <a:spAutoFit/>
          </a:bodyPr>
          <a:lstStyle/>
          <a:p>
            <a:r>
              <a:rPr dirty="0" lang="en-US">
                <a:latin typeface="Times New Roman"/>
              </a:rPr>
              <a:t>Gross Anatomy of the Heart </a:t>
            </a:r>
            <a:r>
              <a:rPr dirty="0" lang="en-US" sz="2800">
                <a:latin typeface="Times New Roman"/>
              </a:rPr>
              <a:t>pt 3</a:t>
            </a:r>
            <a:endParaRPr dirty="0" lang="en-IN" sz="2800">
              <a:latin typeface="Times New Roman"/>
            </a:endParaRPr>
          </a:p>
        </p:txBody>
      </p:sp>
      <p:pic>
        <p:nvPicPr>
          <p:cNvPr descr="Part (e) is a diagram of a frontal section of heart showing the following structures:  superior vena cava, right pulmonary artery, pulmonary trunk, right atrium, right pulmonary veins, fossa ovalis, pectinate muscles, tricuspid valve, right ventricle, chordate tendinae, trabeculae carneae, inferior vena cava, aorta, left pulmonary artery, left atrium, left pulmonary veins, mitral (bicuspid) valve, aortic valve, pulmonary valve, left ventricle, papillary muscle, interventricular septum, epicardium, myocardium, and endocardium." id="3" name="Picture 2">
            <a:extLst>
              <a:ext uri="{FF2B5EF4-FFF2-40B4-BE49-F238E27FC236}">
                <a16:creationId xmlns:a16="http://schemas.microsoft.com/office/drawing/2014/main" id="{0DA9635F-40E7-D1DD-B329-76461F634BFB}"/>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2171"/>
          <a:stretch/>
        </p:blipFill>
        <p:spPr bwMode="auto">
          <a:xfrm>
            <a:off x="1380931" y="1483179"/>
            <a:ext cx="6326155" cy="50156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88772" name="Rectangle 4"/>
          <p:cNvSpPr>
            <a:spLocks noChangeArrowheads="1" noGrp="1"/>
          </p:cNvSpPr>
          <p:nvPr>
            <p:ph type="title"/>
          </p:nvPr>
        </p:nvSpPr>
        <p:spPr/>
        <p:txBody>
          <a:bodyPr/>
          <a:lstStyle/>
          <a:p>
            <a:r>
              <a:rPr altLang="en-US" lang="en-US"/>
              <a:t>Atria of the Heart</a:t>
            </a:r>
          </a:p>
        </p:txBody>
      </p:sp>
      <p:sp>
        <p:nvSpPr>
          <p:cNvPr id="288773" name="Rectangle 5"/>
          <p:cNvSpPr>
            <a:spLocks noChangeArrowheads="1" noGrp="1"/>
          </p:cNvSpPr>
          <p:nvPr>
            <p:ph idx="1" type="body"/>
          </p:nvPr>
        </p:nvSpPr>
        <p:spPr/>
        <p:txBody>
          <a:bodyPr/>
          <a:lstStyle/>
          <a:p>
            <a:r>
              <a:rPr altLang="en-US" lang="en-US"/>
              <a:t>Atria are the receiving chambers of the heart</a:t>
            </a:r>
          </a:p>
          <a:p>
            <a:r>
              <a:rPr altLang="en-US" lang="en-US"/>
              <a:t>Each atrium has a protruding auricle</a:t>
            </a:r>
          </a:p>
          <a:p>
            <a:r>
              <a:rPr altLang="en-US" b="1" lang="en-US"/>
              <a:t>Pectinate</a:t>
            </a:r>
            <a:r>
              <a:rPr altLang="en-US" lang="en-US"/>
              <a:t> muscles mark atrial walls</a:t>
            </a:r>
          </a:p>
          <a:p>
            <a:r>
              <a:rPr altLang="en-US" lang="en-US"/>
              <a:t>Blood enters right atria from superior and inferior venae cavae and coronary sinus</a:t>
            </a:r>
          </a:p>
          <a:p>
            <a:r>
              <a:rPr altLang="en-US" lang="en-US"/>
              <a:t>Blood enters left atria from pulmonary veins</a:t>
            </a:r>
          </a:p>
        </p:txBody>
      </p:sp>
    </p:spTree>
  </p:cSld>
  <p:clrMapOvr>
    <a:masterClrMapping/>
  </p:clrMapOvr>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89796" name="Rectangle 4"/>
          <p:cNvSpPr>
            <a:spLocks noChangeArrowheads="1" noGrp="1"/>
          </p:cNvSpPr>
          <p:nvPr>
            <p:ph type="title"/>
          </p:nvPr>
        </p:nvSpPr>
        <p:spPr/>
        <p:txBody>
          <a:bodyPr/>
          <a:lstStyle/>
          <a:p>
            <a:r>
              <a:rPr altLang="en-US" lang="en-US"/>
              <a:t>Ventricles of the Heart</a:t>
            </a:r>
          </a:p>
        </p:txBody>
      </p:sp>
      <p:sp>
        <p:nvSpPr>
          <p:cNvPr id="289797" name="Rectangle 5"/>
          <p:cNvSpPr>
            <a:spLocks noChangeArrowheads="1" noGrp="1"/>
          </p:cNvSpPr>
          <p:nvPr>
            <p:ph idx="1" type="body"/>
          </p:nvPr>
        </p:nvSpPr>
        <p:spPr/>
        <p:txBody>
          <a:bodyPr/>
          <a:lstStyle/>
          <a:p>
            <a:r>
              <a:rPr altLang="en-US" lang="en-US"/>
              <a:t>Ventricles are the discharging chambers of the heart</a:t>
            </a:r>
          </a:p>
          <a:p>
            <a:r>
              <a:rPr altLang="en-US" b="1" lang="en-US"/>
              <a:t>Papillary muscles</a:t>
            </a:r>
            <a:r>
              <a:rPr altLang="en-US" lang="en-US"/>
              <a:t> and </a:t>
            </a:r>
            <a:r>
              <a:rPr altLang="en-US" b="1" lang="en-US"/>
              <a:t>trabeculae carneae</a:t>
            </a:r>
            <a:r>
              <a:rPr altLang="en-US" lang="en-US"/>
              <a:t> muscles mark ventricular walls</a:t>
            </a:r>
          </a:p>
          <a:p>
            <a:r>
              <a:rPr altLang="en-US" lang="en-US"/>
              <a:t>Right ventricle pumps blood into the pulmonary trunk</a:t>
            </a:r>
          </a:p>
          <a:p>
            <a:r>
              <a:rPr altLang="en-US" lang="en-US"/>
              <a:t>Left ventricle pumps blood into the aorta</a:t>
            </a:r>
          </a:p>
        </p:txBody>
      </p:sp>
    </p:spTree>
  </p:cSld>
  <p:clrMapOvr>
    <a:masterClrMapping/>
  </p:clrMapOvr>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26" name="Rectangle 2"/>
          <p:cNvSpPr>
            <a:spLocks noChangeArrowheads="1" noGrp="1"/>
          </p:cNvSpPr>
          <p:nvPr>
            <p:ph type="title"/>
          </p:nvPr>
        </p:nvSpPr>
        <p:spPr/>
        <p:txBody>
          <a:bodyPr/>
          <a:lstStyle/>
          <a:p>
            <a:r>
              <a:rPr altLang="en-US" lang="en-US"/>
              <a:t>Right and Left Ventricles</a:t>
            </a:r>
          </a:p>
        </p:txBody>
      </p:sp>
      <p:pic>
        <p:nvPicPr>
          <p:cNvPr descr="This figure is an illustration of an anterior view of the whole heart with a transverse cut through the center and upper section raised up in order to see musculature of lower section. Left ventricle wall is thicker than the right ventricle and has a round shape. Right ventricle wall is thinner than left ventricle and has a crescent shape that wraps around the left ventricle ventrally. " id="2" name="Picture 2">
            <a:extLst>
              <a:ext uri="{FF2B5EF4-FFF2-40B4-BE49-F238E27FC236}">
                <a16:creationId xmlns:a16="http://schemas.microsoft.com/office/drawing/2014/main" id="{D9E9CF20-4406-7BBC-AA9E-B86598ABDDF9}"/>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4282"/>
          <a:stretch/>
        </p:blipFill>
        <p:spPr bwMode="auto">
          <a:xfrm>
            <a:off x="319232" y="1850881"/>
            <a:ext cx="8727508" cy="38781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1848" name="Rectangle 8">
            <a:extLst>
              <a:ext uri="{C183D7F6-B498-43B3-948B-1728B52AA6E4}">
                <adec:decorative xmlns:adec="http://schemas.microsoft.com/office/drawing/2017/decorative" val="1"/>
              </a:ext>
            </a:extLst>
          </p:cNvPr>
          <p:cNvSpPr>
            <a:spLocks noChangeArrowheads="1"/>
          </p:cNvSpPr>
          <p:nvPr/>
        </p:nvSpPr>
        <p:spPr bwMode="auto">
          <a:xfrm>
            <a:off x="195263" y="149225"/>
            <a:ext cx="8809037" cy="2619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p>
            <a:endParaRPr lang="en-US"/>
          </a:p>
        </p:txBody>
      </p:sp>
      <p:sp>
        <p:nvSpPr>
          <p:cNvPr id="291849" name="Text Box 9"/>
          <p:cNvSpPr txBox="1">
            <a:spLocks noChangeArrowheads="1" noGrp="1"/>
          </p:cNvSpPr>
          <p:nvPr>
            <p:ph idx="4294967295" type="title"/>
          </p:nvPr>
        </p:nvSpPr>
        <p:spPr bwMode="auto">
          <a:xfrm>
            <a:off x="309563" y="268288"/>
            <a:ext cx="4262437" cy="1569660"/>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t" anchorCtr="0" bIns="45720" compatLnSpc="1" forceAA="0" fromWordArt="0" horzOverflow="overflow" lIns="91440" numCol="1" rIns="91440" rot="0" rtlCol="0" spcCol="0" spcFirstLastPara="0" tIns="45720" vert="horz" vertOverflow="overflow" wrap="square">
            <a:prstTxWarp prst="textNoShape">
              <a:avLst/>
            </a:prstTxWarp>
            <a:spAutoFit/>
          </a:bodyPr>
          <a:lstStyle/>
          <a:p>
            <a:pPr algn="l" defTabSz="914400" eaLnBrk="0" fontAlgn="base" hangingPunct="0" indent="0" latinLnBrk="0" lvl="0" marL="0" marR="0" rtl="0">
              <a:lnSpc>
                <a:spcPct val="100000"/>
              </a:lnSpc>
              <a:spcBef>
                <a:spcPct val="50000"/>
              </a:spcBef>
              <a:spcAft>
                <a:spcPct val="0"/>
              </a:spcAft>
              <a:buClrTx/>
              <a:buSzTx/>
              <a:buFontTx/>
              <a:buNone/>
              <a:tabLst/>
              <a:defRPr/>
            </a:pPr>
            <a:r>
              <a:rPr altLang="en-US" b="1" baseline="0" cap="none" dirty="0" i="0" kern="1200" kumimoji="0" lang="en-US" noProof="0" normalizeH="0" spc="0" strike="noStrike" sz="3200" u="none">
                <a:ln>
                  <a:noFill/>
                </a:ln>
                <a:solidFill>
                  <a:srgbClr val="0989C9"/>
                </a:solidFill>
                <a:effectLst/>
                <a:uLnTx/>
                <a:uFillTx/>
                <a:latin charset="0" panose="02020603050405020304" pitchFamily="18" typeface="Times New Roman"/>
                <a:ea typeface="+mn-ea"/>
                <a:cs typeface="+mn-cs"/>
              </a:rPr>
              <a:t>Pathway of Blood Through the Heart and Lungs (graphic)</a:t>
            </a:r>
          </a:p>
        </p:txBody>
      </p:sp>
      <p:pic>
        <p:nvPicPr>
          <p:cNvPr descr="This figure shows the pulmonary and systemic circuits as two interconnected loops. The loop on top is the pulmonary circuit with a drawing of the lungs. The loop on the bottom is the systemic circuit with a drawing of the entire human body. In the center of the figure, between the two loops, is a drawing of the heart.  Figure also shows the right side of the heart pumps blood through the pulmonary circuit and the left side of the heart pumps blood through the systemic circuit.  Figure contains arrows that indicate direction of blood flow.   -  Systemic circuit:  capillaries of the systemic circuit carry oxygen-poor blood (shown in blue) from body  tissues into veins, then into the venae cavae, and returned to the right atrium, then into right ventricle, then into pulmonary arteries to enter the pulmonary circuit where blood is carried to lungs.  - Pulmonary circuit:  oxygen-poor blood enters capillary beds of lungs where gas exchange occurs.  Oxygen-rich blood (shown in red) then exits from the lungs, and flows through pulmonary veins left atrium, then into left ventricle which pumps blood into the systemic circuit via the aorta that branches as it travels to the rest of the body starting systemic circuit again." id="2" name="Picture 1">
            <a:extLst>
              <a:ext uri="{FF2B5EF4-FFF2-40B4-BE49-F238E27FC236}">
                <a16:creationId xmlns:a16="http://schemas.microsoft.com/office/drawing/2014/main" id="{476E6358-DE7F-6F8D-B3B2-BE40C78A3554}"/>
              </a:ext>
            </a:extLst>
          </p:cNvPr>
          <p:cNvPicPr>
            <a:picLocks noChangeAspect="1"/>
          </p:cNvPicPr>
          <p:nvPr/>
        </p:nvPicPr>
        <p:blipFill rotWithShape="1">
          <a:blip r:embed="rId2">
            <a:extLst>
              <a:ext uri="{28A0092B-C50C-407E-A947-70E740481C1C}">
                <a14:useLocalDpi xmlns:a14="http://schemas.microsoft.com/office/drawing/2010/main" val="0"/>
              </a:ext>
            </a:extLst>
          </a:blip>
          <a:srcRect b="1795"/>
          <a:stretch/>
        </p:blipFill>
        <p:spPr>
          <a:xfrm>
            <a:off x="4862062" y="76199"/>
            <a:ext cx="3417186" cy="6632575"/>
          </a:xfrm>
          <a:prstGeom prst="rect">
            <a:avLst/>
          </a:prstGeom>
        </p:spPr>
      </p:pic>
    </p:spTree>
  </p:cSld>
  <p:clrMapOvr>
    <a:masterClrMapping/>
  </p:clrMapOvr>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0818" name="Rectangle 2"/>
          <p:cNvSpPr>
            <a:spLocks noChangeArrowheads="1" noGrp="1"/>
          </p:cNvSpPr>
          <p:nvPr>
            <p:ph type="title"/>
          </p:nvPr>
        </p:nvSpPr>
        <p:spPr/>
        <p:txBody>
          <a:bodyPr/>
          <a:lstStyle/>
          <a:p>
            <a:r>
              <a:rPr altLang="en-US" lang="en-US"/>
              <a:t>Pathway of Blood Through the Heart and Lungs</a:t>
            </a:r>
          </a:p>
        </p:txBody>
      </p:sp>
      <p:sp>
        <p:nvSpPr>
          <p:cNvPr id="290819" name="Rectangle 3"/>
          <p:cNvSpPr>
            <a:spLocks noChangeArrowheads="1" noGrp="1"/>
          </p:cNvSpPr>
          <p:nvPr>
            <p:ph idx="1" type="body"/>
          </p:nvPr>
        </p:nvSpPr>
        <p:spPr>
          <a:xfrm>
            <a:off x="298450" y="1320800"/>
            <a:ext cx="8270875" cy="5056188"/>
          </a:xfrm>
        </p:spPr>
        <p:txBody>
          <a:bodyPr/>
          <a:lstStyle/>
          <a:p>
            <a:r>
              <a:rPr altLang="en-US" lang="en-US">
                <a:solidFill>
                  <a:srgbClr val="000000"/>
                </a:solidFill>
              </a:rPr>
              <a:t>Right atrium </a:t>
            </a:r>
            <a:r>
              <a:rPr altLang="en-US" lang="en-US">
                <a:solidFill>
                  <a:srgbClr val="000000"/>
                </a:solidFill>
                <a:sym charset="2" panose="05000000000000000000" pitchFamily="2" typeface="Wingdings"/>
              </a:rPr>
              <a:t></a:t>
            </a:r>
            <a:r>
              <a:rPr altLang="en-US" lang="en-US">
                <a:solidFill>
                  <a:srgbClr val="000000"/>
                </a:solidFill>
              </a:rPr>
              <a:t> tricuspid valve </a:t>
            </a:r>
            <a:r>
              <a:rPr altLang="en-US" lang="en-US">
                <a:solidFill>
                  <a:srgbClr val="000000"/>
                </a:solidFill>
                <a:sym charset="2" panose="05000000000000000000" pitchFamily="2" typeface="Wingdings"/>
              </a:rPr>
              <a:t></a:t>
            </a:r>
            <a:r>
              <a:rPr altLang="en-US" lang="en-US">
                <a:solidFill>
                  <a:srgbClr val="000000"/>
                </a:solidFill>
              </a:rPr>
              <a:t> right ventricle</a:t>
            </a:r>
          </a:p>
          <a:p>
            <a:r>
              <a:rPr altLang="en-US" lang="en-US">
                <a:solidFill>
                  <a:srgbClr val="000000"/>
                </a:solidFill>
              </a:rPr>
              <a:t>Right ventricle </a:t>
            </a:r>
            <a:r>
              <a:rPr altLang="en-US" lang="en-US">
                <a:solidFill>
                  <a:srgbClr val="000000"/>
                </a:solidFill>
                <a:sym charset="2" panose="05000000000000000000" pitchFamily="2" typeface="Wingdings"/>
              </a:rPr>
              <a:t></a:t>
            </a:r>
            <a:r>
              <a:rPr altLang="en-US" lang="en-US">
                <a:solidFill>
                  <a:srgbClr val="000000"/>
                </a:solidFill>
              </a:rPr>
              <a:t> pulmonary semilunar valve </a:t>
            </a:r>
            <a:r>
              <a:rPr altLang="en-US" lang="en-US">
                <a:solidFill>
                  <a:srgbClr val="000000"/>
                </a:solidFill>
                <a:sym charset="2" panose="05000000000000000000" pitchFamily="2" typeface="Wingdings"/>
              </a:rPr>
              <a:t></a:t>
            </a:r>
            <a:r>
              <a:rPr altLang="en-US" lang="en-US">
                <a:solidFill>
                  <a:srgbClr val="000000"/>
                </a:solidFill>
              </a:rPr>
              <a:t> pulmonary arteries </a:t>
            </a:r>
            <a:r>
              <a:rPr altLang="en-US" lang="en-US">
                <a:solidFill>
                  <a:srgbClr val="000000"/>
                </a:solidFill>
                <a:sym charset="2" panose="05000000000000000000" pitchFamily="2" typeface="Wingdings"/>
              </a:rPr>
              <a:t></a:t>
            </a:r>
            <a:r>
              <a:rPr altLang="en-US" lang="en-US">
                <a:solidFill>
                  <a:srgbClr val="000000"/>
                </a:solidFill>
              </a:rPr>
              <a:t> lungs</a:t>
            </a:r>
          </a:p>
          <a:p>
            <a:r>
              <a:rPr altLang="en-US" lang="en-US">
                <a:solidFill>
                  <a:srgbClr val="000000"/>
                </a:solidFill>
              </a:rPr>
              <a:t>Lungs </a:t>
            </a:r>
            <a:r>
              <a:rPr altLang="en-US" lang="en-US">
                <a:solidFill>
                  <a:srgbClr val="000000"/>
                </a:solidFill>
                <a:sym charset="2" panose="05000000000000000000" pitchFamily="2" typeface="Wingdings"/>
              </a:rPr>
              <a:t></a:t>
            </a:r>
            <a:r>
              <a:rPr altLang="en-US" lang="en-US">
                <a:solidFill>
                  <a:srgbClr val="000000"/>
                </a:solidFill>
              </a:rPr>
              <a:t> pulmonary veins </a:t>
            </a:r>
            <a:r>
              <a:rPr altLang="en-US" lang="en-US">
                <a:solidFill>
                  <a:srgbClr val="000000"/>
                </a:solidFill>
                <a:sym charset="2" panose="05000000000000000000" pitchFamily="2" typeface="Wingdings"/>
              </a:rPr>
              <a:t></a:t>
            </a:r>
            <a:r>
              <a:rPr altLang="en-US" lang="en-US">
                <a:solidFill>
                  <a:srgbClr val="000000"/>
                </a:solidFill>
              </a:rPr>
              <a:t> left atrium</a:t>
            </a:r>
          </a:p>
          <a:p>
            <a:r>
              <a:rPr altLang="en-US" lang="en-US">
                <a:solidFill>
                  <a:srgbClr val="000000"/>
                </a:solidFill>
              </a:rPr>
              <a:t>Left atrium </a:t>
            </a:r>
            <a:r>
              <a:rPr altLang="en-US" lang="en-US">
                <a:solidFill>
                  <a:srgbClr val="000000"/>
                </a:solidFill>
                <a:sym charset="2" panose="05000000000000000000" pitchFamily="2" typeface="Wingdings"/>
              </a:rPr>
              <a:t></a:t>
            </a:r>
            <a:r>
              <a:rPr altLang="en-US" lang="en-US">
                <a:solidFill>
                  <a:srgbClr val="000000"/>
                </a:solidFill>
              </a:rPr>
              <a:t> bicuspid valve </a:t>
            </a:r>
            <a:r>
              <a:rPr altLang="en-US" lang="en-US">
                <a:solidFill>
                  <a:srgbClr val="000000"/>
                </a:solidFill>
                <a:sym charset="2" panose="05000000000000000000" pitchFamily="2" typeface="Wingdings"/>
              </a:rPr>
              <a:t></a:t>
            </a:r>
            <a:r>
              <a:rPr altLang="en-US" lang="en-US">
                <a:solidFill>
                  <a:srgbClr val="000000"/>
                </a:solidFill>
              </a:rPr>
              <a:t> left ventricle</a:t>
            </a:r>
          </a:p>
          <a:p>
            <a:r>
              <a:rPr altLang="en-US" lang="en-US">
                <a:solidFill>
                  <a:srgbClr val="000000"/>
                </a:solidFill>
              </a:rPr>
              <a:t>Left ventricle </a:t>
            </a:r>
            <a:r>
              <a:rPr altLang="en-US" lang="en-US">
                <a:solidFill>
                  <a:srgbClr val="000000"/>
                </a:solidFill>
                <a:sym charset="2" panose="05000000000000000000" pitchFamily="2" typeface="Wingdings"/>
              </a:rPr>
              <a:t></a:t>
            </a:r>
            <a:r>
              <a:rPr altLang="en-US" lang="en-US">
                <a:solidFill>
                  <a:srgbClr val="000000"/>
                </a:solidFill>
              </a:rPr>
              <a:t> aortic semilunar valve </a:t>
            </a:r>
            <a:r>
              <a:rPr altLang="en-US" lang="en-US">
                <a:solidFill>
                  <a:srgbClr val="000000"/>
                </a:solidFill>
                <a:sym charset="2" panose="05000000000000000000" pitchFamily="2" typeface="Wingdings"/>
              </a:rPr>
              <a:t></a:t>
            </a:r>
            <a:r>
              <a:rPr altLang="en-US" lang="en-US">
                <a:solidFill>
                  <a:srgbClr val="000000"/>
                </a:solidFill>
              </a:rPr>
              <a:t> aorta</a:t>
            </a:r>
          </a:p>
          <a:p>
            <a:r>
              <a:rPr altLang="en-US" lang="en-US"/>
              <a:t>Aorta </a:t>
            </a:r>
            <a:r>
              <a:rPr altLang="en-US" lang="en-US">
                <a:sym charset="2" panose="05000000000000000000" pitchFamily="2" typeface="Wingdings"/>
              </a:rPr>
              <a:t></a:t>
            </a:r>
            <a:r>
              <a:rPr altLang="en-US" lang="en-US"/>
              <a:t> systemic circulation</a:t>
            </a:r>
          </a:p>
        </p:txBody>
      </p:sp>
    </p:spTree>
  </p:cSld>
  <p:clrMapOvr>
    <a:masterClrMapping/>
  </p:clrMapOvr>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2868" name="Rectangle 4"/>
          <p:cNvSpPr>
            <a:spLocks noChangeArrowheads="1" noGrp="1"/>
          </p:cNvSpPr>
          <p:nvPr>
            <p:ph type="title"/>
          </p:nvPr>
        </p:nvSpPr>
        <p:spPr/>
        <p:txBody>
          <a:bodyPr/>
          <a:lstStyle/>
          <a:p>
            <a:r>
              <a:rPr altLang="en-US" lang="en-US"/>
              <a:t>Coronary Circulation</a:t>
            </a:r>
          </a:p>
        </p:txBody>
      </p:sp>
      <p:sp>
        <p:nvSpPr>
          <p:cNvPr id="292869" name="Rectangle 5"/>
          <p:cNvSpPr>
            <a:spLocks noChangeArrowheads="1" noGrp="1"/>
          </p:cNvSpPr>
          <p:nvPr>
            <p:ph idx="1" type="body"/>
          </p:nvPr>
        </p:nvSpPr>
        <p:spPr/>
        <p:txBody>
          <a:bodyPr/>
          <a:lstStyle/>
          <a:p>
            <a:r>
              <a:rPr altLang="en-US" lang="en-US"/>
              <a:t>Coronary circulation is the functional blood supply to the heart muscle itself</a:t>
            </a:r>
          </a:p>
          <a:p>
            <a:r>
              <a:rPr altLang="en-US" lang="en-US"/>
              <a:t>Collateral routes ensure blood delivery to heart even if major vessels are occluded</a:t>
            </a:r>
          </a:p>
        </p:txBody>
      </p:sp>
    </p:spTree>
  </p:cSld>
  <p:clrMapOvr>
    <a:masterClrMapping/>
  </p:clrMapOvr>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3890" name="Rectangle 2"/>
          <p:cNvSpPr>
            <a:spLocks noChangeArrowheads="1" noGrp="1"/>
          </p:cNvSpPr>
          <p:nvPr>
            <p:ph type="title"/>
          </p:nvPr>
        </p:nvSpPr>
        <p:spPr/>
        <p:txBody>
          <a:bodyPr/>
          <a:lstStyle/>
          <a:p>
            <a:r>
              <a:rPr altLang="en-US" lang="en-US"/>
              <a:t>Coronary Circulation: Arterial Supply</a:t>
            </a:r>
          </a:p>
        </p:txBody>
      </p:sp>
      <p:pic>
        <p:nvPicPr>
          <p:cNvPr descr="This illustration shows an anterior view of the major coronary arteries and veins with lighter tinted vessels indicating a more posterior location.  Part (a) Major coronary arteries shown:  right coronary, right marginal, posterior and anterior interventricular, circumflex, and left coronary " id="2" name="Picture 2">
            <a:extLst>
              <a:ext uri="{FF2B5EF4-FFF2-40B4-BE49-F238E27FC236}">
                <a16:creationId xmlns:a16="http://schemas.microsoft.com/office/drawing/2014/main" id="{2ACB0567-DAAE-6E4B-9C99-A567DB0A7C21}"/>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1807"/>
          <a:stretch/>
        </p:blipFill>
        <p:spPr bwMode="auto">
          <a:xfrm>
            <a:off x="1558990" y="976265"/>
            <a:ext cx="6102220" cy="58055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4914" name="Rectangle 2"/>
          <p:cNvSpPr>
            <a:spLocks noChangeArrowheads="1" noGrp="1"/>
          </p:cNvSpPr>
          <p:nvPr>
            <p:ph type="title"/>
          </p:nvPr>
        </p:nvSpPr>
        <p:spPr/>
        <p:txBody>
          <a:bodyPr/>
          <a:lstStyle/>
          <a:p>
            <a:r>
              <a:rPr altLang="en-US" lang="en-US"/>
              <a:t>Coronary Circulation: Venous Supply</a:t>
            </a:r>
          </a:p>
        </p:txBody>
      </p:sp>
      <p:pic>
        <p:nvPicPr>
          <p:cNvPr descr="Part (b) Major cardiac veins shown:  anterior cardiac, small cardiac, middle cardiac, great cardiac and coronary sinus." id="2" name="Picture 1">
            <a:extLst>
              <a:ext uri="{FF2B5EF4-FFF2-40B4-BE49-F238E27FC236}">
                <a16:creationId xmlns:a16="http://schemas.microsoft.com/office/drawing/2014/main" id="{E6145982-C433-E793-8B9B-077E56B29F14}"/>
              </a:ext>
            </a:extLst>
          </p:cNvPr>
          <p:cNvPicPr>
            <a:picLocks noChangeAspect="1"/>
          </p:cNvPicPr>
          <p:nvPr/>
        </p:nvPicPr>
        <p:blipFill rotWithShape="1">
          <a:blip r:embed="rId2">
            <a:extLst>
              <a:ext uri="{28A0092B-C50C-407E-A947-70E740481C1C}">
                <a14:useLocalDpi xmlns:a14="http://schemas.microsoft.com/office/drawing/2010/main" val="0"/>
              </a:ext>
            </a:extLst>
          </a:blip>
          <a:srcRect b="3443"/>
          <a:stretch/>
        </p:blipFill>
        <p:spPr>
          <a:xfrm>
            <a:off x="1558058" y="871538"/>
            <a:ext cx="6559575" cy="5603395"/>
          </a:xfrm>
          <a:prstGeom prst="rect">
            <a:avLst/>
          </a:prstGeom>
        </p:spPr>
      </p:pic>
    </p:spTree>
  </p:cSld>
  <p:clrMapOvr>
    <a:masterClrMapping/>
  </p:clrMapOvr>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5940" name="Rectangle 4"/>
          <p:cNvSpPr>
            <a:spLocks noChangeArrowheads="1" noGrp="1"/>
          </p:cNvSpPr>
          <p:nvPr>
            <p:ph type="title"/>
          </p:nvPr>
        </p:nvSpPr>
        <p:spPr/>
        <p:txBody>
          <a:bodyPr/>
          <a:lstStyle/>
          <a:p>
            <a:r>
              <a:rPr altLang="en-US" lang="en-US"/>
              <a:t>Heart Valves</a:t>
            </a:r>
          </a:p>
        </p:txBody>
      </p:sp>
      <p:sp>
        <p:nvSpPr>
          <p:cNvPr id="295941" name="Rectangle 5"/>
          <p:cNvSpPr>
            <a:spLocks noChangeArrowheads="1" noGrp="1"/>
          </p:cNvSpPr>
          <p:nvPr>
            <p:ph idx="1" type="body"/>
          </p:nvPr>
        </p:nvSpPr>
        <p:spPr/>
        <p:txBody>
          <a:bodyPr/>
          <a:lstStyle/>
          <a:p>
            <a:r>
              <a:rPr altLang="en-US" lang="en-US"/>
              <a:t>Heart valves ensure unidirectional blood flow through the heart</a:t>
            </a:r>
          </a:p>
          <a:p>
            <a:r>
              <a:rPr altLang="en-US" lang="en-US"/>
              <a:t>Atrioventricular (AV) valves lie between the atria and the ventricles</a:t>
            </a:r>
          </a:p>
          <a:p>
            <a:r>
              <a:rPr altLang="en-US" lang="en-US"/>
              <a:t>AV valves prevent backflow into the atria when ventricles contract</a:t>
            </a:r>
          </a:p>
          <a:p>
            <a:r>
              <a:rPr altLang="en-US" lang="en-US"/>
              <a:t>Chordae tendineae anchor AV valves to papillary muscles</a:t>
            </a:r>
          </a:p>
        </p:txBody>
      </p:sp>
    </p:spTree>
  </p:cSld>
  <p:clrMapOvr>
    <a:masterClrMapping/>
  </p:clrMapOvr>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6964" name="Rectangle 4"/>
          <p:cNvSpPr>
            <a:spLocks noChangeArrowheads="1" noGrp="1"/>
          </p:cNvSpPr>
          <p:nvPr>
            <p:ph type="title"/>
          </p:nvPr>
        </p:nvSpPr>
        <p:spPr/>
        <p:txBody>
          <a:bodyPr/>
          <a:lstStyle/>
          <a:p>
            <a:r>
              <a:rPr altLang="en-US" dirty="0" lang="en-US"/>
              <a:t>Heart Valves pt 2</a:t>
            </a:r>
          </a:p>
        </p:txBody>
      </p:sp>
      <p:sp>
        <p:nvSpPr>
          <p:cNvPr id="296965" name="Rectangle 5"/>
          <p:cNvSpPr>
            <a:spLocks noChangeArrowheads="1" noGrp="1"/>
          </p:cNvSpPr>
          <p:nvPr>
            <p:ph idx="1" type="body"/>
          </p:nvPr>
        </p:nvSpPr>
        <p:spPr/>
        <p:txBody>
          <a:bodyPr/>
          <a:lstStyle/>
          <a:p>
            <a:r>
              <a:rPr altLang="en-US" lang="en-US"/>
              <a:t>Aortic semilunar valve lies between the left ventricle and the aorta </a:t>
            </a:r>
          </a:p>
          <a:p>
            <a:r>
              <a:rPr altLang="en-US" lang="en-US"/>
              <a:t>Pulmonary semilunar valve lies between the right ventricle and pulmonary trunk</a:t>
            </a:r>
          </a:p>
          <a:p>
            <a:r>
              <a:rPr altLang="en-US" lang="en-US"/>
              <a:t>Semilunar valves prevent backflow of blood into the ventricles</a:t>
            </a:r>
          </a:p>
        </p:txBody>
      </p:sp>
    </p:spTree>
  </p:cSld>
  <p:clrMapOvr>
    <a:masterClrMapping/>
  </p:clrMapOvr>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7986" name="Rectangle 2"/>
          <p:cNvSpPr>
            <a:spLocks noChangeArrowheads="1" noGrp="1"/>
          </p:cNvSpPr>
          <p:nvPr>
            <p:ph type="title"/>
          </p:nvPr>
        </p:nvSpPr>
        <p:spPr/>
        <p:txBody>
          <a:bodyPr/>
          <a:lstStyle/>
          <a:p>
            <a:r>
              <a:rPr altLang="en-US" dirty="0" lang="en-US"/>
              <a:t>Heart Valves (image 1)</a:t>
            </a:r>
          </a:p>
        </p:txBody>
      </p:sp>
      <p:pic>
        <p:nvPicPr>
          <p:cNvPr descr="Part (a) is a diagram of the superior view of the two sets of heart valves as seen with atria removed. Paired atrioventricular valves are located between atria and ventricles.  The two semilunar valves are located at the junction of the ventricles and the arteries issuing from them.  Also shown is the cardiac skeleton. Part (b) is a photo of the heart valves that correlates with the diagram in Part (a). " id="3" name="Picture 2">
            <a:extLst>
              <a:ext uri="{FF2B5EF4-FFF2-40B4-BE49-F238E27FC236}">
                <a16:creationId xmlns:a16="http://schemas.microsoft.com/office/drawing/2014/main" id="{AC9B9814-2B3E-0EB5-5158-DD6440356174}"/>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8944" y="871538"/>
            <a:ext cx="7922311" cy="48761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9010" name="Rectangle 2"/>
          <p:cNvSpPr>
            <a:spLocks noChangeArrowheads="1" noGrp="1"/>
          </p:cNvSpPr>
          <p:nvPr>
            <p:ph type="title"/>
          </p:nvPr>
        </p:nvSpPr>
        <p:spPr/>
        <p:txBody>
          <a:bodyPr/>
          <a:lstStyle/>
          <a:p>
            <a:r>
              <a:rPr altLang="en-US" dirty="0" lang="en-US"/>
              <a:t>Heart Valves (image 2)</a:t>
            </a:r>
          </a:p>
        </p:txBody>
      </p:sp>
      <p:pic>
        <p:nvPicPr>
          <p:cNvPr descr="Part (c) is a photo of the tricuspid valve from bottom-to-top as seen from the right ventricle. Part (d) is a frontal section of the heart showing the right atrium, tricuspid valve, chordate tendineae, myocardium of right and left ventricle, interventricular septum, left atrium, and papillary muscles. " id="2" name="Picture 2">
            <a:extLst>
              <a:ext uri="{FF2B5EF4-FFF2-40B4-BE49-F238E27FC236}">
                <a16:creationId xmlns:a16="http://schemas.microsoft.com/office/drawing/2014/main" id="{3F057EA3-000C-BA01-BEC8-AAB3D18D7B90}"/>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1591" y="1344914"/>
            <a:ext cx="8720817" cy="41681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0034" name="Rectangle 2"/>
          <p:cNvSpPr>
            <a:spLocks noChangeArrowheads="1" noGrp="1"/>
          </p:cNvSpPr>
          <p:nvPr>
            <p:ph type="title"/>
          </p:nvPr>
        </p:nvSpPr>
        <p:spPr/>
        <p:txBody>
          <a:bodyPr/>
          <a:lstStyle/>
          <a:p>
            <a:r>
              <a:rPr altLang="en-US" lang="en-US"/>
              <a:t>Atrioventricular Valve Function</a:t>
            </a:r>
          </a:p>
        </p:txBody>
      </p:sp>
      <p:pic>
        <p:nvPicPr>
          <p:cNvPr descr="This two-part figure illustrates the opening and closing of the AV valves.  Part (a) shows the AV valves open; atrial pressure is greater than ventricular pressure. The figure shows the function of the open valves in three steps: Step 1: Blood returning to the heart fills the atria, pressing against the AV valves. The increased pressure forces the AV valves open. The direction of blood flow is downward into the atrium. The cusp of the atrioventricular valve opens. Step 2: As the ventricles fill, the AV valve flaps hang limply into the ventricles. Step 3: The atria contract, forcing additional blood into the ventricles. " id="2" name="Picture 2">
            <a:extLst>
              <a:ext uri="{FF2B5EF4-FFF2-40B4-BE49-F238E27FC236}">
                <a16:creationId xmlns:a16="http://schemas.microsoft.com/office/drawing/2014/main" id="{B9B43A59-30F9-3F47-F8C8-9A0FB56F549D}"/>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4399"/>
          <a:stretch/>
        </p:blipFill>
        <p:spPr bwMode="auto">
          <a:xfrm>
            <a:off x="654722" y="971566"/>
            <a:ext cx="7834556" cy="2717784"/>
          </a:xfrm>
          <a:prstGeom prst="rect">
            <a:avLst/>
          </a:prstGeom>
          <a:noFill/>
          <a:extLst>
            <a:ext uri="{909E8E84-426E-40DD-AFC4-6F175D3DCCD1}">
              <a14:hiddenFill xmlns:a14="http://schemas.microsoft.com/office/drawing/2010/main">
                <a:solidFill>
                  <a:srgbClr val="FFFFFF"/>
                </a:solidFill>
              </a14:hiddenFill>
            </a:ext>
          </a:extLst>
        </p:spPr>
      </p:pic>
      <p:pic>
        <p:nvPicPr>
          <p:cNvPr descr="Part (b) shows the AV valves closed; atrial pressure is less than ventricular pressure. Again there are three steps:  Step 1: The ventricles contract, forcing blood against the cusps of the AV valve.  Step 2: The AV valves close.  Step 3: The papillary muscles contract and the chordae tendineae tighten, preventing the valve flaps from everting into the atria. A drawing shows the cusps of the AV valve closing to seal the valves and blood remains in the ventricle." id="3" name="Picture 2">
            <a:extLst>
              <a:ext uri="{FF2B5EF4-FFF2-40B4-BE49-F238E27FC236}">
                <a16:creationId xmlns:a16="http://schemas.microsoft.com/office/drawing/2014/main" id="{683C12EC-3434-95DA-0906-241869282D86}"/>
              </a:ext>
            </a:extLst>
          </p:cNvPr>
          <p:cNvPicPr>
            <a:picLocks noChangeArrowheads="1" noChangeAspect="1"/>
          </p:cNvPicPr>
          <p:nvPr/>
        </p:nvPicPr>
        <p:blipFill rotWithShape="1">
          <a:blip r:embed="rId3">
            <a:extLst>
              <a:ext uri="{28A0092B-C50C-407E-A947-70E740481C1C}">
                <a14:useLocalDpi xmlns:a14="http://schemas.microsoft.com/office/drawing/2010/main" val="0"/>
              </a:ext>
            </a:extLst>
          </a:blip>
          <a:srcRect b="5246"/>
          <a:stretch/>
        </p:blipFill>
        <p:spPr bwMode="auto">
          <a:xfrm>
            <a:off x="569331" y="3843650"/>
            <a:ext cx="8005338" cy="27524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1058" name="Rectangle 2"/>
          <p:cNvSpPr>
            <a:spLocks noChangeArrowheads="1" noGrp="1"/>
          </p:cNvSpPr>
          <p:nvPr>
            <p:ph type="title"/>
          </p:nvPr>
        </p:nvSpPr>
        <p:spPr/>
        <p:txBody>
          <a:bodyPr/>
          <a:lstStyle/>
          <a:p>
            <a:r>
              <a:rPr altLang="en-US" lang="en-US"/>
              <a:t>Semilunar Valve Function</a:t>
            </a:r>
          </a:p>
        </p:txBody>
      </p:sp>
      <p:pic>
        <p:nvPicPr>
          <p:cNvPr descr="This two part figure shows the opening and closing of the semilunar valves.  Part (a) shows the AV valves open, caused by the ventricles contracting resulting in increased intraventricular pressure which pushes blood up against semilunar valve forcing them open. " id="2" name="Picture 1">
            <a:extLst>
              <a:ext uri="{FF2B5EF4-FFF2-40B4-BE49-F238E27FC236}">
                <a16:creationId xmlns:a16="http://schemas.microsoft.com/office/drawing/2014/main" id="{6685F621-96D5-FCEE-18E4-B2AAE79C84B0}"/>
              </a:ext>
            </a:extLst>
          </p:cNvPr>
          <p:cNvPicPr>
            <a:picLocks noChangeAspect="1"/>
          </p:cNvPicPr>
          <p:nvPr/>
        </p:nvPicPr>
        <p:blipFill rotWithShape="1">
          <a:blip cstate="print" r:embed="rId2">
            <a:extLst>
              <a:ext uri="{28A0092B-C50C-407E-A947-70E740481C1C}">
                <a14:useLocalDpi xmlns:a14="http://schemas.microsoft.com/office/drawing/2010/main" val="0"/>
              </a:ext>
            </a:extLst>
          </a:blip>
          <a:srcRect b="3709"/>
          <a:stretch/>
        </p:blipFill>
        <p:spPr>
          <a:xfrm>
            <a:off x="37322" y="2647334"/>
            <a:ext cx="4081253" cy="2671114"/>
          </a:xfrm>
          <a:prstGeom prst="rect">
            <a:avLst/>
          </a:prstGeom>
        </p:spPr>
      </p:pic>
      <p:pic>
        <p:nvPicPr>
          <p:cNvPr descr="Part (b) shows the AV valves closed, caused by the ventricles relaxing, resulting in a drop in pressure causing backflow of blood from arteries that fill the cusps of SL valves forcing them to close." id="3" name="Picture 2">
            <a:extLst>
              <a:ext uri="{FF2B5EF4-FFF2-40B4-BE49-F238E27FC236}">
                <a16:creationId xmlns:a16="http://schemas.microsoft.com/office/drawing/2014/main" id="{6E65B08F-B61E-3364-A9C7-593BD5D7DD05}"/>
              </a:ext>
            </a:extLst>
          </p:cNvPr>
          <p:cNvPicPr>
            <a:picLocks noChangeAspect="1"/>
          </p:cNvPicPr>
          <p:nvPr/>
        </p:nvPicPr>
        <p:blipFill rotWithShape="1">
          <a:blip cstate="print" r:embed="rId3">
            <a:extLst>
              <a:ext uri="{28A0092B-C50C-407E-A947-70E740481C1C}">
                <a14:useLocalDpi xmlns:a14="http://schemas.microsoft.com/office/drawing/2010/main" val="0"/>
              </a:ext>
            </a:extLst>
          </a:blip>
          <a:srcRect b="3709"/>
          <a:stretch/>
        </p:blipFill>
        <p:spPr>
          <a:xfrm>
            <a:off x="4572000" y="2540853"/>
            <a:ext cx="4214393" cy="2777595"/>
          </a:xfrm>
          <a:prstGeom prst="rect">
            <a:avLst/>
          </a:prstGeom>
        </p:spPr>
      </p:pic>
    </p:spTree>
  </p:cSld>
  <p:clrMapOvr>
    <a:masterClrMapping/>
  </p:clrMapOvr>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69985" name="Title 1"/>
          <p:cNvSpPr>
            <a:spLocks noGrp="1"/>
          </p:cNvSpPr>
          <p:nvPr>
            <p:ph type="title"/>
          </p:nvPr>
        </p:nvSpPr>
        <p:spPr/>
        <p:txBody>
          <a:bodyPr/>
          <a:lstStyle/>
          <a:p>
            <a:pPr eaLnBrk="1" hangingPunct="1"/>
            <a:r>
              <a:rPr altLang="en-US" dirty="0" lang="en-US">
                <a:solidFill>
                  <a:srgbClr val="000000"/>
                </a:solidFill>
              </a:rPr>
              <a:t>Clinical – </a:t>
            </a:r>
            <a:r>
              <a:rPr altLang="en-US" dirty="0" lang="en-US">
                <a:solidFill>
                  <a:srgbClr val="000000"/>
                </a:solidFill>
              </a:rPr>
              <a:t>Homeostatic Imbalance 18.2</a:t>
            </a:r>
            <a:endParaRPr dirty="0" lang="en-US">
              <a:latin charset="0" typeface="Arial"/>
            </a:endParaRPr>
          </a:p>
        </p:txBody>
      </p:sp>
      <p:sp>
        <p:nvSpPr>
          <p:cNvPr id="169986" name="Content Placeholder 2"/>
          <p:cNvSpPr>
            <a:spLocks noGrp="1"/>
          </p:cNvSpPr>
          <p:nvPr>
            <p:ph idx="1"/>
          </p:nvPr>
        </p:nvSpPr>
        <p:spPr/>
        <p:txBody>
          <a:bodyPr/>
          <a:lstStyle/>
          <a:p>
            <a:pPr eaLnBrk="1" hangingPunct="1"/>
            <a:r>
              <a:rPr dirty="0" lang="en-US"/>
              <a:t>Two conditions severely weaken heart:</a:t>
            </a:r>
          </a:p>
          <a:p>
            <a:pPr eaLnBrk="1" hangingPunct="1" lvl="1"/>
            <a:r>
              <a:rPr dirty="0" i="1" lang="en-US"/>
              <a:t>Incompetent valve</a:t>
            </a:r>
          </a:p>
          <a:p>
            <a:pPr eaLnBrk="1" hangingPunct="1" lvl="2"/>
            <a:r>
              <a:rPr dirty="0" lang="en-US"/>
              <a:t>Blood backflows so heart </a:t>
            </a:r>
            <a:r>
              <a:rPr dirty="0" err="1" lang="en-US"/>
              <a:t>repumps</a:t>
            </a:r>
            <a:r>
              <a:rPr dirty="0" lang="en-US"/>
              <a:t> same blood over and over</a:t>
            </a:r>
          </a:p>
          <a:p>
            <a:pPr eaLnBrk="1" hangingPunct="1" lvl="1"/>
            <a:r>
              <a:rPr dirty="0" err="1" i="1" lang="en-US"/>
              <a:t>Valvular</a:t>
            </a:r>
            <a:r>
              <a:rPr dirty="0" i="1" lang="en-US"/>
              <a:t> stenosis</a:t>
            </a:r>
          </a:p>
          <a:p>
            <a:pPr eaLnBrk="1" hangingPunct="1" lvl="2"/>
            <a:r>
              <a:rPr dirty="0" lang="en-US"/>
              <a:t>Stiff flaps that constrict opening</a:t>
            </a:r>
          </a:p>
          <a:p>
            <a:pPr eaLnBrk="1" hangingPunct="1" lvl="2"/>
            <a:r>
              <a:rPr dirty="0" lang="en-US">
                <a:sym charset="0" typeface="Wingdings"/>
              </a:rPr>
              <a:t>Heart needs to exert more force to pump blood</a:t>
            </a:r>
          </a:p>
          <a:p>
            <a:pPr eaLnBrk="1" hangingPunct="1"/>
            <a:r>
              <a:rPr dirty="0" lang="en-US"/>
              <a:t>Defective valve can be replaced with mechanical, animal, or cadaver valve</a:t>
            </a:r>
          </a:p>
          <a:p>
            <a:pPr eaLnBrk="1" hangingPunct="1" lvl="3"/>
            <a:endParaRPr dirty="0" lang="en-US"/>
          </a:p>
        </p:txBody>
      </p:sp>
    </p:spTree>
    <p:extLst>
      <p:ext uri="{BB962C8B-B14F-4D97-AF65-F5344CB8AC3E}">
        <p14:creationId xmlns:p14="http://schemas.microsoft.com/office/powerpoint/2010/main" val="2688720324"/>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85345" name="Title 4"/>
          <p:cNvSpPr>
            <a:spLocks noGrp="1"/>
          </p:cNvSpPr>
          <p:nvPr>
            <p:ph type="title"/>
          </p:nvPr>
        </p:nvSpPr>
        <p:spPr/>
        <p:txBody>
          <a:bodyPr/>
          <a:lstStyle/>
          <a:p>
            <a:pPr eaLnBrk="1" hangingPunct="1"/>
            <a:r>
              <a:rPr dirty="0" lang="en-US">
                <a:latin charset="0" typeface="Arial"/>
              </a:rPr>
              <a:t>18.3  Pathway of Blood Through Heart</a:t>
            </a:r>
          </a:p>
        </p:txBody>
      </p:sp>
      <p:sp>
        <p:nvSpPr>
          <p:cNvPr id="185346" name="Rectangle 5"/>
          <p:cNvSpPr>
            <a:spLocks noChangeArrowheads="1" noGrp="1"/>
          </p:cNvSpPr>
          <p:nvPr>
            <p:ph idx="1"/>
          </p:nvPr>
        </p:nvSpPr>
        <p:spPr/>
        <p:txBody>
          <a:bodyPr/>
          <a:lstStyle/>
          <a:p>
            <a:pPr eaLnBrk="1" hangingPunct="1"/>
            <a:r>
              <a:rPr dirty="0" lang="en-US"/>
              <a:t>Equal volumes of blood are pumped to pulmonary and systemic circuits</a:t>
            </a:r>
          </a:p>
          <a:p>
            <a:pPr eaLnBrk="1" hangingPunct="1"/>
            <a:r>
              <a:rPr dirty="0" lang="en-US"/>
              <a:t>Pulmonary circuit is short, low-pressure circulation</a:t>
            </a:r>
          </a:p>
          <a:p>
            <a:pPr eaLnBrk="1" hangingPunct="1"/>
            <a:r>
              <a:rPr dirty="0" lang="en-US"/>
              <a:t>Systemic circuit is long, high-friction circulation</a:t>
            </a:r>
          </a:p>
          <a:p>
            <a:pPr eaLnBrk="1" hangingPunct="1"/>
            <a:r>
              <a:rPr dirty="0" lang="en-US"/>
              <a:t>Anatomy of ventricles reflects differences</a:t>
            </a:r>
          </a:p>
          <a:p>
            <a:pPr eaLnBrk="1" hangingPunct="1" lvl="1"/>
            <a:r>
              <a:rPr dirty="0" lang="en-US"/>
              <a:t>Left ventricle walls are 3</a:t>
            </a:r>
            <a:r>
              <a:rPr dirty="0" lang="en-US">
                <a:cs charset="2" typeface="Symbol"/>
              </a:rPr>
              <a:t>×</a:t>
            </a:r>
            <a:r>
              <a:rPr dirty="0" lang="en-US"/>
              <a:t> thicker than right</a:t>
            </a:r>
          </a:p>
          <a:p>
            <a:pPr eaLnBrk="1" hangingPunct="1" lvl="2"/>
            <a:r>
              <a:rPr dirty="0" lang="en-US"/>
              <a:t>Pumps with greater pressure</a:t>
            </a:r>
          </a:p>
        </p:txBody>
      </p:sp>
    </p:spTree>
    <p:extLst>
      <p:ext uri="{BB962C8B-B14F-4D97-AF65-F5344CB8AC3E}">
        <p14:creationId xmlns:p14="http://schemas.microsoft.com/office/powerpoint/2010/main" val="118359837"/>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98657" name="Title 1"/>
          <p:cNvSpPr>
            <a:spLocks noGrp="1"/>
          </p:cNvSpPr>
          <p:nvPr>
            <p:ph type="title"/>
          </p:nvPr>
        </p:nvSpPr>
        <p:spPr/>
        <p:txBody>
          <a:bodyPr/>
          <a:lstStyle/>
          <a:p>
            <a:pPr eaLnBrk="1" hangingPunct="1"/>
            <a:r>
              <a:rPr altLang="en-US" dirty="0" lang="en-US">
                <a:solidFill>
                  <a:srgbClr val="000000"/>
                </a:solidFill>
              </a:rPr>
              <a:t>Clinical – </a:t>
            </a:r>
            <a:r>
              <a:rPr altLang="en-US" dirty="0" lang="en-US">
                <a:solidFill>
                  <a:srgbClr val="000000"/>
                </a:solidFill>
              </a:rPr>
              <a:t>Homeostatic Imbalance 18.3</a:t>
            </a:r>
            <a:endParaRPr dirty="0" lang="en-US">
              <a:latin charset="0" typeface="Arial"/>
            </a:endParaRPr>
          </a:p>
        </p:txBody>
      </p:sp>
      <p:sp>
        <p:nvSpPr>
          <p:cNvPr id="198658" name="Content Placeholder 2"/>
          <p:cNvSpPr>
            <a:spLocks noGrp="1"/>
          </p:cNvSpPr>
          <p:nvPr>
            <p:ph idx="1"/>
          </p:nvPr>
        </p:nvSpPr>
        <p:spPr/>
        <p:txBody>
          <a:bodyPr/>
          <a:lstStyle/>
          <a:p>
            <a:pPr eaLnBrk="1" hangingPunct="1"/>
            <a:r>
              <a:rPr b="1" dirty="0" lang="en-US"/>
              <a:t>Angina pectoris</a:t>
            </a:r>
          </a:p>
          <a:p>
            <a:pPr eaLnBrk="1" hangingPunct="1" lvl="1"/>
            <a:r>
              <a:rPr dirty="0" lang="en-US"/>
              <a:t>Thoracic pain caused by fleeting deficiency in blood delivery to myocardium</a:t>
            </a:r>
          </a:p>
          <a:p>
            <a:pPr eaLnBrk="1" hangingPunct="1" lvl="1"/>
            <a:r>
              <a:rPr dirty="0" lang="en-US"/>
              <a:t>Cells are weakened</a:t>
            </a:r>
          </a:p>
          <a:p>
            <a:pPr eaLnBrk="1" hangingPunct="1"/>
            <a:r>
              <a:rPr b="1" dirty="0" lang="en-US"/>
              <a:t>Myocardial infarction </a:t>
            </a:r>
            <a:r>
              <a:rPr dirty="0" lang="en-US"/>
              <a:t>(heart attack)</a:t>
            </a:r>
          </a:p>
          <a:p>
            <a:pPr eaLnBrk="1" hangingPunct="1" lvl="1"/>
            <a:r>
              <a:rPr dirty="0" lang="en-US"/>
              <a:t>Prolonged coronary blockage</a:t>
            </a:r>
          </a:p>
          <a:p>
            <a:pPr eaLnBrk="1" hangingPunct="1" lvl="1"/>
            <a:r>
              <a:rPr dirty="0" lang="en-US"/>
              <a:t>Areas of cell death are repaired with </a:t>
            </a:r>
            <a:r>
              <a:rPr dirty="0" err="1" lang="en-US"/>
              <a:t>noncontractile</a:t>
            </a:r>
            <a:r>
              <a:rPr dirty="0" lang="en-US"/>
              <a:t> scar tissue</a:t>
            </a:r>
          </a:p>
          <a:p>
            <a:pPr eaLnBrk="1" hangingPunct="1" lvl="3"/>
            <a:endParaRPr dirty="0" lang="en-US"/>
          </a:p>
        </p:txBody>
      </p:sp>
    </p:spTree>
    <p:extLst>
      <p:ext uri="{BB962C8B-B14F-4D97-AF65-F5344CB8AC3E}">
        <p14:creationId xmlns:p14="http://schemas.microsoft.com/office/powerpoint/2010/main" val="380143222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2082" name="Rectangle 2"/>
          <p:cNvSpPr>
            <a:spLocks noChangeArrowheads="1" noGrp="1"/>
          </p:cNvSpPr>
          <p:nvPr>
            <p:ph type="title"/>
          </p:nvPr>
        </p:nvSpPr>
        <p:spPr/>
        <p:txBody>
          <a:bodyPr/>
          <a:lstStyle/>
          <a:p>
            <a:r>
              <a:rPr altLang="en-US" dirty="0" lang="en-US"/>
              <a:t>BIG TOPIC: </a:t>
            </a:r>
            <a:r>
              <a:rPr altLang="en-US" dirty="0" err="1" lang="en-US"/>
              <a:t>MicroscopicHeart</a:t>
            </a:r>
            <a:r>
              <a:rPr altLang="en-US" dirty="0" lang="en-US"/>
              <a:t> Muscle</a:t>
            </a:r>
          </a:p>
        </p:txBody>
      </p:sp>
      <p:sp>
        <p:nvSpPr>
          <p:cNvPr id="302083" name="Rectangle 3"/>
          <p:cNvSpPr>
            <a:spLocks noChangeArrowheads="1" noGrp="1"/>
          </p:cNvSpPr>
          <p:nvPr>
            <p:ph idx="1" type="body"/>
          </p:nvPr>
        </p:nvSpPr>
        <p:spPr>
          <a:xfrm>
            <a:off x="298450" y="977900"/>
            <a:ext cx="8270875" cy="4308475"/>
          </a:xfrm>
        </p:spPr>
        <p:txBody>
          <a:bodyPr/>
          <a:lstStyle/>
          <a:p>
            <a:r>
              <a:rPr altLang="en-US" dirty="0" lang="en-US">
                <a:solidFill>
                  <a:srgbClr val="000000"/>
                </a:solidFill>
              </a:rPr>
              <a:t>Cardiac muscle is striated, short, fat, branched, and interconnected</a:t>
            </a:r>
          </a:p>
          <a:p>
            <a:r>
              <a:rPr altLang="en-US" dirty="0" lang="en-US">
                <a:solidFill>
                  <a:srgbClr val="000000"/>
                </a:solidFill>
              </a:rPr>
              <a:t>The connective tissue endomysium acts as both tendon and insertion</a:t>
            </a:r>
          </a:p>
          <a:p>
            <a:r>
              <a:rPr altLang="en-US" dirty="0" lang="en-US">
                <a:solidFill>
                  <a:srgbClr val="000000"/>
                </a:solidFill>
              </a:rPr>
              <a:t>Intercalated discs anchor cardiac cells together and allow free passage of ions</a:t>
            </a:r>
          </a:p>
          <a:p>
            <a:r>
              <a:rPr altLang="en-US" dirty="0" lang="en-US"/>
              <a:t>Heart muscle behaves as a </a:t>
            </a:r>
            <a:r>
              <a:rPr altLang="en-US" b="1" dirty="0" lang="en-US"/>
              <a:t>functional syncytium</a:t>
            </a:r>
          </a:p>
        </p:txBody>
      </p:sp>
      <p:sp>
        <p:nvSpPr>
          <p:cNvPr id="302086" name="Oval 6">
            <a:hlinkClick r:id="rId2"/>
          </p:cNvPr>
          <p:cNvSpPr>
            <a:spLocks noChangeArrowheads="1"/>
          </p:cNvSpPr>
          <p:nvPr/>
        </p:nvSpPr>
        <p:spPr bwMode="auto">
          <a:xfrm>
            <a:off x="314325" y="5581650"/>
            <a:ext cx="762000" cy="457200"/>
          </a:xfrm>
          <a:prstGeom prst="ellipse">
            <a:avLst/>
          </a:prstGeom>
          <a:gradFill rotWithShape="0">
            <a:gsLst>
              <a:gs pos="0">
                <a:schemeClr val="folHlink"/>
              </a:gs>
              <a:gs pos="100000">
                <a:srgbClr val="4DC2E7"/>
              </a:gs>
            </a:gsLst>
            <a:lin ang="5400000" scaled="1"/>
          </a:gradFill>
          <a:ln>
            <a:noFill/>
          </a:ln>
          <a:effectLst>
            <a:prstShdw dir="2700000" dist="17961" prst="shdw17">
              <a:schemeClr val="folHlink">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anchor="ctr" wrap="none"/>
          <a:lstStyle/>
          <a:p>
            <a:pPr algn="ctr"/>
            <a:r>
              <a:rPr altLang="en-US" b="1" lang="en-US" sz="1600">
                <a:latin charset="0" panose="020B0604020202020204" pitchFamily="34" typeface="Arial"/>
              </a:rPr>
              <a:t>PLAY</a:t>
            </a:r>
          </a:p>
        </p:txBody>
      </p:sp>
      <p:sp>
        <p:nvSpPr>
          <p:cNvPr id="302087" name="Text Box 7"/>
          <p:cNvSpPr txBox="1">
            <a:spLocks noChangeArrowheads="1"/>
          </p:cNvSpPr>
          <p:nvPr/>
        </p:nvSpPr>
        <p:spPr bwMode="auto">
          <a:xfrm>
            <a:off x="1228725" y="5597525"/>
            <a:ext cx="34829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wrap="none">
            <a:spAutoFit/>
          </a:bodyPr>
          <a:lstStyle/>
          <a:p>
            <a:r>
              <a:rPr altLang="en-US" b="1" i="1" lang="en-US" sz="1400">
                <a:latin charset="0" panose="020B0604020202020204" pitchFamily="34" typeface="Arial"/>
              </a:rPr>
              <a:t>InterActive Physiology ®:</a:t>
            </a:r>
            <a:r>
              <a:rPr altLang="en-US" b="1" i="1" lang="en-US" sz="1400">
                <a:solidFill>
                  <a:srgbClr val="0989C9"/>
                </a:solidFill>
                <a:latin charset="0" panose="020B0604020202020204" pitchFamily="34" typeface="Arial"/>
              </a:rPr>
              <a:t> </a:t>
            </a:r>
            <a:endParaRPr altLang="en-US" b="1" lang="en-US" sz="1400">
              <a:solidFill>
                <a:srgbClr val="0989C9"/>
              </a:solidFill>
              <a:latin charset="0" panose="020B0604020202020204" pitchFamily="34" typeface="Arial"/>
            </a:endParaRPr>
          </a:p>
          <a:p>
            <a:r>
              <a:rPr altLang="en-US" b="1" lang="en-US" sz="1400">
                <a:latin charset="0" panose="020B0604020202020204" pitchFamily="34" typeface="Arial"/>
              </a:rPr>
              <a:t>Anatomy Review: The Heart, pages 3–7</a:t>
            </a:r>
            <a:endParaRPr altLang="en-US" lang="en-US" sz="2800">
              <a:latin charset="0" panose="020B0604020202020204" pitchFamily="34" typeface="Arial"/>
            </a:endParaRPr>
          </a:p>
        </p:txBody>
      </p:sp>
    </p:spTree>
  </p:cSld>
  <p:clrMapOvr>
    <a:masterClrMapping/>
  </p:clrMapOvr>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3106" name="Rectangle 2"/>
          <p:cNvSpPr>
            <a:spLocks noChangeArrowheads="1" noGrp="1"/>
          </p:cNvSpPr>
          <p:nvPr>
            <p:ph type="title"/>
          </p:nvPr>
        </p:nvSpPr>
        <p:spPr/>
        <p:txBody>
          <a:bodyPr/>
          <a:lstStyle/>
          <a:p>
            <a:r>
              <a:rPr altLang="en-US" lang="en-US"/>
              <a:t>Microscopic Anatomy of Cardiac Muscle</a:t>
            </a:r>
          </a:p>
        </p:txBody>
      </p:sp>
      <p:pic>
        <p:nvPicPr>
          <p:cNvPr descr="Part (a) is a photomicrograph (290X) of cardiac muscle showing that cardiac muscle cells are  short, branched and striated.  Dark staining areas are intercalated discs, or junctions, between adjacent cells." id="2" name="Picture 2">
            <a:extLst>
              <a:ext uri="{FF2B5EF4-FFF2-40B4-BE49-F238E27FC236}">
                <a16:creationId xmlns:a16="http://schemas.microsoft.com/office/drawing/2014/main" id="{DE7F9838-E8CE-050D-42D7-03F5772E8B8A}"/>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5960"/>
          <a:stretch/>
        </p:blipFill>
        <p:spPr bwMode="auto">
          <a:xfrm>
            <a:off x="490046" y="871538"/>
            <a:ext cx="7625254" cy="2162702"/>
          </a:xfrm>
          <a:prstGeom prst="rect">
            <a:avLst/>
          </a:prstGeom>
          <a:noFill/>
          <a:extLst>
            <a:ext uri="{909E8E84-426E-40DD-AFC4-6F175D3DCCD1}">
              <a14:hiddenFill xmlns:a14="http://schemas.microsoft.com/office/drawing/2010/main">
                <a:solidFill>
                  <a:srgbClr val="FFFFFF"/>
                </a:solidFill>
              </a14:hiddenFill>
            </a:ext>
          </a:extLst>
        </p:spPr>
      </p:pic>
      <p:pic>
        <p:nvPicPr>
          <p:cNvPr descr="Part (b) is an illustration of an enlarged view of a cross section of a cardiac muscle cell showing the components of the intercalated discs and cardiac muscle fibers.  Shown in larger view are muscle fiber nucleus, sarcolemma, mitochondria, T tubules, sarcoplasmic reticulum and one isolated myofibril with I band, A band and Z discs identified.  A section of main illustration is further enlarged to show details of gap junctions and desmosomes. Gap junctions are tunnels between cells that electrically connect myocytes. Desmosomes connect junctions between myocytes, keeping them from pulling apart during contraction. " id="3" name="Picture 2">
            <a:extLst>
              <a:ext uri="{FF2B5EF4-FFF2-40B4-BE49-F238E27FC236}">
                <a16:creationId xmlns:a16="http://schemas.microsoft.com/office/drawing/2014/main" id="{B99988C9-E200-527E-AF27-C17471DDAABD}"/>
              </a:ext>
            </a:extLst>
          </p:cNvPr>
          <p:cNvPicPr>
            <a:picLocks noChangeArrowheads="1" noChangeAspect="1"/>
          </p:cNvPicPr>
          <p:nvPr/>
        </p:nvPicPr>
        <p:blipFill rotWithShape="1">
          <a:blip r:embed="rId3">
            <a:extLst>
              <a:ext uri="{28A0092B-C50C-407E-A947-70E740481C1C}">
                <a14:useLocalDpi xmlns:a14="http://schemas.microsoft.com/office/drawing/2010/main" val="0"/>
              </a:ext>
            </a:extLst>
          </a:blip>
          <a:srcRect t="32765"/>
          <a:stretch/>
        </p:blipFill>
        <p:spPr bwMode="auto">
          <a:xfrm>
            <a:off x="304800" y="3209184"/>
            <a:ext cx="6383384" cy="3648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99681" name="Title 1"/>
          <p:cNvSpPr>
            <a:spLocks noGrp="1"/>
          </p:cNvSpPr>
          <p:nvPr>
            <p:ph type="title"/>
          </p:nvPr>
        </p:nvSpPr>
        <p:spPr/>
        <p:txBody>
          <a:bodyPr/>
          <a:lstStyle/>
          <a:p>
            <a:pPr eaLnBrk="1" hangingPunct="1"/>
            <a:r>
              <a:rPr dirty="0" lang="en-US">
                <a:latin charset="0" typeface="Arial"/>
              </a:rPr>
              <a:t>18.4  Cardiac Muscle Fibers</a:t>
            </a:r>
          </a:p>
        </p:txBody>
      </p:sp>
      <p:sp>
        <p:nvSpPr>
          <p:cNvPr id="199682" name="Content Placeholder 2"/>
          <p:cNvSpPr>
            <a:spLocks noGrp="1"/>
          </p:cNvSpPr>
          <p:nvPr>
            <p:ph idx="1"/>
          </p:nvPr>
        </p:nvSpPr>
        <p:spPr>
          <a:xfrm>
            <a:off x="304800" y="645796"/>
            <a:ext cx="8270875" cy="5056188"/>
          </a:xfrm>
        </p:spPr>
        <p:txBody>
          <a:bodyPr/>
          <a:lstStyle/>
          <a:p>
            <a:pPr eaLnBrk="1" hangingPunct="1"/>
            <a:r>
              <a:rPr b="1" dirty="0" lang="en-US"/>
              <a:t>Cardiac muscle </a:t>
            </a:r>
            <a:r>
              <a:rPr dirty="0" lang="en-US"/>
              <a:t>cells: striated, short, branched, fat, interconnected</a:t>
            </a:r>
          </a:p>
          <a:p>
            <a:pPr eaLnBrk="1" hangingPunct="1" lvl="1"/>
            <a:r>
              <a:rPr dirty="0" lang="en-US"/>
              <a:t>One central nucleus (at most, 2 nuclei)</a:t>
            </a:r>
          </a:p>
          <a:p>
            <a:pPr eaLnBrk="1" hangingPunct="1" lvl="1"/>
            <a:r>
              <a:rPr dirty="0" lang="en-US"/>
              <a:t>Contain numerous large mitochondria (25–35% of cell volume) that afford resistance to fatigue</a:t>
            </a:r>
          </a:p>
          <a:p>
            <a:pPr eaLnBrk="1" hangingPunct="1" lvl="1"/>
            <a:r>
              <a:rPr dirty="0" lang="en-US"/>
              <a:t>Rest of volume composed of sarcomeres</a:t>
            </a:r>
          </a:p>
          <a:p>
            <a:pPr eaLnBrk="1" hangingPunct="1" lvl="2"/>
            <a:r>
              <a:rPr dirty="0" lang="en-US"/>
              <a:t>Z discs, A bands, and I bands all present</a:t>
            </a:r>
          </a:p>
          <a:p>
            <a:pPr eaLnBrk="1" hangingPunct="1" lvl="1"/>
            <a:r>
              <a:rPr dirty="0" lang="en-US"/>
              <a:t>T tubules are wider, but less numerous</a:t>
            </a:r>
          </a:p>
          <a:p>
            <a:pPr eaLnBrk="1" hangingPunct="1" lvl="2"/>
            <a:r>
              <a:rPr dirty="0" lang="en-US"/>
              <a:t>Enter cell only once at Z disc</a:t>
            </a:r>
          </a:p>
          <a:p>
            <a:pPr eaLnBrk="1" hangingPunct="1" lvl="1"/>
            <a:r>
              <a:rPr dirty="0" lang="en-US"/>
              <a:t>SR simpler than in skeletal muscle; no triads</a:t>
            </a:r>
          </a:p>
          <a:p>
            <a:pPr eaLnBrk="1" hangingPunct="1"/>
            <a:endParaRPr dirty="0" lang="en-US"/>
          </a:p>
        </p:txBody>
      </p:sp>
    </p:spTree>
    <p:extLst>
      <p:ext uri="{BB962C8B-B14F-4D97-AF65-F5344CB8AC3E}">
        <p14:creationId xmlns:p14="http://schemas.microsoft.com/office/powerpoint/2010/main" val="3034841130"/>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8226" name="Rectangle 2"/>
          <p:cNvSpPr>
            <a:spLocks noChangeArrowheads="1" noGrp="1"/>
          </p:cNvSpPr>
          <p:nvPr>
            <p:ph type="title"/>
          </p:nvPr>
        </p:nvSpPr>
        <p:spPr/>
        <p:txBody>
          <a:bodyPr/>
          <a:lstStyle/>
          <a:p>
            <a:r>
              <a:rPr altLang="en-US" lang="en-US"/>
              <a:t>Cardiac Muscle Contraction</a:t>
            </a:r>
          </a:p>
        </p:txBody>
      </p:sp>
      <p:sp>
        <p:nvSpPr>
          <p:cNvPr id="308227" name="Rectangle 3"/>
          <p:cNvSpPr>
            <a:spLocks noChangeArrowheads="1" noGrp="1"/>
          </p:cNvSpPr>
          <p:nvPr>
            <p:ph idx="1" type="body"/>
          </p:nvPr>
        </p:nvSpPr>
        <p:spPr>
          <a:xfrm>
            <a:off x="298450" y="668338"/>
            <a:ext cx="8270875" cy="5891212"/>
          </a:xfrm>
        </p:spPr>
        <p:txBody>
          <a:bodyPr/>
          <a:lstStyle/>
          <a:p>
            <a:pPr>
              <a:lnSpc>
                <a:spcPct val="90000"/>
              </a:lnSpc>
            </a:pPr>
            <a:r>
              <a:rPr altLang="en-US" lang="en-US"/>
              <a:t>Heart muscle:</a:t>
            </a:r>
          </a:p>
          <a:p>
            <a:pPr lvl="1">
              <a:lnSpc>
                <a:spcPct val="90000"/>
              </a:lnSpc>
            </a:pPr>
            <a:r>
              <a:rPr altLang="en-US" lang="en-US"/>
              <a:t>Is stimulated by nerves and is self-excitable (</a:t>
            </a:r>
            <a:r>
              <a:rPr altLang="en-US" b="1" lang="en-US"/>
              <a:t>automaticity</a:t>
            </a:r>
            <a:r>
              <a:rPr altLang="en-US" lang="en-US"/>
              <a:t>)</a:t>
            </a:r>
          </a:p>
          <a:p>
            <a:pPr lvl="1">
              <a:lnSpc>
                <a:spcPct val="90000"/>
              </a:lnSpc>
            </a:pPr>
            <a:r>
              <a:rPr altLang="en-US" lang="en-US"/>
              <a:t>Contracts as a unit</a:t>
            </a:r>
          </a:p>
          <a:p>
            <a:pPr lvl="1">
              <a:lnSpc>
                <a:spcPct val="90000"/>
              </a:lnSpc>
            </a:pPr>
            <a:r>
              <a:rPr altLang="en-US" lang="en-US"/>
              <a:t>Has a long (250 ms) absolute refractory period</a:t>
            </a:r>
          </a:p>
          <a:p>
            <a:pPr>
              <a:lnSpc>
                <a:spcPct val="90000"/>
              </a:lnSpc>
            </a:pPr>
            <a:r>
              <a:rPr altLang="en-US" lang="en-US"/>
              <a:t>Cardiac muscle contraction is similar to skeletal muscle contraction</a:t>
            </a:r>
          </a:p>
          <a:p>
            <a:pPr>
              <a:lnSpc>
                <a:spcPct val="90000"/>
              </a:lnSpc>
            </a:pPr>
            <a:r>
              <a:rPr altLang="en-US" lang="en-US"/>
              <a:t>2 types of muscle</a:t>
            </a:r>
          </a:p>
          <a:p>
            <a:pPr lvl="1">
              <a:lnSpc>
                <a:spcPct val="90000"/>
              </a:lnSpc>
            </a:pPr>
            <a:r>
              <a:rPr altLang="en-US" lang="en-US"/>
              <a:t>Contractile cells (99%)</a:t>
            </a:r>
          </a:p>
          <a:p>
            <a:pPr lvl="1">
              <a:lnSpc>
                <a:spcPct val="90000"/>
              </a:lnSpc>
            </a:pPr>
            <a:r>
              <a:rPr altLang="en-US" lang="en-US"/>
              <a:t>Autorhythmic cells (&lt;1%)</a:t>
            </a:r>
          </a:p>
        </p:txBody>
      </p:sp>
    </p:spTree>
  </p:cSld>
  <p:clrMapOvr>
    <a:masterClrMapping/>
  </p:clrMapOvr>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09250" name="Rectangle 2"/>
          <p:cNvSpPr>
            <a:spLocks noChangeArrowheads="1" noGrp="1"/>
          </p:cNvSpPr>
          <p:nvPr>
            <p:ph type="title"/>
          </p:nvPr>
        </p:nvSpPr>
        <p:spPr/>
        <p:txBody>
          <a:bodyPr/>
          <a:lstStyle/>
          <a:p>
            <a:r>
              <a:rPr altLang="en-US" lang="en-US"/>
              <a:t>Heart Physiology: Intrinsic Conduction System</a:t>
            </a:r>
          </a:p>
        </p:txBody>
      </p:sp>
      <p:sp>
        <p:nvSpPr>
          <p:cNvPr id="309251" name="Rectangle 3"/>
          <p:cNvSpPr>
            <a:spLocks noChangeArrowheads="1" noGrp="1"/>
          </p:cNvSpPr>
          <p:nvPr>
            <p:ph idx="1" type="body"/>
          </p:nvPr>
        </p:nvSpPr>
        <p:spPr>
          <a:xfrm>
            <a:off x="298450" y="1295400"/>
            <a:ext cx="8270875" cy="5056188"/>
          </a:xfrm>
        </p:spPr>
        <p:txBody>
          <a:bodyPr/>
          <a:lstStyle/>
          <a:p>
            <a:r>
              <a:rPr altLang="en-US" b="1" lang="en-US"/>
              <a:t>Autorhythmic cells (&lt;1% of all cardiac muscle cells)</a:t>
            </a:r>
            <a:r>
              <a:rPr altLang="en-US" lang="en-US"/>
              <a:t>:</a:t>
            </a:r>
          </a:p>
          <a:p>
            <a:pPr lvl="1"/>
            <a:r>
              <a:rPr altLang="en-US" lang="en-US"/>
              <a:t>Initiate action potentials </a:t>
            </a:r>
          </a:p>
          <a:p>
            <a:pPr lvl="1"/>
            <a:r>
              <a:rPr altLang="en-US" lang="en-US"/>
              <a:t>Have unstable resting potentials called pacemaker potentials</a:t>
            </a:r>
          </a:p>
          <a:p>
            <a:pPr lvl="1"/>
            <a:r>
              <a:rPr altLang="en-US" lang="en-US"/>
              <a:t>Use calcium influx (rather than sodium) for rising phase of the action potential</a:t>
            </a:r>
          </a:p>
        </p:txBody>
      </p:sp>
    </p:spTree>
  </p:cSld>
  <p:clrMapOvr>
    <a:masterClrMapping/>
  </p:clrMapOvr>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0274" name="Rectangle 2"/>
          <p:cNvSpPr>
            <a:spLocks noChangeArrowheads="1" noGrp="1"/>
          </p:cNvSpPr>
          <p:nvPr>
            <p:ph type="title"/>
          </p:nvPr>
        </p:nvSpPr>
        <p:spPr/>
        <p:txBody>
          <a:bodyPr/>
          <a:lstStyle/>
          <a:p>
            <a:r>
              <a:rPr altLang="en-US" lang="en-US"/>
              <a:t>Pacemaker and Action Potentials of the Heart</a:t>
            </a:r>
          </a:p>
        </p:txBody>
      </p:sp>
      <p:pic>
        <p:nvPicPr>
          <p:cNvPr descr="This figure depicts pacemaker and action potentials in three phases: pacemaker potential, depolarization, and repolarization. The vertical axis of the graph shows membrane potential in millivolts from -70 to +10, and the horizontal axis shows time in milliseconds. Step (3) Repolarization is due to Ca2+ channels inactivating and K+ channels opening. This allows the influx of K+, which brings the membrane potential back to its most negative voltage. The graph shows the membrane potential falling rapidly below threshold to its original value of approximately -60 mV. It rises again at a 45° angle toward the -40 mV threshold, and this time between -60 and -40 mV constitutes a pacemaker potential. An action potential occurs when the membrane potential is rising to and falling from its peak of approximately +2 mV." id="2" name="Picture 2">
            <a:extLst>
              <a:ext uri="{FF2B5EF4-FFF2-40B4-BE49-F238E27FC236}">
                <a16:creationId xmlns:a16="http://schemas.microsoft.com/office/drawing/2014/main" id="{06B4A365-4F9C-5D05-4293-349444A63E20}"/>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200" y="1236922"/>
            <a:ext cx="9001600" cy="3432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Setting the Basic Rhythm: The Intrinsic Conduction System</a:t>
            </a:r>
            <a:endParaRPr dirty="0" lang="en-US"/>
          </a:p>
        </p:txBody>
      </p:sp>
      <p:sp>
        <p:nvSpPr>
          <p:cNvPr id="5123" name="Content Placeholder 2"/>
          <p:cNvSpPr>
            <a:spLocks noGrp="1"/>
          </p:cNvSpPr>
          <p:nvPr>
            <p:ph idx="1"/>
          </p:nvPr>
        </p:nvSpPr>
        <p:spPr/>
        <p:txBody>
          <a:bodyPr/>
          <a:lstStyle/>
          <a:p>
            <a:r>
              <a:rPr dirty="0" lang="en-US"/>
              <a:t>Coordinated heartbeat is a function of:</a:t>
            </a:r>
          </a:p>
          <a:p>
            <a:pPr indent="-514350" lvl="1" marL="971550">
              <a:buFont typeface="+mj-lt"/>
              <a:buAutoNum type="arabicPeriod"/>
            </a:pPr>
            <a:r>
              <a:rPr dirty="0" lang="en-US"/>
              <a:t> Presence of gap junctions</a:t>
            </a:r>
          </a:p>
          <a:p>
            <a:pPr indent="-514350" lvl="1" marL="971550">
              <a:buFont typeface="+mj-lt"/>
              <a:buAutoNum type="arabicPeriod"/>
            </a:pPr>
            <a:r>
              <a:rPr dirty="0" lang="en-US"/>
              <a:t> </a:t>
            </a:r>
            <a:r>
              <a:rPr b="1" dirty="0" lang="en-US"/>
              <a:t>Intrinsic cardiac conduction system</a:t>
            </a:r>
          </a:p>
          <a:p>
            <a:pPr lvl="2"/>
            <a:r>
              <a:rPr dirty="0" lang="en-US"/>
              <a:t>Network of </a:t>
            </a:r>
            <a:r>
              <a:rPr dirty="0" err="1" lang="en-US"/>
              <a:t>noncontractile</a:t>
            </a:r>
            <a:r>
              <a:rPr dirty="0" lang="en-US"/>
              <a:t> (</a:t>
            </a:r>
            <a:r>
              <a:rPr dirty="0" err="1" lang="en-US"/>
              <a:t>autorhythmic</a:t>
            </a:r>
            <a:r>
              <a:rPr dirty="0" lang="en-US"/>
              <a:t>) cells</a:t>
            </a:r>
          </a:p>
          <a:p>
            <a:pPr lvl="2"/>
            <a:r>
              <a:rPr dirty="0" lang="en-US"/>
              <a:t>Initiate and distribute impulses </a:t>
            </a:r>
            <a:r>
              <a:rPr dirty="0" lang="en-US">
                <a:sym charset="0" typeface="Wingdings"/>
              </a:rPr>
              <a:t>to </a:t>
            </a:r>
            <a:r>
              <a:rPr dirty="0" lang="en-US"/>
              <a:t>coordinate depolarization and contraction of heart</a:t>
            </a:r>
          </a:p>
        </p:txBody>
      </p:sp>
      <p:sp>
        <p:nvSpPr>
          <p:cNvPr id="9" name="Footer Placeholder 8"/>
          <p:cNvSpPr>
            <a:spLocks noGrp="1"/>
          </p:cNvSpPr>
          <p:nvPr>
            <p:ph idx="4294967295" sz="quarter" type="ftr"/>
          </p:nvPr>
        </p:nvSpPr>
        <p:spPr>
          <a:xfrm>
            <a:off x="0" y="6492875"/>
            <a:ext cx="3086100" cy="365125"/>
          </a:xfrm>
          <a:prstGeom prst="rect">
            <a:avLst/>
          </a:prstGeom>
        </p:spPr>
        <p:txBody>
          <a:bodyPr/>
          <a:lstStyle/>
          <a:p>
            <a:r>
              <a:rPr lang="en-GB"/>
              <a:t>© 2016 Pearson Education, Inc.</a:t>
            </a:r>
          </a:p>
        </p:txBody>
      </p:sp>
    </p:spTree>
    <p:extLst>
      <p:ext uri="{BB962C8B-B14F-4D97-AF65-F5344CB8AC3E}">
        <p14:creationId xmlns:p14="http://schemas.microsoft.com/office/powerpoint/2010/main" val="2517011420"/>
      </p:ext>
    </p:extLst>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 name="Title 5"/>
          <p:cNvSpPr>
            <a:spLocks noGrp="1"/>
          </p:cNvSpPr>
          <p:nvPr>
            <p:ph type="title"/>
          </p:nvPr>
        </p:nvSpPr>
        <p:spPr>
          <a:xfrm>
            <a:off x="0" y="0"/>
            <a:ext cx="9144000" cy="1077218"/>
          </a:xfrm>
        </p:spPr>
        <p:txBody>
          <a:bodyPr/>
          <a:lstStyle/>
          <a:p>
            <a:r>
              <a:rPr dirty="0" lang="en-US"/>
              <a:t>Setting the Basic Rhythm: The Intrinsic Conduction System (cont.)</a:t>
            </a:r>
          </a:p>
        </p:txBody>
      </p:sp>
      <p:sp>
        <p:nvSpPr>
          <p:cNvPr id="6147" name="Rectangle 7"/>
          <p:cNvSpPr>
            <a:spLocks noChangeArrowheads="1" noGrp="1"/>
          </p:cNvSpPr>
          <p:nvPr>
            <p:ph idx="1"/>
          </p:nvPr>
        </p:nvSpPr>
        <p:spPr/>
        <p:txBody>
          <a:bodyPr/>
          <a:lstStyle/>
          <a:p>
            <a:r>
              <a:rPr b="1" dirty="0" lang="en-US"/>
              <a:t>Action potential initiation by pacemaker cells</a:t>
            </a:r>
          </a:p>
          <a:p>
            <a:pPr lvl="1"/>
            <a:r>
              <a:rPr b="1" dirty="0" lang="en-US"/>
              <a:t>Cardiac pacemaker cells </a:t>
            </a:r>
            <a:r>
              <a:rPr dirty="0" lang="en-US"/>
              <a:t>have unstable resting membrane potentials called </a:t>
            </a:r>
            <a:r>
              <a:rPr b="1" dirty="0" lang="en-US"/>
              <a:t>pacemaker potentials</a:t>
            </a:r>
            <a:r>
              <a:rPr dirty="0" lang="en-US"/>
              <a:t> or </a:t>
            </a:r>
            <a:r>
              <a:rPr b="1" dirty="0" err="1" lang="en-US"/>
              <a:t>prepotentials</a:t>
            </a:r>
            <a:endParaRPr b="1" dirty="0" lang="en-US"/>
          </a:p>
          <a:p>
            <a:pPr lvl="1"/>
            <a:r>
              <a:rPr dirty="0" lang="en-US"/>
              <a:t>Three parts of action potential</a:t>
            </a:r>
          </a:p>
          <a:p>
            <a:pPr indent="-514350" lvl="1" marL="971550">
              <a:buFont typeface="+mj-lt"/>
              <a:buAutoNum type="arabicPeriod"/>
            </a:pPr>
            <a:r>
              <a:rPr dirty="0" lang="en-US"/>
              <a:t> </a:t>
            </a:r>
            <a:r>
              <a:rPr b="1" dirty="0" lang="en-US"/>
              <a:t>Pacemaker potential</a:t>
            </a:r>
            <a:r>
              <a:rPr dirty="0" lang="en-US"/>
              <a:t>: K</a:t>
            </a:r>
            <a:r>
              <a:rPr baseline="30000" dirty="0" lang="en-US"/>
              <a:t>+</a:t>
            </a:r>
            <a:r>
              <a:rPr dirty="0" lang="en-US"/>
              <a:t> channels are closed, </a:t>
            </a:r>
            <a:br>
              <a:rPr dirty="0" lang="en-US"/>
            </a:br>
            <a:r>
              <a:rPr dirty="0" lang="en-US"/>
              <a:t> but slow Na</a:t>
            </a:r>
            <a:r>
              <a:rPr baseline="30000" dirty="0" lang="en-US"/>
              <a:t>+</a:t>
            </a:r>
            <a:r>
              <a:rPr dirty="0" lang="en-US"/>
              <a:t> channels are open, causing </a:t>
            </a:r>
            <a:br>
              <a:rPr dirty="0" lang="en-US"/>
            </a:br>
            <a:r>
              <a:rPr dirty="0" lang="en-US"/>
              <a:t> interior to become more positive</a:t>
            </a:r>
            <a:endParaRPr dirty="0" lang="en-US">
              <a:sym charset="0" typeface="Wingdings"/>
            </a:endParaRPr>
          </a:p>
        </p:txBody>
      </p:sp>
      <p:sp>
        <p:nvSpPr>
          <p:cNvPr id="7" name="Footer Placeholder 6"/>
          <p:cNvSpPr>
            <a:spLocks noGrp="1"/>
          </p:cNvSpPr>
          <p:nvPr>
            <p:ph idx="4294967295" sz="quarter" type="ftr"/>
          </p:nvPr>
        </p:nvSpPr>
        <p:spPr>
          <a:xfrm>
            <a:off x="0" y="6492875"/>
            <a:ext cx="3086100" cy="365125"/>
          </a:xfrm>
          <a:prstGeom prst="rect">
            <a:avLst/>
          </a:prstGeom>
        </p:spPr>
        <p:txBody>
          <a:bodyPr/>
          <a:lstStyle/>
          <a:p>
            <a:r>
              <a:rPr lang="en-GB"/>
              <a:t>© 2016 Pearson Education, Inc.</a:t>
            </a:r>
          </a:p>
        </p:txBody>
      </p:sp>
    </p:spTree>
    <p:extLst>
      <p:ext uri="{BB962C8B-B14F-4D97-AF65-F5344CB8AC3E}">
        <p14:creationId xmlns:p14="http://schemas.microsoft.com/office/powerpoint/2010/main" val="3382885653"/>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 name="Title 5"/>
          <p:cNvSpPr>
            <a:spLocks noGrp="1"/>
          </p:cNvSpPr>
          <p:nvPr>
            <p:ph type="title"/>
          </p:nvPr>
        </p:nvSpPr>
        <p:spPr>
          <a:xfrm>
            <a:off x="0" y="441858"/>
            <a:ext cx="9144000" cy="1077218"/>
          </a:xfrm>
        </p:spPr>
        <p:txBody>
          <a:bodyPr/>
          <a:lstStyle/>
          <a:p>
            <a:r>
              <a:rPr dirty="0" lang="en-US"/>
              <a:t>Setting the Basic Rhythm: The Intrinsic Conduction System (cont. 2)</a:t>
            </a:r>
          </a:p>
        </p:txBody>
      </p:sp>
      <p:sp>
        <p:nvSpPr>
          <p:cNvPr id="6147" name="Rectangle 7"/>
          <p:cNvSpPr>
            <a:spLocks noChangeArrowheads="1" noGrp="1"/>
          </p:cNvSpPr>
          <p:nvPr>
            <p:ph idx="1"/>
          </p:nvPr>
        </p:nvSpPr>
        <p:spPr>
          <a:xfrm>
            <a:off x="436562" y="1519076"/>
            <a:ext cx="8270875" cy="5056188"/>
          </a:xfrm>
        </p:spPr>
        <p:txBody>
          <a:bodyPr/>
          <a:lstStyle/>
          <a:p>
            <a:r>
              <a:rPr b="1" dirty="0" lang="en-US"/>
              <a:t>Action potential initiation by pacemaker cells (cont.)</a:t>
            </a:r>
          </a:p>
          <a:p>
            <a:pPr indent="-514350" lvl="1" marL="971550">
              <a:buFont typeface="+mj-lt"/>
              <a:buAutoNum startAt="2" type="arabicPeriod"/>
            </a:pPr>
            <a:r>
              <a:rPr dirty="0" lang="en-US">
                <a:sym charset="0" typeface="Wingdings"/>
              </a:rPr>
              <a:t> </a:t>
            </a:r>
            <a:r>
              <a:rPr b="1" dirty="0" lang="en-US">
                <a:sym charset="0" typeface="Wingdings"/>
              </a:rPr>
              <a:t>Depolarization</a:t>
            </a:r>
            <a:r>
              <a:rPr dirty="0" lang="en-US">
                <a:sym charset="0" typeface="Wingdings"/>
              </a:rPr>
              <a:t>: Ca</a:t>
            </a:r>
            <a:r>
              <a:rPr baseline="30000" dirty="0" lang="en-US">
                <a:sym charset="0" typeface="Wingdings"/>
              </a:rPr>
              <a:t>2+</a:t>
            </a:r>
            <a:r>
              <a:rPr dirty="0" lang="en-US">
                <a:sym charset="0" typeface="Wingdings"/>
              </a:rPr>
              <a:t> channels open (around </a:t>
            </a:r>
            <a:br>
              <a:rPr dirty="0" lang="en-US">
                <a:sym charset="0" typeface="Wingdings"/>
              </a:rPr>
            </a:br>
            <a:r>
              <a:rPr dirty="0" lang="en-US">
                <a:sym charset="0" typeface="Wingdings"/>
              </a:rPr>
              <a:t> </a:t>
            </a:r>
            <a:r>
              <a:rPr dirty="0" lang="en-US">
                <a:sym charset="2" panose="05050102010706020507" pitchFamily="18" typeface="Symbol"/>
              </a:rPr>
              <a:t></a:t>
            </a:r>
            <a:r>
              <a:rPr dirty="0" lang="en-US">
                <a:sym charset="0" typeface="Wingdings"/>
              </a:rPr>
              <a:t>40 mV), allowing huge influx of Ca</a:t>
            </a:r>
            <a:r>
              <a:rPr baseline="30000" dirty="0" lang="en-US">
                <a:sym charset="0" typeface="Wingdings"/>
              </a:rPr>
              <a:t>2+</a:t>
            </a:r>
            <a:r>
              <a:rPr dirty="0" lang="en-US">
                <a:sym charset="0" typeface="Wingdings"/>
              </a:rPr>
              <a:t>, leading</a:t>
            </a:r>
            <a:br>
              <a:rPr dirty="0" lang="en-US">
                <a:sym charset="0" typeface="Wingdings"/>
              </a:rPr>
            </a:br>
            <a:r>
              <a:rPr dirty="0" lang="en-US">
                <a:sym charset="0" typeface="Wingdings"/>
              </a:rPr>
              <a:t> to rising phase of action potential</a:t>
            </a:r>
          </a:p>
          <a:p>
            <a:pPr indent="-438150" lvl="1" marL="895350">
              <a:buFont typeface="+mj-lt"/>
              <a:buAutoNum startAt="2" type="arabicPeriod"/>
            </a:pPr>
            <a:r>
              <a:rPr dirty="0" lang="en-US"/>
              <a:t> </a:t>
            </a:r>
            <a:r>
              <a:rPr b="1" dirty="0" lang="en-US">
                <a:sym charset="0" typeface="Wingdings"/>
              </a:rPr>
              <a:t>Repolarization</a:t>
            </a:r>
            <a:r>
              <a:rPr dirty="0" lang="en-US">
                <a:sym charset="0" typeface="Wingdings"/>
              </a:rPr>
              <a:t>: K</a:t>
            </a:r>
            <a:r>
              <a:rPr baseline="30000" dirty="0" lang="en-US">
                <a:sym charset="0" typeface="Wingdings"/>
              </a:rPr>
              <a:t>+</a:t>
            </a:r>
            <a:r>
              <a:rPr dirty="0" lang="en-US">
                <a:sym charset="0" typeface="Wingdings"/>
              </a:rPr>
              <a:t> channels open, allowing</a:t>
            </a:r>
            <a:br>
              <a:rPr dirty="0" lang="en-US">
                <a:sym charset="0" typeface="Wingdings"/>
              </a:rPr>
            </a:br>
            <a:r>
              <a:rPr dirty="0" lang="en-US">
                <a:sym charset="0" typeface="Wingdings"/>
              </a:rPr>
              <a:t> efflux of K</a:t>
            </a:r>
            <a:r>
              <a:rPr baseline="30000" dirty="0" lang="en-US">
                <a:sym charset="0" typeface="Wingdings"/>
              </a:rPr>
              <a:t>+</a:t>
            </a:r>
            <a:r>
              <a:rPr dirty="0" lang="en-US">
                <a:sym charset="0" typeface="Wingdings"/>
              </a:rPr>
              <a:t>, and cell becomes more negative </a:t>
            </a:r>
          </a:p>
        </p:txBody>
      </p:sp>
    </p:spTree>
    <p:extLst>
      <p:ext uri="{BB962C8B-B14F-4D97-AF65-F5344CB8AC3E}">
        <p14:creationId xmlns:p14="http://schemas.microsoft.com/office/powerpoint/2010/main" val="705142119"/>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1474" name="Rectangle 2"/>
          <p:cNvSpPr>
            <a:spLocks noChangeArrowheads="1" noGrp="1"/>
          </p:cNvSpPr>
          <p:nvPr>
            <p:ph type="title"/>
          </p:nvPr>
        </p:nvSpPr>
        <p:spPr>
          <a:xfrm>
            <a:off x="760413" y="261938"/>
            <a:ext cx="7699375" cy="609600"/>
          </a:xfrm>
        </p:spPr>
        <p:txBody>
          <a:bodyPr/>
          <a:lstStyle/>
          <a:p>
            <a:r>
              <a:rPr altLang="en-US" lang="en-US"/>
              <a:t>Rhythm of Conduction System</a:t>
            </a:r>
            <a:endParaRPr altLang="en-US" b="0" lang="en-US"/>
          </a:p>
        </p:txBody>
      </p:sp>
      <p:sp>
        <p:nvSpPr>
          <p:cNvPr id="361475" name="Rectangle 3"/>
          <p:cNvSpPr>
            <a:spLocks noChangeArrowheads="1" noGrp="1"/>
          </p:cNvSpPr>
          <p:nvPr>
            <p:ph idx="1" type="body"/>
          </p:nvPr>
        </p:nvSpPr>
        <p:spPr>
          <a:xfrm>
            <a:off x="304800" y="1447800"/>
            <a:ext cx="8839200" cy="4953000"/>
          </a:xfrm>
        </p:spPr>
        <p:txBody>
          <a:bodyPr/>
          <a:lstStyle/>
          <a:p>
            <a:r>
              <a:rPr altLang="en-US" b="1" lang="en-US"/>
              <a:t>SA node</a:t>
            </a:r>
            <a:r>
              <a:rPr altLang="en-US" lang="en-US"/>
              <a:t> (PACEMAKER) fires spontaneously 90-100 times per minute</a:t>
            </a:r>
          </a:p>
          <a:p>
            <a:r>
              <a:rPr altLang="en-US" b="1" lang="en-US"/>
              <a:t>AV node</a:t>
            </a:r>
            <a:r>
              <a:rPr altLang="en-US" lang="en-US"/>
              <a:t> fires at 40-50 times per minute</a:t>
            </a:r>
          </a:p>
          <a:p>
            <a:r>
              <a:rPr altLang="en-US" lang="en-US"/>
              <a:t>If both nodes are suppressed,  </a:t>
            </a:r>
            <a:r>
              <a:rPr altLang="en-US" b="1" lang="en-US"/>
              <a:t>AV bundle</a:t>
            </a:r>
            <a:r>
              <a:rPr altLang="en-US" lang="en-US"/>
              <a:t> fibers in ventricles by themselves fire only 20-40 times per minute</a:t>
            </a:r>
          </a:p>
        </p:txBody>
      </p:sp>
    </p:spTree>
  </p:cSld>
  <p:clrMapOvr>
    <a:masterClrMapping/>
  </p:clrMapOvr>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3346" name="Rectangle 2"/>
          <p:cNvSpPr>
            <a:spLocks noChangeArrowheads="1" noGrp="1"/>
          </p:cNvSpPr>
          <p:nvPr>
            <p:ph type="title"/>
          </p:nvPr>
        </p:nvSpPr>
        <p:spPr/>
        <p:txBody>
          <a:bodyPr/>
          <a:lstStyle/>
          <a:p>
            <a:r>
              <a:rPr altLang="en-US" lang="en-US"/>
              <a:t>Heart Physiology: Sequence of Excitation</a:t>
            </a:r>
          </a:p>
        </p:txBody>
      </p:sp>
      <p:sp>
        <p:nvSpPr>
          <p:cNvPr id="313347" name="Rectangle 3"/>
          <p:cNvSpPr>
            <a:spLocks noChangeArrowheads="1" noGrp="1"/>
          </p:cNvSpPr>
          <p:nvPr>
            <p:ph idx="1" type="body"/>
          </p:nvPr>
        </p:nvSpPr>
        <p:spPr/>
        <p:txBody>
          <a:bodyPr/>
          <a:lstStyle/>
          <a:p>
            <a:pPr lvl="1"/>
            <a:r>
              <a:rPr altLang="en-US" lang="en-US"/>
              <a:t>AV nodal delay – slowing of conduction through fibrous skeleton to ensure ventricles contract after atria complete their contraction</a:t>
            </a:r>
          </a:p>
          <a:p>
            <a:pPr lvl="1"/>
            <a:r>
              <a:rPr altLang="en-US" lang="en-US"/>
              <a:t>AV bundle splits into two pathways in the interventricular septum (bundle branches)</a:t>
            </a:r>
          </a:p>
          <a:p>
            <a:pPr lvl="1"/>
            <a:r>
              <a:rPr altLang="en-US" lang="en-US"/>
              <a:t>Bundle branches carry the impulse toward the apex of the heart</a:t>
            </a:r>
          </a:p>
          <a:p>
            <a:pPr lvl="1"/>
            <a:r>
              <a:rPr altLang="en-US" lang="en-US"/>
              <a:t>Purkinje fibers carry the impulse to the heart apex and ventricular walls</a:t>
            </a:r>
          </a:p>
        </p:txBody>
      </p:sp>
    </p:spTree>
  </p:cSld>
  <p:clrMapOvr>
    <a:masterClrMapping/>
  </p:clrMapOvr>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4370" name="Rectangle 2"/>
          <p:cNvSpPr>
            <a:spLocks noChangeArrowheads="1" noGrp="1"/>
          </p:cNvSpPr>
          <p:nvPr>
            <p:ph type="title"/>
          </p:nvPr>
        </p:nvSpPr>
        <p:spPr/>
        <p:txBody>
          <a:bodyPr/>
          <a:lstStyle/>
          <a:p>
            <a:r>
              <a:rPr altLang="en-US" lang="en-US"/>
              <a:t>Cardiac Intrinsic Conduction</a:t>
            </a:r>
          </a:p>
        </p:txBody>
      </p:sp>
      <p:pic>
        <p:nvPicPr>
          <p:cNvPr descr="This figure is an illustration showing 5 steps involved in the sequence of excitation of the intrinsic cardiac conduction system. Step (5):  Subendocardial conducting network depolarizes the contractile cells of both ventricles." id="2" name="Picture 1">
            <a:extLst>
              <a:ext uri="{FF2B5EF4-FFF2-40B4-BE49-F238E27FC236}">
                <a16:creationId xmlns:a16="http://schemas.microsoft.com/office/drawing/2014/main" id="{6EFFEABE-7FB3-C210-0C97-AA268FAB9C30}"/>
              </a:ext>
            </a:extLst>
          </p:cNvPr>
          <p:cNvPicPr>
            <a:picLocks noChangeAspect="1"/>
          </p:cNvPicPr>
          <p:nvPr/>
        </p:nvPicPr>
        <p:blipFill rotWithShape="1">
          <a:blip r:embed="rId2">
            <a:extLst>
              <a:ext uri="{28A0092B-C50C-407E-A947-70E740481C1C}">
                <a14:useLocalDpi xmlns:a14="http://schemas.microsoft.com/office/drawing/2010/main" val="0"/>
              </a:ext>
            </a:extLst>
          </a:blip>
          <a:srcRect b="2473"/>
          <a:stretch/>
        </p:blipFill>
        <p:spPr>
          <a:xfrm>
            <a:off x="304800" y="904891"/>
            <a:ext cx="7114698" cy="5691171"/>
          </a:xfrm>
          <a:prstGeom prst="rect">
            <a:avLst/>
          </a:prstGeom>
        </p:spPr>
      </p:pic>
    </p:spTree>
  </p:cSld>
  <p:clrMapOvr>
    <a:masterClrMapping/>
  </p:clrMapOvr>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type="title"/>
          </p:nvPr>
        </p:nvSpPr>
        <p:spPr>
          <a:xfrm>
            <a:off x="200580" y="899996"/>
            <a:ext cx="2250441" cy="3902604"/>
          </a:xfrm>
        </p:spPr>
        <p:txBody>
          <a:bodyPr>
            <a:noAutofit/>
          </a:bodyPr>
          <a:lstStyle/>
          <a:p>
            <a:r>
              <a:rPr dirty="0" lang="en-IN" sz="2000"/>
              <a:t>Figure: Intrinsic cardiac conduction system and action potential succession during one heartbeat.</a:t>
            </a:r>
            <a:endParaRPr dirty="0" lang="en-US" sz="2000"/>
          </a:p>
        </p:txBody>
      </p:sp>
      <p:sp>
        <p:nvSpPr>
          <p:cNvPr id="18" name="Rectangle 89"/>
          <p:cNvSpPr>
            <a:spLocks noChangeArrowheads="1"/>
          </p:cNvSpPr>
          <p:nvPr/>
        </p:nvSpPr>
        <p:spPr bwMode="auto">
          <a:xfrm>
            <a:off x="2861820" y="6265686"/>
            <a:ext cx="3699090" cy="41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chorCtr="0" bIns="0" compatLnSpc="1" lIns="0" numCol="1" rIns="0" tIns="0" vert="horz" wrap="none">
            <a:prstTxWarp prst="textNoShape">
              <a:avLst/>
            </a:prstTxWarp>
            <a:spAutoFit/>
          </a:bodyPr>
          <a:lstStyle/>
          <a:p>
            <a:pPr eaLnBrk="1" hangingPunct="1">
              <a:lnSpc>
                <a:spcPts val="1575"/>
              </a:lnSpc>
            </a:pPr>
            <a:r>
              <a:rPr dirty="0" lang="en-IN" sz="1400">
                <a:solidFill>
                  <a:srgbClr val="000000"/>
                </a:solidFill>
                <a:latin charset="0" pitchFamily="34" typeface="Arial Black"/>
                <a:ea typeface="+mn-ea"/>
                <a:cs charset="0" pitchFamily="34" typeface="Arial"/>
              </a:rPr>
              <a:t>Comparison of action potential shape</a:t>
            </a:r>
          </a:p>
          <a:p>
            <a:pPr eaLnBrk="1" hangingPunct="1">
              <a:lnSpc>
                <a:spcPts val="1575"/>
              </a:lnSpc>
            </a:pPr>
            <a:r>
              <a:rPr dirty="0" lang="en-IN" sz="1400">
                <a:solidFill>
                  <a:srgbClr val="000000"/>
                </a:solidFill>
                <a:latin charset="0" pitchFamily="34" typeface="Arial Black"/>
                <a:ea typeface="+mn-ea"/>
                <a:cs charset="0" pitchFamily="34" typeface="Arial"/>
              </a:rPr>
              <a:t>at various locations</a:t>
            </a:r>
            <a:endParaRPr dirty="0" lang="en-US" sz="1400">
              <a:solidFill>
                <a:prstClr val="black"/>
              </a:solidFill>
              <a:latin charset="0" pitchFamily="34" typeface="Arial Black"/>
              <a:ea typeface="+mn-ea"/>
              <a:cs charset="0" pitchFamily="34" typeface="Arial"/>
            </a:endParaRPr>
          </a:p>
        </p:txBody>
      </p:sp>
      <p:pic>
        <p:nvPicPr>
          <p:cNvPr descr="Figure comparing activity at the SA and AV node and the contraction of atrial and ventricular muscle in response" id="3" name="Picture 2">
            <a:extLst>
              <a:ext uri="{FF2B5EF4-FFF2-40B4-BE49-F238E27FC236}">
                <a16:creationId xmlns:a16="http://schemas.microsoft.com/office/drawing/2014/main" id="{BB357C6B-EEAA-B3E0-5CCC-493AC134A1F0}"/>
              </a:ext>
            </a:extLst>
          </p:cNvPr>
          <p:cNvPicPr>
            <a:picLocks noChangeAspect="1"/>
          </p:cNvPicPr>
          <p:nvPr/>
        </p:nvPicPr>
        <p:blipFill>
          <a:blip r:embed="rId3"/>
          <a:stretch>
            <a:fillRect/>
          </a:stretch>
        </p:blipFill>
        <p:spPr>
          <a:xfrm>
            <a:off x="2861820" y="181945"/>
            <a:ext cx="4149119" cy="5922247"/>
          </a:xfrm>
          <a:prstGeom prst="rect">
            <a:avLst/>
          </a:prstGeom>
        </p:spPr>
      </p:pic>
    </p:spTree>
    <p:extLst>
      <p:ext uri="{BB962C8B-B14F-4D97-AF65-F5344CB8AC3E}">
        <p14:creationId xmlns:p14="http://schemas.microsoft.com/office/powerpoint/2010/main" val="4059384498"/>
      </p:ext>
    </p:extLst>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altLang="en-US" dirty="0" lang="en-US">
                <a:solidFill>
                  <a:srgbClr val="000000"/>
                </a:solidFill>
              </a:rPr>
              <a:t>Clinical – </a:t>
            </a:r>
            <a:r>
              <a:rPr altLang="en-US" dirty="0" lang="en-US">
                <a:solidFill>
                  <a:srgbClr val="000000"/>
                </a:solidFill>
              </a:rPr>
              <a:t>Homeostatic Imbalance 18.4</a:t>
            </a:r>
            <a:endParaRPr dirty="0" lang="en-US"/>
          </a:p>
        </p:txBody>
      </p:sp>
      <p:sp>
        <p:nvSpPr>
          <p:cNvPr id="21507" name="Content Placeholder 2"/>
          <p:cNvSpPr>
            <a:spLocks noGrp="1"/>
          </p:cNvSpPr>
          <p:nvPr>
            <p:ph idx="1"/>
          </p:nvPr>
        </p:nvSpPr>
        <p:spPr/>
        <p:txBody>
          <a:bodyPr/>
          <a:lstStyle/>
          <a:p>
            <a:r>
              <a:rPr dirty="0" lang="en-US"/>
              <a:t>Defects in intrinsic conduction system may cause:</a:t>
            </a:r>
          </a:p>
          <a:p>
            <a:pPr lvl="1"/>
            <a:r>
              <a:rPr b="1" dirty="0" lang="en-US"/>
              <a:t>Arrhythmias</a:t>
            </a:r>
            <a:r>
              <a:rPr dirty="0" lang="en-US"/>
              <a:t>: irregular heart rhythms</a:t>
            </a:r>
          </a:p>
          <a:p>
            <a:pPr lvl="1"/>
            <a:r>
              <a:rPr dirty="0" lang="en-US"/>
              <a:t>Uncoordinated atrial and ventricular contractions </a:t>
            </a:r>
          </a:p>
          <a:p>
            <a:pPr lvl="1"/>
            <a:r>
              <a:rPr b="1" dirty="0" lang="en-US"/>
              <a:t>Fibrillation</a:t>
            </a:r>
            <a:r>
              <a:rPr dirty="0" lang="en-US"/>
              <a:t>: rapid, irregular contractions</a:t>
            </a:r>
          </a:p>
          <a:p>
            <a:pPr lvl="2"/>
            <a:r>
              <a:rPr dirty="0" lang="en-US"/>
              <a:t>Heart becomes useless for pumping blood, </a:t>
            </a:r>
            <a:r>
              <a:rPr dirty="0" lang="en-US">
                <a:sym charset="0" typeface="Wingdings"/>
              </a:rPr>
              <a:t>causing circulation to cease; may result in brain death</a:t>
            </a:r>
          </a:p>
          <a:p>
            <a:pPr lvl="2"/>
            <a:r>
              <a:rPr dirty="0" lang="en-US">
                <a:sym charset="0" typeface="Wingdings"/>
              </a:rPr>
              <a:t>Treatment: defibrillation interrupts chaotic twitching, giving heart </a:t>
            </a:r>
            <a:r>
              <a:rPr altLang="en-US" dirty="0" lang="ja-JP">
                <a:sym charset="0" typeface="Wingdings"/>
              </a:rPr>
              <a:t>“</a:t>
            </a:r>
            <a:r>
              <a:rPr dirty="0" lang="en-US">
                <a:sym charset="0" typeface="Wingdings"/>
              </a:rPr>
              <a:t>clean slate</a:t>
            </a:r>
            <a:r>
              <a:rPr altLang="en-US" dirty="0" lang="ja-JP">
                <a:sym charset="0" typeface="Wingdings"/>
              </a:rPr>
              <a:t>”</a:t>
            </a:r>
            <a:r>
              <a:rPr dirty="0" lang="en-US">
                <a:sym charset="0" typeface="Wingdings"/>
              </a:rPr>
              <a:t> to start regular, normal </a:t>
            </a:r>
            <a:r>
              <a:rPr dirty="0" err="1" lang="en-US">
                <a:sym charset="0" typeface="Wingdings"/>
              </a:rPr>
              <a:t>depolarizations</a:t>
            </a:r>
            <a:endParaRPr dirty="0" lang="en-US"/>
          </a:p>
        </p:txBody>
      </p:sp>
      <p:sp>
        <p:nvSpPr>
          <p:cNvPr id="6" name="Footer Placeholder 5"/>
          <p:cNvSpPr>
            <a:spLocks noGrp="1"/>
          </p:cNvSpPr>
          <p:nvPr>
            <p:ph idx="4294967295" sz="quarter" type="ftr"/>
          </p:nvPr>
        </p:nvSpPr>
        <p:spPr>
          <a:xfrm>
            <a:off x="0" y="6492875"/>
            <a:ext cx="3086100" cy="365125"/>
          </a:xfrm>
          <a:prstGeom prst="rect">
            <a:avLst/>
          </a:prstGeom>
        </p:spPr>
        <p:txBody>
          <a:bodyPr/>
          <a:lstStyle/>
          <a:p>
            <a:r>
              <a:rPr lang="en-GB"/>
              <a:t>© 2016 Pearson Education, Inc.</a:t>
            </a:r>
          </a:p>
        </p:txBody>
      </p:sp>
    </p:spTree>
    <p:extLst>
      <p:ext uri="{BB962C8B-B14F-4D97-AF65-F5344CB8AC3E}">
        <p14:creationId xmlns:p14="http://schemas.microsoft.com/office/powerpoint/2010/main" val="42521554"/>
      </p:ext>
    </p:extLst>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5394" name="Rectangle 2"/>
          <p:cNvSpPr>
            <a:spLocks noChangeArrowheads="1" noGrp="1"/>
          </p:cNvSpPr>
          <p:nvPr>
            <p:ph type="title"/>
          </p:nvPr>
        </p:nvSpPr>
        <p:spPr/>
        <p:txBody>
          <a:bodyPr/>
          <a:lstStyle/>
          <a:p>
            <a:r>
              <a:rPr altLang="en-US" lang="en-US"/>
              <a:t>Contractile Cardiac Cell Membrane Potential</a:t>
            </a:r>
          </a:p>
        </p:txBody>
      </p:sp>
      <p:pic>
        <p:nvPicPr>
          <p:cNvPr descr="This figure is a graph showing the relationship between the action potential, period of contraction, and absolute refractory period in a single ventricular cell in 3 phases. Phase (3):  Repolarization is due to Ca2+ channels inactivating and K+ channels opening. This allows K+ efflux, which brings the membrane potential back to its resting voltage." id="2" name="Picture 2">
            <a:extLst>
              <a:ext uri="{FF2B5EF4-FFF2-40B4-BE49-F238E27FC236}">
                <a16:creationId xmlns:a16="http://schemas.microsoft.com/office/drawing/2014/main" id="{720A360B-4A66-AA65-A120-86109C3EB1D1}"/>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2673"/>
          <a:stretch/>
        </p:blipFill>
        <p:spPr bwMode="auto">
          <a:xfrm>
            <a:off x="351890" y="1735495"/>
            <a:ext cx="8639988" cy="4268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35A9-D48D-4571-8235-3238DB089465}"/>
              </a:ext>
            </a:extLst>
          </p:cNvPr>
          <p:cNvSpPr>
            <a:spLocks noGrp="1"/>
          </p:cNvSpPr>
          <p:nvPr>
            <p:ph type="title"/>
          </p:nvPr>
        </p:nvSpPr>
        <p:spPr/>
        <p:txBody>
          <a:bodyPr/>
          <a:lstStyle/>
          <a:p>
            <a:r>
              <a:rPr dirty="0" lang="en-US"/>
              <a:t>Contractile cell action potential</a:t>
            </a:r>
          </a:p>
        </p:txBody>
      </p:sp>
      <p:sp>
        <p:nvSpPr>
          <p:cNvPr id="3" name="Content Placeholder 2">
            <a:extLst>
              <a:ext uri="{FF2B5EF4-FFF2-40B4-BE49-F238E27FC236}">
                <a16:creationId xmlns:a16="http://schemas.microsoft.com/office/drawing/2014/main" id="{15AD5789-79F4-40D6-A357-B07B72773CB7}"/>
              </a:ext>
            </a:extLst>
          </p:cNvPr>
          <p:cNvSpPr>
            <a:spLocks noGrp="1"/>
          </p:cNvSpPr>
          <p:nvPr>
            <p:ph idx="1"/>
          </p:nvPr>
        </p:nvSpPr>
        <p:spPr/>
        <p:txBody>
          <a:bodyPr/>
          <a:lstStyle/>
          <a:p>
            <a:endParaRPr lang="en-US"/>
          </a:p>
        </p:txBody>
      </p:sp>
      <p:pic>
        <p:nvPicPr>
          <p:cNvPr descr="Alternate figure showing the action potential in a contractile cell and the ions responsible for each part." id="4" name="Picture 3">
            <a:extLst>
              <a:ext uri="{FF2B5EF4-FFF2-40B4-BE49-F238E27FC236}">
                <a16:creationId xmlns:a16="http://schemas.microsoft.com/office/drawing/2014/main" id="{5D69C119-5197-4318-91D5-CAB7A70E41BB}"/>
              </a:ext>
            </a:extLst>
          </p:cNvPr>
          <p:cNvPicPr>
            <a:picLocks noChangeAspect="1"/>
          </p:cNvPicPr>
          <p:nvPr/>
        </p:nvPicPr>
        <p:blipFill>
          <a:blip r:embed="rId2"/>
          <a:stretch>
            <a:fillRect/>
          </a:stretch>
        </p:blipFill>
        <p:spPr>
          <a:xfrm>
            <a:off x="-13818" y="977901"/>
            <a:ext cx="8583143" cy="5763760"/>
          </a:xfrm>
          <a:prstGeom prst="rect">
            <a:avLst/>
          </a:prstGeom>
        </p:spPr>
      </p:pic>
    </p:spTree>
    <p:extLst>
      <p:ext uri="{BB962C8B-B14F-4D97-AF65-F5344CB8AC3E}">
        <p14:creationId xmlns:p14="http://schemas.microsoft.com/office/powerpoint/2010/main" val="1261753214"/>
      </p:ext>
    </p:extLst>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2498" name="Rectangle 2"/>
          <p:cNvSpPr>
            <a:spLocks noChangeArrowheads="1" noGrp="1"/>
          </p:cNvSpPr>
          <p:nvPr>
            <p:ph type="title"/>
          </p:nvPr>
        </p:nvSpPr>
        <p:spPr>
          <a:xfrm>
            <a:off x="0" y="182880"/>
            <a:ext cx="9144000" cy="1143000"/>
          </a:xfrm>
        </p:spPr>
        <p:txBody>
          <a:bodyPr/>
          <a:lstStyle/>
          <a:p>
            <a:r>
              <a:rPr altLang="en-US" dirty="0" lang="en-US"/>
              <a:t>Contractile cells: Action potentials</a:t>
            </a:r>
            <a:endParaRPr altLang="en-US" b="0" dirty="0" lang="en-US"/>
          </a:p>
        </p:txBody>
      </p:sp>
      <p:sp>
        <p:nvSpPr>
          <p:cNvPr id="362499" name="Rectangle 3"/>
          <p:cNvSpPr>
            <a:spLocks noChangeArrowheads="1" noGrp="1"/>
          </p:cNvSpPr>
          <p:nvPr>
            <p:ph idx="1" type="body"/>
          </p:nvPr>
        </p:nvSpPr>
        <p:spPr>
          <a:xfrm>
            <a:off x="0" y="533400"/>
            <a:ext cx="8915400" cy="5638800"/>
          </a:xfrm>
        </p:spPr>
        <p:txBody>
          <a:bodyPr/>
          <a:lstStyle/>
          <a:p>
            <a:pPr>
              <a:lnSpc>
                <a:spcPct val="80000"/>
              </a:lnSpc>
            </a:pPr>
            <a:r>
              <a:rPr altLang="en-US" dirty="0" lang="en-US" sz="2600"/>
              <a:t>Depolarization</a:t>
            </a:r>
          </a:p>
          <a:p>
            <a:pPr lvl="1">
              <a:lnSpc>
                <a:spcPct val="70000"/>
              </a:lnSpc>
            </a:pPr>
            <a:r>
              <a:rPr altLang="en-US" dirty="0" lang="en-US" sz="2400"/>
              <a:t>Cardiac cell resting membrane potential is -90mv</a:t>
            </a:r>
          </a:p>
          <a:p>
            <a:pPr lvl="1">
              <a:lnSpc>
                <a:spcPct val="70000"/>
              </a:lnSpc>
            </a:pPr>
            <a:r>
              <a:rPr altLang="en-US" dirty="0" lang="en-US" sz="2400"/>
              <a:t>excitation spreads through gap junctions</a:t>
            </a:r>
          </a:p>
          <a:p>
            <a:pPr lvl="1">
              <a:lnSpc>
                <a:spcPct val="70000"/>
              </a:lnSpc>
            </a:pPr>
            <a:r>
              <a:rPr altLang="en-US" dirty="0" lang="en-US" sz="2400"/>
              <a:t>fast Na+ channels open for rapid depolarization</a:t>
            </a:r>
          </a:p>
          <a:p>
            <a:pPr>
              <a:lnSpc>
                <a:spcPct val="80000"/>
              </a:lnSpc>
            </a:pPr>
            <a:r>
              <a:rPr altLang="en-US" dirty="0" lang="en-US" sz="2600"/>
              <a:t>Plateau phase </a:t>
            </a:r>
          </a:p>
          <a:p>
            <a:pPr lvl="1">
              <a:lnSpc>
                <a:spcPct val="70000"/>
              </a:lnSpc>
            </a:pPr>
            <a:r>
              <a:rPr altLang="en-US" dirty="0" lang="en-US" sz="2400"/>
              <a:t>250 </a:t>
            </a:r>
            <a:r>
              <a:rPr altLang="en-US" dirty="0" err="1" lang="en-US" sz="2400"/>
              <a:t>msec</a:t>
            </a:r>
            <a:r>
              <a:rPr altLang="en-US" dirty="0" lang="en-US" sz="2400"/>
              <a:t> (only 1msec in neuron) </a:t>
            </a:r>
          </a:p>
          <a:p>
            <a:pPr lvl="1">
              <a:lnSpc>
                <a:spcPct val="70000"/>
              </a:lnSpc>
            </a:pPr>
            <a:r>
              <a:rPr altLang="en-US" dirty="0" lang="en-US" sz="2400"/>
              <a:t>slow Ca</a:t>
            </a:r>
            <a:r>
              <a:rPr altLang="en-US" baseline="30000" dirty="0" lang="en-US" sz="2400"/>
              <a:t>+2</a:t>
            </a:r>
            <a:r>
              <a:rPr altLang="en-US" dirty="0" lang="en-US" sz="2400"/>
              <a:t> channels open, let Ca </a:t>
            </a:r>
            <a:r>
              <a:rPr altLang="en-US" baseline="30000" dirty="0" lang="en-US" sz="2400"/>
              <a:t>+2</a:t>
            </a:r>
            <a:r>
              <a:rPr altLang="en-US" dirty="0" lang="en-US" sz="2400"/>
              <a:t>, while K</a:t>
            </a:r>
            <a:r>
              <a:rPr altLang="en-US" baseline="30000" dirty="0" lang="en-US" sz="2400"/>
              <a:t>+</a:t>
            </a:r>
            <a:r>
              <a:rPr altLang="en-US" dirty="0" lang="en-US" sz="2400"/>
              <a:t> channels close</a:t>
            </a:r>
          </a:p>
          <a:p>
            <a:pPr lvl="1">
              <a:lnSpc>
                <a:spcPct val="70000"/>
              </a:lnSpc>
            </a:pPr>
            <a:r>
              <a:rPr altLang="en-US" dirty="0" lang="en-US" sz="2400"/>
              <a:t>Ca </a:t>
            </a:r>
            <a:r>
              <a:rPr altLang="en-US" baseline="30000" dirty="0" lang="en-US" sz="2400"/>
              <a:t>+2</a:t>
            </a:r>
            <a:r>
              <a:rPr altLang="en-US" dirty="0" lang="en-US" sz="2400"/>
              <a:t> binds to troponin to allow for actin-myosin cross-bridge formation &amp; tension development</a:t>
            </a:r>
          </a:p>
          <a:p>
            <a:pPr>
              <a:lnSpc>
                <a:spcPct val="80000"/>
              </a:lnSpc>
            </a:pPr>
            <a:r>
              <a:rPr altLang="en-US" dirty="0" lang="en-US" sz="2600"/>
              <a:t>Repolarization </a:t>
            </a:r>
          </a:p>
          <a:p>
            <a:pPr lvl="1">
              <a:lnSpc>
                <a:spcPct val="80000"/>
              </a:lnSpc>
            </a:pPr>
            <a:r>
              <a:rPr altLang="en-US" dirty="0" lang="en-US" sz="2400"/>
              <a:t>Ca</a:t>
            </a:r>
            <a:r>
              <a:rPr altLang="en-US" baseline="30000" dirty="0" lang="en-US" sz="2400"/>
              <a:t>+2</a:t>
            </a:r>
            <a:r>
              <a:rPr altLang="en-US" dirty="0" lang="en-US" sz="2400"/>
              <a:t> channels close and K</a:t>
            </a:r>
            <a:r>
              <a:rPr altLang="en-US" baseline="30000" dirty="0" lang="en-US" sz="2400"/>
              <a:t>+</a:t>
            </a:r>
            <a:r>
              <a:rPr altLang="en-US" dirty="0" lang="en-US" sz="2400"/>
              <a:t> channels open &amp; -90mv is restored as potassium leaves the cell</a:t>
            </a:r>
          </a:p>
          <a:p>
            <a:pPr>
              <a:lnSpc>
                <a:spcPct val="80000"/>
              </a:lnSpc>
            </a:pPr>
            <a:r>
              <a:rPr altLang="en-US" dirty="0" lang="en-US" sz="2600"/>
              <a:t>Refractory period </a:t>
            </a:r>
          </a:p>
          <a:p>
            <a:pPr lvl="1">
              <a:lnSpc>
                <a:spcPct val="80000"/>
              </a:lnSpc>
            </a:pPr>
            <a:r>
              <a:rPr altLang="en-US" dirty="0" lang="en-US" sz="2400"/>
              <a:t>very long so heart can fill</a:t>
            </a:r>
          </a:p>
        </p:txBody>
      </p:sp>
    </p:spTree>
  </p:cSld>
  <p:clrMapOvr>
    <a:masterClrMapping/>
  </p:clrMapOvr>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dirty="0" lang="en-US"/>
              <a:t>Action Potentials of Contractile Cardiac Muscle Cells</a:t>
            </a:r>
          </a:p>
        </p:txBody>
      </p:sp>
      <p:sp>
        <p:nvSpPr>
          <p:cNvPr id="27651" name="Content Placeholder 2"/>
          <p:cNvSpPr>
            <a:spLocks noGrp="1"/>
          </p:cNvSpPr>
          <p:nvPr>
            <p:ph idx="1"/>
          </p:nvPr>
        </p:nvSpPr>
        <p:spPr>
          <a:xfrm>
            <a:off x="304800" y="1436687"/>
            <a:ext cx="8270875" cy="5056188"/>
          </a:xfrm>
        </p:spPr>
        <p:txBody>
          <a:bodyPr/>
          <a:lstStyle/>
          <a:p>
            <a:r>
              <a:rPr dirty="0" i="1" lang="en-US"/>
              <a:t>Contractile muscle fibers </a:t>
            </a:r>
            <a:r>
              <a:rPr dirty="0" lang="en-US"/>
              <a:t>make up bulk of heart and are responsible for pumping action</a:t>
            </a:r>
          </a:p>
          <a:p>
            <a:pPr lvl="1"/>
            <a:r>
              <a:rPr dirty="0" lang="en-US"/>
              <a:t>Different from skeletal muscle contraction; cardiac muscle action potentials have plateau</a:t>
            </a:r>
          </a:p>
          <a:p>
            <a:r>
              <a:rPr dirty="0" lang="en-US"/>
              <a:t>Steps involved in AP:</a:t>
            </a:r>
          </a:p>
          <a:p>
            <a:pPr indent="-514350" lvl="1" marL="971550">
              <a:buFont typeface="+mj-lt"/>
              <a:buAutoNum type="arabicPeriod"/>
            </a:pPr>
            <a:r>
              <a:rPr dirty="0" lang="en-US"/>
              <a:t>Depolarization opens </a:t>
            </a:r>
            <a:r>
              <a:rPr b="1" dirty="0" lang="en-US"/>
              <a:t>fast</a:t>
            </a:r>
            <a:r>
              <a:rPr dirty="0" lang="en-US"/>
              <a:t> </a:t>
            </a:r>
            <a:r>
              <a:rPr b="1" dirty="0" lang="en-US"/>
              <a:t>voltage-gated </a:t>
            </a:r>
            <a:br>
              <a:rPr b="1" dirty="0" lang="en-US"/>
            </a:br>
            <a:r>
              <a:rPr b="1" dirty="0" lang="en-US"/>
              <a:t>Na</a:t>
            </a:r>
            <a:r>
              <a:rPr b="1" baseline="30000" dirty="0" lang="en-US"/>
              <a:t>+</a:t>
            </a:r>
            <a:r>
              <a:rPr b="1" dirty="0" lang="en-US"/>
              <a:t> channels</a:t>
            </a:r>
            <a:r>
              <a:rPr dirty="0" lang="en-US"/>
              <a:t>; Na</a:t>
            </a:r>
            <a:r>
              <a:rPr baseline="30000" dirty="0" lang="en-US"/>
              <a:t>+</a:t>
            </a:r>
            <a:r>
              <a:rPr dirty="0" lang="en-US"/>
              <a:t> enters cell</a:t>
            </a:r>
          </a:p>
          <a:p>
            <a:pPr lvl="2"/>
            <a:r>
              <a:rPr dirty="0" lang="en-US"/>
              <a:t>Positive feedback influx of Na</a:t>
            </a:r>
            <a:r>
              <a:rPr baseline="30000" dirty="0" lang="en-US"/>
              <a:t>+</a:t>
            </a:r>
            <a:r>
              <a:rPr dirty="0" lang="en-US"/>
              <a:t> causes rising phase of AP (from </a:t>
            </a:r>
            <a:r>
              <a:rPr dirty="0" lang="en-US">
                <a:latin charset="2" typeface="Symbol"/>
                <a:cs charset="2" typeface="Symbol"/>
                <a:sym charset="2" panose="05050102010706020507" pitchFamily="18" typeface="Symbol"/>
              </a:rPr>
              <a:t></a:t>
            </a:r>
            <a:r>
              <a:rPr dirty="0" lang="en-US"/>
              <a:t>90 mV to </a:t>
            </a:r>
            <a:r>
              <a:rPr dirty="0" lang="en-US">
                <a:latin charset="2" typeface="Symbol"/>
                <a:cs charset="2" typeface="Symbol"/>
              </a:rPr>
              <a:t>+</a:t>
            </a:r>
            <a:r>
              <a:rPr dirty="0" lang="en-US"/>
              <a:t>30 mV)</a:t>
            </a:r>
          </a:p>
        </p:txBody>
      </p:sp>
    </p:spTree>
    <p:extLst>
      <p:ext uri="{BB962C8B-B14F-4D97-AF65-F5344CB8AC3E}">
        <p14:creationId xmlns:p14="http://schemas.microsoft.com/office/powerpoint/2010/main" val="2515712944"/>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8C10A-6F46-3D00-6A14-1101525CDD3C}"/>
              </a:ext>
            </a:extLst>
          </p:cNvPr>
          <p:cNvSpPr>
            <a:spLocks noGrp="1"/>
          </p:cNvSpPr>
          <p:nvPr>
            <p:ph type="title"/>
          </p:nvPr>
        </p:nvSpPr>
        <p:spPr>
          <a:xfrm>
            <a:off x="304800" y="261938"/>
            <a:ext cx="8610600" cy="609600"/>
          </a:xfrm>
        </p:spPr>
        <p:txBody>
          <a:bodyPr/>
          <a:lstStyle/>
          <a:p>
            <a:r>
              <a:rPr dirty="0" lang="en-US"/>
              <a:t>Action Potentials of Contractile Cardiac Muscle Cells pt 2</a:t>
            </a:r>
          </a:p>
        </p:txBody>
      </p:sp>
      <p:sp>
        <p:nvSpPr>
          <p:cNvPr id="28674" name="Content Placeholder 1"/>
          <p:cNvSpPr>
            <a:spLocks noGrp="1"/>
          </p:cNvSpPr>
          <p:nvPr>
            <p:ph idx="1"/>
          </p:nvPr>
        </p:nvSpPr>
        <p:spPr>
          <a:xfrm>
            <a:off x="278130" y="1256989"/>
            <a:ext cx="8865870" cy="5056188"/>
          </a:xfrm>
        </p:spPr>
        <p:txBody>
          <a:bodyPr/>
          <a:lstStyle/>
          <a:p>
            <a:pPr indent="-514350" lvl="1" marL="971550">
              <a:buFont typeface="+mj-lt"/>
              <a:buAutoNum startAt="2" type="arabicPeriod"/>
            </a:pPr>
            <a:r>
              <a:rPr dirty="0" lang="en-US"/>
              <a:t>Depolarization by Na</a:t>
            </a:r>
            <a:r>
              <a:rPr baseline="30000" dirty="0" lang="en-US"/>
              <a:t>+</a:t>
            </a:r>
            <a:r>
              <a:rPr dirty="0" lang="en-US"/>
              <a:t> also opens </a:t>
            </a:r>
            <a:r>
              <a:rPr b="1" dirty="0" lang="en-US"/>
              <a:t>slow Ca</a:t>
            </a:r>
            <a:r>
              <a:rPr b="1" baseline="30000" dirty="0" lang="en-US"/>
              <a:t>2+</a:t>
            </a:r>
            <a:r>
              <a:rPr b="1" dirty="0" lang="en-US"/>
              <a:t> channels</a:t>
            </a:r>
          </a:p>
          <a:p>
            <a:pPr lvl="2"/>
            <a:r>
              <a:rPr dirty="0" lang="en-US"/>
              <a:t>At </a:t>
            </a:r>
            <a:r>
              <a:rPr dirty="0" lang="en-US">
                <a:latin charset="2" typeface="Symbol"/>
                <a:cs charset="2" typeface="Symbol"/>
              </a:rPr>
              <a:t>+</a:t>
            </a:r>
            <a:r>
              <a:rPr dirty="0" lang="en-US"/>
              <a:t>30 mV, Na</a:t>
            </a:r>
            <a:r>
              <a:rPr baseline="30000" dirty="0" lang="en-US"/>
              <a:t>+</a:t>
            </a:r>
            <a:r>
              <a:rPr dirty="0" lang="en-US"/>
              <a:t> channels close, but slow Ca</a:t>
            </a:r>
            <a:r>
              <a:rPr baseline="30000" dirty="0" lang="en-US"/>
              <a:t>2+</a:t>
            </a:r>
            <a:r>
              <a:rPr dirty="0" lang="en-US"/>
              <a:t> channels remain open, prolonging depolarization</a:t>
            </a:r>
          </a:p>
          <a:p>
            <a:pPr lvl="3"/>
            <a:r>
              <a:rPr dirty="0" lang="en-US"/>
              <a:t>Seen as a plateau</a:t>
            </a:r>
          </a:p>
          <a:p>
            <a:pPr indent="-514350" lvl="1" marL="971550">
              <a:buFont typeface="+mj-lt"/>
              <a:buAutoNum startAt="3" type="arabicPeriod"/>
            </a:pPr>
            <a:r>
              <a:rPr dirty="0" lang="en-US"/>
              <a:t>After about 200 </a:t>
            </a:r>
            <a:r>
              <a:rPr dirty="0" err="1" lang="en-US"/>
              <a:t>ms</a:t>
            </a:r>
            <a:r>
              <a:rPr dirty="0" lang="en-US"/>
              <a:t>, slow Ca</a:t>
            </a:r>
            <a:r>
              <a:rPr baseline="30000" dirty="0" lang="en-US"/>
              <a:t>2+</a:t>
            </a:r>
            <a:r>
              <a:rPr dirty="0" lang="en-US"/>
              <a:t> channels are closed, and voltage-gated K</a:t>
            </a:r>
            <a:r>
              <a:rPr baseline="30000" dirty="0" lang="en-US"/>
              <a:t>+</a:t>
            </a:r>
            <a:r>
              <a:rPr dirty="0" lang="en-US"/>
              <a:t> channels are open</a:t>
            </a:r>
          </a:p>
          <a:p>
            <a:pPr lvl="2"/>
            <a:r>
              <a:rPr dirty="0" lang="en-US"/>
              <a:t>Rapid efflux of K</a:t>
            </a:r>
            <a:r>
              <a:rPr baseline="30000" dirty="0" lang="en-US"/>
              <a:t>+</a:t>
            </a:r>
            <a:r>
              <a:rPr dirty="0" lang="en-US"/>
              <a:t> repolarizes cell to RMP</a:t>
            </a:r>
          </a:p>
          <a:p>
            <a:pPr lvl="2"/>
            <a:r>
              <a:rPr dirty="0" lang="en-US"/>
              <a:t>Ca</a:t>
            </a:r>
            <a:r>
              <a:rPr baseline="30000" dirty="0" lang="en-US"/>
              <a:t>2+</a:t>
            </a:r>
            <a:r>
              <a:rPr dirty="0" lang="en-US"/>
              <a:t> is pumped both back into SR and out of cell into extracellular space</a:t>
            </a:r>
          </a:p>
        </p:txBody>
      </p:sp>
    </p:spTree>
    <p:extLst>
      <p:ext uri="{BB962C8B-B14F-4D97-AF65-F5344CB8AC3E}">
        <p14:creationId xmlns:p14="http://schemas.microsoft.com/office/powerpoint/2010/main" val="3947450622"/>
      </p:ext>
    </p:extLst>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242BA-CD8E-92C1-BE94-F1772315603E}"/>
              </a:ext>
            </a:extLst>
          </p:cNvPr>
          <p:cNvSpPr>
            <a:spLocks noGrp="1"/>
          </p:cNvSpPr>
          <p:nvPr>
            <p:ph type="title"/>
          </p:nvPr>
        </p:nvSpPr>
        <p:spPr>
          <a:xfrm>
            <a:off x="304800" y="261938"/>
            <a:ext cx="8610600" cy="609600"/>
          </a:xfrm>
        </p:spPr>
        <p:txBody>
          <a:bodyPr/>
          <a:lstStyle/>
          <a:p>
            <a:r>
              <a:rPr dirty="0" lang="en-US"/>
              <a:t>Action Potentials of Contractile Cardiac Muscle Cells pt 3</a:t>
            </a:r>
          </a:p>
        </p:txBody>
      </p:sp>
      <p:sp>
        <p:nvSpPr>
          <p:cNvPr id="29698" name="Content Placeholder 1"/>
          <p:cNvSpPr>
            <a:spLocks noGrp="1"/>
          </p:cNvSpPr>
          <p:nvPr>
            <p:ph idx="1"/>
          </p:nvPr>
        </p:nvSpPr>
        <p:spPr>
          <a:xfrm>
            <a:off x="298450" y="1046739"/>
            <a:ext cx="8845550" cy="5056188"/>
          </a:xfrm>
        </p:spPr>
        <p:txBody>
          <a:bodyPr/>
          <a:lstStyle/>
          <a:p>
            <a:r>
              <a:rPr dirty="0" lang="en-US"/>
              <a:t>Difference between contractile muscle fiber and skeletal muscle fiber contractions</a:t>
            </a:r>
          </a:p>
          <a:p>
            <a:pPr lvl="1"/>
            <a:r>
              <a:rPr dirty="0" lang="en-US"/>
              <a:t>AP in skeletal muscle lasts 1–2 </a:t>
            </a:r>
            <a:r>
              <a:rPr dirty="0" err="1" lang="en-US"/>
              <a:t>ms</a:t>
            </a:r>
            <a:r>
              <a:rPr dirty="0" lang="en-US"/>
              <a:t>; in cardiac muscle it lasts 200 </a:t>
            </a:r>
            <a:r>
              <a:rPr dirty="0" err="1" lang="en-US"/>
              <a:t>ms</a:t>
            </a:r>
            <a:endParaRPr dirty="0" lang="en-US"/>
          </a:p>
          <a:p>
            <a:pPr lvl="1"/>
            <a:r>
              <a:rPr dirty="0" lang="en-US"/>
              <a:t>Contraction in skeletal muscle lasts 15–100 </a:t>
            </a:r>
            <a:r>
              <a:rPr dirty="0" err="1" lang="en-US"/>
              <a:t>ms</a:t>
            </a:r>
            <a:r>
              <a:rPr dirty="0" lang="en-US"/>
              <a:t>;  in cardiac contraction lasts over 200 </a:t>
            </a:r>
            <a:r>
              <a:rPr dirty="0" err="1" lang="en-US"/>
              <a:t>ms</a:t>
            </a:r>
            <a:endParaRPr dirty="0" lang="en-US"/>
          </a:p>
          <a:p>
            <a:r>
              <a:rPr dirty="0" lang="en-US"/>
              <a:t>Benefit of longer AP and contraction:</a:t>
            </a:r>
          </a:p>
          <a:p>
            <a:pPr lvl="1"/>
            <a:r>
              <a:rPr dirty="0" lang="en-US"/>
              <a:t>Sustained contraction ensures efficient ejection of blood</a:t>
            </a:r>
          </a:p>
          <a:p>
            <a:pPr lvl="1"/>
            <a:r>
              <a:rPr dirty="0" lang="en-US"/>
              <a:t>Longer refractory period prevents tetanic contractions</a:t>
            </a:r>
          </a:p>
        </p:txBody>
      </p:sp>
    </p:spTree>
    <p:extLst>
      <p:ext uri="{BB962C8B-B14F-4D97-AF65-F5344CB8AC3E}">
        <p14:creationId xmlns:p14="http://schemas.microsoft.com/office/powerpoint/2010/main" val="3110902067"/>
      </p:ext>
    </p:extLst>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3586" name="Rectangle 2"/>
          <p:cNvSpPr>
            <a:spLocks noChangeArrowheads="1" noGrp="1"/>
          </p:cNvSpPr>
          <p:nvPr>
            <p:ph type="title"/>
          </p:nvPr>
        </p:nvSpPr>
        <p:spPr/>
        <p:txBody>
          <a:bodyPr/>
          <a:lstStyle/>
          <a:p>
            <a:r>
              <a:rPr altLang="en-US" lang="en-US"/>
              <a:t>Electrocardiography</a:t>
            </a:r>
          </a:p>
        </p:txBody>
      </p:sp>
      <p:sp>
        <p:nvSpPr>
          <p:cNvPr id="323587" name="Rectangle 3"/>
          <p:cNvSpPr>
            <a:spLocks noChangeArrowheads="1" noGrp="1"/>
          </p:cNvSpPr>
          <p:nvPr>
            <p:ph idx="1" type="body"/>
          </p:nvPr>
        </p:nvSpPr>
        <p:spPr>
          <a:xfrm>
            <a:off x="304800" y="730250"/>
            <a:ext cx="8610600" cy="5187950"/>
          </a:xfrm>
        </p:spPr>
        <p:txBody>
          <a:bodyPr/>
          <a:lstStyle/>
          <a:p>
            <a:r>
              <a:rPr altLang="en-US" lang="en-US">
                <a:solidFill>
                  <a:srgbClr val="000000"/>
                </a:solidFill>
              </a:rPr>
              <a:t>Electrical activity is recorded by electrocardiogram (ECG)</a:t>
            </a:r>
          </a:p>
          <a:p>
            <a:r>
              <a:rPr altLang="en-US" lang="en-US">
                <a:solidFill>
                  <a:srgbClr val="000000"/>
                </a:solidFill>
              </a:rPr>
              <a:t>P wave corresponds to depolarization of SA node</a:t>
            </a:r>
          </a:p>
          <a:p>
            <a:r>
              <a:rPr altLang="en-US" lang="en-US">
                <a:solidFill>
                  <a:srgbClr val="000000"/>
                </a:solidFill>
              </a:rPr>
              <a:t>QRS complex corresponds to ventricular depolarization</a:t>
            </a:r>
          </a:p>
          <a:p>
            <a:r>
              <a:rPr altLang="en-US" lang="en-US">
                <a:solidFill>
                  <a:srgbClr val="000000"/>
                </a:solidFill>
              </a:rPr>
              <a:t>T wave corresponds to ventricular repolarization</a:t>
            </a:r>
          </a:p>
          <a:p>
            <a:r>
              <a:rPr altLang="en-US" lang="en-US"/>
              <a:t>Atrial repolarization record is masked by the larger QRS complex</a:t>
            </a:r>
          </a:p>
        </p:txBody>
      </p:sp>
      <p:sp>
        <p:nvSpPr>
          <p:cNvPr id="323588" name="Oval 4">
            <a:hlinkClick r:id="rId2"/>
          </p:cNvPr>
          <p:cNvSpPr>
            <a:spLocks noChangeArrowheads="1"/>
          </p:cNvSpPr>
          <p:nvPr/>
        </p:nvSpPr>
        <p:spPr bwMode="auto">
          <a:xfrm>
            <a:off x="314325" y="5581650"/>
            <a:ext cx="762000" cy="457200"/>
          </a:xfrm>
          <a:prstGeom prst="ellipse">
            <a:avLst/>
          </a:prstGeom>
          <a:gradFill rotWithShape="0">
            <a:gsLst>
              <a:gs pos="0">
                <a:schemeClr val="folHlink"/>
              </a:gs>
              <a:gs pos="100000">
                <a:srgbClr val="4DC2E7"/>
              </a:gs>
            </a:gsLst>
            <a:lin ang="5400000" scaled="1"/>
          </a:gradFill>
          <a:ln>
            <a:noFill/>
          </a:ln>
          <a:effectLst>
            <a:prstShdw dir="2700000" dist="17961" prst="shdw17">
              <a:schemeClr val="folHlink">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anchor="ctr" wrap="none"/>
          <a:lstStyle/>
          <a:p>
            <a:pPr algn="ctr"/>
            <a:r>
              <a:rPr altLang="en-US" b="1" lang="en-US" sz="1600">
                <a:latin charset="0" panose="020B0604020202020204" pitchFamily="34" typeface="Arial"/>
              </a:rPr>
              <a:t>PLAY</a:t>
            </a:r>
          </a:p>
        </p:txBody>
      </p:sp>
      <p:sp>
        <p:nvSpPr>
          <p:cNvPr id="323589" name="Text Box 5"/>
          <p:cNvSpPr txBox="1">
            <a:spLocks noChangeArrowheads="1"/>
          </p:cNvSpPr>
          <p:nvPr/>
        </p:nvSpPr>
        <p:spPr bwMode="auto">
          <a:xfrm>
            <a:off x="1228725" y="5597525"/>
            <a:ext cx="35401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wrap="none">
            <a:spAutoFit/>
          </a:bodyPr>
          <a:lstStyle/>
          <a:p>
            <a:r>
              <a:rPr altLang="en-US" b="1" i="1" lang="en-US" sz="1400">
                <a:latin charset="0" panose="020B0604020202020204" pitchFamily="34" typeface="Arial"/>
              </a:rPr>
              <a:t>InterActive Physiology ®:</a:t>
            </a:r>
            <a:r>
              <a:rPr altLang="en-US" b="1" i="1" lang="en-US" sz="1400">
                <a:solidFill>
                  <a:srgbClr val="0989C9"/>
                </a:solidFill>
                <a:latin charset="0" panose="020B0604020202020204" pitchFamily="34" typeface="Arial"/>
              </a:rPr>
              <a:t> </a:t>
            </a:r>
            <a:endParaRPr altLang="en-US" b="1" lang="en-US" sz="1400">
              <a:solidFill>
                <a:srgbClr val="0989C9"/>
              </a:solidFill>
              <a:latin charset="0" panose="020B0604020202020204" pitchFamily="34" typeface="Arial"/>
            </a:endParaRPr>
          </a:p>
          <a:p>
            <a:r>
              <a:rPr altLang="en-US" b="1" lang="en-US" sz="1400">
                <a:latin charset="0" panose="020B0604020202020204" pitchFamily="34" typeface="Arial"/>
              </a:rPr>
              <a:t>Intrinsic Conduction System, pages 3–6</a:t>
            </a:r>
            <a:endParaRPr altLang="en-US" lang="en-US" sz="2800">
              <a:latin charset="0" panose="020B0604020202020204" pitchFamily="34" typeface="Arial"/>
            </a:endParaRPr>
          </a:p>
        </p:txBody>
      </p:sp>
    </p:spTree>
  </p:cSld>
  <p:clrMapOvr>
    <a:masterClrMapping/>
  </p:clrMapOvr>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4610" name="Rectangle 2"/>
          <p:cNvSpPr>
            <a:spLocks noChangeArrowheads="1" noGrp="1"/>
          </p:cNvSpPr>
          <p:nvPr>
            <p:ph type="title"/>
          </p:nvPr>
        </p:nvSpPr>
        <p:spPr/>
        <p:txBody>
          <a:bodyPr/>
          <a:lstStyle/>
          <a:p>
            <a:r>
              <a:rPr altLang="en-US" dirty="0" lang="en-US"/>
              <a:t>ECG Tracings</a:t>
            </a:r>
          </a:p>
        </p:txBody>
      </p:sp>
      <p:sp>
        <p:nvSpPr>
          <p:cNvPr id="324611" name="Text Box 3"/>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lgn="r"/>
            <a:r>
              <a:rPr altLang="en-US" b="1" lang="en-US" sz="1200">
                <a:solidFill>
                  <a:schemeClr val="accent2"/>
                </a:solidFill>
                <a:latin charset="0" panose="020B0604020202020204" pitchFamily="34" typeface="Arial"/>
              </a:rPr>
              <a:t>Figure 18.18</a:t>
            </a:r>
          </a:p>
        </p:txBody>
      </p:sp>
      <p:pic>
        <p:nvPicPr>
          <p:cNvPr descr="4 panels of irregular ECG outputs" id="324612" name="Picture 4"/>
          <p:cNvPicPr>
            <a:picLocks noChangeArrowheads="1" noChangeAspect="1"/>
          </p:cNvPicPr>
          <p:nvPr/>
        </p:nvPicPr>
        <p:blipFill>
          <a:blip r:embed="rId2">
            <a:extLst>
              <a:ext uri="{28A0092B-C50C-407E-A947-70E740481C1C}">
                <a14:useLocalDpi xmlns:a14="http://schemas.microsoft.com/office/drawing/2010/main" val="0"/>
              </a:ext>
            </a:extLst>
          </a:blip>
          <a:srcRect b="8861" l="1323" r="1472" t="2643"/>
          <a:stretch>
            <a:fillRect/>
          </a:stretch>
        </p:blipFill>
        <p:spPr bwMode="auto">
          <a:xfrm>
            <a:off x="433388" y="1541463"/>
            <a:ext cx="8277225" cy="37734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6658" name="Rectangle 2"/>
          <p:cNvSpPr>
            <a:spLocks noChangeArrowheads="1" noGrp="1"/>
          </p:cNvSpPr>
          <p:nvPr>
            <p:ph type="title"/>
          </p:nvPr>
        </p:nvSpPr>
        <p:spPr>
          <a:xfrm>
            <a:off x="304800" y="261938"/>
            <a:ext cx="4024604" cy="609600"/>
          </a:xfrm>
        </p:spPr>
        <p:txBody>
          <a:bodyPr/>
          <a:lstStyle/>
          <a:p>
            <a:r>
              <a:rPr altLang="en-US" dirty="0" lang="en-US"/>
              <a:t>BIG TOPIC: Electrocardiography</a:t>
            </a:r>
          </a:p>
        </p:txBody>
      </p:sp>
      <p:pic>
        <p:nvPicPr>
          <p:cNvPr descr="Part (b): This horizontal axis of the tracing shows time in seconds. We begin on the left at zero seconds. The tracing rises slightly to form the P wave, which indicates atrial depolarization. The P wave falls to slightly below its original level, forming the downward-sloping Q wave at slightly after 0.2 seconds. The tracing then soars almost vertically to its highest point, the R wave, which occurs between 0.2 and 0.3 seconds. Then it falls rapidly to its lowest point, S, which is lower than Q and occurs at around 0.3 seconds. Ventricular depolarization is occurring during this time. From S it rises again to run horizontally – at approximately the same level that preceded the P wave -- from approximately 0.35 to almost 0.5 seconds. The tracing peaks – slightly higher than the P wave -- to form the T wave, which indicates ventricular repolarization. The T wave subsides at approximately 0.6 seconds and runs horizontally until the tracing ends at 0.8 seconds.  Important intervals include: The P-R interval, which in this tracing runs from zero to 0.2 seconds. Atrial depolarization occurs during this time. The QRS complex, which runs from 0.2 to approximately 0.35 seconds. Ventricular depolarization occurs during this time. The Q-T interval, which runs from 0.2 to 0.6 seconds. Ventricular repolarization occurs during this time. The S-T segment, which runs from approximately 0.35 to 0.5 seconds. " id="2" name="Picture 1">
            <a:extLst>
              <a:ext uri="{FF2B5EF4-FFF2-40B4-BE49-F238E27FC236}">
                <a16:creationId xmlns:a16="http://schemas.microsoft.com/office/drawing/2014/main" id="{4A8C48CA-C5CA-FEFC-22D6-306F073B8FEA}"/>
              </a:ext>
            </a:extLst>
          </p:cNvPr>
          <p:cNvPicPr>
            <a:picLocks noChangeAspect="1"/>
          </p:cNvPicPr>
          <p:nvPr/>
        </p:nvPicPr>
        <p:blipFill rotWithShape="1">
          <a:blip r:embed="rId2">
            <a:extLst>
              <a:ext uri="{28A0092B-C50C-407E-A947-70E740481C1C}">
                <a14:useLocalDpi xmlns:a14="http://schemas.microsoft.com/office/drawing/2010/main" val="0"/>
              </a:ext>
            </a:extLst>
          </a:blip>
          <a:srcRect b="2604"/>
          <a:stretch/>
        </p:blipFill>
        <p:spPr>
          <a:xfrm>
            <a:off x="4528557" y="261938"/>
            <a:ext cx="4615443" cy="6531376"/>
          </a:xfrm>
          <a:prstGeom prst="rect">
            <a:avLst/>
          </a:prstGeom>
        </p:spPr>
      </p:pic>
    </p:spTree>
  </p:cSld>
  <p:clrMapOvr>
    <a:masterClrMapping/>
  </p:clrMapOvr>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7444" name="Rectangle 4"/>
          <p:cNvSpPr>
            <a:spLocks noChangeArrowheads="1"/>
          </p:cNvSpPr>
          <p:nvPr/>
        </p:nvSpPr>
        <p:spPr bwMode="auto">
          <a:xfrm>
            <a:off x="3248025" y="738188"/>
            <a:ext cx="3073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none">
            <a:spAutoFit/>
          </a:bodyPr>
          <a:lstStyle>
            <a:lvl1pPr defTabSz="806450">
              <a:defRPr sz="2400">
                <a:solidFill>
                  <a:schemeClr val="tx1"/>
                </a:solidFill>
                <a:latin charset="0" panose="02020603050405020304" pitchFamily="18" typeface="Times New Roman"/>
              </a:defRPr>
            </a:lvl1pPr>
            <a:lvl2pPr defTabSz="806450" marL="403225">
              <a:defRPr sz="2400">
                <a:solidFill>
                  <a:schemeClr val="tx1"/>
                </a:solidFill>
                <a:latin charset="0" panose="02020603050405020304" pitchFamily="18" typeface="Times New Roman"/>
              </a:defRPr>
            </a:lvl2pPr>
            <a:lvl3pPr defTabSz="806450" marL="806450">
              <a:defRPr sz="2400">
                <a:solidFill>
                  <a:schemeClr val="tx1"/>
                </a:solidFill>
                <a:latin charset="0" panose="02020603050405020304" pitchFamily="18" typeface="Times New Roman"/>
              </a:defRPr>
            </a:lvl3pPr>
            <a:lvl4pPr defTabSz="806450" marL="1209675">
              <a:defRPr sz="2400">
                <a:solidFill>
                  <a:schemeClr val="tx1"/>
                </a:solidFill>
                <a:latin charset="0" panose="02020603050405020304" pitchFamily="18" typeface="Times New Roman"/>
              </a:defRPr>
            </a:lvl4pPr>
            <a:lvl5pPr defTabSz="806450" marL="1614488">
              <a:defRPr sz="2400">
                <a:solidFill>
                  <a:schemeClr val="tx1"/>
                </a:solidFill>
                <a:latin charset="0" panose="02020603050405020304" pitchFamily="18" typeface="Times New Roman"/>
              </a:defRPr>
            </a:lvl5pPr>
            <a:lvl6pPr defTabSz="806450" eaLnBrk="0" fontAlgn="base" hangingPunct="0" marL="2071688">
              <a:spcBef>
                <a:spcPct val="0"/>
              </a:spcBef>
              <a:spcAft>
                <a:spcPct val="0"/>
              </a:spcAft>
              <a:defRPr sz="2400">
                <a:solidFill>
                  <a:schemeClr val="tx1"/>
                </a:solidFill>
                <a:latin charset="0" panose="02020603050405020304" pitchFamily="18" typeface="Times New Roman"/>
              </a:defRPr>
            </a:lvl6pPr>
            <a:lvl7pPr defTabSz="806450" eaLnBrk="0" fontAlgn="base" hangingPunct="0" marL="2528888">
              <a:spcBef>
                <a:spcPct val="0"/>
              </a:spcBef>
              <a:spcAft>
                <a:spcPct val="0"/>
              </a:spcAft>
              <a:defRPr sz="2400">
                <a:solidFill>
                  <a:schemeClr val="tx1"/>
                </a:solidFill>
                <a:latin charset="0" panose="02020603050405020304" pitchFamily="18" typeface="Times New Roman"/>
              </a:defRPr>
            </a:lvl7pPr>
            <a:lvl8pPr defTabSz="806450" eaLnBrk="0" fontAlgn="base" hangingPunct="0" marL="2986088">
              <a:spcBef>
                <a:spcPct val="0"/>
              </a:spcBef>
              <a:spcAft>
                <a:spcPct val="0"/>
              </a:spcAft>
              <a:defRPr sz="2400">
                <a:solidFill>
                  <a:schemeClr val="tx1"/>
                </a:solidFill>
                <a:latin charset="0" panose="02020603050405020304" pitchFamily="18" typeface="Times New Roman"/>
              </a:defRPr>
            </a:lvl8pPr>
            <a:lvl9pPr defTabSz="806450" eaLnBrk="0" fontAlgn="base" hangingPunct="0" marL="3443288">
              <a:spcBef>
                <a:spcPct val="0"/>
              </a:spcBef>
              <a:spcAft>
                <a:spcPct val="0"/>
              </a:spcAft>
              <a:defRPr sz="2400">
                <a:solidFill>
                  <a:schemeClr val="tx1"/>
                </a:solidFill>
                <a:latin charset="0" panose="02020603050405020304" pitchFamily="18" typeface="Times New Roman"/>
              </a:defRPr>
            </a:lvl9pPr>
          </a:lstStyle>
          <a:p>
            <a:r>
              <a:rPr altLang="en-US" b="1" lang="en-US" sz="1800">
                <a:solidFill>
                  <a:srgbClr val="000000"/>
                </a:solidFill>
                <a:latin charset="0" panose="020B0604020202020204" pitchFamily="34" typeface="Arial"/>
              </a:rPr>
              <a:t>SA node generates impulse;</a:t>
            </a:r>
          </a:p>
          <a:p>
            <a:r>
              <a:rPr altLang="en-US" b="1" lang="en-US" sz="1800">
                <a:solidFill>
                  <a:srgbClr val="000000"/>
                </a:solidFill>
                <a:latin charset="0" panose="020B0604020202020204" pitchFamily="34" typeface="Arial"/>
              </a:rPr>
              <a:t>atrial excitation begins</a:t>
            </a:r>
            <a:endParaRPr altLang="en-US" lang="en-US" sz="2100">
              <a:latin charset="0" panose="02020603050405020304" pitchFamily="18" typeface="Times"/>
            </a:endParaRPr>
          </a:p>
        </p:txBody>
      </p:sp>
      <p:sp>
        <p:nvSpPr>
          <p:cNvPr id="317447" name="Rectangle 7"/>
          <p:cNvSpPr>
            <a:spLocks noChangeArrowheads="1" noGrp="1"/>
          </p:cNvSpPr>
          <p:nvPr>
            <p:ph type="title"/>
          </p:nvPr>
        </p:nvSpPr>
        <p:spPr/>
        <p:txBody>
          <a:bodyPr/>
          <a:lstStyle/>
          <a:p>
            <a:r>
              <a:rPr altLang="en-US" lang="en-US"/>
              <a:t>Heart Excitation Related to ECG</a:t>
            </a:r>
          </a:p>
        </p:txBody>
      </p:sp>
      <p:pic>
        <p:nvPicPr>
          <p:cNvPr descr="This figure illustrates six events of a single heartbeat and shows where each event occurs in an ECG tracing. Step 1: Atrial depolarization, initiated by the SA node, causes the P wave. A diagram of the heart shows the electrical signal just starting to spread from the SA node. " id="2" name="Picture 2">
            <a:extLst>
              <a:ext uri="{FF2B5EF4-FFF2-40B4-BE49-F238E27FC236}">
                <a16:creationId xmlns:a16="http://schemas.microsoft.com/office/drawing/2014/main" id="{CCF7F531-F22B-410A-3581-9AD3028FF333}"/>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78538"/>
          <a:stretch>
            <a:fillRect/>
          </a:stretch>
        </p:blipFill>
        <p:spPr bwMode="auto">
          <a:xfrm>
            <a:off x="1119248" y="1763713"/>
            <a:ext cx="7420590" cy="4002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8468" name="Rectangle 4"/>
          <p:cNvSpPr>
            <a:spLocks noChangeArrowheads="1"/>
          </p:cNvSpPr>
          <p:nvPr/>
        </p:nvSpPr>
        <p:spPr bwMode="auto">
          <a:xfrm>
            <a:off x="3352997" y="738188"/>
            <a:ext cx="403684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spAutoFit/>
          </a:bodyPr>
          <a:lstStyle>
            <a:lvl1pPr defTabSz="806450">
              <a:defRPr sz="2400">
                <a:solidFill>
                  <a:schemeClr val="tx1"/>
                </a:solidFill>
                <a:latin charset="0" panose="02020603050405020304" pitchFamily="18" typeface="Times New Roman"/>
              </a:defRPr>
            </a:lvl1pPr>
            <a:lvl2pPr defTabSz="806450" marL="403225">
              <a:defRPr sz="2400">
                <a:solidFill>
                  <a:schemeClr val="tx1"/>
                </a:solidFill>
                <a:latin charset="0" panose="02020603050405020304" pitchFamily="18" typeface="Times New Roman"/>
              </a:defRPr>
            </a:lvl2pPr>
            <a:lvl3pPr defTabSz="806450" marL="806450">
              <a:defRPr sz="2400">
                <a:solidFill>
                  <a:schemeClr val="tx1"/>
                </a:solidFill>
                <a:latin charset="0" panose="02020603050405020304" pitchFamily="18" typeface="Times New Roman"/>
              </a:defRPr>
            </a:lvl3pPr>
            <a:lvl4pPr defTabSz="806450" marL="1209675">
              <a:defRPr sz="2400">
                <a:solidFill>
                  <a:schemeClr val="tx1"/>
                </a:solidFill>
                <a:latin charset="0" panose="02020603050405020304" pitchFamily="18" typeface="Times New Roman"/>
              </a:defRPr>
            </a:lvl4pPr>
            <a:lvl5pPr defTabSz="806450" marL="1614488">
              <a:defRPr sz="2400">
                <a:solidFill>
                  <a:schemeClr val="tx1"/>
                </a:solidFill>
                <a:latin charset="0" panose="02020603050405020304" pitchFamily="18" typeface="Times New Roman"/>
              </a:defRPr>
            </a:lvl5pPr>
            <a:lvl6pPr defTabSz="806450" eaLnBrk="0" fontAlgn="base" hangingPunct="0" marL="2071688">
              <a:spcBef>
                <a:spcPct val="0"/>
              </a:spcBef>
              <a:spcAft>
                <a:spcPct val="0"/>
              </a:spcAft>
              <a:defRPr sz="2400">
                <a:solidFill>
                  <a:schemeClr val="tx1"/>
                </a:solidFill>
                <a:latin charset="0" panose="02020603050405020304" pitchFamily="18" typeface="Times New Roman"/>
              </a:defRPr>
            </a:lvl6pPr>
            <a:lvl7pPr defTabSz="806450" eaLnBrk="0" fontAlgn="base" hangingPunct="0" marL="2528888">
              <a:spcBef>
                <a:spcPct val="0"/>
              </a:spcBef>
              <a:spcAft>
                <a:spcPct val="0"/>
              </a:spcAft>
              <a:defRPr sz="2400">
                <a:solidFill>
                  <a:schemeClr val="tx1"/>
                </a:solidFill>
                <a:latin charset="0" panose="02020603050405020304" pitchFamily="18" typeface="Times New Roman"/>
              </a:defRPr>
            </a:lvl7pPr>
            <a:lvl8pPr defTabSz="806450" eaLnBrk="0" fontAlgn="base" hangingPunct="0" marL="2986088">
              <a:spcBef>
                <a:spcPct val="0"/>
              </a:spcBef>
              <a:spcAft>
                <a:spcPct val="0"/>
              </a:spcAft>
              <a:defRPr sz="2400">
                <a:solidFill>
                  <a:schemeClr val="tx1"/>
                </a:solidFill>
                <a:latin charset="0" panose="02020603050405020304" pitchFamily="18" typeface="Times New Roman"/>
              </a:defRPr>
            </a:lvl8pPr>
            <a:lvl9pPr defTabSz="806450" eaLnBrk="0" fontAlgn="base" hangingPunct="0" marL="3443288">
              <a:spcBef>
                <a:spcPct val="0"/>
              </a:spcBef>
              <a:spcAft>
                <a:spcPct val="0"/>
              </a:spcAft>
              <a:defRPr sz="2400">
                <a:solidFill>
                  <a:schemeClr val="tx1"/>
                </a:solidFill>
                <a:latin charset="0" panose="02020603050405020304" pitchFamily="18" typeface="Times New Roman"/>
              </a:defRPr>
            </a:lvl9pPr>
          </a:lstStyle>
          <a:p>
            <a:r>
              <a:rPr altLang="en-US" b="1" dirty="0" lang="en-US" sz="1800">
                <a:solidFill>
                  <a:srgbClr val="000000"/>
                </a:solidFill>
                <a:latin charset="0" panose="020B0604020202020204" pitchFamily="34" typeface="Arial"/>
              </a:rPr>
              <a:t>Impulse delayed at AV node</a:t>
            </a:r>
            <a:endParaRPr altLang="en-US" dirty="0" lang="en-US" sz="2100">
              <a:latin charset="0" panose="02020603050405020304" pitchFamily="18" typeface="Times"/>
            </a:endParaRPr>
          </a:p>
        </p:txBody>
      </p:sp>
      <p:sp>
        <p:nvSpPr>
          <p:cNvPr id="318471" name="Rectangle 7"/>
          <p:cNvSpPr>
            <a:spLocks noChangeArrowheads="1" noGrp="1"/>
          </p:cNvSpPr>
          <p:nvPr>
            <p:ph type="title"/>
          </p:nvPr>
        </p:nvSpPr>
        <p:spPr/>
        <p:txBody>
          <a:bodyPr/>
          <a:lstStyle/>
          <a:p>
            <a:r>
              <a:rPr altLang="en-US" dirty="0" lang="en-US"/>
              <a:t>Heart Excitation Related to ECG pt 2</a:t>
            </a:r>
          </a:p>
        </p:txBody>
      </p:sp>
      <p:pic>
        <p:nvPicPr>
          <p:cNvPr descr="This figure illustrates six events of a single heartbeat and shows where each event occurs in an ECG tracing. Step 2: With atrial depolarization complete, the impulse is delayed at the AV node. On an ECG tracing, this event is shown as the short horizontal line that precedes the downward-sloping Q wave. On a diagram of  heart, the signal has reached the AV node." id="2" name="Picture 2">
            <a:extLst>
              <a:ext uri="{FF2B5EF4-FFF2-40B4-BE49-F238E27FC236}">
                <a16:creationId xmlns:a16="http://schemas.microsoft.com/office/drawing/2014/main" id="{B7C8A72E-AA5E-8435-A653-D2BC00C67963}"/>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64153"/>
          <a:stretch>
            <a:fillRect/>
          </a:stretch>
        </p:blipFill>
        <p:spPr bwMode="auto">
          <a:xfrm>
            <a:off x="1486873" y="1129503"/>
            <a:ext cx="5902972" cy="5318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9492" name="Rectangle 4"/>
          <p:cNvSpPr>
            <a:spLocks noChangeArrowheads="1"/>
          </p:cNvSpPr>
          <p:nvPr/>
        </p:nvSpPr>
        <p:spPr bwMode="auto">
          <a:xfrm>
            <a:off x="802433" y="733038"/>
            <a:ext cx="66620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spAutoFit/>
          </a:bodyPr>
          <a:lstStyle>
            <a:lvl1pPr defTabSz="806450">
              <a:defRPr sz="2400">
                <a:solidFill>
                  <a:schemeClr val="tx1"/>
                </a:solidFill>
                <a:latin charset="0" panose="02020603050405020304" pitchFamily="18" typeface="Times New Roman"/>
              </a:defRPr>
            </a:lvl1pPr>
            <a:lvl2pPr defTabSz="806450" marL="403225">
              <a:defRPr sz="2400">
                <a:solidFill>
                  <a:schemeClr val="tx1"/>
                </a:solidFill>
                <a:latin charset="0" panose="02020603050405020304" pitchFamily="18" typeface="Times New Roman"/>
              </a:defRPr>
            </a:lvl2pPr>
            <a:lvl3pPr defTabSz="806450" marL="806450">
              <a:defRPr sz="2400">
                <a:solidFill>
                  <a:schemeClr val="tx1"/>
                </a:solidFill>
                <a:latin charset="0" panose="02020603050405020304" pitchFamily="18" typeface="Times New Roman"/>
              </a:defRPr>
            </a:lvl3pPr>
            <a:lvl4pPr defTabSz="806450" marL="1209675">
              <a:defRPr sz="2400">
                <a:solidFill>
                  <a:schemeClr val="tx1"/>
                </a:solidFill>
                <a:latin charset="0" panose="02020603050405020304" pitchFamily="18" typeface="Times New Roman"/>
              </a:defRPr>
            </a:lvl4pPr>
            <a:lvl5pPr defTabSz="806450" marL="1614488">
              <a:defRPr sz="2400">
                <a:solidFill>
                  <a:schemeClr val="tx1"/>
                </a:solidFill>
                <a:latin charset="0" panose="02020603050405020304" pitchFamily="18" typeface="Times New Roman"/>
              </a:defRPr>
            </a:lvl5pPr>
            <a:lvl6pPr defTabSz="806450" eaLnBrk="0" fontAlgn="base" hangingPunct="0" marL="2071688">
              <a:spcBef>
                <a:spcPct val="0"/>
              </a:spcBef>
              <a:spcAft>
                <a:spcPct val="0"/>
              </a:spcAft>
              <a:defRPr sz="2400">
                <a:solidFill>
                  <a:schemeClr val="tx1"/>
                </a:solidFill>
                <a:latin charset="0" panose="02020603050405020304" pitchFamily="18" typeface="Times New Roman"/>
              </a:defRPr>
            </a:lvl6pPr>
            <a:lvl7pPr defTabSz="806450" eaLnBrk="0" fontAlgn="base" hangingPunct="0" marL="2528888">
              <a:spcBef>
                <a:spcPct val="0"/>
              </a:spcBef>
              <a:spcAft>
                <a:spcPct val="0"/>
              </a:spcAft>
              <a:defRPr sz="2400">
                <a:solidFill>
                  <a:schemeClr val="tx1"/>
                </a:solidFill>
                <a:latin charset="0" panose="02020603050405020304" pitchFamily="18" typeface="Times New Roman"/>
              </a:defRPr>
            </a:lvl7pPr>
            <a:lvl8pPr defTabSz="806450" eaLnBrk="0" fontAlgn="base" hangingPunct="0" marL="2986088">
              <a:spcBef>
                <a:spcPct val="0"/>
              </a:spcBef>
              <a:spcAft>
                <a:spcPct val="0"/>
              </a:spcAft>
              <a:defRPr sz="2400">
                <a:solidFill>
                  <a:schemeClr val="tx1"/>
                </a:solidFill>
                <a:latin charset="0" panose="02020603050405020304" pitchFamily="18" typeface="Times New Roman"/>
              </a:defRPr>
            </a:lvl8pPr>
            <a:lvl9pPr defTabSz="806450" eaLnBrk="0" fontAlgn="base" hangingPunct="0" marL="3443288">
              <a:spcBef>
                <a:spcPct val="0"/>
              </a:spcBef>
              <a:spcAft>
                <a:spcPct val="0"/>
              </a:spcAft>
              <a:defRPr sz="2400">
                <a:solidFill>
                  <a:schemeClr val="tx1"/>
                </a:solidFill>
                <a:latin charset="0" panose="02020603050405020304" pitchFamily="18" typeface="Times New Roman"/>
              </a:defRPr>
            </a:lvl9pPr>
          </a:lstStyle>
          <a:p>
            <a:r>
              <a:rPr altLang="en-US" b="1" dirty="0" lang="en-US" sz="1800">
                <a:solidFill>
                  <a:srgbClr val="000000"/>
                </a:solidFill>
                <a:latin charset="0" panose="020B0604020202020204" pitchFamily="34" typeface="Arial"/>
              </a:rPr>
              <a:t>Impulse passes to heart apex; ventricular excitation begins</a:t>
            </a:r>
            <a:endParaRPr altLang="en-US" dirty="0" lang="en-US" sz="2100">
              <a:latin charset="0" panose="02020603050405020304" pitchFamily="18" typeface="Times"/>
            </a:endParaRPr>
          </a:p>
        </p:txBody>
      </p:sp>
      <p:sp>
        <p:nvSpPr>
          <p:cNvPr id="319495" name="Rectangle 7"/>
          <p:cNvSpPr>
            <a:spLocks noChangeArrowheads="1" noGrp="1"/>
          </p:cNvSpPr>
          <p:nvPr>
            <p:ph type="title"/>
          </p:nvPr>
        </p:nvSpPr>
        <p:spPr/>
        <p:txBody>
          <a:bodyPr/>
          <a:lstStyle/>
          <a:p>
            <a:r>
              <a:rPr altLang="en-US" dirty="0" lang="en-US"/>
              <a:t>Heart Excitation Related to ECG pt 3</a:t>
            </a:r>
          </a:p>
        </p:txBody>
      </p:sp>
      <p:pic>
        <p:nvPicPr>
          <p:cNvPr descr="This figure illustrates six events of a single heartbeat and shows where each event occurs in an ECG tracing. Step 3: Ventricular depolarization begins at apex, causing the QRS complex. Atrial repolarization occurs. In an ECG tracing, these events form the most prominent peak of the tracing, starting with the downward-sloping Q wave, rising steeply to peak with the R wave, then falling steeply to S. On a diagram of the heart, the signal travels down the bundle branches to the apex of the heart and curves upward to right and left, toward the subendocardial conducting network." id="2" name="Picture 2">
            <a:extLst>
              <a:ext uri="{FF2B5EF4-FFF2-40B4-BE49-F238E27FC236}">
                <a16:creationId xmlns:a16="http://schemas.microsoft.com/office/drawing/2014/main" id="{1A443431-F69D-EA68-211B-7ABC116DE546}"/>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48672"/>
          <a:stretch>
            <a:fillRect/>
          </a:stretch>
        </p:blipFill>
        <p:spPr bwMode="auto">
          <a:xfrm>
            <a:off x="2356860" y="1010037"/>
            <a:ext cx="4506480" cy="58133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0516" name="Rectangle 4"/>
          <p:cNvSpPr>
            <a:spLocks noChangeArrowheads="1"/>
          </p:cNvSpPr>
          <p:nvPr/>
        </p:nvSpPr>
        <p:spPr bwMode="auto">
          <a:xfrm>
            <a:off x="1380931" y="742950"/>
            <a:ext cx="45944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spAutoFit/>
          </a:bodyPr>
          <a:lstStyle>
            <a:lvl1pPr defTabSz="806450">
              <a:defRPr sz="2400">
                <a:solidFill>
                  <a:schemeClr val="tx1"/>
                </a:solidFill>
                <a:latin charset="0" panose="02020603050405020304" pitchFamily="18" typeface="Times New Roman"/>
              </a:defRPr>
            </a:lvl1pPr>
            <a:lvl2pPr defTabSz="806450" marL="403225">
              <a:defRPr sz="2400">
                <a:solidFill>
                  <a:schemeClr val="tx1"/>
                </a:solidFill>
                <a:latin charset="0" panose="02020603050405020304" pitchFamily="18" typeface="Times New Roman"/>
              </a:defRPr>
            </a:lvl2pPr>
            <a:lvl3pPr defTabSz="806450" marL="806450">
              <a:defRPr sz="2400">
                <a:solidFill>
                  <a:schemeClr val="tx1"/>
                </a:solidFill>
                <a:latin charset="0" panose="02020603050405020304" pitchFamily="18" typeface="Times New Roman"/>
              </a:defRPr>
            </a:lvl3pPr>
            <a:lvl4pPr defTabSz="806450" marL="1209675">
              <a:defRPr sz="2400">
                <a:solidFill>
                  <a:schemeClr val="tx1"/>
                </a:solidFill>
                <a:latin charset="0" panose="02020603050405020304" pitchFamily="18" typeface="Times New Roman"/>
              </a:defRPr>
            </a:lvl4pPr>
            <a:lvl5pPr defTabSz="806450" marL="1614488">
              <a:defRPr sz="2400">
                <a:solidFill>
                  <a:schemeClr val="tx1"/>
                </a:solidFill>
                <a:latin charset="0" panose="02020603050405020304" pitchFamily="18" typeface="Times New Roman"/>
              </a:defRPr>
            </a:lvl5pPr>
            <a:lvl6pPr defTabSz="806450" eaLnBrk="0" fontAlgn="base" hangingPunct="0" marL="2071688">
              <a:spcBef>
                <a:spcPct val="0"/>
              </a:spcBef>
              <a:spcAft>
                <a:spcPct val="0"/>
              </a:spcAft>
              <a:defRPr sz="2400">
                <a:solidFill>
                  <a:schemeClr val="tx1"/>
                </a:solidFill>
                <a:latin charset="0" panose="02020603050405020304" pitchFamily="18" typeface="Times New Roman"/>
              </a:defRPr>
            </a:lvl6pPr>
            <a:lvl7pPr defTabSz="806450" eaLnBrk="0" fontAlgn="base" hangingPunct="0" marL="2528888">
              <a:spcBef>
                <a:spcPct val="0"/>
              </a:spcBef>
              <a:spcAft>
                <a:spcPct val="0"/>
              </a:spcAft>
              <a:defRPr sz="2400">
                <a:solidFill>
                  <a:schemeClr val="tx1"/>
                </a:solidFill>
                <a:latin charset="0" panose="02020603050405020304" pitchFamily="18" typeface="Times New Roman"/>
              </a:defRPr>
            </a:lvl7pPr>
            <a:lvl8pPr defTabSz="806450" eaLnBrk="0" fontAlgn="base" hangingPunct="0" marL="2986088">
              <a:spcBef>
                <a:spcPct val="0"/>
              </a:spcBef>
              <a:spcAft>
                <a:spcPct val="0"/>
              </a:spcAft>
              <a:defRPr sz="2400">
                <a:solidFill>
                  <a:schemeClr val="tx1"/>
                </a:solidFill>
                <a:latin charset="0" panose="02020603050405020304" pitchFamily="18" typeface="Times New Roman"/>
              </a:defRPr>
            </a:lvl8pPr>
            <a:lvl9pPr defTabSz="806450" eaLnBrk="0" fontAlgn="base" hangingPunct="0" marL="3443288">
              <a:spcBef>
                <a:spcPct val="0"/>
              </a:spcBef>
              <a:spcAft>
                <a:spcPct val="0"/>
              </a:spcAft>
              <a:defRPr sz="2400">
                <a:solidFill>
                  <a:schemeClr val="tx1"/>
                </a:solidFill>
                <a:latin charset="0" panose="02020603050405020304" pitchFamily="18" typeface="Times New Roman"/>
              </a:defRPr>
            </a:lvl9pPr>
          </a:lstStyle>
          <a:p>
            <a:r>
              <a:rPr altLang="en-US" b="1" dirty="0" lang="en-US" sz="1800">
                <a:solidFill>
                  <a:srgbClr val="000000"/>
                </a:solidFill>
                <a:latin charset="0" panose="020B0604020202020204" pitchFamily="34" typeface="Arial"/>
              </a:rPr>
              <a:t>Ventricular excitation complete</a:t>
            </a:r>
            <a:endParaRPr altLang="en-US" dirty="0" lang="en-US" sz="2100">
              <a:latin charset="0" panose="02020603050405020304" pitchFamily="18" typeface="Times"/>
            </a:endParaRPr>
          </a:p>
        </p:txBody>
      </p:sp>
      <p:sp>
        <p:nvSpPr>
          <p:cNvPr id="320519" name="Rectangle 7"/>
          <p:cNvSpPr>
            <a:spLocks noChangeArrowheads="1" noGrp="1"/>
          </p:cNvSpPr>
          <p:nvPr>
            <p:ph type="title"/>
          </p:nvPr>
        </p:nvSpPr>
        <p:spPr/>
        <p:txBody>
          <a:bodyPr/>
          <a:lstStyle/>
          <a:p>
            <a:r>
              <a:rPr altLang="en-US" dirty="0" lang="en-US"/>
              <a:t>Heart Excitation Related to ECG pt 4</a:t>
            </a:r>
          </a:p>
        </p:txBody>
      </p:sp>
      <p:pic>
        <p:nvPicPr>
          <p:cNvPr descr="This figure illustrates six events of a single heartbeat and shows where each event occurs in an ECG tracing. Step 4: Ventricular depolarization is complete. On an ECG tracing, this corresponds to the brief horizontal line after S and before the T wave. The diagram shows that both ventricles are completely depolarized." id="2" name="Picture 2">
            <a:extLst>
              <a:ext uri="{FF2B5EF4-FFF2-40B4-BE49-F238E27FC236}">
                <a16:creationId xmlns:a16="http://schemas.microsoft.com/office/drawing/2014/main" id="{57011331-90C4-6BEB-0A9C-B67589E89D40}"/>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33069" t="31980"/>
          <a:stretch>
            <a:fillRect/>
          </a:stretch>
        </p:blipFill>
        <p:spPr bwMode="auto">
          <a:xfrm>
            <a:off x="1807464" y="1212979"/>
            <a:ext cx="5778564" cy="5075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1552" name="Rectangle 16"/>
          <p:cNvSpPr>
            <a:spLocks noChangeArrowheads="1" noGrp="1"/>
          </p:cNvSpPr>
          <p:nvPr>
            <p:ph type="title"/>
          </p:nvPr>
        </p:nvSpPr>
        <p:spPr/>
        <p:txBody>
          <a:bodyPr/>
          <a:lstStyle/>
          <a:p>
            <a:r>
              <a:rPr altLang="en-US" dirty="0" lang="en-US"/>
              <a:t>Heart Excitation Related to ECG pt 5</a:t>
            </a:r>
          </a:p>
        </p:txBody>
      </p:sp>
      <p:pic>
        <p:nvPicPr>
          <p:cNvPr descr="This figure illustrates six events of a single heartbeat and shows where each event occurs in an ECG tracing. Step 5: Ventricular repolarization begins at apex, causing the T wave. On an ECG tracing, this corresponds to the T wave. The diagram shows a wave of repolarization spreading upward from the apex of the heart." id="2" name="Picture 2">
            <a:extLst>
              <a:ext uri="{FF2B5EF4-FFF2-40B4-BE49-F238E27FC236}">
                <a16:creationId xmlns:a16="http://schemas.microsoft.com/office/drawing/2014/main" id="{EFF6E44C-2078-536D-54A4-F0818F780F39}"/>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17467" t="49099"/>
          <a:stretch>
            <a:fillRect/>
          </a:stretch>
        </p:blipFill>
        <p:spPr bwMode="auto">
          <a:xfrm>
            <a:off x="1379108" y="871538"/>
            <a:ext cx="6461984" cy="5429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BF7D4F42-C8F1-07AA-14B1-084CD833E429}"/>
            </a:ext>
          </a:extLst>
        </p:cNvPr>
        <p:cNvGrpSpPr/>
        <p:nvPr/>
      </p:nvGrpSpPr>
      <p:grpSpPr>
        <a:xfrm>
          <a:off x="0" y="0"/>
          <a:ext cx="0" cy="0"/>
          <a:chOff x="0" y="0"/>
          <a:chExt cx="0" cy="0"/>
        </a:xfrm>
      </p:grpSpPr>
      <p:sp>
        <p:nvSpPr>
          <p:cNvPr id="321552" name="Rectangle 16">
            <a:extLst>
              <a:ext uri="{FF2B5EF4-FFF2-40B4-BE49-F238E27FC236}">
                <a16:creationId xmlns:a16="http://schemas.microsoft.com/office/drawing/2014/main" id="{3B10B27C-2EF3-E070-EC5F-95F8C678BB96}"/>
              </a:ext>
            </a:extLst>
          </p:cNvPr>
          <p:cNvSpPr>
            <a:spLocks noChangeArrowheads="1" noGrp="1"/>
          </p:cNvSpPr>
          <p:nvPr>
            <p:ph type="title"/>
          </p:nvPr>
        </p:nvSpPr>
        <p:spPr/>
        <p:txBody>
          <a:bodyPr/>
          <a:lstStyle/>
          <a:p>
            <a:r>
              <a:rPr altLang="en-US" dirty="0" lang="en-US"/>
              <a:t>Heart Excitation Related to ECG </a:t>
            </a:r>
          </a:p>
        </p:txBody>
      </p:sp>
      <p:pic>
        <p:nvPicPr>
          <p:cNvPr descr="- Step 6: Ventricular repolarization is complete. On an ECG tracing, this corresponds to the    horizontal line that precedes the next P wave. The diagram shows that both ventricles    are completely depolarized." id="3" name="Picture 2">
            <a:extLst>
              <a:ext uri="{FF2B5EF4-FFF2-40B4-BE49-F238E27FC236}">
                <a16:creationId xmlns:a16="http://schemas.microsoft.com/office/drawing/2014/main" id="{D9D1BE41-8701-172F-CED7-3B0C6FC7BA9D}"/>
              </a:ext>
            </a:extLst>
          </p:cNvPr>
          <p:cNvPicPr>
            <a:picLocks noChangeArrowheads="1" noChangeAspect="1"/>
          </p:cNvPicPr>
          <p:nvPr/>
        </p:nvPicPr>
        <p:blipFill rotWithShape="1">
          <a:blip cstate="print" r:embed="rId2">
            <a:extLst>
              <a:ext uri="{28A0092B-C50C-407E-A947-70E740481C1C}">
                <a14:useLocalDpi xmlns:a14="http://schemas.microsoft.com/office/drawing/2010/main" val="0"/>
              </a:ext>
            </a:extLst>
          </a:blip>
          <a:srcRect b="2140" t="1391"/>
          <a:stretch/>
        </p:blipFill>
        <p:spPr bwMode="auto">
          <a:xfrm>
            <a:off x="6281379" y="261938"/>
            <a:ext cx="2634021" cy="6520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0845995"/>
      </p:ext>
    </p:extLst>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altLang="en-US" dirty="0" lang="en-US">
                <a:solidFill>
                  <a:srgbClr val="000000"/>
                </a:solidFill>
              </a:rPr>
              <a:t>Clinical – </a:t>
            </a:r>
            <a:r>
              <a:rPr altLang="en-US" dirty="0" lang="en-US">
                <a:solidFill>
                  <a:srgbClr val="000000"/>
                </a:solidFill>
              </a:rPr>
              <a:t>Homeostatic Imbalance 18.5</a:t>
            </a:r>
            <a:endParaRPr dirty="0" lang="en-US"/>
          </a:p>
        </p:txBody>
      </p:sp>
      <p:sp>
        <p:nvSpPr>
          <p:cNvPr id="21507" name="Content Placeholder 2"/>
          <p:cNvSpPr>
            <a:spLocks noGrp="1"/>
          </p:cNvSpPr>
          <p:nvPr>
            <p:ph idx="1"/>
          </p:nvPr>
        </p:nvSpPr>
        <p:spPr/>
        <p:txBody>
          <a:bodyPr/>
          <a:lstStyle/>
          <a:p>
            <a:r>
              <a:rPr dirty="0" lang="en-US"/>
              <a:t>Changes in patterns or timing of ECG may reveal diseased or damaged heart, or problems with heart</a:t>
            </a:r>
            <a:r>
              <a:rPr altLang="en-US" dirty="0" lang="ja-JP"/>
              <a:t>’</a:t>
            </a:r>
            <a:r>
              <a:rPr dirty="0" lang="en-US"/>
              <a:t>s conduction system</a:t>
            </a:r>
          </a:p>
          <a:p>
            <a:r>
              <a:rPr dirty="0" lang="en-US"/>
              <a:t>Problems that can be detected:</a:t>
            </a:r>
          </a:p>
          <a:p>
            <a:pPr lvl="1"/>
            <a:r>
              <a:rPr dirty="0" lang="en-US"/>
              <a:t>Enlarged R waves may indicate enlarged ventricles</a:t>
            </a:r>
          </a:p>
          <a:p>
            <a:pPr lvl="1"/>
            <a:r>
              <a:rPr dirty="0" lang="en-US"/>
              <a:t>Elevated or depressed S-T segment indicates cardiac ischemia</a:t>
            </a:r>
          </a:p>
        </p:txBody>
      </p:sp>
    </p:spTree>
    <p:extLst>
      <p:ext uri="{BB962C8B-B14F-4D97-AF65-F5344CB8AC3E}">
        <p14:creationId xmlns:p14="http://schemas.microsoft.com/office/powerpoint/2010/main" val="2008233989"/>
      </p:ext>
    </p:extLst>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66918"/>
            <a:ext cx="8229600" cy="553998"/>
          </a:xfrm>
        </p:spPr>
        <p:txBody>
          <a:bodyPr>
            <a:spAutoFit/>
          </a:bodyPr>
          <a:lstStyle/>
          <a:p>
            <a:r>
              <a:rPr dirty="0" lang="en-US"/>
              <a:t>BIG TOPIC: Regulation of Heart Activity</a:t>
            </a:r>
            <a:endParaRPr dirty="0" lang="en-US" sz="2800"/>
          </a:p>
        </p:txBody>
      </p:sp>
      <p:sp>
        <p:nvSpPr>
          <p:cNvPr id="36867" name="Content Placeholder 2"/>
          <p:cNvSpPr>
            <a:spLocks noGrp="1"/>
          </p:cNvSpPr>
          <p:nvPr>
            <p:ph idx="1"/>
          </p:nvPr>
        </p:nvSpPr>
        <p:spPr>
          <a:xfrm>
            <a:off x="457199" y="882149"/>
            <a:ext cx="8462866" cy="3154710"/>
          </a:xfrm>
          <a:noFill/>
        </p:spPr>
        <p:txBody>
          <a:bodyPr wrap="square">
            <a:spAutoFit/>
          </a:bodyPr>
          <a:lstStyle/>
          <a:p>
            <a:pPr indent="0" marL="0">
              <a:buNone/>
            </a:pPr>
            <a:r>
              <a:rPr dirty="0" lang="en-US"/>
              <a:t>Heart rate can be regulated by:</a:t>
            </a:r>
          </a:p>
          <a:p>
            <a:pPr lvl="1"/>
            <a:r>
              <a:rPr b="1" dirty="0" lang="en-US"/>
              <a:t>Nervous control (Autonomic nervous system)</a:t>
            </a:r>
          </a:p>
          <a:p>
            <a:pPr lvl="1"/>
            <a:r>
              <a:rPr b="1" dirty="0" lang="en-US"/>
              <a:t>Endocrine control (hormones like epinephrine)</a:t>
            </a:r>
          </a:p>
          <a:p>
            <a:pPr lvl="1"/>
            <a:r>
              <a:rPr b="1" dirty="0" lang="en-US"/>
              <a:t>Intrinsic control (autorhythmic cells)</a:t>
            </a:r>
          </a:p>
          <a:p>
            <a:pPr lvl="1"/>
            <a:r>
              <a:rPr b="1" dirty="0" lang="en-US"/>
              <a:t>Other factors</a:t>
            </a:r>
          </a:p>
        </p:txBody>
      </p:sp>
    </p:spTree>
    <p:extLst>
      <p:ext uri="{BB962C8B-B14F-4D97-AF65-F5344CB8AC3E}">
        <p14:creationId xmlns:p14="http://schemas.microsoft.com/office/powerpoint/2010/main" val="2444800885"/>
      </p:ext>
    </p:extLst>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2562" name="Rectangle 2"/>
          <p:cNvSpPr>
            <a:spLocks noChangeArrowheads="1" noGrp="1"/>
          </p:cNvSpPr>
          <p:nvPr>
            <p:ph type="title"/>
          </p:nvPr>
        </p:nvSpPr>
        <p:spPr/>
        <p:txBody>
          <a:bodyPr/>
          <a:lstStyle/>
          <a:p>
            <a:r>
              <a:rPr altLang="en-US" lang="en-US"/>
              <a:t>Extrinsic Innervation of the Heart</a:t>
            </a:r>
          </a:p>
        </p:txBody>
      </p:sp>
      <p:sp>
        <p:nvSpPr>
          <p:cNvPr id="322563" name="Rectangle 3"/>
          <p:cNvSpPr>
            <a:spLocks noChangeArrowheads="1" noGrp="1"/>
          </p:cNvSpPr>
          <p:nvPr>
            <p:ph idx="1" type="body"/>
          </p:nvPr>
        </p:nvSpPr>
        <p:spPr>
          <a:xfrm>
            <a:off x="298450" y="977900"/>
            <a:ext cx="4033838" cy="5056188"/>
          </a:xfrm>
        </p:spPr>
        <p:txBody>
          <a:bodyPr/>
          <a:lstStyle/>
          <a:p>
            <a:r>
              <a:rPr altLang="en-US" lang="en-US"/>
              <a:t>Heart is stimulated by the sympathetic cardioacceleratory center </a:t>
            </a:r>
          </a:p>
          <a:p>
            <a:r>
              <a:rPr altLang="en-US" lang="en-US"/>
              <a:t>Heart is inhibited by the parasympathetic cardioinhibitory center</a:t>
            </a:r>
          </a:p>
        </p:txBody>
      </p:sp>
      <p:sp>
        <p:nvSpPr>
          <p:cNvPr id="322564" name="Text Box 4"/>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lgn="r"/>
            <a:r>
              <a:rPr altLang="en-US" b="1" lang="en-US" sz="1200">
                <a:solidFill>
                  <a:schemeClr val="accent2"/>
                </a:solidFill>
                <a:latin charset="0" panose="020B0604020202020204" pitchFamily="34" typeface="Arial"/>
              </a:rPr>
              <a:t>Figure 18.15</a:t>
            </a:r>
          </a:p>
        </p:txBody>
      </p:sp>
      <p:pic>
        <p:nvPicPr>
          <p:cNvPr descr="Figure showing sympathetic and parasympathetic pathways to the SA and AV nodes of the heart" id="322565" name="Picture 5"/>
          <p:cNvPicPr>
            <a:picLocks noChangeArrowheads="1" noChangeAspect="1"/>
          </p:cNvPicPr>
          <p:nvPr/>
        </p:nvPicPr>
        <p:blipFill>
          <a:blip r:embed="rId2">
            <a:extLst>
              <a:ext uri="{28A0092B-C50C-407E-A947-70E740481C1C}">
                <a14:useLocalDpi xmlns:a14="http://schemas.microsoft.com/office/drawing/2010/main" val="0"/>
              </a:ext>
            </a:extLst>
          </a:blip>
          <a:srcRect b="4138" l="1976" r="2635" t="1363"/>
          <a:stretch>
            <a:fillRect/>
          </a:stretch>
        </p:blipFill>
        <p:spPr bwMode="auto">
          <a:xfrm>
            <a:off x="5024438" y="841375"/>
            <a:ext cx="3457575" cy="56911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52258" name="Rectangle 2"/>
          <p:cNvSpPr>
            <a:spLocks noChangeArrowheads="1" noGrp="1"/>
          </p:cNvSpPr>
          <p:nvPr>
            <p:ph type="title"/>
          </p:nvPr>
        </p:nvSpPr>
        <p:spPr/>
        <p:txBody>
          <a:bodyPr/>
          <a:lstStyle/>
          <a:p>
            <a:r>
              <a:rPr altLang="en-US" lang="en-US"/>
              <a:t>Chemical Regulation of the Heart</a:t>
            </a:r>
          </a:p>
        </p:txBody>
      </p:sp>
      <p:sp>
        <p:nvSpPr>
          <p:cNvPr id="352259" name="Rectangle 3"/>
          <p:cNvSpPr>
            <a:spLocks noChangeArrowheads="1" noGrp="1"/>
          </p:cNvSpPr>
          <p:nvPr>
            <p:ph idx="1" type="body"/>
          </p:nvPr>
        </p:nvSpPr>
        <p:spPr>
          <a:xfrm>
            <a:off x="298450" y="977900"/>
            <a:ext cx="8270875" cy="4722813"/>
          </a:xfrm>
        </p:spPr>
        <p:txBody>
          <a:bodyPr/>
          <a:lstStyle/>
          <a:p>
            <a:r>
              <a:rPr altLang="en-US" lang="en-US">
                <a:solidFill>
                  <a:srgbClr val="000000"/>
                </a:solidFill>
              </a:rPr>
              <a:t>The hormones epinephrine and thyroxine increase heart rate</a:t>
            </a:r>
          </a:p>
          <a:p>
            <a:r>
              <a:rPr altLang="en-US" lang="en-US"/>
              <a:t>Intra- and extracellular ion concentrations must be maintained for normal heart function</a:t>
            </a:r>
          </a:p>
        </p:txBody>
      </p:sp>
      <p:sp>
        <p:nvSpPr>
          <p:cNvPr id="352260" name="Oval 4">
            <a:hlinkClick r:id="rId2"/>
          </p:cNvPr>
          <p:cNvSpPr>
            <a:spLocks noChangeArrowheads="1"/>
          </p:cNvSpPr>
          <p:nvPr/>
        </p:nvSpPr>
        <p:spPr bwMode="auto">
          <a:xfrm>
            <a:off x="314325" y="5581650"/>
            <a:ext cx="762000" cy="457200"/>
          </a:xfrm>
          <a:prstGeom prst="ellipse">
            <a:avLst/>
          </a:prstGeom>
          <a:gradFill rotWithShape="0">
            <a:gsLst>
              <a:gs pos="0">
                <a:schemeClr val="folHlink"/>
              </a:gs>
              <a:gs pos="100000">
                <a:srgbClr val="4DC2E7"/>
              </a:gs>
            </a:gsLst>
            <a:lin ang="5400000" scaled="1"/>
          </a:gradFill>
          <a:ln>
            <a:noFill/>
          </a:ln>
          <a:effectLst>
            <a:prstShdw dir="2700000" dist="17961" prst="shdw17">
              <a:schemeClr val="folHlink">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anchor="ctr" wrap="none"/>
          <a:lstStyle/>
          <a:p>
            <a:pPr algn="ctr"/>
            <a:r>
              <a:rPr altLang="en-US" b="1" lang="en-US" sz="1600">
                <a:latin charset="0" panose="020B0604020202020204" pitchFamily="34" typeface="Arial"/>
              </a:rPr>
              <a:t>PLAY</a:t>
            </a:r>
          </a:p>
        </p:txBody>
      </p:sp>
      <p:sp>
        <p:nvSpPr>
          <p:cNvPr id="352261" name="Text Box 5"/>
          <p:cNvSpPr txBox="1">
            <a:spLocks noChangeArrowheads="1"/>
          </p:cNvSpPr>
          <p:nvPr/>
        </p:nvSpPr>
        <p:spPr bwMode="auto">
          <a:xfrm>
            <a:off x="1228725" y="5661025"/>
            <a:ext cx="4616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wrap="none">
            <a:spAutoFit/>
          </a:bodyPr>
          <a:lstStyle/>
          <a:p>
            <a:r>
              <a:rPr altLang="en-US" b="1" i="1" lang="en-US" sz="1400">
                <a:latin charset="0" panose="020B0604020202020204" pitchFamily="34" typeface="Arial"/>
              </a:rPr>
              <a:t>InterActive Physiology ®:</a:t>
            </a:r>
            <a:r>
              <a:rPr altLang="en-US" b="1" i="1" lang="en-US" sz="1400">
                <a:solidFill>
                  <a:srgbClr val="0989C9"/>
                </a:solidFill>
                <a:latin charset="0" panose="020B0604020202020204" pitchFamily="34" typeface="Arial"/>
              </a:rPr>
              <a:t> </a:t>
            </a:r>
            <a:r>
              <a:rPr altLang="en-US" b="1" lang="en-US" sz="1400">
                <a:latin charset="0" panose="020B0604020202020204" pitchFamily="34" typeface="Arial"/>
              </a:rPr>
              <a:t>Cardiac Output, pages 3–9</a:t>
            </a:r>
            <a:endParaRPr altLang="en-US" lang="en-US" sz="2800">
              <a:latin charset="0" panose="020B0604020202020204" pitchFamily="34" typeface="Arial"/>
            </a:endParaRPr>
          </a:p>
        </p:txBody>
      </p:sp>
    </p:spTree>
  </p:cSld>
  <p:clrMapOvr>
    <a:masterClrMapping/>
  </p:clrMapOvr>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5634" name="Rectangle 2"/>
          <p:cNvSpPr>
            <a:spLocks noChangeArrowheads="1" noGrp="1"/>
          </p:cNvSpPr>
          <p:nvPr>
            <p:ph type="title"/>
          </p:nvPr>
        </p:nvSpPr>
        <p:spPr/>
        <p:txBody>
          <a:bodyPr/>
          <a:lstStyle/>
          <a:p>
            <a:r>
              <a:rPr altLang="en-US" dirty="0" lang="en-US"/>
              <a:t>Other ways of assessing heart health: Auscultation - Heart Sounds</a:t>
            </a:r>
          </a:p>
        </p:txBody>
      </p:sp>
      <p:pic>
        <p:nvPicPr>
          <p:cNvPr descr="This figure shows a photo of a human torso, frontal view, with a diagram of the heart superimposed. The best location to detect the sound of each heart valve is labeled. Aortic valve sounds can best be heard in second intercostal space at right sternal margin.  Pulmonary valve sounds can best be heard in second intercostal space at left sternal margin.  Mitral valve sounds are best detected at an area over the heart apex, in the fifth intercostal space, in line with the middle of the clavicle.  Tricuspid valve sounds are typically heard in the right sternal margin of the fifth intercostal space. " id="2" name="Picture 1">
            <a:extLst>
              <a:ext uri="{FF2B5EF4-FFF2-40B4-BE49-F238E27FC236}">
                <a16:creationId xmlns:a16="http://schemas.microsoft.com/office/drawing/2014/main" id="{C4BF2068-7642-5000-44B3-7095B71B0521}"/>
              </a:ext>
            </a:extLst>
          </p:cNvPr>
          <p:cNvPicPr>
            <a:picLocks noChangeAspect="1"/>
          </p:cNvPicPr>
          <p:nvPr/>
        </p:nvPicPr>
        <p:blipFill rotWithShape="1">
          <a:blip r:embed="rId2">
            <a:extLst>
              <a:ext uri="{28A0092B-C50C-407E-A947-70E740481C1C}">
                <a14:useLocalDpi xmlns:a14="http://schemas.microsoft.com/office/drawing/2010/main" val="0"/>
              </a:ext>
            </a:extLst>
          </a:blip>
          <a:srcRect b="3391"/>
          <a:stretch/>
        </p:blipFill>
        <p:spPr>
          <a:xfrm>
            <a:off x="1739960" y="1308379"/>
            <a:ext cx="5740280" cy="5287683"/>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7682" name="Rectangle 2"/>
          <p:cNvSpPr>
            <a:spLocks noChangeArrowheads="1" noGrp="1"/>
          </p:cNvSpPr>
          <p:nvPr>
            <p:ph type="title"/>
          </p:nvPr>
        </p:nvSpPr>
        <p:spPr/>
        <p:txBody>
          <a:bodyPr/>
          <a:lstStyle/>
          <a:p>
            <a:r>
              <a:rPr altLang="en-US" lang="en-US"/>
              <a:t>Heart Sounds (Auscultation)</a:t>
            </a:r>
          </a:p>
        </p:txBody>
      </p:sp>
      <p:sp>
        <p:nvSpPr>
          <p:cNvPr id="327683" name="Rectangle 3"/>
          <p:cNvSpPr>
            <a:spLocks noChangeArrowheads="1" noGrp="1"/>
          </p:cNvSpPr>
          <p:nvPr>
            <p:ph idx="1" type="body"/>
          </p:nvPr>
        </p:nvSpPr>
        <p:spPr/>
        <p:txBody>
          <a:bodyPr/>
          <a:lstStyle/>
          <a:p>
            <a:r>
              <a:rPr altLang="en-US" lang="en-US"/>
              <a:t>Heart sounds (lub-dup) are associated with closing of heart valves</a:t>
            </a:r>
          </a:p>
          <a:p>
            <a:pPr lvl="1"/>
            <a:r>
              <a:rPr altLang="en-US" lang="en-US"/>
              <a:t>First sound occurs as AV valves close and signifies beginning of systole</a:t>
            </a:r>
          </a:p>
          <a:p>
            <a:pPr lvl="1"/>
            <a:r>
              <a:rPr altLang="en-US" lang="en-US"/>
              <a:t>Second sound occurs when SL valves close at the beginning of ventricular diastole</a:t>
            </a:r>
          </a:p>
        </p:txBody>
      </p:sp>
    </p:spTree>
  </p:cSld>
  <p:clrMapOvr>
    <a:masterClrMapping/>
  </p:clrMapOvr>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8706" name="Rectangle 2"/>
          <p:cNvSpPr>
            <a:spLocks noChangeArrowheads="1" noGrp="1"/>
          </p:cNvSpPr>
          <p:nvPr>
            <p:ph type="title"/>
          </p:nvPr>
        </p:nvSpPr>
        <p:spPr/>
        <p:txBody>
          <a:bodyPr/>
          <a:lstStyle/>
          <a:p>
            <a:r>
              <a:rPr altLang="en-US" lang="en-US"/>
              <a:t>Cardiac Cycle</a:t>
            </a:r>
          </a:p>
        </p:txBody>
      </p:sp>
      <p:sp>
        <p:nvSpPr>
          <p:cNvPr id="328707" name="Rectangle 3"/>
          <p:cNvSpPr>
            <a:spLocks noChangeArrowheads="1" noGrp="1"/>
          </p:cNvSpPr>
          <p:nvPr>
            <p:ph idx="1" type="body"/>
          </p:nvPr>
        </p:nvSpPr>
        <p:spPr/>
        <p:txBody>
          <a:bodyPr/>
          <a:lstStyle/>
          <a:p>
            <a:r>
              <a:rPr altLang="en-US" lang="en-US"/>
              <a:t>Cardiac cycle refers to all events associated with blood flow through the heart</a:t>
            </a:r>
          </a:p>
          <a:p>
            <a:pPr lvl="1"/>
            <a:r>
              <a:rPr altLang="en-US" b="1" lang="en-US"/>
              <a:t>Systole</a:t>
            </a:r>
            <a:r>
              <a:rPr altLang="en-US" lang="en-US"/>
              <a:t> – contraction of heart muscle</a:t>
            </a:r>
          </a:p>
          <a:p>
            <a:pPr lvl="1"/>
            <a:r>
              <a:rPr altLang="en-US" b="1" lang="en-US"/>
              <a:t>Diastole</a:t>
            </a:r>
            <a:r>
              <a:rPr altLang="en-US" lang="en-US"/>
              <a:t> – relaxation of heart muscle</a:t>
            </a:r>
          </a:p>
        </p:txBody>
      </p:sp>
    </p:spTree>
  </p:cSld>
  <p:clrMapOvr>
    <a:masterClrMapping/>
  </p:clrMapOvr>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dirty="0" lang="en-US"/>
              <a:t>18.6  Mechanical Events of Heart</a:t>
            </a:r>
          </a:p>
        </p:txBody>
      </p:sp>
      <p:sp>
        <p:nvSpPr>
          <p:cNvPr id="49155" name="Rectangle 5"/>
          <p:cNvSpPr>
            <a:spLocks noChangeArrowheads="1" noGrp="1"/>
          </p:cNvSpPr>
          <p:nvPr>
            <p:ph idx="1"/>
          </p:nvPr>
        </p:nvSpPr>
        <p:spPr/>
        <p:txBody>
          <a:bodyPr/>
          <a:lstStyle/>
          <a:p>
            <a:pPr indent="-382588" lvl="1" marL="839788">
              <a:buFont typeface="+mj-lt"/>
              <a:buAutoNum type="arabicPeriod"/>
            </a:pPr>
            <a:r>
              <a:rPr dirty="0" lang="en-US" sz="2400"/>
              <a:t> </a:t>
            </a:r>
            <a:r>
              <a:rPr b="1" dirty="0" lang="en-US" sz="2400"/>
              <a:t>Ventricular filling: mid-to-late diastole</a:t>
            </a:r>
          </a:p>
          <a:p>
            <a:pPr lvl="2"/>
            <a:r>
              <a:rPr dirty="0" lang="en-US" sz="2400"/>
              <a:t>Pressure is low; 80% of blood passively flows from atria through open AV valves into ventricles from atria (SL valves closed)</a:t>
            </a:r>
          </a:p>
          <a:p>
            <a:pPr lvl="2"/>
            <a:r>
              <a:rPr dirty="0" lang="en-US" sz="2400"/>
              <a:t>Atrial depolarization triggers atrial systole (P wave), atria contract, pushing remaining 20% of blood into ventricle</a:t>
            </a:r>
          </a:p>
          <a:p>
            <a:pPr lvl="3"/>
            <a:r>
              <a:rPr b="1" dirty="0" lang="en-US" sz="2400"/>
              <a:t>End diastolic volume </a:t>
            </a:r>
            <a:r>
              <a:rPr dirty="0" lang="en-US" sz="2400"/>
              <a:t>(EDV): volume of blood in each ventricle at end of ventricular diastole</a:t>
            </a:r>
          </a:p>
          <a:p>
            <a:pPr lvl="2"/>
            <a:r>
              <a:rPr dirty="0" lang="en-US" sz="2400"/>
              <a:t>Depolarization spreads to ventricles (QRS wave)</a:t>
            </a:r>
          </a:p>
          <a:p>
            <a:pPr lvl="2"/>
            <a:r>
              <a:rPr dirty="0" lang="en-US" sz="2400"/>
              <a:t>Atria finish contracting and return to diastole while ventricles begin systole</a:t>
            </a:r>
          </a:p>
        </p:txBody>
      </p:sp>
    </p:spTree>
    <p:extLst>
      <p:ext uri="{BB962C8B-B14F-4D97-AF65-F5344CB8AC3E}">
        <p14:creationId xmlns:p14="http://schemas.microsoft.com/office/powerpoint/2010/main" val="1393467944"/>
      </p:ext>
    </p:extLst>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dirty="0" lang="en-US"/>
              <a:t>18.6  Mechanical Events of Heart pt 2</a:t>
            </a:r>
          </a:p>
        </p:txBody>
      </p:sp>
      <p:sp>
        <p:nvSpPr>
          <p:cNvPr id="50179" name="Rectangle 5"/>
          <p:cNvSpPr>
            <a:spLocks noChangeArrowheads="1" noGrp="1"/>
          </p:cNvSpPr>
          <p:nvPr>
            <p:ph idx="1"/>
          </p:nvPr>
        </p:nvSpPr>
        <p:spPr/>
        <p:txBody>
          <a:bodyPr/>
          <a:lstStyle/>
          <a:p>
            <a:pPr indent="-382588" lvl="1" marL="839788">
              <a:buFont typeface="+mj-lt"/>
              <a:buAutoNum startAt="2" type="arabicPeriod"/>
            </a:pPr>
            <a:r>
              <a:rPr dirty="0" lang="en-US" sz="2400"/>
              <a:t> </a:t>
            </a:r>
            <a:r>
              <a:rPr b="1" dirty="0" lang="en-US" sz="2400"/>
              <a:t>Ventricular systole</a:t>
            </a:r>
          </a:p>
          <a:p>
            <a:pPr lvl="2"/>
            <a:r>
              <a:rPr dirty="0" lang="en-US" sz="2400"/>
              <a:t>Atria relax; ventricles begin to contract </a:t>
            </a:r>
          </a:p>
          <a:p>
            <a:pPr lvl="2"/>
            <a:r>
              <a:rPr dirty="0" lang="en-US" sz="2400"/>
              <a:t>Rising ventricular pressure </a:t>
            </a:r>
            <a:r>
              <a:rPr dirty="0" lang="en-US" sz="2400">
                <a:sym charset="0" typeface="Wingdings"/>
              </a:rPr>
              <a:t>causes</a:t>
            </a:r>
            <a:r>
              <a:rPr dirty="0" lang="en-US" sz="2400"/>
              <a:t> closing of AV valves</a:t>
            </a:r>
          </a:p>
          <a:p>
            <a:pPr lvl="2"/>
            <a:r>
              <a:rPr dirty="0" lang="en-US" sz="2400"/>
              <a:t>Two phases</a:t>
            </a:r>
          </a:p>
          <a:p>
            <a:pPr indent="0" lvl="3" marL="1371600">
              <a:buNone/>
              <a:tabLst>
                <a:tab algn="l" pos="1836738"/>
              </a:tabLst>
            </a:pPr>
            <a:r>
              <a:rPr dirty="0" lang="en-US" sz="2400"/>
              <a:t>2a: </a:t>
            </a:r>
            <a:r>
              <a:rPr b="1" dirty="0" err="1" lang="en-US" sz="2400"/>
              <a:t>Isovolumetric</a:t>
            </a:r>
            <a:r>
              <a:rPr b="1" dirty="0" lang="en-US" sz="2400"/>
              <a:t> contraction phase</a:t>
            </a:r>
            <a:r>
              <a:rPr dirty="0" lang="en-US" sz="2400"/>
              <a:t>: all valves 	are closed</a:t>
            </a:r>
          </a:p>
          <a:p>
            <a:pPr indent="0" lvl="3" marL="1371600">
              <a:buNone/>
              <a:tabLst>
                <a:tab algn="l" pos="1846263"/>
              </a:tabLst>
            </a:pPr>
            <a:r>
              <a:rPr dirty="0" lang="en-US" sz="2400"/>
              <a:t>2b: Ejection phase: ventricular pressure exceeds 	pressure in large arteries, forcing SL valves open</a:t>
            </a:r>
          </a:p>
          <a:p>
            <a:pPr lvl="4"/>
            <a:r>
              <a:rPr dirty="0" lang="en-US" sz="2400"/>
              <a:t>Pressure in aorta around 120 mm Hg</a:t>
            </a:r>
          </a:p>
          <a:p>
            <a:pPr lvl="2"/>
            <a:r>
              <a:rPr b="1" dirty="0" lang="en-US" sz="2400"/>
              <a:t>End systolic volume </a:t>
            </a:r>
            <a:r>
              <a:rPr dirty="0" lang="en-US" sz="2400"/>
              <a:t>(ESV): volume of blood remaining in each ventricle after systole</a:t>
            </a:r>
          </a:p>
          <a:p>
            <a:pPr lvl="4"/>
            <a:endParaRPr dirty="0" lang="en-US" sz="2400"/>
          </a:p>
        </p:txBody>
      </p:sp>
    </p:spTree>
    <p:extLst>
      <p:ext uri="{BB962C8B-B14F-4D97-AF65-F5344CB8AC3E}">
        <p14:creationId xmlns:p14="http://schemas.microsoft.com/office/powerpoint/2010/main" val="930869119"/>
      </p:ext>
    </p:extLst>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dirty="0" lang="en-US"/>
              <a:t>18.6  Mechanical Events of Heart pt 3</a:t>
            </a:r>
          </a:p>
        </p:txBody>
      </p:sp>
      <p:sp>
        <p:nvSpPr>
          <p:cNvPr id="51203" name="Rectangle 5"/>
          <p:cNvSpPr>
            <a:spLocks noChangeArrowheads="1" noGrp="1"/>
          </p:cNvSpPr>
          <p:nvPr>
            <p:ph idx="1"/>
          </p:nvPr>
        </p:nvSpPr>
        <p:spPr/>
        <p:txBody>
          <a:bodyPr/>
          <a:lstStyle/>
          <a:p>
            <a:pPr indent="-382588" lvl="1" marL="839788">
              <a:buFont typeface="+mj-lt"/>
              <a:buAutoNum startAt="3" type="arabicPeriod"/>
            </a:pPr>
            <a:r>
              <a:rPr dirty="0" lang="en-US" sz="2400"/>
              <a:t> </a:t>
            </a:r>
            <a:r>
              <a:rPr b="1" dirty="0" err="1" lang="en-US" sz="2400"/>
              <a:t>Isovolumetric</a:t>
            </a:r>
            <a:r>
              <a:rPr b="1" dirty="0" lang="en-US" sz="2400"/>
              <a:t> relaxation: early diastole</a:t>
            </a:r>
          </a:p>
          <a:p>
            <a:pPr lvl="2"/>
            <a:r>
              <a:rPr dirty="0" lang="en-US" sz="2400"/>
              <a:t>Following ventricular repolarization (T wave), ventricles are relaxed; atria are relaxed and filling</a:t>
            </a:r>
          </a:p>
          <a:p>
            <a:pPr lvl="2"/>
            <a:r>
              <a:rPr dirty="0" lang="en-US" sz="2400"/>
              <a:t>Backflow of blood in aorta and pulmonary trunk closes SL valves</a:t>
            </a:r>
          </a:p>
          <a:p>
            <a:pPr lvl="3"/>
            <a:r>
              <a:rPr dirty="0" lang="en-US" sz="2400"/>
              <a:t>Causes </a:t>
            </a:r>
            <a:r>
              <a:rPr b="1" dirty="0" err="1" lang="en-US" sz="2400"/>
              <a:t>dicrotic</a:t>
            </a:r>
            <a:r>
              <a:rPr b="1" dirty="0" lang="en-US" sz="2400"/>
              <a:t> notch </a:t>
            </a:r>
            <a:r>
              <a:rPr dirty="0" lang="en-US" sz="2400"/>
              <a:t>(brief rise in aortic pressure as blood rebounds off closed valve)</a:t>
            </a:r>
          </a:p>
          <a:p>
            <a:pPr lvl="3"/>
            <a:r>
              <a:rPr dirty="0" lang="en-US" sz="2400"/>
              <a:t>Ventricles are totally closed chambers (</a:t>
            </a:r>
            <a:r>
              <a:rPr dirty="0" err="1" lang="en-US" sz="2400"/>
              <a:t>isovolumetric</a:t>
            </a:r>
            <a:r>
              <a:rPr dirty="0" lang="en-US" sz="2400"/>
              <a:t>)</a:t>
            </a:r>
          </a:p>
          <a:p>
            <a:pPr lvl="2"/>
            <a:r>
              <a:rPr dirty="0" lang="en-US" sz="2400"/>
              <a:t>When atrial pressure exceeds ventricular pressure, </a:t>
            </a:r>
            <a:r>
              <a:rPr dirty="0" lang="en-US" sz="2400">
                <a:sym charset="0" typeface="Wingdings"/>
              </a:rPr>
              <a:t>AV valves open; cycle begins again</a:t>
            </a:r>
            <a:endParaRPr dirty="0" lang="en-US" sz="2400"/>
          </a:p>
        </p:txBody>
      </p:sp>
    </p:spTree>
    <p:extLst>
      <p:ext uri="{BB962C8B-B14F-4D97-AF65-F5344CB8AC3E}">
        <p14:creationId xmlns:p14="http://schemas.microsoft.com/office/powerpoint/2010/main" val="2503353211"/>
      </p:ext>
    </p:extLst>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33826" name="Rectangle 2"/>
          <p:cNvSpPr>
            <a:spLocks noChangeArrowheads="1" noGrp="1"/>
          </p:cNvSpPr>
          <p:nvPr>
            <p:ph type="title"/>
          </p:nvPr>
        </p:nvSpPr>
        <p:spPr/>
        <p:txBody>
          <a:bodyPr/>
          <a:lstStyle/>
          <a:p>
            <a:r>
              <a:rPr altLang="en-US" dirty="0" lang="en-US"/>
              <a:t>BIG TOPIC: Assessing heart efficiency: Cardiac Output (CO) and Reserve</a:t>
            </a:r>
          </a:p>
        </p:txBody>
      </p:sp>
      <p:sp>
        <p:nvSpPr>
          <p:cNvPr id="333827" name="Rectangle 3"/>
          <p:cNvSpPr>
            <a:spLocks noChangeArrowheads="1" noGrp="1"/>
          </p:cNvSpPr>
          <p:nvPr>
            <p:ph idx="1" type="body"/>
          </p:nvPr>
        </p:nvSpPr>
        <p:spPr>
          <a:xfrm>
            <a:off x="304800" y="1539874"/>
            <a:ext cx="8270875" cy="5056188"/>
          </a:xfrm>
        </p:spPr>
        <p:txBody>
          <a:bodyPr/>
          <a:lstStyle/>
          <a:p>
            <a:r>
              <a:rPr altLang="en-US" dirty="0" lang="en-US" sz="2600">
                <a:solidFill>
                  <a:srgbClr val="000000"/>
                </a:solidFill>
              </a:rPr>
              <a:t>CO is the amount of blood pumped by each ventricle in one minute</a:t>
            </a:r>
          </a:p>
          <a:p>
            <a:r>
              <a:rPr altLang="en-US" dirty="0" lang="en-US" sz="2600">
                <a:solidFill>
                  <a:srgbClr val="000000"/>
                </a:solidFill>
              </a:rPr>
              <a:t>CO is the product of heart rate (HR) and stroke volume (SV)</a:t>
            </a:r>
          </a:p>
          <a:p>
            <a:pPr lvl="1"/>
            <a:r>
              <a:rPr altLang="en-US" dirty="0" lang="en-US" sz="2400">
                <a:solidFill>
                  <a:srgbClr val="000000"/>
                </a:solidFill>
              </a:rPr>
              <a:t>CO = HR x SV</a:t>
            </a:r>
          </a:p>
          <a:p>
            <a:r>
              <a:rPr altLang="en-US" dirty="0" lang="en-US" sz="2600">
                <a:solidFill>
                  <a:srgbClr val="000000"/>
                </a:solidFill>
              </a:rPr>
              <a:t>HR is the number of heart beats per minute</a:t>
            </a:r>
          </a:p>
          <a:p>
            <a:r>
              <a:rPr altLang="en-US" dirty="0" lang="en-US" sz="2600">
                <a:solidFill>
                  <a:srgbClr val="000000"/>
                </a:solidFill>
              </a:rPr>
              <a:t>SV is the amount of blood pumped out by a ventricle with each beat</a:t>
            </a:r>
          </a:p>
          <a:p>
            <a:r>
              <a:rPr altLang="en-US" dirty="0" lang="en-US" sz="2600"/>
              <a:t>Cardiac reserve is the difference between resting and maximal CO</a:t>
            </a:r>
          </a:p>
        </p:txBody>
      </p:sp>
    </p:spTree>
  </p:cSld>
  <p:clrMapOvr>
    <a:masterClrMapping/>
  </p:clrMapOvr>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34850" name="Rectangle 2"/>
          <p:cNvSpPr>
            <a:spLocks noChangeArrowheads="1" noGrp="1"/>
          </p:cNvSpPr>
          <p:nvPr>
            <p:ph type="title"/>
          </p:nvPr>
        </p:nvSpPr>
        <p:spPr/>
        <p:txBody>
          <a:bodyPr/>
          <a:lstStyle/>
          <a:p>
            <a:r>
              <a:rPr altLang="en-US" lang="en-US"/>
              <a:t>Cardiac Output: Example</a:t>
            </a:r>
          </a:p>
        </p:txBody>
      </p:sp>
      <p:sp>
        <p:nvSpPr>
          <p:cNvPr id="334851" name="Rectangle 3"/>
          <p:cNvSpPr>
            <a:spLocks noChangeArrowheads="1" noGrp="1"/>
          </p:cNvSpPr>
          <p:nvPr>
            <p:ph idx="1" type="body"/>
          </p:nvPr>
        </p:nvSpPr>
        <p:spPr>
          <a:xfrm>
            <a:off x="298450" y="977900"/>
            <a:ext cx="8270875" cy="4722813"/>
          </a:xfrm>
        </p:spPr>
        <p:txBody>
          <a:bodyPr/>
          <a:lstStyle/>
          <a:p>
            <a:r>
              <a:rPr altLang="en-US" lang="en-US">
                <a:solidFill>
                  <a:srgbClr val="000000"/>
                </a:solidFill>
              </a:rPr>
              <a:t>CO (ml/min) = HR (75 beats/min) x SV (70 ml/beat)</a:t>
            </a:r>
          </a:p>
          <a:p>
            <a:r>
              <a:rPr altLang="en-US" lang="en-US"/>
              <a:t>CO = 5250 ml/min (5.25 L/min)</a:t>
            </a:r>
          </a:p>
        </p:txBody>
      </p:sp>
    </p:spTree>
  </p:cSld>
  <p:clrMapOvr>
    <a:masterClrMapping/>
  </p:clrMapOvr>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36898" name="Rectangle 2"/>
          <p:cNvSpPr>
            <a:spLocks noChangeArrowheads="1" noGrp="1"/>
          </p:cNvSpPr>
          <p:nvPr>
            <p:ph type="title"/>
          </p:nvPr>
        </p:nvSpPr>
        <p:spPr/>
        <p:txBody>
          <a:bodyPr/>
          <a:lstStyle/>
          <a:p>
            <a:r>
              <a:rPr altLang="en-US" lang="en-US"/>
              <a:t>Factors Affecting Stroke Volume</a:t>
            </a:r>
          </a:p>
        </p:txBody>
      </p:sp>
      <p:sp>
        <p:nvSpPr>
          <p:cNvPr id="336899" name="Rectangle 3"/>
          <p:cNvSpPr>
            <a:spLocks noChangeArrowheads="1" noGrp="1"/>
          </p:cNvSpPr>
          <p:nvPr>
            <p:ph idx="1" type="body"/>
          </p:nvPr>
        </p:nvSpPr>
        <p:spPr/>
        <p:txBody>
          <a:bodyPr/>
          <a:lstStyle/>
          <a:p>
            <a:r>
              <a:rPr altLang="en-US" b="1" lang="en-US">
                <a:solidFill>
                  <a:srgbClr val="000000"/>
                </a:solidFill>
              </a:rPr>
              <a:t>Preload</a:t>
            </a:r>
            <a:r>
              <a:rPr altLang="en-US" lang="en-US">
                <a:solidFill>
                  <a:srgbClr val="000000"/>
                </a:solidFill>
              </a:rPr>
              <a:t> – amount ventricles are stretched by contained blood </a:t>
            </a:r>
          </a:p>
          <a:p>
            <a:r>
              <a:rPr altLang="en-US" b="1" lang="en-US">
                <a:solidFill>
                  <a:srgbClr val="000000"/>
                </a:solidFill>
              </a:rPr>
              <a:t>Contractility</a:t>
            </a:r>
            <a:r>
              <a:rPr altLang="en-US" lang="en-US">
                <a:solidFill>
                  <a:srgbClr val="000000"/>
                </a:solidFill>
              </a:rPr>
              <a:t> – cardiac cell contractile force due to factors other than EDV</a:t>
            </a:r>
          </a:p>
          <a:p>
            <a:r>
              <a:rPr altLang="en-US" b="1" lang="en-US"/>
              <a:t>Afterload</a:t>
            </a:r>
            <a:r>
              <a:rPr altLang="en-US" lang="en-US"/>
              <a:t> – back pressure exerted by blood in the large arteries leaving the heart</a:t>
            </a:r>
          </a:p>
        </p:txBody>
      </p:sp>
    </p:spTree>
  </p:cSld>
  <p:clrMapOvr>
    <a:masterClrMapping/>
  </p:clrMapOvr>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37922" name="Rectangle 2"/>
          <p:cNvSpPr>
            <a:spLocks noChangeArrowheads="1" noGrp="1"/>
          </p:cNvSpPr>
          <p:nvPr>
            <p:ph type="title"/>
          </p:nvPr>
        </p:nvSpPr>
        <p:spPr/>
        <p:txBody>
          <a:bodyPr/>
          <a:lstStyle/>
          <a:p>
            <a:r>
              <a:rPr altLang="en-US" lang="en-US"/>
              <a:t>Frank-Starling Law of the Heart</a:t>
            </a:r>
          </a:p>
        </p:txBody>
      </p:sp>
      <p:sp>
        <p:nvSpPr>
          <p:cNvPr id="337923" name="Rectangle 3"/>
          <p:cNvSpPr>
            <a:spLocks noChangeArrowheads="1" noGrp="1"/>
          </p:cNvSpPr>
          <p:nvPr>
            <p:ph idx="1" type="body"/>
          </p:nvPr>
        </p:nvSpPr>
        <p:spPr/>
        <p:txBody>
          <a:bodyPr/>
          <a:lstStyle/>
          <a:p>
            <a:r>
              <a:rPr altLang="en-US" lang="en-US"/>
              <a:t>Preload, or degree of stretch, of cardiac muscle cells before they contract is the critical factor controlling stroke volume</a:t>
            </a:r>
          </a:p>
          <a:p>
            <a:r>
              <a:rPr altLang="en-US" lang="en-US"/>
              <a:t>Slow heartbeat and exercise increase venous return to the heart, increasing SV</a:t>
            </a:r>
          </a:p>
          <a:p>
            <a:r>
              <a:rPr altLang="en-US" lang="en-US"/>
              <a:t>Blood loss and extremely rapid heartbeat decrease SV</a:t>
            </a:r>
          </a:p>
        </p:txBody>
      </p:sp>
    </p:spTree>
  </p:cSld>
  <p:clrMapOvr>
    <a:masterClrMapping/>
  </p:clrMapOvr>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38946" name="Rectangle 2"/>
          <p:cNvSpPr>
            <a:spLocks noChangeArrowheads="1" noGrp="1"/>
          </p:cNvSpPr>
          <p:nvPr>
            <p:ph type="title"/>
          </p:nvPr>
        </p:nvSpPr>
        <p:spPr/>
        <p:txBody>
          <a:bodyPr/>
          <a:lstStyle/>
          <a:p>
            <a:r>
              <a:rPr altLang="en-US" lang="en-US"/>
              <a:t>Preload and Afterload</a:t>
            </a:r>
          </a:p>
        </p:txBody>
      </p:sp>
      <p:sp>
        <p:nvSpPr>
          <p:cNvPr id="338947" name="Text Box 3"/>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p>
            <a:pPr algn="r"/>
            <a:r>
              <a:rPr altLang="en-US" b="1" lang="en-US" sz="1200">
                <a:solidFill>
                  <a:schemeClr val="accent2"/>
                </a:solidFill>
                <a:latin charset="0" panose="020B0604020202020204" pitchFamily="34" typeface="Arial"/>
              </a:rPr>
              <a:t>Figure 18.21</a:t>
            </a:r>
          </a:p>
        </p:txBody>
      </p:sp>
      <p:pic>
        <p:nvPicPr>
          <p:cNvPr descr="Figure showing preloading of ventricles on the left and the effect of afterload on ventricular emptying on the right" id="338948" name="Picture 4"/>
          <p:cNvPicPr>
            <a:picLocks noChangeArrowheads="1" noChangeAspect="1"/>
          </p:cNvPicPr>
          <p:nvPr/>
        </p:nvPicPr>
        <p:blipFill>
          <a:blip r:embed="rId2">
            <a:extLst>
              <a:ext uri="{28A0092B-C50C-407E-A947-70E740481C1C}">
                <a14:useLocalDpi xmlns:a14="http://schemas.microsoft.com/office/drawing/2010/main" val="0"/>
              </a:ext>
            </a:extLst>
          </a:blip>
          <a:srcRect b="7622" l="1772" r="1921" t="2887"/>
          <a:stretch>
            <a:fillRect/>
          </a:stretch>
        </p:blipFill>
        <p:spPr bwMode="auto">
          <a:xfrm>
            <a:off x="471488" y="850900"/>
            <a:ext cx="8199437" cy="546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39970" name="Rectangle 2"/>
          <p:cNvSpPr>
            <a:spLocks noChangeArrowheads="1" noGrp="1"/>
          </p:cNvSpPr>
          <p:nvPr>
            <p:ph type="title"/>
          </p:nvPr>
        </p:nvSpPr>
        <p:spPr/>
        <p:txBody>
          <a:bodyPr/>
          <a:lstStyle/>
          <a:p>
            <a:r>
              <a:rPr altLang="en-US" lang="en-US"/>
              <a:t>Extrinsic Factors Influencing Stroke Volume</a:t>
            </a:r>
          </a:p>
        </p:txBody>
      </p:sp>
      <p:sp>
        <p:nvSpPr>
          <p:cNvPr id="339971" name="Rectangle 3"/>
          <p:cNvSpPr>
            <a:spLocks noChangeArrowheads="1" noGrp="1"/>
          </p:cNvSpPr>
          <p:nvPr>
            <p:ph idx="1" type="body"/>
          </p:nvPr>
        </p:nvSpPr>
        <p:spPr/>
        <p:txBody>
          <a:bodyPr/>
          <a:lstStyle/>
          <a:p>
            <a:r>
              <a:rPr altLang="en-US" lang="en-US">
                <a:solidFill>
                  <a:srgbClr val="000000"/>
                </a:solidFill>
              </a:rPr>
              <a:t>Contractility is the increase in contractile strength, independent of stretch and EDV</a:t>
            </a:r>
          </a:p>
          <a:p>
            <a:r>
              <a:rPr altLang="en-US" lang="en-US">
                <a:solidFill>
                  <a:srgbClr val="000000"/>
                </a:solidFill>
              </a:rPr>
              <a:t>Increase in contractility comes from: </a:t>
            </a:r>
          </a:p>
          <a:p>
            <a:pPr lvl="1"/>
            <a:r>
              <a:rPr altLang="en-US" lang="en-US">
                <a:solidFill>
                  <a:srgbClr val="000000"/>
                </a:solidFill>
              </a:rPr>
              <a:t>Increased sympathetic stimuli</a:t>
            </a:r>
          </a:p>
          <a:p>
            <a:pPr lvl="1"/>
            <a:r>
              <a:rPr altLang="en-US" lang="en-US">
                <a:solidFill>
                  <a:srgbClr val="000000"/>
                </a:solidFill>
              </a:rPr>
              <a:t>Certain hormones</a:t>
            </a:r>
          </a:p>
          <a:p>
            <a:pPr lvl="1"/>
            <a:r>
              <a:rPr altLang="en-US" lang="en-US">
                <a:solidFill>
                  <a:srgbClr val="000000"/>
                </a:solidFill>
              </a:rPr>
              <a:t>Ca</a:t>
            </a:r>
            <a:r>
              <a:rPr altLang="en-US" baseline="30000" lang="en-US">
                <a:solidFill>
                  <a:srgbClr val="000000"/>
                </a:solidFill>
              </a:rPr>
              <a:t>2+</a:t>
            </a:r>
            <a:r>
              <a:rPr altLang="en-US" lang="en-US">
                <a:solidFill>
                  <a:srgbClr val="000000"/>
                </a:solidFill>
              </a:rPr>
              <a:t> and some drugs</a:t>
            </a:r>
            <a:endParaRPr altLang="en-US" lang="en-US"/>
          </a:p>
        </p:txBody>
      </p:sp>
    </p:spTree>
  </p:cSld>
  <p:clrMapOvr>
    <a:masterClrMapping/>
  </p:clrMapOvr>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40994" name="Rectangle 2"/>
          <p:cNvSpPr>
            <a:spLocks noChangeArrowheads="1" noGrp="1"/>
          </p:cNvSpPr>
          <p:nvPr>
            <p:ph type="title"/>
          </p:nvPr>
        </p:nvSpPr>
        <p:spPr/>
        <p:txBody>
          <a:bodyPr/>
          <a:lstStyle/>
          <a:p>
            <a:r>
              <a:rPr altLang="en-US" dirty="0" lang="en-US"/>
              <a:t>Extrinsic Factors Influencing Stroke Volume: other chemicals</a:t>
            </a:r>
          </a:p>
        </p:txBody>
      </p:sp>
      <p:sp>
        <p:nvSpPr>
          <p:cNvPr id="340995" name="Rectangle 3"/>
          <p:cNvSpPr>
            <a:spLocks noChangeArrowheads="1" noGrp="1"/>
          </p:cNvSpPr>
          <p:nvPr>
            <p:ph idx="1" type="body"/>
          </p:nvPr>
        </p:nvSpPr>
        <p:spPr>
          <a:xfrm>
            <a:off x="304800" y="1351125"/>
            <a:ext cx="8270875" cy="5056188"/>
          </a:xfrm>
        </p:spPr>
        <p:txBody>
          <a:bodyPr/>
          <a:lstStyle/>
          <a:p>
            <a:r>
              <a:rPr altLang="en-US" dirty="0" lang="en-US">
                <a:solidFill>
                  <a:srgbClr val="000000"/>
                </a:solidFill>
              </a:rPr>
              <a:t>Agents/factors that decrease contractility include:</a:t>
            </a:r>
          </a:p>
          <a:p>
            <a:pPr lvl="1"/>
            <a:r>
              <a:rPr altLang="en-US" dirty="0" lang="en-US">
                <a:solidFill>
                  <a:srgbClr val="000000"/>
                </a:solidFill>
              </a:rPr>
              <a:t>Acidosis</a:t>
            </a:r>
          </a:p>
          <a:p>
            <a:pPr lvl="1"/>
            <a:r>
              <a:rPr altLang="en-US" dirty="0" lang="en-US">
                <a:solidFill>
                  <a:srgbClr val="000000"/>
                </a:solidFill>
              </a:rPr>
              <a:t>Increased extracellular K</a:t>
            </a:r>
            <a:r>
              <a:rPr altLang="en-US" baseline="30000" dirty="0" lang="en-US">
                <a:solidFill>
                  <a:srgbClr val="000000"/>
                </a:solidFill>
              </a:rPr>
              <a:t>+</a:t>
            </a:r>
            <a:endParaRPr altLang="en-US" dirty="0" lang="en-US">
              <a:solidFill>
                <a:srgbClr val="000000"/>
              </a:solidFill>
            </a:endParaRPr>
          </a:p>
          <a:p>
            <a:pPr lvl="1"/>
            <a:r>
              <a:rPr altLang="en-US" dirty="0" lang="en-US"/>
              <a:t>Calcium channel blockers</a:t>
            </a:r>
          </a:p>
        </p:txBody>
      </p:sp>
    </p:spTree>
  </p:cSld>
  <p:clrMapOvr>
    <a:masterClrMapping/>
  </p:clrMapOvr>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altLang="en-US" dirty="0" lang="en-US">
                <a:solidFill>
                  <a:srgbClr val="000000"/>
                </a:solidFill>
              </a:rPr>
              <a:t>Clinical – </a:t>
            </a:r>
            <a:r>
              <a:rPr altLang="en-US" dirty="0" lang="en-US">
                <a:solidFill>
                  <a:srgbClr val="000000"/>
                </a:solidFill>
              </a:rPr>
              <a:t>Homeostatic Imbalance 18.7</a:t>
            </a:r>
            <a:endParaRPr dirty="0" lang="en-US"/>
          </a:p>
        </p:txBody>
      </p:sp>
      <p:sp>
        <p:nvSpPr>
          <p:cNvPr id="72707" name="Content Placeholder 2"/>
          <p:cNvSpPr>
            <a:spLocks noGrp="1"/>
          </p:cNvSpPr>
          <p:nvPr>
            <p:ph idx="1"/>
          </p:nvPr>
        </p:nvSpPr>
        <p:spPr/>
        <p:txBody>
          <a:bodyPr/>
          <a:lstStyle/>
          <a:p>
            <a:r>
              <a:rPr b="1" dirty="0" err="1" lang="en-US"/>
              <a:t>Hypocalcemia</a:t>
            </a:r>
            <a:r>
              <a:rPr dirty="0" lang="en-US"/>
              <a:t>: </a:t>
            </a:r>
            <a:r>
              <a:rPr dirty="0" lang="en-US">
                <a:sym charset="0" typeface="Wingdings"/>
              </a:rPr>
              <a:t>d</a:t>
            </a:r>
            <a:r>
              <a:rPr dirty="0" lang="en-US"/>
              <a:t>epresses heart</a:t>
            </a:r>
          </a:p>
          <a:p>
            <a:r>
              <a:rPr b="1" dirty="0" err="1" lang="en-US"/>
              <a:t>Hypercalcemia</a:t>
            </a:r>
            <a:r>
              <a:rPr dirty="0" lang="en-US"/>
              <a:t>: </a:t>
            </a:r>
            <a:r>
              <a:rPr dirty="0" lang="en-US">
                <a:sym charset="0" typeface="Wingdings"/>
              </a:rPr>
              <a:t>increases HR and contractility</a:t>
            </a:r>
          </a:p>
          <a:p>
            <a:r>
              <a:rPr b="1" dirty="0" lang="en-US">
                <a:sym charset="0" typeface="Wingdings"/>
              </a:rPr>
              <a:t>Hyperkalemia</a:t>
            </a:r>
            <a:r>
              <a:rPr dirty="0" lang="en-US">
                <a:sym charset="0" typeface="Wingdings"/>
              </a:rPr>
              <a:t>: alters electrical activity, which can lead to heart block and cardiac arrest</a:t>
            </a:r>
          </a:p>
          <a:p>
            <a:r>
              <a:rPr b="1" dirty="0" lang="en-US">
                <a:sym charset="0" typeface="Wingdings"/>
              </a:rPr>
              <a:t>Hypokalemia</a:t>
            </a:r>
            <a:r>
              <a:rPr dirty="0" lang="en-US">
                <a:sym charset="0" typeface="Wingdings"/>
              </a:rPr>
              <a:t>: results in feeble heartbeat; arrhythmias</a:t>
            </a:r>
            <a:endParaRPr dirty="0" lang="en-US"/>
          </a:p>
        </p:txBody>
      </p:sp>
    </p:spTree>
    <p:extLst>
      <p:ext uri="{BB962C8B-B14F-4D97-AF65-F5344CB8AC3E}">
        <p14:creationId xmlns:p14="http://schemas.microsoft.com/office/powerpoint/2010/main" val="2357781200"/>
      </p:ext>
    </p:extLst>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285C2-AF38-6B66-A744-28499A0E441B}"/>
              </a:ext>
            </a:extLst>
          </p:cNvPr>
          <p:cNvSpPr>
            <a:spLocks noGrp="1"/>
          </p:cNvSpPr>
          <p:nvPr>
            <p:ph type="title"/>
          </p:nvPr>
        </p:nvSpPr>
        <p:spPr>
          <a:xfrm>
            <a:off x="304800" y="261938"/>
            <a:ext cx="3632718" cy="609600"/>
          </a:xfrm>
        </p:spPr>
        <p:txBody>
          <a:bodyPr/>
          <a:lstStyle/>
          <a:p>
            <a:r>
              <a:rPr dirty="0" lang="en-US"/>
              <a:t>Factors affecting cardiac output</a:t>
            </a:r>
          </a:p>
        </p:txBody>
      </p:sp>
      <p:pic>
        <p:nvPicPr>
          <p:cNvPr descr="Figure showing various factors that influence stroke volume and heart rate and thereby affecting cardiac output" id="353285" name="Picture 5"/>
          <p:cNvPicPr>
            <a:picLocks noChangeArrowheads="1" noChangeAspect="1"/>
          </p:cNvPicPr>
          <p:nvPr/>
        </p:nvPicPr>
        <p:blipFill>
          <a:blip r:embed="rId2">
            <a:extLst>
              <a:ext uri="{28A0092B-C50C-407E-A947-70E740481C1C}">
                <a14:useLocalDpi xmlns:a14="http://schemas.microsoft.com/office/drawing/2010/main" val="0"/>
              </a:ext>
            </a:extLst>
          </a:blip>
          <a:srcRect b="3526" l="784" r="11925" t="969"/>
          <a:stretch>
            <a:fillRect/>
          </a:stretch>
        </p:blipFill>
        <p:spPr bwMode="auto">
          <a:xfrm>
            <a:off x="4064518" y="184943"/>
            <a:ext cx="4506913" cy="64881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57378" name="Rectangle 2"/>
          <p:cNvSpPr>
            <a:spLocks noChangeArrowheads="1" noGrp="1"/>
          </p:cNvSpPr>
          <p:nvPr>
            <p:ph type="title"/>
          </p:nvPr>
        </p:nvSpPr>
        <p:spPr/>
        <p:txBody>
          <a:bodyPr/>
          <a:lstStyle/>
          <a:p>
            <a:r>
              <a:rPr altLang="en-US" lang="en-US"/>
              <a:t>Developmental Aspects of the Heart</a:t>
            </a:r>
          </a:p>
        </p:txBody>
      </p:sp>
      <p:sp>
        <p:nvSpPr>
          <p:cNvPr id="357379" name="Rectangle 3"/>
          <p:cNvSpPr>
            <a:spLocks noChangeArrowheads="1" noGrp="1"/>
          </p:cNvSpPr>
          <p:nvPr>
            <p:ph idx="1" type="body"/>
          </p:nvPr>
        </p:nvSpPr>
        <p:spPr/>
        <p:txBody>
          <a:bodyPr/>
          <a:lstStyle/>
          <a:p>
            <a:r>
              <a:rPr altLang="en-US" lang="en-US">
                <a:solidFill>
                  <a:srgbClr val="000000"/>
                </a:solidFill>
              </a:rPr>
              <a:t>Fetal heart structures that bypass pulmonary circulation</a:t>
            </a:r>
          </a:p>
          <a:p>
            <a:pPr lvl="1"/>
            <a:r>
              <a:rPr altLang="en-US" b="1" lang="en-US">
                <a:solidFill>
                  <a:srgbClr val="000000"/>
                </a:solidFill>
              </a:rPr>
              <a:t>Foramen ovale</a:t>
            </a:r>
            <a:r>
              <a:rPr altLang="en-US" lang="en-US">
                <a:solidFill>
                  <a:srgbClr val="000000"/>
                </a:solidFill>
              </a:rPr>
              <a:t> connects the two atria </a:t>
            </a:r>
          </a:p>
          <a:p>
            <a:pPr lvl="1"/>
            <a:r>
              <a:rPr altLang="en-US" b="1" lang="en-US"/>
              <a:t>Ductus arteriosus</a:t>
            </a:r>
            <a:r>
              <a:rPr altLang="en-US" lang="en-US"/>
              <a:t> connects pulmonary trunk and the aorta</a:t>
            </a:r>
          </a:p>
        </p:txBody>
      </p:sp>
    </p:spTree>
  </p:cSld>
  <p:clrMapOvr>
    <a:masterClrMapping/>
  </p:clrMapOvr>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3522" name="Rectangle 2"/>
          <p:cNvSpPr>
            <a:spLocks noChangeArrowheads="1" noGrp="1"/>
          </p:cNvSpPr>
          <p:nvPr>
            <p:ph type="title"/>
          </p:nvPr>
        </p:nvSpPr>
        <p:spPr/>
        <p:txBody>
          <a:bodyPr/>
          <a:lstStyle/>
          <a:p>
            <a:r>
              <a:rPr altLang="en-US" lang="en-US"/>
              <a:t>DISORDERS: HOMEOSTATIC IMBALANCES</a:t>
            </a:r>
          </a:p>
        </p:txBody>
      </p:sp>
      <p:sp>
        <p:nvSpPr>
          <p:cNvPr id="363523" name="Rectangle 3"/>
          <p:cNvSpPr>
            <a:spLocks noChangeArrowheads="1" noGrp="1"/>
          </p:cNvSpPr>
          <p:nvPr>
            <p:ph idx="1" type="body"/>
          </p:nvPr>
        </p:nvSpPr>
        <p:spPr/>
        <p:txBody>
          <a:bodyPr/>
          <a:lstStyle/>
          <a:p>
            <a:endParaRPr altLang="en-US" lang="en-US"/>
          </a:p>
        </p:txBody>
      </p:sp>
    </p:spTree>
  </p:cSld>
  <p:clrMapOvr>
    <a:masterClrMapping/>
  </p:clrMapOvr>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descr="Fig 20_16" id="364546" name="Picture 2"/>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58888"/>
            <a:ext cx="5016500" cy="5410200"/>
          </a:xfrm>
          <a:prstGeom prst="rect">
            <a:avLst/>
          </a:prstGeom>
          <a:noFill/>
          <a:extLst>
            <a:ext uri="{909E8E84-426E-40DD-AFC4-6F175D3DCCD1}">
              <a14:hiddenFill xmlns:a14="http://schemas.microsoft.com/office/drawing/2010/main">
                <a:solidFill>
                  <a:srgbClr val="FFFFFF"/>
                </a:solidFill>
              </a14:hiddenFill>
            </a:ext>
          </a:extLst>
        </p:spPr>
      </p:pic>
      <p:sp>
        <p:nvSpPr>
          <p:cNvPr id="364547" name="Rectangle 3"/>
          <p:cNvSpPr>
            <a:spLocks noChangeArrowheads="1" noGrp="1"/>
          </p:cNvSpPr>
          <p:nvPr>
            <p:ph type="title"/>
          </p:nvPr>
        </p:nvSpPr>
        <p:spPr>
          <a:xfrm>
            <a:off x="0" y="260350"/>
            <a:ext cx="9144000" cy="1143000"/>
          </a:xfrm>
        </p:spPr>
        <p:txBody>
          <a:bodyPr/>
          <a:lstStyle/>
          <a:p>
            <a:r>
              <a:rPr altLang="en-US" lang="en-US">
                <a:latin typeface="Times New"/>
              </a:rPr>
              <a:t>Coronary Artery Disease</a:t>
            </a:r>
            <a:r>
              <a:rPr altLang="en-US" b="0" lang="en-US">
                <a:latin typeface="Times New"/>
              </a:rPr>
              <a:t> </a:t>
            </a:r>
          </a:p>
        </p:txBody>
      </p:sp>
      <p:sp>
        <p:nvSpPr>
          <p:cNvPr id="364548" name="Rectangle 4"/>
          <p:cNvSpPr>
            <a:spLocks noChangeArrowheads="1" noGrp="1"/>
          </p:cNvSpPr>
          <p:nvPr>
            <p:ph idx="2" sz="half" type="body"/>
          </p:nvPr>
        </p:nvSpPr>
        <p:spPr>
          <a:xfrm>
            <a:off x="5334000" y="1066800"/>
            <a:ext cx="3810000" cy="5257800"/>
          </a:xfrm>
        </p:spPr>
        <p:txBody>
          <a:bodyPr/>
          <a:lstStyle/>
          <a:p>
            <a:r>
              <a:rPr altLang="en-US" lang="en-US" sz="2600">
                <a:latin typeface="Times New"/>
              </a:rPr>
              <a:t>Heart muscle receiving insufficient blood supply</a:t>
            </a:r>
          </a:p>
          <a:p>
            <a:pPr lvl="1"/>
            <a:r>
              <a:rPr altLang="en-US" lang="en-US" sz="2400">
                <a:latin typeface="Times New"/>
              </a:rPr>
              <a:t>narrowing of vessels---atherosclerosis, artery spasm or clot</a:t>
            </a:r>
          </a:p>
          <a:p>
            <a:pPr lvl="1"/>
            <a:r>
              <a:rPr altLang="en-US" lang="en-US" sz="2400">
                <a:latin typeface="Times New"/>
              </a:rPr>
              <a:t>atherosclerosis--smooth muscle &amp; fatty deposits in walls of arteries</a:t>
            </a:r>
          </a:p>
          <a:p>
            <a:r>
              <a:rPr altLang="en-US" lang="en-US" sz="2600">
                <a:latin typeface="Times New"/>
              </a:rPr>
              <a:t>Treatment</a:t>
            </a:r>
          </a:p>
          <a:p>
            <a:pPr lvl="1"/>
            <a:r>
              <a:rPr altLang="en-US" lang="en-US" sz="2400">
                <a:latin typeface="Times New"/>
              </a:rPr>
              <a:t>drugs, bypass graft, angioplasty, stent</a:t>
            </a:r>
            <a:endParaRPr altLang="en-US" b="1" lang="en-US" sz="2400">
              <a:latin typeface="Times New"/>
            </a:endParaRPr>
          </a:p>
        </p:txBody>
      </p:sp>
    </p:spTree>
  </p:cSld>
  <p:clrMapOvr>
    <a:masterClrMapping/>
  </p:clrMapOvr>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5570" name="Rectangle 2"/>
          <p:cNvSpPr>
            <a:spLocks noChangeArrowheads="1" noGrp="1"/>
          </p:cNvSpPr>
          <p:nvPr>
            <p:ph type="title"/>
          </p:nvPr>
        </p:nvSpPr>
        <p:spPr>
          <a:xfrm>
            <a:off x="658813" y="442913"/>
            <a:ext cx="7772400" cy="1143000"/>
          </a:xfrm>
        </p:spPr>
        <p:txBody>
          <a:bodyPr/>
          <a:lstStyle/>
          <a:p>
            <a:r>
              <a:rPr altLang="en-US" lang="en-US"/>
              <a:t>By-pass Graft</a:t>
            </a:r>
            <a:endParaRPr altLang="en-US" lang="en-US" sz="4300"/>
          </a:p>
        </p:txBody>
      </p:sp>
      <p:pic>
        <p:nvPicPr>
          <p:cNvPr descr="w0156-nc" id="365571" name="Picture 3"/>
          <p:cNvPicPr>
            <a:picLocks noChangeArrowheads="1" noChangeAspect="1"/>
          </p:cNvPicPr>
          <p:nvPr/>
        </p:nvPicPr>
        <p:blipFill>
          <a:blip r:embed="rId2">
            <a:extLst>
              <a:ext uri="{28A0092B-C50C-407E-A947-70E740481C1C}">
                <a14:useLocalDpi xmlns:a14="http://schemas.microsoft.com/office/drawing/2010/main" val="0"/>
              </a:ext>
            </a:extLst>
          </a:blip>
          <a:srcRect b="71147"/>
          <a:stretch>
            <a:fillRect/>
          </a:stretch>
        </p:blipFill>
        <p:spPr bwMode="auto">
          <a:xfrm>
            <a:off x="1520825" y="1295400"/>
            <a:ext cx="6175375" cy="4533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6594" name="Rectangle 2"/>
          <p:cNvSpPr>
            <a:spLocks noChangeArrowheads="1" noGrp="1"/>
          </p:cNvSpPr>
          <p:nvPr>
            <p:ph type="title"/>
          </p:nvPr>
        </p:nvSpPr>
        <p:spPr>
          <a:xfrm>
            <a:off x="4648200" y="609600"/>
            <a:ext cx="3962400" cy="5181600"/>
          </a:xfrm>
        </p:spPr>
        <p:txBody>
          <a:bodyPr/>
          <a:lstStyle/>
          <a:p>
            <a:r>
              <a:rPr altLang="en-US" lang="en-US"/>
              <a:t>Percutaneous Transluminal Coronary Angioplasty</a:t>
            </a:r>
            <a:br>
              <a:rPr altLang="en-US" lang="en-US"/>
            </a:br>
            <a:br>
              <a:rPr altLang="en-US" lang="en-US"/>
            </a:br>
            <a:br>
              <a:rPr altLang="en-US" lang="en-US"/>
            </a:br>
            <a:r>
              <a:rPr altLang="en-US" lang="en-US"/>
              <a:t> Stent </a:t>
            </a:r>
          </a:p>
        </p:txBody>
      </p:sp>
      <p:pic>
        <p:nvPicPr>
          <p:cNvPr descr="w0156-nc" id="366595" name="Picture 3"/>
          <p:cNvPicPr>
            <a:picLocks noChangeArrowheads="1" noChangeAspect="1"/>
          </p:cNvPicPr>
          <p:nvPr/>
        </p:nvPicPr>
        <p:blipFill>
          <a:blip r:embed="rId2">
            <a:extLst>
              <a:ext uri="{28A0092B-C50C-407E-A947-70E740481C1C}">
                <a14:useLocalDpi xmlns:a14="http://schemas.microsoft.com/office/drawing/2010/main" val="0"/>
              </a:ext>
            </a:extLst>
          </a:blip>
          <a:srcRect t="33885"/>
          <a:stretch>
            <a:fillRect/>
          </a:stretch>
        </p:blipFill>
        <p:spPr bwMode="auto">
          <a:xfrm>
            <a:off x="566738" y="228600"/>
            <a:ext cx="3713162" cy="624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7618" name="Rectangle 2"/>
          <p:cNvSpPr>
            <a:spLocks noChangeArrowheads="1" noGrp="1"/>
          </p:cNvSpPr>
          <p:nvPr>
            <p:ph type="title"/>
          </p:nvPr>
        </p:nvSpPr>
        <p:spPr/>
        <p:txBody>
          <a:bodyPr/>
          <a:lstStyle/>
          <a:p>
            <a:r>
              <a:rPr altLang="en-US" i="1" lang="en-US"/>
              <a:t>Congenital</a:t>
            </a:r>
            <a:r>
              <a:rPr altLang="en-US" lang="en-US"/>
              <a:t> Heart Defects</a:t>
            </a:r>
          </a:p>
        </p:txBody>
      </p:sp>
      <p:sp>
        <p:nvSpPr>
          <p:cNvPr id="367619" name="Rectangle 3"/>
          <p:cNvSpPr>
            <a:spLocks noChangeArrowheads="1" noGrp="1"/>
          </p:cNvSpPr>
          <p:nvPr>
            <p:ph idx="1" type="body"/>
          </p:nvPr>
        </p:nvSpPr>
        <p:spPr>
          <a:xfrm>
            <a:off x="304800" y="1219200"/>
            <a:ext cx="8229600" cy="4495800"/>
          </a:xfrm>
        </p:spPr>
        <p:txBody>
          <a:bodyPr/>
          <a:lstStyle/>
          <a:p>
            <a:r>
              <a:rPr altLang="en-US" lang="en-US"/>
              <a:t>A </a:t>
            </a:r>
            <a:r>
              <a:rPr altLang="en-US" i="1" lang="en-US"/>
              <a:t>congenital defect</a:t>
            </a:r>
            <a:r>
              <a:rPr altLang="en-US" lang="en-US"/>
              <a:t> is a defect that exists at birth, and usually before birth.</a:t>
            </a:r>
          </a:p>
          <a:p>
            <a:r>
              <a:rPr altLang="en-US" lang="en-US"/>
              <a:t>Some congenital defects are not serious or remain asymptomatic; others heal themselves.</a:t>
            </a:r>
          </a:p>
          <a:p>
            <a:r>
              <a:rPr altLang="en-US" lang="en-US"/>
              <a:t>A few congenital defects are life threatening and must be corrected surgically. Fortunately, surgical techniques are highly refined for most of the defects listed.</a:t>
            </a:r>
          </a:p>
        </p:txBody>
      </p:sp>
    </p:spTree>
  </p:cSld>
  <p:clrMapOvr>
    <a:masterClrMapping/>
  </p:clrMapOvr>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8642" name="Rectangle 2"/>
          <p:cNvSpPr>
            <a:spLocks noChangeArrowheads="1" noGrp="1"/>
          </p:cNvSpPr>
          <p:nvPr>
            <p:ph type="title"/>
          </p:nvPr>
        </p:nvSpPr>
        <p:spPr/>
        <p:txBody>
          <a:bodyPr/>
          <a:lstStyle/>
          <a:p>
            <a:r>
              <a:rPr altLang="en-US" lang="en-US"/>
              <a:t>Arrythmia</a:t>
            </a:r>
          </a:p>
        </p:txBody>
      </p:sp>
      <p:sp>
        <p:nvSpPr>
          <p:cNvPr id="368643" name="Rectangle 3"/>
          <p:cNvSpPr>
            <a:spLocks noChangeArrowheads="1" noGrp="1"/>
          </p:cNvSpPr>
          <p:nvPr>
            <p:ph idx="1" type="body"/>
          </p:nvPr>
        </p:nvSpPr>
        <p:spPr/>
        <p:txBody>
          <a:bodyPr/>
          <a:lstStyle/>
          <a:p>
            <a:r>
              <a:rPr altLang="en-US" b="1" lang="en-US"/>
              <a:t>Arrhythmia</a:t>
            </a:r>
            <a:r>
              <a:rPr altLang="en-US" lang="en-US"/>
              <a:t> (disrhythmia) is an irregularity in heart rhythm resulting from a defect in the conduction system of the heart.</a:t>
            </a:r>
          </a:p>
          <a:p>
            <a:r>
              <a:rPr altLang="en-US" lang="en-US"/>
              <a:t>Categories are:</a:t>
            </a:r>
          </a:p>
          <a:p>
            <a:pPr lvl="1"/>
            <a:r>
              <a:rPr altLang="en-US" b="1" lang="en-US"/>
              <a:t>bradycardia</a:t>
            </a:r>
            <a:r>
              <a:rPr altLang="en-US" lang="en-US"/>
              <a:t>: slow heart beat (&lt;60/min)</a:t>
            </a:r>
          </a:p>
          <a:p>
            <a:pPr lvl="1"/>
            <a:r>
              <a:rPr altLang="en-US" b="1" lang="en-US"/>
              <a:t>tachycardia</a:t>
            </a:r>
            <a:r>
              <a:rPr altLang="en-US" lang="en-US"/>
              <a:t>: fast heart beat (&gt;100/min)</a:t>
            </a:r>
          </a:p>
          <a:p>
            <a:pPr lvl="1"/>
            <a:r>
              <a:rPr altLang="en-US" b="1" lang="en-US"/>
              <a:t>fibrillation</a:t>
            </a:r>
            <a:r>
              <a:rPr altLang="en-US" lang="en-US"/>
              <a:t>: uncontrolled contractions</a:t>
            </a:r>
          </a:p>
        </p:txBody>
      </p:sp>
    </p:spTree>
  </p:cSld>
  <p:clrMapOvr>
    <a:masterClrMapping/>
  </p:clrMapOvr>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9666" name="Rectangle 2"/>
          <p:cNvSpPr>
            <a:spLocks noChangeArrowheads="1" noGrp="1"/>
          </p:cNvSpPr>
          <p:nvPr>
            <p:ph type="title"/>
          </p:nvPr>
        </p:nvSpPr>
        <p:spPr>
          <a:xfrm>
            <a:off x="0" y="203200"/>
            <a:ext cx="9144000" cy="1143000"/>
          </a:xfrm>
        </p:spPr>
        <p:txBody>
          <a:bodyPr/>
          <a:lstStyle/>
          <a:p>
            <a:r>
              <a:rPr altLang="en-US" lang="en-US">
                <a:latin typeface="Times New"/>
              </a:rPr>
              <a:t>Congestive Heart Failure </a:t>
            </a:r>
            <a:endParaRPr altLang="en-US" b="0" lang="en-US">
              <a:latin typeface="Times New"/>
            </a:endParaRPr>
          </a:p>
        </p:txBody>
      </p:sp>
      <p:sp>
        <p:nvSpPr>
          <p:cNvPr id="369667" name="Rectangle 3"/>
          <p:cNvSpPr>
            <a:spLocks noChangeArrowheads="1" noGrp="1"/>
          </p:cNvSpPr>
          <p:nvPr>
            <p:ph idx="1" type="body"/>
          </p:nvPr>
        </p:nvSpPr>
        <p:spPr>
          <a:xfrm>
            <a:off x="228600" y="990600"/>
            <a:ext cx="8915400" cy="5867400"/>
          </a:xfrm>
        </p:spPr>
        <p:txBody>
          <a:bodyPr/>
          <a:lstStyle/>
          <a:p>
            <a:r>
              <a:rPr altLang="en-US" lang="en-US" sz="3100"/>
              <a:t>Congestive</a:t>
            </a:r>
            <a:r>
              <a:rPr altLang="en-US" i="1" lang="en-US" sz="3100"/>
              <a:t> heart failure</a:t>
            </a:r>
            <a:r>
              <a:rPr altLang="en-US" lang="en-US" sz="3100"/>
              <a:t> is a chronic or acute state that results when the heart is not capable of supplying the oxygen demands of the body.</a:t>
            </a:r>
          </a:p>
          <a:p>
            <a:r>
              <a:rPr altLang="en-US" lang="en-US" sz="3100">
                <a:latin typeface="Times New"/>
              </a:rPr>
              <a:t>Causes of CHF</a:t>
            </a:r>
          </a:p>
          <a:p>
            <a:pPr lvl="1"/>
            <a:r>
              <a:rPr altLang="en-US" lang="en-US">
                <a:latin typeface="Times New"/>
              </a:rPr>
              <a:t>coronary artery disease, hypertension, MI, valve disorders, congenital defects</a:t>
            </a:r>
          </a:p>
        </p:txBody>
      </p:sp>
    </p:spTree>
  </p:cSld>
  <p:clrMapOvr>
    <a:masterClrMapping/>
  </p:clrMapOvr>
  <p:transition/>
</p:sld>
</file>

<file path=ppt/theme/theme1.xml><?xml version="1.0" encoding="utf-8"?>
<a:theme xmlns:a="http://schemas.openxmlformats.org/drawingml/2006/main" name="HAP7">
  <a:themeElements>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HAP7">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AP7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AP7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AP7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AP7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AP7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AP7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AP7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AP7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AP7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AP7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AP7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HD:Users:kym:Left Coast Work:HAP7:HAP7.pot</Template>
  <TotalTime>1206</TotalTime>
  <Words>2854</Words>
  <Application>Microsoft Office PowerPoint</Application>
  <PresentationFormat>On-screen Show (4:3)</PresentationFormat>
  <Paragraphs>361</Paragraphs>
  <Slides>86</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86</vt:i4>
      </vt:variant>
    </vt:vector>
  </HeadingPairs>
  <TitlesOfParts>
    <vt:vector size="95" baseType="lpstr">
      <vt:lpstr>Arial</vt:lpstr>
      <vt:lpstr>Arial Black</vt:lpstr>
      <vt:lpstr>Calibri</vt:lpstr>
      <vt:lpstr>Symbol</vt:lpstr>
      <vt:lpstr>Times</vt:lpstr>
      <vt:lpstr>Times New</vt:lpstr>
      <vt:lpstr>Times New Roman</vt:lpstr>
      <vt:lpstr>Wingdings</vt:lpstr>
      <vt:lpstr>HAP7</vt:lpstr>
      <vt:lpstr>Cardiovascular system</vt:lpstr>
      <vt:lpstr>Random cardiovascular facts</vt:lpstr>
      <vt:lpstr>BIG PICTURE: Heart Anatomy</vt:lpstr>
      <vt:lpstr>The Pulmonary and Systemic Circuits (cont.)</vt:lpstr>
      <vt:lpstr>The systemic and pulmonary circuits.</vt:lpstr>
      <vt:lpstr>Heart Anatomy</vt:lpstr>
      <vt:lpstr>Pericardial Layers of the Heart</vt:lpstr>
      <vt:lpstr>Clinical – Homeostatic Imbalance 18.1</vt:lpstr>
      <vt:lpstr>Heart Wall</vt:lpstr>
      <vt:lpstr>Cardiac Muscle Bundles</vt:lpstr>
      <vt:lpstr>Gross Anatomy of the Heart pt 1</vt:lpstr>
      <vt:lpstr>Gross Anatomy of the Heart pt 2</vt:lpstr>
      <vt:lpstr>Gross Anatomy of the Heart pt 3</vt:lpstr>
      <vt:lpstr>Atria of the Heart</vt:lpstr>
      <vt:lpstr>Ventricles of the Heart</vt:lpstr>
      <vt:lpstr>Right and Left Ventricles</vt:lpstr>
      <vt:lpstr>Pathway of Blood Through the Heart and Lungs (graphic)</vt:lpstr>
      <vt:lpstr>Pathway of Blood Through the Heart and Lungs</vt:lpstr>
      <vt:lpstr>Coronary Circulation</vt:lpstr>
      <vt:lpstr>Coronary Circulation: Arterial Supply</vt:lpstr>
      <vt:lpstr>Coronary Circulation: Venous Supply</vt:lpstr>
      <vt:lpstr>Heart Valves</vt:lpstr>
      <vt:lpstr>Heart Valves pt 2</vt:lpstr>
      <vt:lpstr>Heart Valves (image 1)</vt:lpstr>
      <vt:lpstr>Heart Valves (image 2)</vt:lpstr>
      <vt:lpstr>Atrioventricular Valve Function</vt:lpstr>
      <vt:lpstr>Semilunar Valve Function</vt:lpstr>
      <vt:lpstr>Clinical – Homeostatic Imbalance 18.2</vt:lpstr>
      <vt:lpstr>18.3  Pathway of Blood Through Heart</vt:lpstr>
      <vt:lpstr>Clinical – Homeostatic Imbalance 18.3</vt:lpstr>
      <vt:lpstr>BIG TOPIC: MicroscopicHeart Muscle</vt:lpstr>
      <vt:lpstr>Microscopic Anatomy of Cardiac Muscle</vt:lpstr>
      <vt:lpstr>18.4  Cardiac Muscle Fibers</vt:lpstr>
      <vt:lpstr>Cardiac Muscle Contraction</vt:lpstr>
      <vt:lpstr>Heart Physiology: Intrinsic Conduction System</vt:lpstr>
      <vt:lpstr>Pacemaker and Action Potentials of the Heart</vt:lpstr>
      <vt:lpstr>Setting the Basic Rhythm: The Intrinsic Conduction System</vt:lpstr>
      <vt:lpstr>Setting the Basic Rhythm: The Intrinsic Conduction System (cont.)</vt:lpstr>
      <vt:lpstr>Setting the Basic Rhythm: The Intrinsic Conduction System (cont. 2)</vt:lpstr>
      <vt:lpstr>Rhythm of Conduction System</vt:lpstr>
      <vt:lpstr>Heart Physiology: Sequence of Excitation</vt:lpstr>
      <vt:lpstr>Cardiac Intrinsic Conduction</vt:lpstr>
      <vt:lpstr>Figure: Intrinsic cardiac conduction system and action potential succession during one heartbeat.</vt:lpstr>
      <vt:lpstr>Clinical – Homeostatic Imbalance 18.4</vt:lpstr>
      <vt:lpstr>Contractile Cardiac Cell Membrane Potential</vt:lpstr>
      <vt:lpstr>Contractile cell action potential</vt:lpstr>
      <vt:lpstr>Contractile cells: Action potentials</vt:lpstr>
      <vt:lpstr>Action Potentials of Contractile Cardiac Muscle Cells</vt:lpstr>
      <vt:lpstr>Action Potentials of Contractile Cardiac Muscle Cells pt 2</vt:lpstr>
      <vt:lpstr>Action Potentials of Contractile Cardiac Muscle Cells pt 3</vt:lpstr>
      <vt:lpstr>Electrocardiography</vt:lpstr>
      <vt:lpstr>ECG Tracings</vt:lpstr>
      <vt:lpstr>BIG TOPIC: Electrocardiography</vt:lpstr>
      <vt:lpstr>Heart Excitation Related to ECG</vt:lpstr>
      <vt:lpstr>Heart Excitation Related to ECG pt 2</vt:lpstr>
      <vt:lpstr>Heart Excitation Related to ECG pt 3</vt:lpstr>
      <vt:lpstr>Heart Excitation Related to ECG pt 4</vt:lpstr>
      <vt:lpstr>Heart Excitation Related to ECG pt 5</vt:lpstr>
      <vt:lpstr>Heart Excitation Related to ECG </vt:lpstr>
      <vt:lpstr>Clinical – Homeostatic Imbalance 18.5</vt:lpstr>
      <vt:lpstr>BIG TOPIC: Regulation of Heart Activity</vt:lpstr>
      <vt:lpstr>Extrinsic Innervation of the Heart</vt:lpstr>
      <vt:lpstr>Chemical Regulation of the Heart</vt:lpstr>
      <vt:lpstr>Other ways of assessing heart health: Auscultation - Heart Sounds</vt:lpstr>
      <vt:lpstr>Heart Sounds (Auscultation)</vt:lpstr>
      <vt:lpstr>Cardiac Cycle</vt:lpstr>
      <vt:lpstr>18.6  Mechanical Events of Heart</vt:lpstr>
      <vt:lpstr>18.6  Mechanical Events of Heart pt 2</vt:lpstr>
      <vt:lpstr>18.6  Mechanical Events of Heart pt 3</vt:lpstr>
      <vt:lpstr>BIG TOPIC: Assessing heart efficiency: Cardiac Output (CO) and Reserve</vt:lpstr>
      <vt:lpstr>Cardiac Output: Example</vt:lpstr>
      <vt:lpstr>Factors Affecting Stroke Volume</vt:lpstr>
      <vt:lpstr>Frank-Starling Law of the Heart</vt:lpstr>
      <vt:lpstr>Preload and Afterload</vt:lpstr>
      <vt:lpstr>Extrinsic Factors Influencing Stroke Volume</vt:lpstr>
      <vt:lpstr>Extrinsic Factors Influencing Stroke Volume: other chemicals</vt:lpstr>
      <vt:lpstr>Clinical – Homeostatic Imbalance 18.7</vt:lpstr>
      <vt:lpstr>Factors affecting cardiac output</vt:lpstr>
      <vt:lpstr>Developmental Aspects of the Heart</vt:lpstr>
      <vt:lpstr>DISORDERS: HOMEOSTATIC IMBALANCES</vt:lpstr>
      <vt:lpstr>Coronary Artery Disease </vt:lpstr>
      <vt:lpstr>By-pass Graft</vt:lpstr>
      <vt:lpstr>Percutaneous Transluminal Coronary Angioplasty    Stent </vt:lpstr>
      <vt:lpstr>Congenital Heart Defects</vt:lpstr>
      <vt:lpstr>Arrythmia</vt:lpstr>
      <vt:lpstr>Congestive Heart Failure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2002-11-19T06:42:31Z</dcterms:created>
  <dc:creator>Karl Miyajima;Alex Cheroske</dc:creator>
  <cp:lastModifiedBy>Dr. Alexander Cheroske</cp:lastModifiedBy>
  <dcterms:modified xsi:type="dcterms:W3CDTF">2025-10-11T00:57:02Z</dcterms:modified>
  <cp:revision>150</cp:revision>
  <dc:title>29</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ReadingOrderVerifiedPages">
    <vt:lpwstr>5,6,7,12,17,43,52,54,55,56,57,62,74,78,81,83</vt:lpwstr>
  </property>
</Properties>
</file>