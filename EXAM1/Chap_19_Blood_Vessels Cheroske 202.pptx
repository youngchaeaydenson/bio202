
<file path=[Content_Types].xml><?xml version="1.0" encoding="utf-8"?>
<Types xmlns="http://schemas.openxmlformats.org/package/2006/content-types">
  <Default ContentType="image/x-emf" Extension="emf"/>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80"/>
  </p:notesMasterIdLst>
  <p:sldIdLst>
    <p:sldId id="405" r:id="rId2"/>
    <p:sldId id="260" r:id="rId3"/>
    <p:sldId id="406" r:id="rId4"/>
    <p:sldId id="262" r:id="rId5"/>
    <p:sldId id="263" r:id="rId6"/>
    <p:sldId id="407" r:id="rId7"/>
    <p:sldId id="329" r:id="rId8"/>
    <p:sldId id="265" r:id="rId9"/>
    <p:sldId id="266" r:id="rId10"/>
    <p:sldId id="408" r:id="rId11"/>
    <p:sldId id="267" r:id="rId12"/>
    <p:sldId id="395" r:id="rId13"/>
    <p:sldId id="275" r:id="rId14"/>
    <p:sldId id="396" r:id="rId15"/>
    <p:sldId id="397" r:id="rId16"/>
    <p:sldId id="398" r:id="rId17"/>
    <p:sldId id="409" r:id="rId18"/>
    <p:sldId id="281" r:id="rId19"/>
    <p:sldId id="410" r:id="rId20"/>
    <p:sldId id="399" r:id="rId21"/>
    <p:sldId id="282" r:id="rId22"/>
    <p:sldId id="411" r:id="rId23"/>
    <p:sldId id="284" r:id="rId24"/>
    <p:sldId id="285" r:id="rId25"/>
    <p:sldId id="286" r:id="rId26"/>
    <p:sldId id="287" r:id="rId27"/>
    <p:sldId id="288" r:id="rId28"/>
    <p:sldId id="289" r:id="rId29"/>
    <p:sldId id="334" r:id="rId30"/>
    <p:sldId id="291" r:id="rId31"/>
    <p:sldId id="293" r:id="rId32"/>
    <p:sldId id="412" r:id="rId33"/>
    <p:sldId id="413" r:id="rId34"/>
    <p:sldId id="296" r:id="rId35"/>
    <p:sldId id="299" r:id="rId36"/>
    <p:sldId id="302" r:id="rId37"/>
    <p:sldId id="415" r:id="rId38"/>
    <p:sldId id="304" r:id="rId39"/>
    <p:sldId id="305" r:id="rId40"/>
    <p:sldId id="347" r:id="rId41"/>
    <p:sldId id="309" r:id="rId42"/>
    <p:sldId id="310" r:id="rId43"/>
    <p:sldId id="311" r:id="rId44"/>
    <p:sldId id="312" r:id="rId45"/>
    <p:sldId id="416" r:id="rId46"/>
    <p:sldId id="417" r:id="rId47"/>
    <p:sldId id="317" r:id="rId48"/>
    <p:sldId id="400" r:id="rId49"/>
    <p:sldId id="320" r:id="rId50"/>
    <p:sldId id="321" r:id="rId51"/>
    <p:sldId id="322" r:id="rId52"/>
    <p:sldId id="323" r:id="rId53"/>
    <p:sldId id="324" r:id="rId54"/>
    <p:sldId id="325" r:id="rId55"/>
    <p:sldId id="326" r:id="rId56"/>
    <p:sldId id="420" r:id="rId57"/>
    <p:sldId id="333" r:id="rId58"/>
    <p:sldId id="419" r:id="rId59"/>
    <p:sldId id="422" r:id="rId60"/>
    <p:sldId id="421" r:id="rId61"/>
    <p:sldId id="363" r:id="rId62"/>
    <p:sldId id="414" r:id="rId63"/>
    <p:sldId id="365" r:id="rId64"/>
    <p:sldId id="366" r:id="rId65"/>
    <p:sldId id="367" r:id="rId66"/>
    <p:sldId id="369" r:id="rId67"/>
    <p:sldId id="370" r:id="rId68"/>
    <p:sldId id="371" r:id="rId69"/>
    <p:sldId id="373" r:id="rId70"/>
    <p:sldId id="377" r:id="rId71"/>
    <p:sldId id="378" r:id="rId72"/>
    <p:sldId id="615" r:id="rId73"/>
    <p:sldId id="379" r:id="rId74"/>
    <p:sldId id="630" r:id="rId75"/>
    <p:sldId id="388" r:id="rId76"/>
    <p:sldId id="403" r:id="rId77"/>
    <p:sldId id="401" r:id="rId78"/>
    <p:sldId id="404" r:id="rId79"/>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4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4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4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4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CC"/>
    <a:srgbClr val="FFCC00"/>
    <a:srgbClr val="99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7" autoAdjust="0"/>
  </p:normalViewPr>
  <p:slideViewPr>
    <p:cSldViewPr snapToGrid="0">
      <p:cViewPr varScale="1">
        <p:scale>
          <a:sx n="104" d="100"/>
          <a:sy n="104" d="100"/>
        </p:scale>
        <p:origin x="912" y="11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slides/slide52.xml" Type="http://schemas.openxmlformats.org/officeDocument/2006/relationships/slide"/><Relationship Id="rId54" Target="slides/slide53.xml" Type="http://schemas.openxmlformats.org/officeDocument/2006/relationships/slide"/><Relationship Id="rId55" Target="slides/slide54.xml" Type="http://schemas.openxmlformats.org/officeDocument/2006/relationships/slide"/><Relationship Id="rId56" Target="slides/slide55.xml" Type="http://schemas.openxmlformats.org/officeDocument/2006/relationships/slide"/><Relationship Id="rId57" Target="slides/slide56.xml" Type="http://schemas.openxmlformats.org/officeDocument/2006/relationships/slide"/><Relationship Id="rId58" Target="slides/slide57.xml" Type="http://schemas.openxmlformats.org/officeDocument/2006/relationships/slide"/><Relationship Id="rId59" Target="slides/slide58.xml" Type="http://schemas.openxmlformats.org/officeDocument/2006/relationships/slide"/><Relationship Id="rId6" Target="slides/slide5.xml" Type="http://schemas.openxmlformats.org/officeDocument/2006/relationships/slide"/><Relationship Id="rId60" Target="slides/slide59.xml" Type="http://schemas.openxmlformats.org/officeDocument/2006/relationships/slide"/><Relationship Id="rId61" Target="slides/slide60.xml" Type="http://schemas.openxmlformats.org/officeDocument/2006/relationships/slide"/><Relationship Id="rId62" Target="slides/slide61.xml" Type="http://schemas.openxmlformats.org/officeDocument/2006/relationships/slide"/><Relationship Id="rId63" Target="slides/slide62.xml" Type="http://schemas.openxmlformats.org/officeDocument/2006/relationships/slide"/><Relationship Id="rId64" Target="slides/slide63.xml" Type="http://schemas.openxmlformats.org/officeDocument/2006/relationships/slide"/><Relationship Id="rId65" Target="slides/slide64.xml" Type="http://schemas.openxmlformats.org/officeDocument/2006/relationships/slide"/><Relationship Id="rId66" Target="slides/slide65.xml" Type="http://schemas.openxmlformats.org/officeDocument/2006/relationships/slide"/><Relationship Id="rId67" Target="slides/slide66.xml" Type="http://schemas.openxmlformats.org/officeDocument/2006/relationships/slide"/><Relationship Id="rId68" Target="slides/slide67.xml" Type="http://schemas.openxmlformats.org/officeDocument/2006/relationships/slide"/><Relationship Id="rId69" Target="slides/slide68.xml" Type="http://schemas.openxmlformats.org/officeDocument/2006/relationships/slide"/><Relationship Id="rId7" Target="slides/slide6.xml" Type="http://schemas.openxmlformats.org/officeDocument/2006/relationships/slide"/><Relationship Id="rId70" Target="slides/slide69.xml" Type="http://schemas.openxmlformats.org/officeDocument/2006/relationships/slide"/><Relationship Id="rId71" Target="slides/slide70.xml" Type="http://schemas.openxmlformats.org/officeDocument/2006/relationships/slide"/><Relationship Id="rId72" Target="slides/slide71.xml" Type="http://schemas.openxmlformats.org/officeDocument/2006/relationships/slide"/><Relationship Id="rId73" Target="slides/slide72.xml" Type="http://schemas.openxmlformats.org/officeDocument/2006/relationships/slide"/><Relationship Id="rId74" Target="slides/slide73.xml" Type="http://schemas.openxmlformats.org/officeDocument/2006/relationships/slide"/><Relationship Id="rId75" Target="slides/slide74.xml" Type="http://schemas.openxmlformats.org/officeDocument/2006/relationships/slide"/><Relationship Id="rId76" Target="slides/slide75.xml" Type="http://schemas.openxmlformats.org/officeDocument/2006/relationships/slide"/><Relationship Id="rId77" Target="slides/slide76.xml" Type="http://schemas.openxmlformats.org/officeDocument/2006/relationships/slide"/><Relationship Id="rId78" Target="slides/slide77.xml" Type="http://schemas.openxmlformats.org/officeDocument/2006/relationships/slide"/><Relationship Id="rId79" Target="slides/slide78.xml" Type="http://schemas.openxmlformats.org/officeDocument/2006/relationships/slide"/><Relationship Id="rId8" Target="slides/slide7.xml" Type="http://schemas.openxmlformats.org/officeDocument/2006/relationships/slide"/><Relationship Id="rId80" Target="notesMasters/notesMaster1.xml" Type="http://schemas.openxmlformats.org/officeDocument/2006/relationships/notesMaster"/><Relationship Id="rId81" Target="presProps.xml" Type="http://schemas.openxmlformats.org/officeDocument/2006/relationships/presProps"/><Relationship Id="rId82" Target="viewProps.xml" Type="http://schemas.openxmlformats.org/officeDocument/2006/relationships/viewProps"/><Relationship Id="rId83" Target="theme/theme1.xml" Type="http://schemas.openxmlformats.org/officeDocument/2006/relationships/theme"/><Relationship Id="rId84" Target="tableStyles.xml" Type="http://schemas.openxmlformats.org/officeDocument/2006/relationships/tableStyles"/><Relationship Id="rId9" Target="slides/slide8.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D39BF2-C79A-4FE2-A9F5-622F90424F21}" type="datetimeFigureOut">
              <a:rPr lang="en-US" smtClean="0"/>
              <a:t>1/12/2026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BAF8A-892C-4C60-B4A7-27315347BA04}" type="slidenum">
              <a:rPr lang="en-US" smtClean="0"/>
              <a:t>‹#›</a:t>
            </a:fld>
            <a:endParaRPr lang="en-US"/>
          </a:p>
        </p:txBody>
      </p:sp>
    </p:spTree>
    <p:extLst>
      <p:ext uri="{BB962C8B-B14F-4D97-AF65-F5344CB8AC3E}">
        <p14:creationId xmlns:p14="http://schemas.microsoft.com/office/powerpoint/2010/main" val="3774203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2.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4.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solidFill>
                  <a:prstClr val="black"/>
                </a:solidFill>
                <a:latin typeface="Calibri"/>
              </a:rPr>
              <a:pPr/>
              <a:t>3</a:t>
            </a:fld>
            <a:endParaRPr lang="en-US">
              <a:solidFill>
                <a:prstClr val="black"/>
              </a:solidFill>
              <a:latin typeface="Calibri"/>
            </a:endParaRPr>
          </a:p>
        </p:txBody>
      </p:sp>
    </p:spTree>
    <p:extLst>
      <p:ext uri="{BB962C8B-B14F-4D97-AF65-F5344CB8AC3E}">
        <p14:creationId xmlns:p14="http://schemas.microsoft.com/office/powerpoint/2010/main" val="1610035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solidFill>
                  <a:prstClr val="black"/>
                </a:solidFill>
                <a:latin typeface="Calibri"/>
              </a:rPr>
              <a:pPr/>
              <a:t>10</a:t>
            </a:fld>
            <a:endParaRPr lang="en-US">
              <a:solidFill>
                <a:prstClr val="black"/>
              </a:solidFill>
              <a:latin typeface="Calibri"/>
            </a:endParaRPr>
          </a:p>
        </p:txBody>
      </p:sp>
    </p:spTree>
    <p:extLst>
      <p:ext uri="{BB962C8B-B14F-4D97-AF65-F5344CB8AC3E}">
        <p14:creationId xmlns:p14="http://schemas.microsoft.com/office/powerpoint/2010/main" val="2443700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solidFill>
                  <a:prstClr val="black"/>
                </a:solidFill>
                <a:latin typeface="Calibri"/>
              </a:rPr>
              <a:pPr/>
              <a:t>17</a:t>
            </a:fld>
            <a:endParaRPr lang="en-US">
              <a:solidFill>
                <a:prstClr val="black"/>
              </a:solidFill>
              <a:latin typeface="Calibri"/>
            </a:endParaRPr>
          </a:p>
        </p:txBody>
      </p:sp>
    </p:spTree>
    <p:extLst>
      <p:ext uri="{BB962C8B-B14F-4D97-AF65-F5344CB8AC3E}">
        <p14:creationId xmlns:p14="http://schemas.microsoft.com/office/powerpoint/2010/main" val="1709781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3090636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Rot="1" noChangeAspect="1" noChangeArrowheads="1" noTextEdit="1"/>
          </p:cNvSpPr>
          <p:nvPr>
            <p:ph type="sldImg"/>
          </p:nvPr>
        </p:nvSpPr>
        <p:spPr>
          <a:ln/>
        </p:spPr>
      </p:sp>
      <p:sp>
        <p:nvSpPr>
          <p:cNvPr id="9421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349500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solidFill>
                  <a:prstClr val="black"/>
                </a:solidFill>
                <a:latin typeface="Calibri"/>
              </a:rPr>
              <a:pPr/>
              <a:t>33</a:t>
            </a:fld>
            <a:endParaRPr lang="en-US">
              <a:solidFill>
                <a:prstClr val="black"/>
              </a:solidFill>
              <a:latin typeface="Calibri"/>
            </a:endParaRPr>
          </a:p>
        </p:txBody>
      </p:sp>
    </p:spTree>
    <p:extLst>
      <p:ext uri="{BB962C8B-B14F-4D97-AF65-F5344CB8AC3E}">
        <p14:creationId xmlns:p14="http://schemas.microsoft.com/office/powerpoint/2010/main" val="2784671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atin typeface="Calibri" charset="0"/>
              <a:ea typeface="ＭＳ Ｐゴシック" charset="0"/>
              <a:cs typeface="ＭＳ Ｐゴシック" charset="0"/>
            </a:endParaRPr>
          </a:p>
        </p:txBody>
      </p:sp>
      <p:sp>
        <p:nvSpPr>
          <p:cNvPr id="111619"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D9C2FA20-A7E8-1D45-AA75-F164B760F964}" type="slidenum">
              <a:rPr lang="en-US" sz="1200"/>
              <a:pPr/>
              <a:t>37</a:t>
            </a:fld>
            <a:endParaRPr lang="en-US" sz="1200"/>
          </a:p>
        </p:txBody>
      </p:sp>
    </p:spTree>
    <p:extLst>
      <p:ext uri="{BB962C8B-B14F-4D97-AF65-F5344CB8AC3E}">
        <p14:creationId xmlns:p14="http://schemas.microsoft.com/office/powerpoint/2010/main" val="1576622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a:ln/>
        </p:spPr>
      </p:sp>
      <p:sp>
        <p:nvSpPr>
          <p:cNvPr id="14848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atin typeface="Calibri" charset="0"/>
              <a:ea typeface="ＭＳ Ｐゴシック" charset="0"/>
              <a:cs typeface="ＭＳ Ｐゴシック" charset="0"/>
            </a:endParaRPr>
          </a:p>
        </p:txBody>
      </p:sp>
      <p:sp>
        <p:nvSpPr>
          <p:cNvPr id="148483"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A1C1C2CE-CCF8-254A-B9CC-D0F1AE992383}" type="slidenum">
              <a:rPr lang="en-US" sz="1200"/>
              <a:pPr/>
              <a:t>45</a:t>
            </a:fld>
            <a:endParaRPr lang="en-US" sz="1200"/>
          </a:p>
        </p:txBody>
      </p:sp>
    </p:spTree>
    <p:extLst>
      <p:ext uri="{BB962C8B-B14F-4D97-AF65-F5344CB8AC3E}">
        <p14:creationId xmlns:p14="http://schemas.microsoft.com/office/powerpoint/2010/main" val="2439356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Slide Image Placeholder 1"/>
          <p:cNvSpPr>
            <a:spLocks noGrp="1" noRot="1" noChangeAspect="1" noTextEdit="1"/>
          </p:cNvSpPr>
          <p:nvPr>
            <p:ph type="sldImg"/>
          </p:nvPr>
        </p:nvSpPr>
        <p:spPr>
          <a:ln/>
        </p:spPr>
      </p:sp>
      <p:sp>
        <p:nvSpPr>
          <p:cNvPr id="151554"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atin typeface="Calibri" charset="0"/>
              <a:ea typeface="ＭＳ Ｐゴシック" charset="0"/>
              <a:cs typeface="ＭＳ Ｐゴシック" charset="0"/>
            </a:endParaRPr>
          </a:p>
        </p:txBody>
      </p:sp>
      <p:sp>
        <p:nvSpPr>
          <p:cNvPr id="151555"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CC189C3E-FAB8-844E-AEA2-EC31C8C24798}" type="slidenum">
              <a:rPr lang="en-US" sz="1200"/>
              <a:pPr/>
              <a:t>46</a:t>
            </a:fld>
            <a:endParaRPr lang="en-US" sz="1200"/>
          </a:p>
        </p:txBody>
      </p:sp>
    </p:spTree>
    <p:extLst>
      <p:ext uri="{BB962C8B-B14F-4D97-AF65-F5344CB8AC3E}">
        <p14:creationId xmlns:p14="http://schemas.microsoft.com/office/powerpoint/2010/main" val="2728223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t>58</a:t>
            </a:fld>
            <a:endParaRPr lang="en-US"/>
          </a:p>
        </p:txBody>
      </p:sp>
    </p:spTree>
    <p:extLst>
      <p:ext uri="{BB962C8B-B14F-4D97-AF65-F5344CB8AC3E}">
        <p14:creationId xmlns:p14="http://schemas.microsoft.com/office/powerpoint/2010/main" val="1546210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60</a:t>
            </a:fld>
            <a:endParaRPr lang="en-US" dirty="0"/>
          </a:p>
        </p:txBody>
      </p:sp>
    </p:spTree>
    <p:extLst>
      <p:ext uri="{BB962C8B-B14F-4D97-AF65-F5344CB8AC3E}">
        <p14:creationId xmlns:p14="http://schemas.microsoft.com/office/powerpoint/2010/main" val="2841106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p:cNvSpPr>
            <a:spLocks noGrp="1" noRot="1" noChangeAspect="1" noTextEdit="1"/>
          </p:cNvSpPr>
          <p:nvPr>
            <p:ph type="sldImg"/>
          </p:nvPr>
        </p:nvSpPr>
        <p:spPr>
          <a:ln/>
        </p:spPr>
      </p:sp>
      <p:sp>
        <p:nvSpPr>
          <p:cNvPr id="10137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atin typeface="Calibri" charset="0"/>
              <a:ea typeface="ＭＳ Ｐゴシック" charset="0"/>
              <a:cs typeface="ＭＳ Ｐゴシック" charset="0"/>
            </a:endParaRPr>
          </a:p>
        </p:txBody>
      </p:sp>
      <p:sp>
        <p:nvSpPr>
          <p:cNvPr id="101379"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E699A4DC-3D46-4346-B5B4-7D6805357F07}" type="slidenum">
              <a:rPr lang="en-US" sz="1200"/>
              <a:pPr/>
              <a:t>62</a:t>
            </a:fld>
            <a:endParaRPr lang="en-US" sz="1200"/>
          </a:p>
        </p:txBody>
      </p:sp>
    </p:spTree>
    <p:extLst>
      <p:ext uri="{BB962C8B-B14F-4D97-AF65-F5344CB8AC3E}">
        <p14:creationId xmlns:p14="http://schemas.microsoft.com/office/powerpoint/2010/main" val="411177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72</a:t>
            </a:fld>
            <a:endParaRPr lang="en-US" dirty="0"/>
          </a:p>
        </p:txBody>
      </p:sp>
    </p:spTree>
    <p:extLst>
      <p:ext uri="{BB962C8B-B14F-4D97-AF65-F5344CB8AC3E}">
        <p14:creationId xmlns:p14="http://schemas.microsoft.com/office/powerpoint/2010/main" val="2841106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74</a:t>
            </a:fld>
            <a:endParaRPr lang="en-US" dirty="0"/>
          </a:p>
        </p:txBody>
      </p:sp>
    </p:spTree>
    <p:extLst>
      <p:ext uri="{BB962C8B-B14F-4D97-AF65-F5344CB8AC3E}">
        <p14:creationId xmlns:p14="http://schemas.microsoft.com/office/powerpoint/2010/main" val="2841106601"/>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emf" Type="http://schemas.openxmlformats.org/officeDocument/2006/relationships/image"/><Relationship Id="rId3" Target="../media/image3.jpg" Type="http://schemas.openxmlformats.org/officeDocument/2006/relationships/image"/></Relationships>
</file>

<file path=ppt/slideLayouts/_rels/slideLayout1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20866" name="Picture 2" descr="35910Marieb7e_lo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26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420867" name="AutoShape 3"/>
          <p:cNvSpPr>
            <a:spLocks noChangeArrowheads="1"/>
          </p:cNvSpPr>
          <p:nvPr/>
        </p:nvSpPr>
        <p:spPr bwMode="auto">
          <a:xfrm>
            <a:off x="5334000" y="0"/>
            <a:ext cx="3043238" cy="6858000"/>
          </a:xfrm>
          <a:prstGeom prst="flowChartDelay">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868" name="Text Box 4"/>
          <p:cNvSpPr txBox="1">
            <a:spLocks noChangeArrowheads="1"/>
          </p:cNvSpPr>
          <p:nvPr/>
        </p:nvSpPr>
        <p:spPr bwMode="auto">
          <a:xfrm>
            <a:off x="514350" y="6483350"/>
            <a:ext cx="4551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b="0">
                <a:solidFill>
                  <a:srgbClr val="D9E30D"/>
                </a:solidFill>
                <a:latin typeface="Arial" panose="020B0604020202020204" pitchFamily="34" charset="0"/>
              </a:rPr>
              <a:t>Copyright © 2006 Pearson Education, Inc., publishing as Benjamin Cummings</a:t>
            </a:r>
          </a:p>
        </p:txBody>
      </p:sp>
      <p:sp>
        <p:nvSpPr>
          <p:cNvPr id="420869" name="Text Box 5"/>
          <p:cNvSpPr txBox="1">
            <a:spLocks noChangeArrowheads="1"/>
          </p:cNvSpPr>
          <p:nvPr/>
        </p:nvSpPr>
        <p:spPr bwMode="auto">
          <a:xfrm>
            <a:off x="2511425" y="4135438"/>
            <a:ext cx="2532063" cy="172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en-US" altLang="en-US" sz="3200" b="0">
                <a:solidFill>
                  <a:schemeClr val="accent2"/>
                </a:solidFill>
                <a:latin typeface="Arial" panose="020B0604020202020204" pitchFamily="34" charset="0"/>
              </a:rPr>
              <a:t>Human </a:t>
            </a:r>
          </a:p>
          <a:p>
            <a:pPr>
              <a:lnSpc>
                <a:spcPct val="90000"/>
              </a:lnSpc>
            </a:pPr>
            <a:r>
              <a:rPr lang="en-US" altLang="en-US" sz="3200" b="0">
                <a:solidFill>
                  <a:schemeClr val="accent2"/>
                </a:solidFill>
                <a:latin typeface="Arial" panose="020B0604020202020204" pitchFamily="34" charset="0"/>
              </a:rPr>
              <a:t>Anatomy </a:t>
            </a:r>
          </a:p>
          <a:p>
            <a:pPr>
              <a:lnSpc>
                <a:spcPct val="90000"/>
              </a:lnSpc>
            </a:pPr>
            <a:r>
              <a:rPr lang="en-US" altLang="en-US" sz="3200" b="0">
                <a:solidFill>
                  <a:schemeClr val="accent2"/>
                </a:solidFill>
                <a:latin typeface="Arial" panose="020B0604020202020204" pitchFamily="34" charset="0"/>
              </a:rPr>
              <a:t>&amp; Physiology</a:t>
            </a:r>
          </a:p>
          <a:p>
            <a:pPr>
              <a:spcBef>
                <a:spcPct val="50000"/>
              </a:spcBef>
            </a:pPr>
            <a:r>
              <a:rPr lang="en-US" altLang="en-US" sz="1400">
                <a:solidFill>
                  <a:srgbClr val="D9E30D"/>
                </a:solidFill>
                <a:latin typeface="Arial" panose="020B0604020202020204" pitchFamily="34" charset="0"/>
              </a:rPr>
              <a:t>SEVENTH EDITION</a:t>
            </a:r>
          </a:p>
        </p:txBody>
      </p:sp>
      <p:sp>
        <p:nvSpPr>
          <p:cNvPr id="420870" name="Text Box 6"/>
          <p:cNvSpPr txBox="1">
            <a:spLocks noChangeArrowheads="1"/>
          </p:cNvSpPr>
          <p:nvPr/>
        </p:nvSpPr>
        <p:spPr bwMode="auto">
          <a:xfrm>
            <a:off x="42863" y="352425"/>
            <a:ext cx="22510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200" b="0">
                <a:solidFill>
                  <a:schemeClr val="bg1"/>
                </a:solidFill>
                <a:latin typeface="Arial" panose="020B0604020202020204" pitchFamily="34" charset="0"/>
              </a:rPr>
              <a:t>Elaine N. Marieb</a:t>
            </a:r>
          </a:p>
          <a:p>
            <a:r>
              <a:rPr lang="en-US" altLang="en-US" sz="2200" b="0">
                <a:solidFill>
                  <a:schemeClr val="bg1"/>
                </a:solidFill>
                <a:latin typeface="Arial" panose="020B0604020202020204" pitchFamily="34" charset="0"/>
              </a:rPr>
              <a:t>Katja Hoehn</a:t>
            </a:r>
          </a:p>
        </p:txBody>
      </p:sp>
      <p:sp>
        <p:nvSpPr>
          <p:cNvPr id="420871" name="Rectangle 7"/>
          <p:cNvSpPr>
            <a:spLocks noChangeArrowheads="1"/>
          </p:cNvSpPr>
          <p:nvPr/>
        </p:nvSpPr>
        <p:spPr bwMode="auto">
          <a:xfrm>
            <a:off x="5308600" y="0"/>
            <a:ext cx="3835400" cy="6858000"/>
          </a:xfrm>
          <a:prstGeom prst="rect">
            <a:avLst/>
          </a:prstGeom>
          <a:solidFill>
            <a:srgbClr val="0989C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872" name="Line 8"/>
          <p:cNvSpPr>
            <a:spLocks noChangeShapeType="1"/>
          </p:cNvSpPr>
          <p:nvPr/>
        </p:nvSpPr>
        <p:spPr bwMode="auto">
          <a:xfrm>
            <a:off x="5530850" y="3268663"/>
            <a:ext cx="3613150" cy="0"/>
          </a:xfrm>
          <a:prstGeom prst="line">
            <a:avLst/>
          </a:prstGeom>
          <a:noFill/>
          <a:ln w="57150">
            <a:solidFill>
              <a:srgbClr val="D9E30D"/>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420873" name="Rectangle 9"/>
          <p:cNvSpPr>
            <a:spLocks noGrp="1" noChangeArrowheads="1"/>
          </p:cNvSpPr>
          <p:nvPr>
            <p:ph type="ctrTitle"/>
          </p:nvPr>
        </p:nvSpPr>
        <p:spPr>
          <a:xfrm>
            <a:off x="5827713" y="2039938"/>
            <a:ext cx="3316287" cy="1414462"/>
          </a:xfrm>
          <a:extLst>
            <a:ext uri="{909E8E84-426E-40DD-AFC4-6F175D3DCCD1}">
              <a14:hiddenFill xmlns:a14="http://schemas.microsoft.com/office/drawing/2010/main">
                <a:solidFill>
                  <a:schemeClr val="accent1"/>
                </a:solidFill>
              </a14:hiddenFill>
            </a:ext>
          </a:extLst>
        </p:spPr>
        <p:txBody>
          <a:bodyPr anchor="ctr"/>
          <a:lstStyle>
            <a:lvl1pPr>
              <a:defRPr sz="20000" i="1">
                <a:solidFill>
                  <a:srgbClr val="4DC2E7"/>
                </a:solidFill>
              </a:defRPr>
            </a:lvl1pPr>
          </a:lstStyle>
          <a:p>
            <a:pPr lvl="0"/>
            <a:r>
              <a:rPr lang="en-US" altLang="en-US" noProof="0"/>
              <a:t>Click to edit Master title style</a:t>
            </a:r>
          </a:p>
        </p:txBody>
      </p:sp>
      <p:sp>
        <p:nvSpPr>
          <p:cNvPr id="420874" name="Rectangle 10"/>
          <p:cNvSpPr>
            <a:spLocks noGrp="1" noChangeArrowheads="1"/>
          </p:cNvSpPr>
          <p:nvPr>
            <p:ph type="subTitle" idx="1"/>
          </p:nvPr>
        </p:nvSpPr>
        <p:spPr>
          <a:xfrm>
            <a:off x="5756275" y="4086225"/>
            <a:ext cx="3113088" cy="2286000"/>
          </a:xfrm>
        </p:spPr>
        <p:txBody>
          <a:bodyPr/>
          <a:lstStyle>
            <a:lvl1pPr marL="0" indent="0">
              <a:lnSpc>
                <a:spcPct val="90000"/>
              </a:lnSpc>
              <a:buFont typeface="Wingdings" panose="05000000000000000000" pitchFamily="2" charset="2"/>
              <a:buNone/>
              <a:defRPr sz="3500">
                <a:solidFill>
                  <a:schemeClr val="bg1"/>
                </a:solidFill>
                <a:latin typeface="Arial" panose="020B0604020202020204" pitchFamily="34" charset="0"/>
              </a:defRPr>
            </a:lvl1pPr>
          </a:lstStyle>
          <a:p>
            <a:pPr lvl="0"/>
            <a:r>
              <a:rPr lang="en-US" altLang="en-US" noProof="0"/>
              <a:t>Click to edit Master subtitle style</a:t>
            </a:r>
          </a:p>
        </p:txBody>
      </p:sp>
      <p:sp>
        <p:nvSpPr>
          <p:cNvPr id="420875" name="Text Box 11"/>
          <p:cNvSpPr txBox="1">
            <a:spLocks noChangeArrowheads="1"/>
          </p:cNvSpPr>
          <p:nvPr/>
        </p:nvSpPr>
        <p:spPr bwMode="auto">
          <a:xfrm>
            <a:off x="5741988" y="274638"/>
            <a:ext cx="330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0">
                <a:solidFill>
                  <a:srgbClr val="D9E30D"/>
                </a:solidFill>
                <a:latin typeface="Arial" panose="020B0604020202020204" pitchFamily="34" charset="0"/>
              </a:rPr>
              <a:t>PowerPoint</a:t>
            </a:r>
            <a:r>
              <a:rPr lang="en-US" altLang="en-US" sz="2000" b="0" baseline="30000">
                <a:solidFill>
                  <a:srgbClr val="D9E30D"/>
                </a:solidFill>
                <a:latin typeface="Arial" panose="020B0604020202020204" pitchFamily="34" charset="0"/>
              </a:rPr>
              <a:t>®</a:t>
            </a:r>
            <a:r>
              <a:rPr lang="en-US" altLang="en-US" sz="2000" b="0">
                <a:solidFill>
                  <a:srgbClr val="D9E30D"/>
                </a:solidFill>
                <a:latin typeface="Arial" panose="020B0604020202020204" pitchFamily="34" charset="0"/>
              </a:rPr>
              <a:t> Lecture Slides</a:t>
            </a:r>
            <a:r>
              <a:rPr lang="en-US" altLang="en-US" sz="2000" b="0">
                <a:solidFill>
                  <a:srgbClr val="08A5CA"/>
                </a:solidFill>
                <a:latin typeface="Arial" panose="020B0604020202020204" pitchFamily="34" charset="0"/>
              </a:rPr>
              <a:t> </a:t>
            </a:r>
          </a:p>
          <a:p>
            <a:r>
              <a:rPr lang="en-US" altLang="en-US" sz="2000" b="0">
                <a:solidFill>
                  <a:schemeClr val="bg1"/>
                </a:solidFill>
                <a:latin typeface="Arial" panose="020B0604020202020204" pitchFamily="34" charset="0"/>
              </a:rPr>
              <a:t>prepared by Vince Austin, </a:t>
            </a:r>
          </a:p>
          <a:p>
            <a:r>
              <a:rPr lang="en-US" altLang="en-US" sz="2000" b="0">
                <a:solidFill>
                  <a:schemeClr val="bg1"/>
                </a:solidFill>
                <a:latin typeface="Arial" panose="020B0604020202020204" pitchFamily="34" charset="0"/>
              </a:rPr>
              <a:t>Bluegrass Technical </a:t>
            </a:r>
            <a:br>
              <a:rPr lang="en-US" altLang="en-US" sz="2000" b="0">
                <a:solidFill>
                  <a:schemeClr val="bg1"/>
                </a:solidFill>
                <a:latin typeface="Arial" panose="020B0604020202020204" pitchFamily="34" charset="0"/>
              </a:rPr>
            </a:br>
            <a:r>
              <a:rPr lang="en-US" altLang="en-US" sz="2000" b="0">
                <a:solidFill>
                  <a:schemeClr val="bg1"/>
                </a:solidFill>
                <a:latin typeface="Arial" panose="020B0604020202020204" pitchFamily="34" charset="0"/>
              </a:rPr>
              <a:t>and Community College</a:t>
            </a:r>
          </a:p>
        </p:txBody>
      </p:sp>
      <p:sp>
        <p:nvSpPr>
          <p:cNvPr id="420876" name="Line 12"/>
          <p:cNvSpPr>
            <a:spLocks noChangeShapeType="1"/>
          </p:cNvSpPr>
          <p:nvPr/>
        </p:nvSpPr>
        <p:spPr bwMode="auto">
          <a:xfrm>
            <a:off x="5307013" y="0"/>
            <a:ext cx="0" cy="6858000"/>
          </a:xfrm>
          <a:prstGeom prst="line">
            <a:avLst/>
          </a:prstGeom>
          <a:noFill/>
          <a:ln w="4572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877" name="Text Box 13"/>
          <p:cNvSpPr txBox="1">
            <a:spLocks noChangeArrowheads="1"/>
          </p:cNvSpPr>
          <p:nvPr/>
        </p:nvSpPr>
        <p:spPr bwMode="auto">
          <a:xfrm rot="-5400000">
            <a:off x="4851401" y="2211387"/>
            <a:ext cx="16700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Aft>
                <a:spcPct val="50000"/>
              </a:spcAft>
              <a:buClr>
                <a:srgbClr val="669900"/>
              </a:buClr>
              <a:buFont typeface="Wingdings" panose="05000000000000000000" pitchFamily="2" charset="2"/>
              <a:buNone/>
            </a:pPr>
            <a:r>
              <a:rPr lang="en-US" altLang="en-US" sz="1800">
                <a:solidFill>
                  <a:srgbClr val="D9E30D"/>
                </a:solidFill>
                <a:latin typeface="Arial" panose="020B0604020202020204" pitchFamily="34" charset="0"/>
              </a:rPr>
              <a:t>C H A P T E 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943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38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98450" y="977900"/>
            <a:ext cx="4059238"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10088" y="977900"/>
            <a:ext cx="4059237"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4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561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13721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2422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871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06494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0266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1163" y="261938"/>
            <a:ext cx="2154237" cy="57721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8450" y="261938"/>
            <a:ext cx="6310313" cy="57721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9288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261938"/>
            <a:ext cx="8610600" cy="609600"/>
          </a:xfrm>
        </p:spPr>
        <p:txBody>
          <a:bodyPr/>
          <a:lstStyle/>
          <a:p>
            <a:r>
              <a:rPr lang="en-US"/>
              <a:t>Click to edit Master title style</a:t>
            </a:r>
          </a:p>
        </p:txBody>
      </p:sp>
      <p:sp>
        <p:nvSpPr>
          <p:cNvPr id="3" name="Online Image Placeholder 2"/>
          <p:cNvSpPr>
            <a:spLocks noGrp="1"/>
          </p:cNvSpPr>
          <p:nvPr>
            <p:ph type="clipArt" sz="half" idx="1"/>
          </p:nvPr>
        </p:nvSpPr>
        <p:spPr>
          <a:xfrm>
            <a:off x="298450" y="977900"/>
            <a:ext cx="4059238" cy="5056188"/>
          </a:xfrm>
        </p:spPr>
        <p:txBody>
          <a:bodyPr/>
          <a:lstStyle/>
          <a:p>
            <a:endParaRPr lang="en-US"/>
          </a:p>
        </p:txBody>
      </p:sp>
      <p:sp>
        <p:nvSpPr>
          <p:cNvPr id="4" name="Text Placeholder 3"/>
          <p:cNvSpPr>
            <a:spLocks noGrp="1"/>
          </p:cNvSpPr>
          <p:nvPr>
            <p:ph type="body" sz="half" idx="2"/>
          </p:nvPr>
        </p:nvSpPr>
        <p:spPr>
          <a:xfrm>
            <a:off x="4510088" y="977900"/>
            <a:ext cx="4059237"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0556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gradFill>
          <a:gsLst>
            <a:gs pos="17000">
              <a:srgbClr val="EED390"/>
            </a:gs>
            <a:gs pos="84000">
              <a:srgbClr val="DEB657"/>
            </a:gs>
          </a:gsLst>
          <a:lin ang="5400000" scaled="1"/>
        </a:gradFill>
        <a:effectLst/>
      </p:bgPr>
    </p:bg>
    <p:spTree>
      <p:nvGrpSpPr>
        <p:cNvPr id="1" name=""/>
        <p:cNvGrpSpPr/>
        <p:nvPr/>
      </p:nvGrpSpPr>
      <p:grpSpPr>
        <a:xfrm>
          <a:off x="0" y="0"/>
          <a:ext cx="0" cy="0"/>
          <a:chOff x="0" y="0"/>
          <a:chExt cx="0" cy="0"/>
        </a:xfrm>
      </p:grpSpPr>
      <p:sp>
        <p:nvSpPr>
          <p:cNvPr id="5" name="Rectangle 8"/>
          <p:cNvSpPr>
            <a:spLocks noChangeArrowheads="1"/>
          </p:cNvSpPr>
          <p:nvPr/>
        </p:nvSpPr>
        <p:spPr bwMode="auto">
          <a:xfrm>
            <a:off x="5359400" y="0"/>
            <a:ext cx="74613" cy="6635750"/>
          </a:xfrm>
          <a:prstGeom prst="rect">
            <a:avLst/>
          </a:prstGeom>
          <a:solidFill>
            <a:schemeClr val="tx1"/>
          </a:solidFill>
          <a:ln w="9525">
            <a:solidFill>
              <a:schemeClr val="tx1"/>
            </a:solidFill>
            <a:miter lim="800000"/>
            <a:headEnd/>
            <a:tailEnd/>
          </a:ln>
          <a:effectLst/>
        </p:spPr>
        <p:txBody>
          <a:bodyPr wrap="none" anchor="ctr"/>
          <a:lstStyle/>
          <a:p>
            <a:pPr eaLnBrk="1" hangingPunct="1">
              <a:spcAft>
                <a:spcPct val="50000"/>
              </a:spcAft>
              <a:buClr>
                <a:srgbClr val="669900"/>
              </a:buClr>
              <a:buFont typeface="Wingdings" pitchFamily="28" charset="2"/>
              <a:buChar char="§"/>
              <a:defRPr/>
            </a:pPr>
            <a:endParaRPr lang="en-US" sz="2400">
              <a:latin typeface="Times New Roman" pitchFamily="28" charset="0"/>
              <a:ea typeface="ＭＳ Ｐゴシック" pitchFamily="28" charset="-128"/>
            </a:endParaRPr>
          </a:p>
        </p:txBody>
      </p:sp>
      <p:sp>
        <p:nvSpPr>
          <p:cNvPr id="6" name="Text Box 6"/>
          <p:cNvSpPr txBox="1">
            <a:spLocks noChangeArrowheads="1"/>
          </p:cNvSpPr>
          <p:nvPr/>
        </p:nvSpPr>
        <p:spPr bwMode="auto">
          <a:xfrm>
            <a:off x="5651157" y="5581471"/>
            <a:ext cx="3402012" cy="1200329"/>
          </a:xfrm>
          <a:prstGeom prst="rect">
            <a:avLst/>
          </a:prstGeom>
          <a:noFill/>
          <a:ln>
            <a:noFill/>
          </a:ln>
          <a:effectLst/>
        </p:spPr>
        <p:txBody>
          <a:bodyPr>
            <a:spAutoFit/>
          </a:bodyPr>
          <a:lstStyle/>
          <a:p>
            <a:pPr algn="ctr">
              <a:defRPr/>
            </a:pPr>
            <a:r>
              <a:rPr lang="en-US" sz="1800" b="0" dirty="0">
                <a:solidFill>
                  <a:srgbClr val="CD6A47"/>
                </a:solidFill>
                <a:latin typeface="Arial" charset="0"/>
                <a:ea typeface="ＭＳ Ｐゴシック" pitchFamily="28" charset="-128"/>
              </a:rPr>
              <a:t>PowerPoint</a:t>
            </a:r>
            <a:r>
              <a:rPr lang="en-US" sz="1800" b="0" baseline="30000" dirty="0">
                <a:solidFill>
                  <a:srgbClr val="CD6A47"/>
                </a:solidFill>
                <a:latin typeface="Arial" charset="0"/>
                <a:ea typeface="ＭＳ Ｐゴシック" pitchFamily="28" charset="-128"/>
              </a:rPr>
              <a:t>®</a:t>
            </a:r>
            <a:r>
              <a:rPr lang="en-US" sz="1800" b="0" dirty="0">
                <a:solidFill>
                  <a:srgbClr val="CD6A47"/>
                </a:solidFill>
                <a:latin typeface="Arial" charset="0"/>
                <a:ea typeface="ＭＳ Ｐゴシック" pitchFamily="28" charset="-128"/>
              </a:rPr>
              <a:t> Lecture Slides</a:t>
            </a:r>
          </a:p>
          <a:p>
            <a:pPr algn="ctr">
              <a:defRPr/>
            </a:pPr>
            <a:r>
              <a:rPr lang="en-US" sz="1800" b="0" dirty="0">
                <a:solidFill>
                  <a:srgbClr val="CD6A47"/>
                </a:solidFill>
                <a:latin typeface="Arial" charset="0"/>
                <a:ea typeface="ＭＳ Ｐゴシック" pitchFamily="28" charset="-128"/>
              </a:rPr>
              <a:t>prepared by</a:t>
            </a:r>
          </a:p>
          <a:p>
            <a:pPr algn="ctr">
              <a:defRPr/>
            </a:pPr>
            <a:r>
              <a:rPr lang="en-US" sz="1800" b="0" dirty="0">
                <a:solidFill>
                  <a:srgbClr val="CD6A47"/>
                </a:solidFill>
                <a:latin typeface="Arial" charset="0"/>
                <a:ea typeface="ＭＳ Ｐゴシック" pitchFamily="28" charset="-128"/>
              </a:rPr>
              <a:t>Karen</a:t>
            </a:r>
            <a:r>
              <a:rPr lang="en-US" sz="1800" b="0" baseline="0" dirty="0">
                <a:solidFill>
                  <a:srgbClr val="CD6A47"/>
                </a:solidFill>
                <a:latin typeface="Arial" charset="0"/>
                <a:ea typeface="ＭＳ Ｐゴシック" pitchFamily="28" charset="-128"/>
              </a:rPr>
              <a:t> Dunbar </a:t>
            </a:r>
            <a:r>
              <a:rPr lang="en-US" sz="1800" b="0" baseline="0" dirty="0" err="1">
                <a:solidFill>
                  <a:srgbClr val="CD6A47"/>
                </a:solidFill>
                <a:latin typeface="Arial" charset="0"/>
                <a:ea typeface="ＭＳ Ｐゴシック" pitchFamily="28" charset="-128"/>
              </a:rPr>
              <a:t>Kareiva</a:t>
            </a:r>
            <a:endParaRPr lang="en-US" sz="1800" b="0" dirty="0">
              <a:solidFill>
                <a:srgbClr val="CD6A47"/>
              </a:solidFill>
              <a:latin typeface="Arial" charset="0"/>
              <a:ea typeface="ＭＳ Ｐゴシック" pitchFamily="28" charset="-128"/>
            </a:endParaRPr>
          </a:p>
          <a:p>
            <a:pPr algn="ctr">
              <a:defRPr/>
            </a:pPr>
            <a:r>
              <a:rPr lang="en-US" sz="1800" b="0" dirty="0">
                <a:solidFill>
                  <a:srgbClr val="CD6A47"/>
                </a:solidFill>
                <a:latin typeface="Arial" charset="0"/>
                <a:ea typeface="ＭＳ Ｐゴシック" pitchFamily="28" charset="-128"/>
              </a:rPr>
              <a:t>Ivy Tech Community College</a:t>
            </a:r>
          </a:p>
        </p:txBody>
      </p:sp>
      <p:pic>
        <p:nvPicPr>
          <p:cNvPr id="10" name="Picture 13" descr="Pearson_Strap_Bound_Whit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 y="6516688"/>
            <a:ext cx="17621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4"/>
          <p:cNvSpPr>
            <a:spLocks noChangeArrowheads="1"/>
          </p:cNvSpPr>
          <p:nvPr/>
        </p:nvSpPr>
        <p:spPr bwMode="auto">
          <a:xfrm>
            <a:off x="0" y="6451600"/>
            <a:ext cx="2232025" cy="228600"/>
          </a:xfrm>
          <a:prstGeom prst="rect">
            <a:avLst/>
          </a:prstGeom>
          <a:noFill/>
          <a:ln w="9525">
            <a:noFill/>
            <a:miter lim="800000"/>
            <a:headEnd/>
            <a:tailEnd/>
          </a:ln>
          <a:effectLst/>
        </p:spPr>
        <p:txBody>
          <a:bodyPr wrap="none">
            <a:spAutoFit/>
          </a:bodyPr>
          <a:lstStyle/>
          <a:p>
            <a:pPr>
              <a:defRPr/>
            </a:pPr>
            <a:r>
              <a:rPr lang="en-US" sz="900">
                <a:solidFill>
                  <a:schemeClr val="bg1"/>
                </a:solidFill>
                <a:latin typeface="Arial" charset="0"/>
                <a:ea typeface="ＭＳ Ｐゴシック" pitchFamily="28" charset="-128"/>
              </a:rPr>
              <a:t>© Annie Leibovitz/Contact Press Images</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545336" cy="6858000"/>
          </a:xfrm>
          <a:prstGeom prst="rect">
            <a:avLst/>
          </a:prstGeom>
        </p:spPr>
      </p:pic>
      <p:sp>
        <p:nvSpPr>
          <p:cNvPr id="14" name="Footer Placeholder 1"/>
          <p:cNvSpPr>
            <a:spLocks noGrp="1"/>
          </p:cNvSpPr>
          <p:nvPr>
            <p:ph type="ftr" sz="quarter" idx="3"/>
          </p:nvPr>
        </p:nvSpPr>
        <p:spPr>
          <a:xfrm>
            <a:off x="0" y="6492875"/>
            <a:ext cx="3086100" cy="365125"/>
          </a:xfrm>
          <a:prstGeom prst="rect">
            <a:avLst/>
          </a:prstGeom>
        </p:spPr>
        <p:txBody>
          <a:bodyPr vert="horz" lIns="91440" tIns="45720" rIns="91440" bIns="45720" rtlCol="0" anchor="ctr"/>
          <a:lstStyle>
            <a:lvl1pPr algn="l">
              <a:defRPr sz="900">
                <a:solidFill>
                  <a:schemeClr val="tx1"/>
                </a:solidFill>
                <a:latin typeface="+mj-lt"/>
              </a:defRPr>
            </a:lvl1pPr>
          </a:lstStyle>
          <a:p>
            <a:pPr>
              <a:defRPr/>
            </a:pPr>
            <a:r>
              <a:rPr lang="en-GB"/>
              <a:t>© 2016 Pearson Education, Inc.</a:t>
            </a:r>
          </a:p>
        </p:txBody>
      </p:sp>
      <p:sp>
        <p:nvSpPr>
          <p:cNvPr id="17" name="Text Box 6"/>
          <p:cNvSpPr txBox="1">
            <a:spLocks noChangeArrowheads="1"/>
          </p:cNvSpPr>
          <p:nvPr/>
        </p:nvSpPr>
        <p:spPr bwMode="auto">
          <a:xfrm>
            <a:off x="5495641" y="1219200"/>
            <a:ext cx="3648359" cy="3170098"/>
          </a:xfrm>
          <a:prstGeom prst="rect">
            <a:avLst/>
          </a:prstGeom>
          <a:noFill/>
          <a:ln>
            <a:noFill/>
          </a:ln>
          <a:effectLst/>
        </p:spPr>
        <p:txBody>
          <a:bodyPr wrap="square">
            <a:spAutoFit/>
          </a:bodyPr>
          <a:lstStyle/>
          <a:p>
            <a:pPr algn="ctr">
              <a:defRPr/>
            </a:pPr>
            <a:r>
              <a:rPr lang="en-US" sz="2800" b="1" dirty="0">
                <a:solidFill>
                  <a:srgbClr val="CD6A47"/>
                </a:solidFill>
                <a:latin typeface="Arial" charset="0"/>
                <a:ea typeface="ＭＳ Ｐゴシック" pitchFamily="28" charset="-128"/>
              </a:rPr>
              <a:t>Chapter 19</a:t>
            </a:r>
            <a:r>
              <a:rPr lang="en-US" sz="2800" b="1" baseline="0" dirty="0">
                <a:solidFill>
                  <a:srgbClr val="CD6A47"/>
                </a:solidFill>
                <a:latin typeface="Arial" charset="0"/>
                <a:ea typeface="ＭＳ Ｐゴシック" pitchFamily="28" charset="-128"/>
              </a:rPr>
              <a:t>   Part A</a:t>
            </a:r>
          </a:p>
          <a:p>
            <a:pPr algn="ctr">
              <a:defRPr/>
            </a:pPr>
            <a:endParaRPr lang="en-US" sz="2800" b="1" baseline="0" dirty="0">
              <a:solidFill>
                <a:srgbClr val="CD6A47"/>
              </a:solidFill>
              <a:latin typeface="Arial" charset="0"/>
              <a:ea typeface="ＭＳ Ｐゴシック" pitchFamily="28" charset="-128"/>
            </a:endParaRPr>
          </a:p>
          <a:p>
            <a:pPr algn="ctr">
              <a:defRPr/>
            </a:pPr>
            <a:r>
              <a:rPr lang="en-US" sz="3600" b="1" baseline="0" dirty="0">
                <a:solidFill>
                  <a:srgbClr val="CD6A47"/>
                </a:solidFill>
                <a:latin typeface="Arial" charset="0"/>
                <a:ea typeface="ＭＳ Ｐゴシック" pitchFamily="28" charset="-128"/>
              </a:rPr>
              <a:t>The Cardiovascular System: </a:t>
            </a:r>
            <a:br>
              <a:rPr lang="en-US" sz="3600" b="1" baseline="0" dirty="0">
                <a:solidFill>
                  <a:srgbClr val="CD6A47"/>
                </a:solidFill>
                <a:latin typeface="Arial" charset="0"/>
                <a:ea typeface="ＭＳ Ｐゴシック" pitchFamily="28" charset="-128"/>
              </a:rPr>
            </a:br>
            <a:r>
              <a:rPr lang="en-US" sz="3600" b="1" baseline="0" dirty="0">
                <a:solidFill>
                  <a:srgbClr val="CD6A47"/>
                </a:solidFill>
                <a:latin typeface="Arial" charset="0"/>
                <a:ea typeface="ＭＳ Ｐゴシック" pitchFamily="28" charset="-128"/>
              </a:rPr>
              <a:t>Blood Vessels</a:t>
            </a:r>
            <a:endParaRPr lang="en-US" sz="3600" b="1" dirty="0">
              <a:latin typeface="Arial" charset="0"/>
              <a:ea typeface="ＭＳ Ｐゴシック" pitchFamily="28" charset="-128"/>
            </a:endParaRPr>
          </a:p>
        </p:txBody>
      </p:sp>
    </p:spTree>
    <p:extLst>
      <p:ext uri="{BB962C8B-B14F-4D97-AF65-F5344CB8AC3E}">
        <p14:creationId xmlns:p14="http://schemas.microsoft.com/office/powerpoint/2010/main" val="3984907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1/12/2026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3" name="Content Placeholder 2"/>
          <p:cNvSpPr>
            <a:spLocks noGrp="1"/>
          </p:cNvSpPr>
          <p:nvPr>
            <p:ph sz="quarter" idx="13"/>
          </p:nvPr>
        </p:nvSpPr>
        <p:spPr>
          <a:xfrm>
            <a:off x="457200" y="5925979"/>
            <a:ext cx="8686800" cy="246221"/>
          </a:xfrm>
        </p:spPr>
        <p:txBody>
          <a:bodyPr>
            <a:spAutoFit/>
          </a:bodyPr>
          <a:lstStyle>
            <a:lvl1pPr marL="0" indent="0">
              <a:buNone/>
              <a:defRPr/>
            </a:lvl1pPr>
          </a:lstStyle>
          <a:p>
            <a:pPr lvl="0"/>
            <a:r>
              <a:rPr lang="en-US" dirty="0"/>
              <a:t>Click to edit Master text styles</a:t>
            </a:r>
          </a:p>
        </p:txBody>
      </p:sp>
    </p:spTree>
    <p:extLst>
      <p:ext uri="{BB962C8B-B14F-4D97-AF65-F5344CB8AC3E}">
        <p14:creationId xmlns:p14="http://schemas.microsoft.com/office/powerpoint/2010/main" val="192204221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slideLayouts/slideLayout14.xml" Type="http://schemas.openxmlformats.org/officeDocument/2006/relationships/slideLayout"/><Relationship Id="rId15"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bwMode="auto">
          <a:xfrm>
            <a:off x="304800" y="261938"/>
            <a:ext cx="8610600" cy="6096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419843" name="Rectangle 3"/>
          <p:cNvSpPr>
            <a:spLocks noGrp="1" noChangeArrowheads="1"/>
          </p:cNvSpPr>
          <p:nvPr>
            <p:ph type="body" idx="1"/>
          </p:nvPr>
        </p:nvSpPr>
        <p:spPr bwMode="auto">
          <a:xfrm>
            <a:off x="298450" y="977900"/>
            <a:ext cx="8270875" cy="505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9844" name="Text Box 4"/>
          <p:cNvSpPr txBox="1">
            <a:spLocks noChangeArrowheads="1"/>
          </p:cNvSpPr>
          <p:nvPr/>
        </p:nvSpPr>
        <p:spPr bwMode="auto">
          <a:xfrm>
            <a:off x="228600" y="6521450"/>
            <a:ext cx="4551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b="0">
                <a:solidFill>
                  <a:srgbClr val="0989C9"/>
                </a:solidFill>
                <a:latin typeface="Arial" panose="020B0604020202020204" pitchFamily="34" charset="0"/>
              </a:rPr>
              <a:t>Copyright © 2006 Pearson Education, Inc., publishing as Benjamin Cummings</a:t>
            </a:r>
          </a:p>
        </p:txBody>
      </p:sp>
      <p:sp>
        <p:nvSpPr>
          <p:cNvPr id="419845" name="Line 5"/>
          <p:cNvSpPr>
            <a:spLocks noChangeShapeType="1"/>
          </p:cNvSpPr>
          <p:nvPr/>
        </p:nvSpPr>
        <p:spPr bwMode="auto">
          <a:xfrm>
            <a:off x="298450" y="258763"/>
            <a:ext cx="8586788" cy="0"/>
          </a:xfrm>
          <a:prstGeom prst="line">
            <a:avLst/>
          </a:prstGeom>
          <a:noFill/>
          <a:ln w="381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419846" name="Line 6"/>
          <p:cNvSpPr>
            <a:spLocks noChangeShapeType="1"/>
          </p:cNvSpPr>
          <p:nvPr/>
        </p:nvSpPr>
        <p:spPr bwMode="auto">
          <a:xfrm>
            <a:off x="293688" y="225425"/>
            <a:ext cx="85867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txStyles>
    <p:titleStyle>
      <a:lvl1pPr algn="l" rtl="0" fontAlgn="base">
        <a:spcBef>
          <a:spcPct val="0"/>
        </a:spcBef>
        <a:spcAft>
          <a:spcPct val="0"/>
        </a:spcAft>
        <a:defRPr sz="3000" b="1" kern="1200">
          <a:solidFill>
            <a:srgbClr val="0989C9"/>
          </a:solidFill>
          <a:latin typeface="+mj-lt"/>
          <a:ea typeface="+mj-ea"/>
          <a:cs typeface="+mj-cs"/>
        </a:defRPr>
      </a:lvl1pPr>
      <a:lvl2pPr algn="l" rtl="0" fontAlgn="base">
        <a:spcBef>
          <a:spcPct val="0"/>
        </a:spcBef>
        <a:spcAft>
          <a:spcPct val="0"/>
        </a:spcAft>
        <a:defRPr sz="3000" b="1">
          <a:solidFill>
            <a:srgbClr val="0989C9"/>
          </a:solidFill>
          <a:latin typeface="Arial" panose="020B0604020202020204" pitchFamily="34" charset="0"/>
        </a:defRPr>
      </a:lvl2pPr>
      <a:lvl3pPr algn="l" rtl="0" fontAlgn="base">
        <a:spcBef>
          <a:spcPct val="0"/>
        </a:spcBef>
        <a:spcAft>
          <a:spcPct val="0"/>
        </a:spcAft>
        <a:defRPr sz="3000" b="1">
          <a:solidFill>
            <a:srgbClr val="0989C9"/>
          </a:solidFill>
          <a:latin typeface="Arial" panose="020B0604020202020204" pitchFamily="34" charset="0"/>
        </a:defRPr>
      </a:lvl3pPr>
      <a:lvl4pPr algn="l" rtl="0" fontAlgn="base">
        <a:spcBef>
          <a:spcPct val="0"/>
        </a:spcBef>
        <a:spcAft>
          <a:spcPct val="0"/>
        </a:spcAft>
        <a:defRPr sz="3000" b="1">
          <a:solidFill>
            <a:srgbClr val="0989C9"/>
          </a:solidFill>
          <a:latin typeface="Arial" panose="020B0604020202020204" pitchFamily="34" charset="0"/>
        </a:defRPr>
      </a:lvl4pPr>
      <a:lvl5pPr algn="l" rtl="0" fontAlgn="base">
        <a:spcBef>
          <a:spcPct val="0"/>
        </a:spcBef>
        <a:spcAft>
          <a:spcPct val="0"/>
        </a:spcAft>
        <a:defRPr sz="3000" b="1">
          <a:solidFill>
            <a:srgbClr val="0989C9"/>
          </a:solidFill>
          <a:latin typeface="Arial" panose="020B0604020202020204" pitchFamily="34" charset="0"/>
        </a:defRPr>
      </a:lvl5pPr>
      <a:lvl6pPr marL="457200" algn="l" rtl="0" fontAlgn="base">
        <a:spcBef>
          <a:spcPct val="0"/>
        </a:spcBef>
        <a:spcAft>
          <a:spcPct val="0"/>
        </a:spcAft>
        <a:defRPr sz="3000" b="1">
          <a:solidFill>
            <a:srgbClr val="0989C9"/>
          </a:solidFill>
          <a:latin typeface="Arial" panose="020B0604020202020204" pitchFamily="34" charset="0"/>
        </a:defRPr>
      </a:lvl6pPr>
      <a:lvl7pPr marL="914400" algn="l" rtl="0" fontAlgn="base">
        <a:spcBef>
          <a:spcPct val="0"/>
        </a:spcBef>
        <a:spcAft>
          <a:spcPct val="0"/>
        </a:spcAft>
        <a:defRPr sz="3000" b="1">
          <a:solidFill>
            <a:srgbClr val="0989C9"/>
          </a:solidFill>
          <a:latin typeface="Arial" panose="020B0604020202020204" pitchFamily="34" charset="0"/>
        </a:defRPr>
      </a:lvl7pPr>
      <a:lvl8pPr marL="1371600" algn="l" rtl="0" fontAlgn="base">
        <a:spcBef>
          <a:spcPct val="0"/>
        </a:spcBef>
        <a:spcAft>
          <a:spcPct val="0"/>
        </a:spcAft>
        <a:defRPr sz="3000" b="1">
          <a:solidFill>
            <a:srgbClr val="0989C9"/>
          </a:solidFill>
          <a:latin typeface="Arial" panose="020B0604020202020204" pitchFamily="34" charset="0"/>
        </a:defRPr>
      </a:lvl8pPr>
      <a:lvl9pPr marL="1828800" algn="l" rtl="0" fontAlgn="base">
        <a:spcBef>
          <a:spcPct val="0"/>
        </a:spcBef>
        <a:spcAft>
          <a:spcPct val="0"/>
        </a:spcAft>
        <a:defRPr sz="3000" b="1">
          <a:solidFill>
            <a:srgbClr val="0989C9"/>
          </a:solidFill>
          <a:latin typeface="Arial" panose="020B0604020202020204" pitchFamily="34" charset="0"/>
        </a:defRPr>
      </a:lvl9pPr>
    </p:titleStyle>
    <p:bodyStyle>
      <a:lvl1pPr marL="231775" indent="-231775" algn="l" rtl="0" fontAlgn="base">
        <a:spcBef>
          <a:spcPct val="0"/>
        </a:spcBef>
        <a:spcAft>
          <a:spcPct val="50000"/>
        </a:spcAft>
        <a:buClr>
          <a:srgbClr val="0989C9"/>
        </a:buClr>
        <a:buSzPct val="60000"/>
        <a:buFont typeface="Wingdings" panose="05000000000000000000" pitchFamily="2" charset="2"/>
        <a:buChar char="§"/>
        <a:defRPr sz="3000" kern="1200">
          <a:solidFill>
            <a:schemeClr val="tx1"/>
          </a:solidFill>
          <a:latin typeface="+mn-lt"/>
          <a:ea typeface="+mn-ea"/>
          <a:cs typeface="+mn-cs"/>
        </a:defRPr>
      </a:lvl1pPr>
      <a:lvl2pPr marL="742950" indent="-28575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3pPr>
      <a:lvl4pPr marL="1600200" indent="-22860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4pPr>
      <a:lvl5pPr marL="2057400" indent="-22860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xml" Type="http://schemas.openxmlformats.org/officeDocument/2006/relationships/notesSlide"/><Relationship Id="rId3" Target="../media/image4.jp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jp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jp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jp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xml" Type="http://schemas.openxmlformats.org/officeDocument/2006/relationships/notesSlide"/><Relationship Id="rId3" Target="../media/image10.jp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xml" Type="http://schemas.openxmlformats.org/officeDocument/2006/relationships/notesSlide"/><Relationship Id="rId3" Target="../media/image1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6.xml.rels><?xml version="1.0" encoding="UTF-8" standalone="yes"?><Relationships xmlns="http://schemas.openxmlformats.org/package/2006/relationships"><Relationship Id="rId1" Target="https://www.youtube.com/embed/FnUOt5ahdwo?feature=oembed" TargetMode="External" Type="http://schemas.openxmlformats.org/officeDocument/2006/relationships/video"/><Relationship Id="rId2" Target="../slideLayouts/slideLayout2.xml" Type="http://schemas.openxmlformats.org/officeDocument/2006/relationships/slideLayout"/><Relationship Id="rId3" Target="../media/image1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jp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5.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6.xml" Type="http://schemas.openxmlformats.org/officeDocument/2006/relationships/notesSlide"/><Relationship Id="rId3" Target="../media/image14.jp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jp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6.jp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8.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jpeg" Type="http://schemas.openxmlformats.org/officeDocument/2006/relationships/image"/><Relationship Id="rId3" Target="../media/image18.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9.jp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0.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0.xml" Type="http://schemas.openxmlformats.org/officeDocument/2006/relationships/notesSlide"/><Relationship Id="rId3" Target="../media/image21.jp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2.jp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11.xml" Type="http://schemas.openxmlformats.org/officeDocument/2006/relationships/notesSlide"/><Relationship Id="rId3" Target="../media/image23.jp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4.jp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2.xml" Type="http://schemas.openxmlformats.org/officeDocument/2006/relationships/notesSlide"/></Relationships>
</file>

<file path=ppt/slides/_rels/slide6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4.jp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5.jpe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6.jp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7.jp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13.xml" Type="http://schemas.openxmlformats.org/officeDocument/2006/relationships/notesSlide"/><Relationship Id="rId3" Target="../media/image28.jp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9.jp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14.xml" Type="http://schemas.openxmlformats.org/officeDocument/2006/relationships/notesSlide"/><Relationship Id="rId3" Target="../media/image30.jp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1.jp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2.jpe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3.jpe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Footer Placeholder 3"/>
          <p:cNvSpPr>
            <a:spLocks noGrp="1"/>
          </p:cNvSpPr>
          <p:nvPr>
            <p:ph idx="4294967295" type="title"/>
          </p:nvPr>
        </p:nvSpPr>
        <p:spPr>
          <a:xfrm>
            <a:off x="0" y="6492875"/>
            <a:ext cx="3086100" cy="365125"/>
          </a:xfrm>
          <a:prstGeom prst="rect">
            <a:avLst/>
          </a:prstGeom>
          <a:noFill/>
          <a:ln>
            <a:noFill/>
            <a:prstDash/>
          </a:ln>
          <a:effectLst/>
        </p:spPr>
        <p:txBody>
          <a:bodyPr anchor="ctr" anchorCtr="0" bIns="45720" compatLnSpc="1" forceAA="0" fromWordArt="0" horzOverflow="overflow" lIns="91440" numCol="1" rIns="91440" rot="0" rtlCol="0" spcCol="0" spcFirstLastPara="0" tIns="45720" vert="horz" vertOverflow="overflow" wrap="square">
            <a:prstTxWarp prst="textNoShape">
              <a:avLst/>
            </a:prstTxWarp>
            <a:noAutofit/>
          </a:bodyPr>
          <a:lstStyle/>
          <a:p>
            <a:pPr algn="l" defTabSz="914400" eaLnBrk="0" fontAlgn="base" hangingPunct="0" indent="0" latinLnBrk="0" lvl="0" marL="0" marR="0" rtl="0">
              <a:lnSpc>
                <a:spcPct val="100000"/>
              </a:lnSpc>
              <a:spcBef>
                <a:spcPct val="0"/>
              </a:spcBef>
              <a:spcAft>
                <a:spcPct val="0"/>
              </a:spcAft>
              <a:buClrTx/>
              <a:buSzTx/>
              <a:buFontTx/>
              <a:buNone/>
              <a:tabLst/>
              <a:defRPr/>
            </a:pPr>
            <a:r>
              <a:rPr dirty="0" lang="en-GB" sz="900">
                <a:solidFill>
                  <a:schemeClr val="tx1"/>
                </a:solidFill>
                <a:ea typeface="+mn-ea"/>
                <a:cs typeface="+mn-cs"/>
              </a:rPr>
              <a:t>Blood vessels</a:t>
            </a:r>
            <a:endParaRPr b="1" baseline="0" cap="none" dirty="0" i="0" kern="1200" kumimoji="0" lang="en-GB" noProof="0" normalizeH="0" spc="0" strike="noStrike" sz="900" u="none">
              <a:ln>
                <a:noFill/>
              </a:ln>
              <a:solidFill>
                <a:schemeClr val="tx1"/>
              </a:solidFill>
              <a:effectLst/>
              <a:uLnTx/>
              <a:uFillTx/>
              <a:latin typeface="+mj-lt"/>
              <a:ea typeface="+mn-ea"/>
              <a:cs typeface="+mn-cs"/>
            </a:endParaRPr>
          </a:p>
        </p:txBody>
      </p:sp>
    </p:spTree>
    <p:extLst>
      <p:ext uri="{BB962C8B-B14F-4D97-AF65-F5344CB8AC3E}">
        <p14:creationId xmlns:p14="http://schemas.microsoft.com/office/powerpoint/2010/main" val="424583417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2388" name="Rectangle 4"/>
          <p:cNvSpPr>
            <a:spLocks noChangeArrowheads="1" noGrp="1"/>
          </p:cNvSpPr>
          <p:nvPr>
            <p:ph type="title"/>
          </p:nvPr>
        </p:nvSpPr>
        <p:spPr/>
        <p:txBody>
          <a:bodyPr/>
          <a:lstStyle/>
          <a:p>
            <a:r>
              <a:rPr altLang="en-US" dirty="0" lang="en-US"/>
              <a:t>Blood Vessels </a:t>
            </a:r>
          </a:p>
        </p:txBody>
      </p:sp>
      <p:sp>
        <p:nvSpPr>
          <p:cNvPr id="272389" name="Rectangle 5"/>
          <p:cNvSpPr>
            <a:spLocks noChangeArrowheads="1" noGrp="1"/>
          </p:cNvSpPr>
          <p:nvPr>
            <p:ph idx="1" type="body"/>
          </p:nvPr>
        </p:nvSpPr>
        <p:spPr/>
        <p:txBody>
          <a:bodyPr/>
          <a:lstStyle/>
          <a:p>
            <a:r>
              <a:rPr altLang="en-US" dirty="0" lang="en-US"/>
              <a:t>Blood is carried in a closed system of vessels that begins and ends at the heart</a:t>
            </a:r>
          </a:p>
          <a:p>
            <a:r>
              <a:rPr altLang="en-US" dirty="0" lang="en-US"/>
              <a:t>The three major types of vessels are </a:t>
            </a:r>
            <a:r>
              <a:rPr altLang="en-US" b="1" dirty="0" lang="en-US"/>
              <a:t>arteries</a:t>
            </a:r>
            <a:r>
              <a:rPr altLang="en-US" dirty="0" lang="en-US"/>
              <a:t>, </a:t>
            </a:r>
            <a:r>
              <a:rPr altLang="en-US" b="1" dirty="0" lang="en-US"/>
              <a:t>capillaries</a:t>
            </a:r>
            <a:r>
              <a:rPr altLang="en-US" dirty="0" lang="en-US"/>
              <a:t>, and </a:t>
            </a:r>
            <a:r>
              <a:rPr altLang="en-US" b="1" dirty="0" lang="en-US"/>
              <a:t>veins</a:t>
            </a:r>
          </a:p>
          <a:p>
            <a:r>
              <a:rPr altLang="en-US" dirty="0" lang="en-US"/>
              <a:t>Arteries carry blood </a:t>
            </a:r>
            <a:r>
              <a:rPr altLang="en-US" dirty="0" lang="en-US" u="sng"/>
              <a:t>away</a:t>
            </a:r>
            <a:r>
              <a:rPr altLang="en-US" dirty="0" lang="en-US"/>
              <a:t> from the heart, veins carry blood </a:t>
            </a:r>
            <a:r>
              <a:rPr altLang="en-US" dirty="0" lang="en-US" u="sng"/>
              <a:t>toward</a:t>
            </a:r>
            <a:r>
              <a:rPr altLang="en-US" dirty="0" lang="en-US"/>
              <a:t> the heart</a:t>
            </a:r>
          </a:p>
          <a:p>
            <a:r>
              <a:rPr altLang="en-US" dirty="0" lang="en-US"/>
              <a:t>Capillaries contact tissue cells and are the site of exchange</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2389">
                                            <p:txEl>
                                              <p:pRg end="1" st="1"/>
                                            </p:txEl>
                                          </p:spTgt>
                                        </p:tgtEl>
                                        <p:attrNameLst>
                                          <p:attrName>style.visibility</p:attrName>
                                        </p:attrNameLst>
                                      </p:cBhvr>
                                      <p:to>
                                        <p:strVal val="visible"/>
                                      </p:to>
                                    </p:set>
                                    <p:anim calcmode="discrete" valueType="clr">
                                      <p:cBhvr override="childStyle">
                                        <p:cTn dur="80" id="7"/>
                                        <p:tgtEl>
                                          <p:spTgt spid="272389">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2389">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72389">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2389">
                                            <p:txEl>
                                              <p:pRg end="2" st="2"/>
                                            </p:txEl>
                                          </p:spTgt>
                                        </p:tgtEl>
                                        <p:attrNameLst>
                                          <p:attrName>style.visibility</p:attrName>
                                        </p:attrNameLst>
                                      </p:cBhvr>
                                      <p:to>
                                        <p:strVal val="visible"/>
                                      </p:to>
                                    </p:set>
                                    <p:anim calcmode="discrete" valueType="clr">
                                      <p:cBhvr override="childStyle">
                                        <p:cTn dur="80" id="14"/>
                                        <p:tgtEl>
                                          <p:spTgt spid="272389">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2389">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72389">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2389">
                                            <p:txEl>
                                              <p:pRg end="3" st="3"/>
                                            </p:txEl>
                                          </p:spTgt>
                                        </p:tgtEl>
                                        <p:attrNameLst>
                                          <p:attrName>style.visibility</p:attrName>
                                        </p:attrNameLst>
                                      </p:cBhvr>
                                      <p:to>
                                        <p:strVal val="visible"/>
                                      </p:to>
                                    </p:set>
                                    <p:anim calcmode="discrete" valueType="clr">
                                      <p:cBhvr override="childStyle">
                                        <p:cTn dur="80" id="21"/>
                                        <p:tgtEl>
                                          <p:spTgt spid="272389">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2389">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72389">
                                            <p:txEl>
                                              <p:pRg end="3" st="3"/>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a:xfrm>
            <a:off x="411142" y="326950"/>
            <a:ext cx="8639386" cy="291339"/>
          </a:xfrm>
        </p:spPr>
        <p:txBody>
          <a:bodyPr>
            <a:noAutofit/>
          </a:bodyPr>
          <a:lstStyle/>
          <a:p>
            <a:r>
              <a:rPr dirty="0" lang="en-IN" sz="1600"/>
              <a:t>The relationship of blood vessels to each other and to lymphatic vessels.</a:t>
            </a:r>
            <a:endParaRPr dirty="0" lang="en-US" sz="1600"/>
          </a:p>
        </p:txBody>
      </p:sp>
      <p:pic>
        <p:nvPicPr>
          <p:cNvPr descr="This schematic diagram illustrates the relationship between the heart, venous system, and arterial system.  - Heart diagram is shown in center with following branches shown: - Arterial system:  conducts blood flow from heart (shown coming off right hand side of heart) that branches into: - Elastic arteries (pressure reservoirs) that branch into: - Muscular arteries (distributing arteries) that branch into: - Arteriovenous anastomosis - Arterioles (resistance vessels), which subdivide into:  - Terminal arterioles, that branch into: - Capillaries (exchange vessels) that merge to form: - Venous system:  formed when capillaries merge to form: - Postcapillary venules that merge into: - Small veins (capacitance vessels) that merge into: - Large veins (capacitance vessels) that empty back into heart - Lymphatic system branching is also depicted: - Lymphatic capillaries at capillary bed level merge and run through lymph nodes that empty into: - Large lymphatic vessels " id="2" name="Picture 2">
            <a:extLst>
              <a:ext uri="{FF2B5EF4-FFF2-40B4-BE49-F238E27FC236}">
                <a16:creationId xmlns:a16="http://schemas.microsoft.com/office/drawing/2014/main" id="{9D3DCFE7-9F2D-9EFE-C49E-B56488D720F2}"/>
              </a:ext>
            </a:extLst>
          </p:cNvPr>
          <p:cNvPicPr>
            <a:picLocks noChangeArrowheads="1" noChangeAspect="1"/>
          </p:cNvPicPr>
          <p:nvPr/>
        </p:nvPicPr>
        <p:blipFill rotWithShape="1">
          <a:blip r:embed="rId3">
            <a:extLst>
              <a:ext uri="{28A0092B-C50C-407E-A947-70E740481C1C}">
                <a14:useLocalDpi xmlns:a14="http://schemas.microsoft.com/office/drawing/2010/main" val="0"/>
              </a:ext>
            </a:extLst>
          </a:blip>
          <a:srcRect b="1495"/>
          <a:stretch/>
        </p:blipFill>
        <p:spPr bwMode="auto">
          <a:xfrm>
            <a:off x="1755648" y="740384"/>
            <a:ext cx="5937503" cy="6117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117183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 Part (b) is an illustration showing comparison of wall structures of arteries, veins and capillaries. Of note, tunica media is thicker than tunica externa in arteries and the opposite   is true in veins.  Labels include: - Tunica intima:  consisting of endothelium, subendothelial layer, and internal elastic membrane. - Tunica media:  consisting of smooth muscle and elastic fibers, including external elastic membrane. - Tunica externa:  consisting of collagen fibers and vasa vasorum. - Also shown are capillary network, lumen and valve of vein." id="2" name="Picture 2">
            <a:extLst>
              <a:ext uri="{FF2B5EF4-FFF2-40B4-BE49-F238E27FC236}">
                <a16:creationId xmlns:a16="http://schemas.microsoft.com/office/drawing/2014/main" id="{5ABE6826-4C14-43AD-F12F-2EA29AF57C1A}"/>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901"/>
          <a:stretch/>
        </p:blipFill>
        <p:spPr bwMode="auto">
          <a:xfrm>
            <a:off x="551688" y="828676"/>
            <a:ext cx="8363712" cy="6029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4434" name="Rectangle 2"/>
          <p:cNvSpPr>
            <a:spLocks noChangeArrowheads="1" noGrp="1"/>
          </p:cNvSpPr>
          <p:nvPr>
            <p:ph type="title"/>
          </p:nvPr>
        </p:nvSpPr>
        <p:spPr/>
        <p:txBody>
          <a:bodyPr/>
          <a:lstStyle/>
          <a:p>
            <a:r>
              <a:rPr altLang="en-US" lang="en-US"/>
              <a:t>Generalized Structure of Blood Vessels</a:t>
            </a:r>
          </a:p>
        </p:txBody>
      </p:sp>
      <p:sp>
        <p:nvSpPr>
          <p:cNvPr id="274437" name="Text Box 5"/>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lang="en-US" sz="1200">
                <a:solidFill>
                  <a:schemeClr val="accent2"/>
                </a:solidFill>
                <a:latin charset="0" panose="020B0604020202020204" pitchFamily="34" typeface="Arial"/>
              </a:rPr>
              <a:t>Figure 19.1b</a:t>
            </a:r>
          </a:p>
        </p:txBody>
      </p:sp>
    </p:spTree>
  </p:cSld>
  <p:clrMapOvr>
    <a:masterClrMapping/>
  </p:clrMapOvr>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5460" name="Rectangle 4"/>
          <p:cNvSpPr>
            <a:spLocks noChangeArrowheads="1" noGrp="1"/>
          </p:cNvSpPr>
          <p:nvPr>
            <p:ph type="title"/>
          </p:nvPr>
        </p:nvSpPr>
        <p:spPr/>
        <p:txBody>
          <a:bodyPr/>
          <a:lstStyle/>
          <a:p>
            <a:r>
              <a:rPr altLang="en-US" lang="en-US"/>
              <a:t>Tunics</a:t>
            </a:r>
          </a:p>
        </p:txBody>
      </p:sp>
      <p:sp>
        <p:nvSpPr>
          <p:cNvPr id="275461" name="Rectangle 5"/>
          <p:cNvSpPr>
            <a:spLocks noChangeArrowheads="1" noGrp="1"/>
          </p:cNvSpPr>
          <p:nvPr>
            <p:ph idx="1" type="body"/>
          </p:nvPr>
        </p:nvSpPr>
        <p:spPr>
          <a:xfrm>
            <a:off x="644525" y="744538"/>
            <a:ext cx="8270875" cy="6113462"/>
          </a:xfrm>
        </p:spPr>
        <p:txBody>
          <a:bodyPr/>
          <a:lstStyle/>
          <a:p>
            <a:r>
              <a:rPr altLang="en-US" b="1" dirty="0" lang="en-US"/>
              <a:t>Tunica </a:t>
            </a:r>
            <a:r>
              <a:rPr altLang="en-US" b="1" dirty="0" err="1" lang="en-US"/>
              <a:t>interna</a:t>
            </a:r>
            <a:r>
              <a:rPr altLang="en-US" b="1" dirty="0" lang="en-US"/>
              <a:t> </a:t>
            </a:r>
            <a:r>
              <a:rPr altLang="en-US" dirty="0" lang="en-US"/>
              <a:t>(tunica intima)</a:t>
            </a:r>
          </a:p>
          <a:p>
            <a:pPr lvl="1"/>
            <a:r>
              <a:rPr altLang="en-US" dirty="0" lang="en-US"/>
              <a:t>Endothelial layer that lines the lumen of all vessels</a:t>
            </a:r>
          </a:p>
          <a:p>
            <a:pPr lvl="3"/>
            <a:r>
              <a:rPr dirty="0" lang="en-US"/>
              <a:t>Continuous with endocardium</a:t>
            </a:r>
          </a:p>
          <a:p>
            <a:pPr lvl="3"/>
            <a:r>
              <a:rPr dirty="0" lang="en-US"/>
              <a:t>Slick surface reduces friction</a:t>
            </a:r>
            <a:endParaRPr altLang="en-US" dirty="0" lang="en-US"/>
          </a:p>
          <a:p>
            <a:r>
              <a:rPr altLang="en-US" b="1" dirty="0" lang="en-US"/>
              <a:t>Tunica media</a:t>
            </a:r>
          </a:p>
          <a:p>
            <a:pPr lvl="1"/>
            <a:r>
              <a:rPr altLang="en-US" dirty="0" lang="en-US"/>
              <a:t>Smooth muscle and elastic fiber layer, regulated by sympathetic nervous system</a:t>
            </a:r>
          </a:p>
          <a:p>
            <a:pPr lvl="1"/>
            <a:r>
              <a:rPr altLang="en-US" dirty="0" lang="en-US"/>
              <a:t>Controls </a:t>
            </a:r>
            <a:r>
              <a:rPr altLang="en-US" dirty="0" lang="en-US" u="sng"/>
              <a:t>vasoconstriction/vasodilation</a:t>
            </a:r>
            <a:r>
              <a:rPr altLang="en-US" dirty="0" lang="en-US"/>
              <a:t> of vessels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5461">
                                            <p:txEl>
                                              <p:pRg end="0" st="0"/>
                                            </p:txEl>
                                          </p:spTgt>
                                        </p:tgtEl>
                                        <p:attrNameLst>
                                          <p:attrName>style.visibility</p:attrName>
                                        </p:attrNameLst>
                                      </p:cBhvr>
                                      <p:to>
                                        <p:strVal val="visible"/>
                                      </p:to>
                                    </p:set>
                                    <p:anim calcmode="discrete" valueType="clr">
                                      <p:cBhvr override="childStyle">
                                        <p:cTn dur="80" id="7"/>
                                        <p:tgtEl>
                                          <p:spTgt spid="275461">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5461">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75461">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5461">
                                            <p:txEl>
                                              <p:pRg end="4" st="4"/>
                                            </p:txEl>
                                          </p:spTgt>
                                        </p:tgtEl>
                                        <p:attrNameLst>
                                          <p:attrName>style.visibility</p:attrName>
                                        </p:attrNameLst>
                                      </p:cBhvr>
                                      <p:to>
                                        <p:strVal val="visible"/>
                                      </p:to>
                                    </p:set>
                                    <p:anim calcmode="discrete" valueType="clr">
                                      <p:cBhvr override="childStyle">
                                        <p:cTn dur="80" id="14"/>
                                        <p:tgtEl>
                                          <p:spTgt spid="275461">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5461">
                                            <p:txEl>
                                              <p:pRg end="4" st="4"/>
                                            </p:txEl>
                                          </p:spTgt>
                                        </p:tgtEl>
                                        <p:attrNameLst>
                                          <p:attrName>fillcolor</p:attrName>
                                        </p:attrNameLst>
                                      </p:cBhvr>
                                      <p:tavLst>
                                        <p:tav tm="0">
                                          <p:val>
                                            <p:clrVal>
                                              <a:schemeClr val="accent2"/>
                                            </p:clrVal>
                                          </p:val>
                                        </p:tav>
                                        <p:tav tm="50000">
                                          <p:val>
                                            <p:clrVal>
                                              <a:schemeClr val="hlink"/>
                                            </p:clrVal>
                                          </p:val>
                                        </p:tav>
                                      </p:tavLst>
                                    </p:anim>
                                    <p:set>
                                      <p:cBhvr>
                                        <p:cTn dur="80" id="16"/>
                                        <p:tgtEl>
                                          <p:spTgt spid="275461">
                                            <p:txEl>
                                              <p:pRg end="4" st="4"/>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5461">
                                            <p:txEl>
                                              <p:pRg end="1" st="1"/>
                                            </p:txEl>
                                          </p:spTgt>
                                        </p:tgtEl>
                                        <p:attrNameLst>
                                          <p:attrName>style.visibility</p:attrName>
                                        </p:attrNameLst>
                                      </p:cBhvr>
                                      <p:to>
                                        <p:strVal val="visible"/>
                                      </p:to>
                                    </p:set>
                                    <p:anim calcmode="discrete" valueType="clr">
                                      <p:cBhvr override="childStyle">
                                        <p:cTn dur="80" id="21"/>
                                        <p:tgtEl>
                                          <p:spTgt spid="27546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5461">
                                            <p:txEl>
                                              <p:pRg end="1" st="1"/>
                                            </p:txEl>
                                          </p:spTgt>
                                        </p:tgtEl>
                                        <p:attrNameLst>
                                          <p:attrName>fillcolor</p:attrName>
                                        </p:attrNameLst>
                                      </p:cBhvr>
                                      <p:tavLst>
                                        <p:tav tm="0">
                                          <p:val>
                                            <p:clrVal>
                                              <a:schemeClr val="accent2"/>
                                            </p:clrVal>
                                          </p:val>
                                        </p:tav>
                                        <p:tav tm="50000">
                                          <p:val>
                                            <p:clrVal>
                                              <a:schemeClr val="hlink"/>
                                            </p:clrVal>
                                          </p:val>
                                        </p:tav>
                                      </p:tavLst>
                                    </p:anim>
                                    <p:set>
                                      <p:cBhvr>
                                        <p:cTn dur="80" id="23"/>
                                        <p:tgtEl>
                                          <p:spTgt spid="275461">
                                            <p:txEl>
                                              <p:pRg end="1" st="1"/>
                                            </p:txEl>
                                          </p:spTgt>
                                        </p:tgtEl>
                                        <p:attrNameLst>
                                          <p:attrName>fill.type</p:attrName>
                                        </p:attrNameLst>
                                      </p:cBhvr>
                                      <p:to>
                                        <p:strVal val="solid"/>
                                      </p:to>
                                    </p:set>
                                  </p:childTnLst>
                                </p:cTn>
                              </p:par>
                            </p:childTnLst>
                          </p:cTn>
                        </p:par>
                      </p:childTnLst>
                    </p:cTn>
                  </p:par>
                  <p:par>
                    <p:cTn fill="hold" id="24">
                      <p:stCondLst>
                        <p:cond delay="indefinite"/>
                      </p:stCondLst>
                      <p:childTnLst>
                        <p:par>
                          <p:cTn fill="hold" id="25">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75461">
                                            <p:txEl>
                                              <p:pRg end="2" st="2"/>
                                            </p:txEl>
                                          </p:spTgt>
                                        </p:tgtEl>
                                        <p:attrNameLst>
                                          <p:attrName>style.visibility</p:attrName>
                                        </p:attrNameLst>
                                      </p:cBhvr>
                                      <p:to>
                                        <p:strVal val="visible"/>
                                      </p:to>
                                    </p:set>
                                    <p:anim calcmode="discrete" valueType="clr">
                                      <p:cBhvr override="childStyle">
                                        <p:cTn dur="80" id="28"/>
                                        <p:tgtEl>
                                          <p:spTgt spid="27546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75461">
                                            <p:txEl>
                                              <p:pRg end="2" st="2"/>
                                            </p:txEl>
                                          </p:spTgt>
                                        </p:tgtEl>
                                        <p:attrNameLst>
                                          <p:attrName>fillcolor</p:attrName>
                                        </p:attrNameLst>
                                      </p:cBhvr>
                                      <p:tavLst>
                                        <p:tav tm="0">
                                          <p:val>
                                            <p:clrVal>
                                              <a:schemeClr val="accent2"/>
                                            </p:clrVal>
                                          </p:val>
                                        </p:tav>
                                        <p:tav tm="50000">
                                          <p:val>
                                            <p:clrVal>
                                              <a:schemeClr val="hlink"/>
                                            </p:clrVal>
                                          </p:val>
                                        </p:tav>
                                      </p:tavLst>
                                    </p:anim>
                                    <p:set>
                                      <p:cBhvr>
                                        <p:cTn dur="80" id="30"/>
                                        <p:tgtEl>
                                          <p:spTgt spid="275461">
                                            <p:txEl>
                                              <p:pRg end="2" st="2"/>
                                            </p:txEl>
                                          </p:spTgt>
                                        </p:tgtEl>
                                        <p:attrNameLst>
                                          <p:attrName>fill.type</p:attrName>
                                        </p:attrNameLst>
                                      </p:cBhvr>
                                      <p:to>
                                        <p:strVal val="solid"/>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75461">
                                            <p:txEl>
                                              <p:pRg end="3" st="3"/>
                                            </p:txEl>
                                          </p:spTgt>
                                        </p:tgtEl>
                                        <p:attrNameLst>
                                          <p:attrName>style.visibility</p:attrName>
                                        </p:attrNameLst>
                                      </p:cBhvr>
                                      <p:to>
                                        <p:strVal val="visible"/>
                                      </p:to>
                                    </p:set>
                                    <p:anim calcmode="discrete" valueType="clr">
                                      <p:cBhvr override="childStyle">
                                        <p:cTn dur="80" id="35"/>
                                        <p:tgtEl>
                                          <p:spTgt spid="27546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75461">
                                            <p:txEl>
                                              <p:pRg end="3" st="3"/>
                                            </p:txEl>
                                          </p:spTgt>
                                        </p:tgtEl>
                                        <p:attrNameLst>
                                          <p:attrName>fillcolor</p:attrName>
                                        </p:attrNameLst>
                                      </p:cBhvr>
                                      <p:tavLst>
                                        <p:tav tm="0">
                                          <p:val>
                                            <p:clrVal>
                                              <a:schemeClr val="accent2"/>
                                            </p:clrVal>
                                          </p:val>
                                        </p:tav>
                                        <p:tav tm="50000">
                                          <p:val>
                                            <p:clrVal>
                                              <a:schemeClr val="hlink"/>
                                            </p:clrVal>
                                          </p:val>
                                        </p:tav>
                                      </p:tavLst>
                                    </p:anim>
                                    <p:set>
                                      <p:cBhvr>
                                        <p:cTn dur="80" id="37"/>
                                        <p:tgtEl>
                                          <p:spTgt spid="275461">
                                            <p:txEl>
                                              <p:pRg end="3" st="3"/>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275461">
                                            <p:txEl>
                                              <p:pRg end="5" st="5"/>
                                            </p:txEl>
                                          </p:spTgt>
                                        </p:tgtEl>
                                        <p:attrNameLst>
                                          <p:attrName>style.visibility</p:attrName>
                                        </p:attrNameLst>
                                      </p:cBhvr>
                                      <p:to>
                                        <p:strVal val="visible"/>
                                      </p:to>
                                    </p:set>
                                    <p:anim calcmode="discrete" valueType="clr">
                                      <p:cBhvr override="childStyle">
                                        <p:cTn dur="80" id="42"/>
                                        <p:tgtEl>
                                          <p:spTgt spid="275461">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275461">
                                            <p:txEl>
                                              <p:pRg end="5" st="5"/>
                                            </p:txEl>
                                          </p:spTgt>
                                        </p:tgtEl>
                                        <p:attrNameLst>
                                          <p:attrName>fillcolor</p:attrName>
                                        </p:attrNameLst>
                                      </p:cBhvr>
                                      <p:tavLst>
                                        <p:tav tm="0">
                                          <p:val>
                                            <p:clrVal>
                                              <a:schemeClr val="accent2"/>
                                            </p:clrVal>
                                          </p:val>
                                        </p:tav>
                                        <p:tav tm="50000">
                                          <p:val>
                                            <p:clrVal>
                                              <a:schemeClr val="hlink"/>
                                            </p:clrVal>
                                          </p:val>
                                        </p:tav>
                                      </p:tavLst>
                                    </p:anim>
                                    <p:set>
                                      <p:cBhvr>
                                        <p:cTn dur="80" id="44"/>
                                        <p:tgtEl>
                                          <p:spTgt spid="275461">
                                            <p:txEl>
                                              <p:pRg end="5" st="5"/>
                                            </p:txEl>
                                          </p:spTgt>
                                        </p:tgtEl>
                                        <p:attrNameLst>
                                          <p:attrName>fill.type</p:attrName>
                                        </p:attrNameLst>
                                      </p:cBhvr>
                                      <p:to>
                                        <p:strVal val="solid"/>
                                      </p:to>
                                    </p:set>
                                  </p:childTnLst>
                                </p:cTn>
                              </p:par>
                            </p:childTnLst>
                          </p:cTn>
                        </p:par>
                      </p:childTnLst>
                    </p:cTn>
                  </p:par>
                  <p:par>
                    <p:cTn fill="hold" id="45" nodeType="clickPar">
                      <p:stCondLst>
                        <p:cond delay="indefinite"/>
                      </p:stCondLst>
                      <p:childTnLst>
                        <p:par>
                          <p:cTn fill="hold" id="46" nodeType="withGroup">
                            <p:stCondLst>
                              <p:cond delay="0"/>
                            </p:stCondLst>
                            <p:childTnLst>
                              <p:par>
                                <p:cTn fill="hold" id="47" nodeType="clickEffect" presetClass="entr" presetID="27" presetSubtype="0">
                                  <p:stCondLst>
                                    <p:cond delay="0"/>
                                  </p:stCondLst>
                                  <p:iterate type="lt">
                                    <p:tmPct val="50000"/>
                                  </p:iterate>
                                  <p:childTnLst>
                                    <p:set>
                                      <p:cBhvr>
                                        <p:cTn dur="1" fill="hold" id="48">
                                          <p:stCondLst>
                                            <p:cond delay="0"/>
                                          </p:stCondLst>
                                        </p:cTn>
                                        <p:tgtEl>
                                          <p:spTgt spid="275461">
                                            <p:txEl>
                                              <p:pRg end="6" st="6"/>
                                            </p:txEl>
                                          </p:spTgt>
                                        </p:tgtEl>
                                        <p:attrNameLst>
                                          <p:attrName>style.visibility</p:attrName>
                                        </p:attrNameLst>
                                      </p:cBhvr>
                                      <p:to>
                                        <p:strVal val="visible"/>
                                      </p:to>
                                    </p:set>
                                    <p:anim calcmode="discrete" valueType="clr">
                                      <p:cBhvr override="childStyle">
                                        <p:cTn dur="80" id="49"/>
                                        <p:tgtEl>
                                          <p:spTgt spid="275461">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50"/>
                                        <p:tgtEl>
                                          <p:spTgt spid="275461">
                                            <p:txEl>
                                              <p:pRg end="6" st="6"/>
                                            </p:txEl>
                                          </p:spTgt>
                                        </p:tgtEl>
                                        <p:attrNameLst>
                                          <p:attrName>fillcolor</p:attrName>
                                        </p:attrNameLst>
                                      </p:cBhvr>
                                      <p:tavLst>
                                        <p:tav tm="0">
                                          <p:val>
                                            <p:clrVal>
                                              <a:schemeClr val="accent2"/>
                                            </p:clrVal>
                                          </p:val>
                                        </p:tav>
                                        <p:tav tm="50000">
                                          <p:val>
                                            <p:clrVal>
                                              <a:schemeClr val="hlink"/>
                                            </p:clrVal>
                                          </p:val>
                                        </p:tav>
                                      </p:tavLst>
                                    </p:anim>
                                    <p:set>
                                      <p:cBhvr>
                                        <p:cTn dur="80" id="51"/>
                                        <p:tgtEl>
                                          <p:spTgt spid="275461">
                                            <p:txEl>
                                              <p:pRg end="6" st="6"/>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5460" name="Rectangle 4"/>
          <p:cNvSpPr>
            <a:spLocks noChangeArrowheads="1" noGrp="1"/>
          </p:cNvSpPr>
          <p:nvPr>
            <p:ph type="title"/>
          </p:nvPr>
        </p:nvSpPr>
        <p:spPr/>
        <p:txBody>
          <a:bodyPr/>
          <a:lstStyle/>
          <a:p>
            <a:r>
              <a:rPr altLang="en-US" dirty="0" lang="en-US"/>
              <a:t>Tunics (3</a:t>
            </a:r>
            <a:r>
              <a:rPr altLang="en-US" baseline="30000" dirty="0" lang="en-US"/>
              <a:t>rd</a:t>
            </a:r>
            <a:r>
              <a:rPr altLang="en-US" dirty="0" lang="en-US"/>
              <a:t> layer)</a:t>
            </a:r>
          </a:p>
        </p:txBody>
      </p:sp>
      <p:sp>
        <p:nvSpPr>
          <p:cNvPr id="275461" name="Rectangle 5"/>
          <p:cNvSpPr>
            <a:spLocks noChangeArrowheads="1" noGrp="1"/>
          </p:cNvSpPr>
          <p:nvPr>
            <p:ph idx="1" type="body"/>
          </p:nvPr>
        </p:nvSpPr>
        <p:spPr>
          <a:xfrm>
            <a:off x="644525" y="744538"/>
            <a:ext cx="8270875" cy="6113462"/>
          </a:xfrm>
        </p:spPr>
        <p:txBody>
          <a:bodyPr/>
          <a:lstStyle/>
          <a:p>
            <a:r>
              <a:rPr altLang="en-US" b="1" dirty="0" lang="en-US"/>
              <a:t>Tunica </a:t>
            </a:r>
            <a:r>
              <a:rPr altLang="en-US" b="1" dirty="0" err="1" lang="en-US"/>
              <a:t>externa</a:t>
            </a:r>
            <a:r>
              <a:rPr altLang="en-US" b="1" dirty="0" lang="en-US"/>
              <a:t> </a:t>
            </a:r>
            <a:r>
              <a:rPr altLang="en-US" dirty="0" lang="en-US"/>
              <a:t>(tunica adventitia)</a:t>
            </a:r>
          </a:p>
          <a:p>
            <a:pPr lvl="1"/>
            <a:r>
              <a:rPr altLang="en-US" dirty="0" lang="en-US"/>
              <a:t>Collagen fibers that protect and reinforce vessels</a:t>
            </a:r>
          </a:p>
          <a:p>
            <a:pPr lvl="1"/>
            <a:r>
              <a:rPr altLang="en-US" dirty="0" lang="en-US"/>
              <a:t>Larger vessels contain vasa </a:t>
            </a:r>
            <a:r>
              <a:rPr altLang="en-US" dirty="0" err="1" lang="en-US"/>
              <a:t>vasorum</a:t>
            </a:r>
            <a:endParaRPr altLang="en-US" dirty="0" lang="en-US"/>
          </a:p>
          <a:p>
            <a:endParaRPr altLang="en-US" dirty="0" lang="en-US"/>
          </a:p>
        </p:txBody>
      </p:sp>
    </p:spTree>
    <p:extLst>
      <p:ext uri="{BB962C8B-B14F-4D97-AF65-F5344CB8AC3E}">
        <p14:creationId xmlns:p14="http://schemas.microsoft.com/office/powerpoint/2010/main" val="3831142018"/>
      </p:ext>
    </p:extLst>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5461">
                                            <p:txEl>
                                              <p:pRg end="0" st="0"/>
                                            </p:txEl>
                                          </p:spTgt>
                                        </p:tgtEl>
                                        <p:attrNameLst>
                                          <p:attrName>style.visibility</p:attrName>
                                        </p:attrNameLst>
                                      </p:cBhvr>
                                      <p:to>
                                        <p:strVal val="visible"/>
                                      </p:to>
                                    </p:set>
                                    <p:anim calcmode="discrete" valueType="clr">
                                      <p:cBhvr override="childStyle">
                                        <p:cTn dur="80" id="7"/>
                                        <p:tgtEl>
                                          <p:spTgt spid="275461">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5461">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75461">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5461">
                                            <p:txEl>
                                              <p:pRg end="1" st="1"/>
                                            </p:txEl>
                                          </p:spTgt>
                                        </p:tgtEl>
                                        <p:attrNameLst>
                                          <p:attrName>style.visibility</p:attrName>
                                        </p:attrNameLst>
                                      </p:cBhvr>
                                      <p:to>
                                        <p:strVal val="visible"/>
                                      </p:to>
                                    </p:set>
                                    <p:anim calcmode="discrete" valueType="clr">
                                      <p:cBhvr override="childStyle">
                                        <p:cTn dur="80" id="14"/>
                                        <p:tgtEl>
                                          <p:spTgt spid="27546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5461">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75461">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5461">
                                            <p:txEl>
                                              <p:pRg end="2" st="2"/>
                                            </p:txEl>
                                          </p:spTgt>
                                        </p:tgtEl>
                                        <p:attrNameLst>
                                          <p:attrName>style.visibility</p:attrName>
                                        </p:attrNameLst>
                                      </p:cBhvr>
                                      <p:to>
                                        <p:strVal val="visible"/>
                                      </p:to>
                                    </p:set>
                                    <p:anim calcmode="discrete" valueType="clr">
                                      <p:cBhvr override="childStyle">
                                        <p:cTn dur="80" id="21"/>
                                        <p:tgtEl>
                                          <p:spTgt spid="27546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5461">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75461">
                                            <p:txEl>
                                              <p:pRg end="2" st="2"/>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21890" name="Rectangle 2"/>
          <p:cNvSpPr>
            <a:spLocks noChangeArrowheads="1" noGrp="1"/>
          </p:cNvSpPr>
          <p:nvPr>
            <p:ph type="title"/>
          </p:nvPr>
        </p:nvSpPr>
        <p:spPr>
          <a:xfrm>
            <a:off x="304800" y="261938"/>
            <a:ext cx="8610600" cy="1944687"/>
          </a:xfrm>
        </p:spPr>
        <p:txBody>
          <a:bodyPr/>
          <a:lstStyle/>
          <a:p>
            <a:pPr algn="ctr"/>
            <a:r>
              <a:rPr altLang="en-US" lang="en-US" sz="4200"/>
              <a:t>Blood Vessel Types</a:t>
            </a:r>
          </a:p>
        </p:txBody>
      </p:sp>
      <p:sp>
        <p:nvSpPr>
          <p:cNvPr id="421895" name="Text Box 7"/>
          <p:cNvSpPr txBox="1">
            <a:spLocks noChangeArrowheads="1"/>
          </p:cNvSpPr>
          <p:nvPr/>
        </p:nvSpPr>
        <p:spPr bwMode="auto">
          <a:xfrm>
            <a:off x="0" y="1363663"/>
            <a:ext cx="273050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spcBef>
                <a:spcPct val="50000"/>
              </a:spcBef>
              <a:buFontTx/>
              <a:buChar char="•"/>
            </a:pPr>
            <a:r>
              <a:rPr altLang="en-US" b="0" lang="en-US" sz="4000"/>
              <a:t> Arteries</a:t>
            </a:r>
          </a:p>
          <a:p>
            <a:pPr>
              <a:spcBef>
                <a:spcPct val="50000"/>
              </a:spcBef>
              <a:buFontTx/>
              <a:buChar char="•"/>
            </a:pPr>
            <a:r>
              <a:rPr altLang="en-US" b="0" lang="en-US" sz="4000">
                <a:solidFill>
                  <a:schemeClr val="bg2"/>
                </a:solidFill>
              </a:rPr>
              <a:t>Arterioles</a:t>
            </a:r>
          </a:p>
          <a:p>
            <a:pPr>
              <a:spcBef>
                <a:spcPct val="50000"/>
              </a:spcBef>
              <a:buFontTx/>
              <a:buChar char="•"/>
            </a:pPr>
            <a:r>
              <a:rPr altLang="en-US" b="0" lang="en-US" sz="4000">
                <a:solidFill>
                  <a:schemeClr val="bg2"/>
                </a:solidFill>
              </a:rPr>
              <a:t>Capillaries</a:t>
            </a:r>
          </a:p>
          <a:p>
            <a:pPr>
              <a:spcBef>
                <a:spcPct val="50000"/>
              </a:spcBef>
              <a:buFontTx/>
              <a:buChar char="•"/>
            </a:pPr>
            <a:r>
              <a:rPr altLang="en-US" b="0" lang="en-US" sz="4000">
                <a:solidFill>
                  <a:schemeClr val="bg2"/>
                </a:solidFill>
              </a:rPr>
              <a:t>Venules</a:t>
            </a:r>
          </a:p>
          <a:p>
            <a:pPr>
              <a:spcBef>
                <a:spcPct val="50000"/>
              </a:spcBef>
              <a:buFontTx/>
              <a:buChar char="•"/>
            </a:pPr>
            <a:r>
              <a:rPr altLang="en-US" b="0" lang="en-US" sz="4000">
                <a:solidFill>
                  <a:schemeClr val="bg2"/>
                </a:solidFill>
              </a:rPr>
              <a:t>Veins</a:t>
            </a:r>
          </a:p>
        </p:txBody>
      </p:sp>
      <p:pic>
        <p:nvPicPr>
          <p:cNvPr descr="This schematic diagram illustrates the relationship between the heart, venous system, and arterial system.  - Heart diagram is shown in center with following branches shown: - Arterial system:  conducts blood flow from heart (shown coming off right hand side of heart) that branches into: - Elastic arteries (pressure reservoirs) that branch into: - Muscular arteries (distributing arteries) that branch into: - Arteriovenous anastomosis - Arterioles (resistance vessels), which subdivide into:  - Terminal arterioles, that branch into: - Capillaries (exchange vessels) that merge to form: - Venous system:  formed when capillaries merge to form: - Postcapillary venules that merge into: - Small veins (capacitance vessels) that merge into: - Large veins (capacitance vessels) that empty back into heart - Lymphatic system branching is also depicted: - Lymphatic capillaries at capillary bed level merge and run through lymph nodes that empty into: - Large lymphatic vessels " id="2" name="Picture 2">
            <a:extLst>
              <a:ext uri="{FF2B5EF4-FFF2-40B4-BE49-F238E27FC236}">
                <a16:creationId xmlns:a16="http://schemas.microsoft.com/office/drawing/2014/main" id="{21B5032F-628B-609B-CC34-65CC4C731D47}"/>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495"/>
          <a:stretch/>
        </p:blipFill>
        <p:spPr bwMode="auto">
          <a:xfrm>
            <a:off x="3035300" y="1066206"/>
            <a:ext cx="5242560" cy="5401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7508" name="Rectangle 4"/>
          <p:cNvSpPr>
            <a:spLocks noChangeArrowheads="1" noGrp="1"/>
          </p:cNvSpPr>
          <p:nvPr>
            <p:ph type="title"/>
          </p:nvPr>
        </p:nvSpPr>
        <p:spPr/>
        <p:txBody>
          <a:bodyPr/>
          <a:lstStyle/>
          <a:p>
            <a:r>
              <a:rPr altLang="en-US" lang="en-US"/>
              <a:t>Elastic (Conducting) Arteries</a:t>
            </a:r>
          </a:p>
        </p:txBody>
      </p:sp>
      <p:sp>
        <p:nvSpPr>
          <p:cNvPr id="277509" name="Rectangle 5"/>
          <p:cNvSpPr>
            <a:spLocks noChangeArrowheads="1" noGrp="1"/>
          </p:cNvSpPr>
          <p:nvPr>
            <p:ph idx="1" type="body"/>
          </p:nvPr>
        </p:nvSpPr>
        <p:spPr/>
        <p:txBody>
          <a:bodyPr/>
          <a:lstStyle/>
          <a:p>
            <a:r>
              <a:rPr altLang="en-US" lang="en-US"/>
              <a:t>Thick-walled arteries near the heart; </a:t>
            </a:r>
            <a:r>
              <a:rPr altLang="en-US" lang="en-US" u="sng"/>
              <a:t>the aorta and its major branches</a:t>
            </a:r>
          </a:p>
          <a:p>
            <a:pPr lvl="1"/>
            <a:r>
              <a:rPr altLang="en-US" lang="en-US"/>
              <a:t>Large lumen allow low-resistance conduction of blood </a:t>
            </a:r>
          </a:p>
          <a:p>
            <a:pPr lvl="1"/>
            <a:r>
              <a:rPr altLang="en-US" lang="en-US"/>
              <a:t>Contain </a:t>
            </a:r>
            <a:r>
              <a:rPr altLang="en-US" lang="en-US" u="sng"/>
              <a:t>elastin</a:t>
            </a:r>
            <a:r>
              <a:rPr altLang="en-US" lang="en-US"/>
              <a:t> in all three tunics</a:t>
            </a:r>
          </a:p>
          <a:p>
            <a:pPr lvl="1"/>
            <a:r>
              <a:rPr altLang="en-US" lang="en-US"/>
              <a:t>Withstand and smooth out large blood pressure fluctuations </a:t>
            </a:r>
          </a:p>
          <a:p>
            <a:pPr lvl="1"/>
            <a:r>
              <a:rPr altLang="en-US" lang="en-US"/>
              <a:t>Serve as </a:t>
            </a:r>
            <a:r>
              <a:rPr altLang="en-US" b="1" lang="en-US"/>
              <a:t>pressure reservoirs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7509">
                                            <p:txEl>
                                              <p:pRg end="1" st="1"/>
                                            </p:txEl>
                                          </p:spTgt>
                                        </p:tgtEl>
                                        <p:attrNameLst>
                                          <p:attrName>style.visibility</p:attrName>
                                        </p:attrNameLst>
                                      </p:cBhvr>
                                      <p:to>
                                        <p:strVal val="visible"/>
                                      </p:to>
                                    </p:set>
                                    <p:anim calcmode="discrete" valueType="clr">
                                      <p:cBhvr override="childStyle">
                                        <p:cTn dur="80" id="7"/>
                                        <p:tgtEl>
                                          <p:spTgt spid="277509">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7509">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77509">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7509">
                                            <p:txEl>
                                              <p:pRg end="2" st="2"/>
                                            </p:txEl>
                                          </p:spTgt>
                                        </p:tgtEl>
                                        <p:attrNameLst>
                                          <p:attrName>style.visibility</p:attrName>
                                        </p:attrNameLst>
                                      </p:cBhvr>
                                      <p:to>
                                        <p:strVal val="visible"/>
                                      </p:to>
                                    </p:set>
                                    <p:anim calcmode="discrete" valueType="clr">
                                      <p:cBhvr override="childStyle">
                                        <p:cTn dur="80" id="14"/>
                                        <p:tgtEl>
                                          <p:spTgt spid="277509">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7509">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77509">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7509">
                                            <p:txEl>
                                              <p:pRg end="3" st="3"/>
                                            </p:txEl>
                                          </p:spTgt>
                                        </p:tgtEl>
                                        <p:attrNameLst>
                                          <p:attrName>style.visibility</p:attrName>
                                        </p:attrNameLst>
                                      </p:cBhvr>
                                      <p:to>
                                        <p:strVal val="visible"/>
                                      </p:to>
                                    </p:set>
                                    <p:anim calcmode="discrete" valueType="clr">
                                      <p:cBhvr override="childStyle">
                                        <p:cTn dur="80" id="21"/>
                                        <p:tgtEl>
                                          <p:spTgt spid="277509">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7509">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77509">
                                            <p:txEl>
                                              <p:pRg end="3" st="3"/>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77509">
                                            <p:txEl>
                                              <p:pRg end="4" st="4"/>
                                            </p:txEl>
                                          </p:spTgt>
                                        </p:tgtEl>
                                        <p:attrNameLst>
                                          <p:attrName>style.visibility</p:attrName>
                                        </p:attrNameLst>
                                      </p:cBhvr>
                                      <p:to>
                                        <p:strVal val="visible"/>
                                      </p:to>
                                    </p:set>
                                    <p:anim calcmode="discrete" valueType="clr">
                                      <p:cBhvr override="childStyle">
                                        <p:cTn dur="80" id="28"/>
                                        <p:tgtEl>
                                          <p:spTgt spid="277509">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77509">
                                            <p:txEl>
                                              <p:pRg end="4" st="4"/>
                                            </p:txEl>
                                          </p:spTgt>
                                        </p:tgtEl>
                                        <p:attrNameLst>
                                          <p:attrName>fillcolor</p:attrName>
                                        </p:attrNameLst>
                                      </p:cBhvr>
                                      <p:tavLst>
                                        <p:tav tm="0">
                                          <p:val>
                                            <p:clrVal>
                                              <a:schemeClr val="accent2"/>
                                            </p:clrVal>
                                          </p:val>
                                        </p:tav>
                                        <p:tav tm="50000">
                                          <p:val>
                                            <p:clrVal>
                                              <a:schemeClr val="hlink"/>
                                            </p:clrVal>
                                          </p:val>
                                        </p:tav>
                                      </p:tavLst>
                                    </p:anim>
                                    <p:set>
                                      <p:cBhvr>
                                        <p:cTn dur="80" id="30"/>
                                        <p:tgtEl>
                                          <p:spTgt spid="277509">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8532" name="Rectangle 4"/>
          <p:cNvSpPr>
            <a:spLocks noChangeArrowheads="1" noGrp="1"/>
          </p:cNvSpPr>
          <p:nvPr>
            <p:ph type="title"/>
          </p:nvPr>
        </p:nvSpPr>
        <p:spPr/>
        <p:txBody>
          <a:bodyPr/>
          <a:lstStyle/>
          <a:p>
            <a:r>
              <a:rPr altLang="en-US" lang="en-US"/>
              <a:t>Muscular (Distributing) Arteries and Arterioles</a:t>
            </a:r>
          </a:p>
        </p:txBody>
      </p:sp>
      <p:sp>
        <p:nvSpPr>
          <p:cNvPr id="278533" name="Rectangle 5"/>
          <p:cNvSpPr>
            <a:spLocks noChangeArrowheads="1" noGrp="1"/>
          </p:cNvSpPr>
          <p:nvPr>
            <p:ph idx="1" type="body"/>
          </p:nvPr>
        </p:nvSpPr>
        <p:spPr/>
        <p:txBody>
          <a:bodyPr/>
          <a:lstStyle/>
          <a:p>
            <a:r>
              <a:rPr altLang="en-US" lang="en-US"/>
              <a:t>Muscular arteries – distal to elastic arteries; deliver blood to body organs</a:t>
            </a:r>
          </a:p>
          <a:p>
            <a:pPr lvl="1"/>
            <a:r>
              <a:rPr altLang="en-US" lang="en-US"/>
              <a:t>Have thick tunica media with more smooth muscle</a:t>
            </a:r>
          </a:p>
          <a:p>
            <a:pPr lvl="1"/>
            <a:r>
              <a:rPr altLang="en-US" lang="en-US"/>
              <a:t>Active in vasoconstriction</a:t>
            </a:r>
          </a:p>
          <a:p>
            <a:r>
              <a:rPr altLang="en-US" lang="en-US"/>
              <a:t>Arterioles – smallest arteries; lead to capillary beds</a:t>
            </a:r>
          </a:p>
          <a:p>
            <a:pPr lvl="1"/>
            <a:r>
              <a:rPr altLang="en-US" lang="en-US"/>
              <a:t>Control flow into capillary beds via vasodilation and constriction</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8533">
                                            <p:txEl>
                                              <p:pRg end="0" st="0"/>
                                            </p:txEl>
                                          </p:spTgt>
                                        </p:tgtEl>
                                        <p:attrNameLst>
                                          <p:attrName>style.visibility</p:attrName>
                                        </p:attrNameLst>
                                      </p:cBhvr>
                                      <p:to>
                                        <p:strVal val="visible"/>
                                      </p:to>
                                    </p:set>
                                    <p:anim calcmode="discrete" valueType="clr">
                                      <p:cBhvr override="childStyle">
                                        <p:cTn dur="80" id="7"/>
                                        <p:tgtEl>
                                          <p:spTgt spid="278533">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8533">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78533">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8533">
                                            <p:txEl>
                                              <p:pRg end="1" st="1"/>
                                            </p:txEl>
                                          </p:spTgt>
                                        </p:tgtEl>
                                        <p:attrNameLst>
                                          <p:attrName>style.visibility</p:attrName>
                                        </p:attrNameLst>
                                      </p:cBhvr>
                                      <p:to>
                                        <p:strVal val="visible"/>
                                      </p:to>
                                    </p:set>
                                    <p:anim calcmode="discrete" valueType="clr">
                                      <p:cBhvr override="childStyle">
                                        <p:cTn dur="80" id="14"/>
                                        <p:tgtEl>
                                          <p:spTgt spid="278533">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8533">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78533">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8533">
                                            <p:txEl>
                                              <p:pRg end="2" st="2"/>
                                            </p:txEl>
                                          </p:spTgt>
                                        </p:tgtEl>
                                        <p:attrNameLst>
                                          <p:attrName>style.visibility</p:attrName>
                                        </p:attrNameLst>
                                      </p:cBhvr>
                                      <p:to>
                                        <p:strVal val="visible"/>
                                      </p:to>
                                    </p:set>
                                    <p:anim calcmode="discrete" valueType="clr">
                                      <p:cBhvr override="childStyle">
                                        <p:cTn dur="80" id="21"/>
                                        <p:tgtEl>
                                          <p:spTgt spid="278533">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8533">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78533">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78533">
                                            <p:txEl>
                                              <p:pRg end="3" st="3"/>
                                            </p:txEl>
                                          </p:spTgt>
                                        </p:tgtEl>
                                        <p:attrNameLst>
                                          <p:attrName>style.visibility</p:attrName>
                                        </p:attrNameLst>
                                      </p:cBhvr>
                                      <p:to>
                                        <p:strVal val="visible"/>
                                      </p:to>
                                    </p:set>
                                    <p:anim calcmode="discrete" valueType="clr">
                                      <p:cBhvr override="childStyle">
                                        <p:cTn dur="80" id="28"/>
                                        <p:tgtEl>
                                          <p:spTgt spid="278533">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78533">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78533">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78533">
                                            <p:txEl>
                                              <p:pRg end="4" st="4"/>
                                            </p:txEl>
                                          </p:spTgt>
                                        </p:tgtEl>
                                        <p:attrNameLst>
                                          <p:attrName>style.visibility</p:attrName>
                                        </p:attrNameLst>
                                      </p:cBhvr>
                                      <p:to>
                                        <p:strVal val="visible"/>
                                      </p:to>
                                    </p:set>
                                    <p:anim calcmode="discrete" valueType="clr">
                                      <p:cBhvr override="childStyle">
                                        <p:cTn dur="80" id="35"/>
                                        <p:tgtEl>
                                          <p:spTgt spid="278533">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78533">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78533">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a:xfrm>
            <a:off x="283788" y="626534"/>
            <a:ext cx="3945466" cy="380999"/>
          </a:xfrm>
        </p:spPr>
        <p:txBody>
          <a:bodyPr>
            <a:normAutofit fontScale="90000"/>
          </a:bodyPr>
          <a:lstStyle/>
          <a:p>
            <a:r>
              <a:rPr dirty="0" lang="en-IN"/>
              <a:t>Summary of Blood Vessel Anatomy</a:t>
            </a:r>
            <a:endParaRPr dirty="0" lang="en-US"/>
          </a:p>
        </p:txBody>
      </p:sp>
      <p:pic>
        <p:nvPicPr>
          <p:cNvPr descr="Table 19.1-1. A 3-column table with 3 rows. The first column is labeled Vessel Type/Illustration. Size relationships are not proportional. Smaller vessels are drawn relatively larger so detail  can be seen. See column 2 for actual dimensions. Column 1 entries are elastic artery, which has a large opening; muscular artery, which has a small opening; and arteriole, which is longer and thinner than the previous 2 arteries with a large opening. The second column is labeled Average Lumen Diameter (D) and Wall Thickness (T) with entries D: 1.5 centimeters and T: 1.0 millimeters; D: 6.0 millimeters and T: 1.0 millimeters; and D: 37.0 micrometers and T: 6.0 micrometers. The third column is labeled Relative Tissue Makeup with graphs showing endothelium, elastic tissues, smooth muscles, and fibrous (collagenous tissues). From least to most, elastic artery makeup is endothelium, fibrous (collagenous) tissues, elastic tissues, and smooth muscles. From least to most, muscular artery makeup is endothelium, elastic tissues, fibrous (collagenous) tissues, and smooth muscles. From least to most, arteriole makeup is endothelium, elastic tissues, fibrous (collagenous) tissues, and smooth muscles. " id="3" name="Picture 3">
            <a:extLst>
              <a:ext uri="{FF2B5EF4-FFF2-40B4-BE49-F238E27FC236}">
                <a16:creationId xmlns:a16="http://schemas.microsoft.com/office/drawing/2014/main" id="{383D14A8-0605-F63B-AEC9-87C3F9821160}"/>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94828" y="329414"/>
            <a:ext cx="3678612" cy="6363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202531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9556" name="Rectangle 4"/>
          <p:cNvSpPr>
            <a:spLocks noChangeArrowheads="1" noGrp="1"/>
          </p:cNvSpPr>
          <p:nvPr>
            <p:ph type="title"/>
          </p:nvPr>
        </p:nvSpPr>
        <p:spPr/>
        <p:txBody>
          <a:bodyPr/>
          <a:lstStyle/>
          <a:p>
            <a:r>
              <a:rPr altLang="en-US" lang="en-US"/>
              <a:t>Capillaries</a:t>
            </a:r>
          </a:p>
        </p:txBody>
      </p:sp>
      <p:sp>
        <p:nvSpPr>
          <p:cNvPr id="279557" name="Rectangle 5"/>
          <p:cNvSpPr>
            <a:spLocks noChangeArrowheads="1" noGrp="1"/>
          </p:cNvSpPr>
          <p:nvPr>
            <p:ph idx="1" type="body"/>
          </p:nvPr>
        </p:nvSpPr>
        <p:spPr>
          <a:xfrm>
            <a:off x="304800" y="767716"/>
            <a:ext cx="8839200" cy="5056188"/>
          </a:xfrm>
        </p:spPr>
        <p:txBody>
          <a:bodyPr/>
          <a:lstStyle/>
          <a:p>
            <a:r>
              <a:rPr altLang="en-US" dirty="0" lang="en-US"/>
              <a:t>Capillaries are the smallest blood vessels </a:t>
            </a:r>
          </a:p>
          <a:p>
            <a:pPr lvl="1"/>
            <a:r>
              <a:rPr altLang="en-US" dirty="0" lang="en-US"/>
              <a:t>Walls consisting of a thin tunica </a:t>
            </a:r>
            <a:r>
              <a:rPr altLang="en-US" dirty="0" err="1" lang="en-US"/>
              <a:t>interna</a:t>
            </a:r>
            <a:r>
              <a:rPr altLang="en-US" dirty="0" lang="en-US"/>
              <a:t>, one cell thick</a:t>
            </a:r>
          </a:p>
          <a:p>
            <a:pPr lvl="1"/>
            <a:r>
              <a:rPr altLang="en-US" dirty="0" lang="en-US"/>
              <a:t>Allow only a single RBC to pass at a time </a:t>
            </a:r>
          </a:p>
          <a:p>
            <a:r>
              <a:rPr b="1" dirty="0" err="1" lang="en-US"/>
              <a:t>Pericytes</a:t>
            </a:r>
            <a:r>
              <a:rPr dirty="0" lang="en-US"/>
              <a:t>: spider-shaped stem cells help stabilize capillary walls, control permeability, and play a role in vessel repair</a:t>
            </a:r>
          </a:p>
          <a:p>
            <a:pPr lvl="1"/>
            <a:r>
              <a:rPr dirty="0" lang="en-US"/>
              <a:t>Supply almost every cell, except for cartilage, epithelia, cornea, and lens of eye</a:t>
            </a:r>
          </a:p>
          <a:p>
            <a:r>
              <a:rPr altLang="en-US" dirty="0" lang="en-US"/>
              <a:t>There are three structural types of capillaries: continuous, fenestrated, and sinusoids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9557">
                                            <p:txEl>
                                              <p:pRg end="1" st="1"/>
                                            </p:txEl>
                                          </p:spTgt>
                                        </p:tgtEl>
                                        <p:attrNameLst>
                                          <p:attrName>style.visibility</p:attrName>
                                        </p:attrNameLst>
                                      </p:cBhvr>
                                      <p:to>
                                        <p:strVal val="visible"/>
                                      </p:to>
                                    </p:set>
                                    <p:anim calcmode="discrete" valueType="clr">
                                      <p:cBhvr override="childStyle">
                                        <p:cTn dur="80" id="7"/>
                                        <p:tgtEl>
                                          <p:spTgt spid="279557">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9557">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79557">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9557">
                                            <p:txEl>
                                              <p:pRg end="2" st="2"/>
                                            </p:txEl>
                                          </p:spTgt>
                                        </p:tgtEl>
                                        <p:attrNameLst>
                                          <p:attrName>style.visibility</p:attrName>
                                        </p:attrNameLst>
                                      </p:cBhvr>
                                      <p:to>
                                        <p:strVal val="visible"/>
                                      </p:to>
                                    </p:set>
                                    <p:anim calcmode="discrete" valueType="clr">
                                      <p:cBhvr override="childStyle">
                                        <p:cTn dur="80" id="14"/>
                                        <p:tgtEl>
                                          <p:spTgt spid="279557">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9557">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79557">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9557">
                                            <p:txEl>
                                              <p:pRg end="5" st="5"/>
                                            </p:txEl>
                                          </p:spTgt>
                                        </p:tgtEl>
                                        <p:attrNameLst>
                                          <p:attrName>style.visibility</p:attrName>
                                        </p:attrNameLst>
                                      </p:cBhvr>
                                      <p:to>
                                        <p:strVal val="visible"/>
                                      </p:to>
                                    </p:set>
                                    <p:anim calcmode="discrete" valueType="clr">
                                      <p:cBhvr override="childStyle">
                                        <p:cTn dur="80" id="21"/>
                                        <p:tgtEl>
                                          <p:spTgt spid="279557">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9557">
                                            <p:txEl>
                                              <p:pRg end="5" st="5"/>
                                            </p:txEl>
                                          </p:spTgt>
                                        </p:tgtEl>
                                        <p:attrNameLst>
                                          <p:attrName>fillcolor</p:attrName>
                                        </p:attrNameLst>
                                      </p:cBhvr>
                                      <p:tavLst>
                                        <p:tav tm="0">
                                          <p:val>
                                            <p:clrVal>
                                              <a:schemeClr val="accent2"/>
                                            </p:clrVal>
                                          </p:val>
                                        </p:tav>
                                        <p:tav tm="50000">
                                          <p:val>
                                            <p:clrVal>
                                              <a:schemeClr val="hlink"/>
                                            </p:clrVal>
                                          </p:val>
                                        </p:tav>
                                      </p:tavLst>
                                    </p:anim>
                                    <p:set>
                                      <p:cBhvr>
                                        <p:cTn dur="80" id="23"/>
                                        <p:tgtEl>
                                          <p:spTgt spid="279557">
                                            <p:txEl>
                                              <p:pRg end="5" st="5"/>
                                            </p:txEl>
                                          </p:spTgt>
                                        </p:tgtEl>
                                        <p:attrNameLst>
                                          <p:attrName>fill.type</p:attrName>
                                        </p:attrNameLst>
                                      </p:cBhvr>
                                      <p:to>
                                        <p:strVal val="solid"/>
                                      </p:to>
                                    </p:set>
                                  </p:childTnLst>
                                </p:cTn>
                              </p:par>
                            </p:childTnLst>
                          </p:cTn>
                        </p:par>
                      </p:childTnLst>
                    </p:cTn>
                  </p:par>
                  <p:par>
                    <p:cTn fill="hold" id="24">
                      <p:stCondLst>
                        <p:cond delay="indefinite"/>
                      </p:stCondLst>
                      <p:childTnLst>
                        <p:par>
                          <p:cTn fill="hold" id="25">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79557">
                                            <p:txEl>
                                              <p:pRg end="3" st="3"/>
                                            </p:txEl>
                                          </p:spTgt>
                                        </p:tgtEl>
                                        <p:attrNameLst>
                                          <p:attrName>style.visibility</p:attrName>
                                        </p:attrNameLst>
                                      </p:cBhvr>
                                      <p:to>
                                        <p:strVal val="visible"/>
                                      </p:to>
                                    </p:set>
                                    <p:anim calcmode="discrete" valueType="clr">
                                      <p:cBhvr override="childStyle">
                                        <p:cTn dur="80" id="28"/>
                                        <p:tgtEl>
                                          <p:spTgt spid="279557">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79557">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79557">
                                            <p:txEl>
                                              <p:pRg end="3" st="3"/>
                                            </p:txEl>
                                          </p:spTgt>
                                        </p:tgtEl>
                                        <p:attrNameLst>
                                          <p:attrName>fill.type</p:attrName>
                                        </p:attrNameLst>
                                      </p:cBhvr>
                                      <p:to>
                                        <p:strVal val="solid"/>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79557">
                                            <p:txEl>
                                              <p:pRg end="4" st="4"/>
                                            </p:txEl>
                                          </p:spTgt>
                                        </p:tgtEl>
                                        <p:attrNameLst>
                                          <p:attrName>style.visibility</p:attrName>
                                        </p:attrNameLst>
                                      </p:cBhvr>
                                      <p:to>
                                        <p:strVal val="visible"/>
                                      </p:to>
                                    </p:set>
                                    <p:anim calcmode="discrete" valueType="clr">
                                      <p:cBhvr override="childStyle">
                                        <p:cTn dur="80" id="35"/>
                                        <p:tgtEl>
                                          <p:spTgt spid="279557">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79557">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79557">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descr="Slide title: Types of Capillaries" id="488450" name="Rectangle 2"/>
          <p:cNvSpPr>
            <a:spLocks noChangeArrowheads="1" noGrp="1"/>
          </p:cNvSpPr>
          <p:nvPr>
            <p:ph type="title"/>
          </p:nvPr>
        </p:nvSpPr>
        <p:spPr>
          <a:xfrm>
            <a:off x="0" y="215334"/>
            <a:ext cx="4233672" cy="1143000"/>
          </a:xfrm>
        </p:spPr>
        <p:txBody>
          <a:bodyPr/>
          <a:lstStyle/>
          <a:p>
            <a:r>
              <a:rPr altLang="en-US" dirty="0" lang="en-US"/>
              <a:t>Types of Capillaries</a:t>
            </a:r>
          </a:p>
        </p:txBody>
      </p:sp>
      <p:pic>
        <p:nvPicPr>
          <p:cNvPr descr="Three detailed medical diagrams illustrate cross-sections of blood vessels highlighting endothelial cells, red blood cells in lumen, and structural components like tight junctions, basement membrane, and intercellular clefts. Each diagram shows variations in vessel permeability, including presence of pinocytotic vesicles, fenestrations (pores), and large intercellular clefts, emphasizing differences in cellular barriers and transport mechanisms." id="7" name="Picture 6">
            <a:extLst>
              <a:ext uri="{FF2B5EF4-FFF2-40B4-BE49-F238E27FC236}">
                <a16:creationId xmlns:a16="http://schemas.microsoft.com/office/drawing/2014/main" id="{B6C02310-4EBC-10F1-690E-61410D9A873D}"/>
              </a:ext>
            </a:extLst>
          </p:cNvPr>
          <p:cNvPicPr>
            <a:picLocks noChangeAspect="1"/>
          </p:cNvPicPr>
          <p:nvPr/>
        </p:nvPicPr>
        <p:blipFill>
          <a:blip r:embed="rId2"/>
          <a:stretch>
            <a:fillRect/>
          </a:stretch>
        </p:blipFill>
        <p:spPr>
          <a:xfrm>
            <a:off x="0" y="706028"/>
            <a:ext cx="3581900" cy="5858693"/>
          </a:xfrm>
          <a:prstGeom prst="rect">
            <a:avLst/>
          </a:prstGeom>
        </p:spPr>
      </p:pic>
      <p:sp>
        <p:nvSpPr>
          <p:cNvPr id="488451" name="Rectangle 3"/>
          <p:cNvSpPr>
            <a:spLocks noChangeArrowheads="1" noGrp="1"/>
          </p:cNvSpPr>
          <p:nvPr>
            <p:ph idx="1" type="body"/>
          </p:nvPr>
        </p:nvSpPr>
        <p:spPr>
          <a:xfrm>
            <a:off x="3551238" y="412750"/>
            <a:ext cx="5592762" cy="6445250"/>
          </a:xfrm>
        </p:spPr>
        <p:txBody>
          <a:bodyPr/>
          <a:lstStyle/>
          <a:p>
            <a:pPr>
              <a:lnSpc>
                <a:spcPct val="90000"/>
              </a:lnSpc>
            </a:pPr>
            <a:r>
              <a:rPr altLang="en-US" dirty="0" lang="en-US" sz="2600"/>
              <a:t>Continuous capillaries</a:t>
            </a:r>
          </a:p>
          <a:p>
            <a:pPr lvl="1">
              <a:lnSpc>
                <a:spcPct val="90000"/>
              </a:lnSpc>
            </a:pPr>
            <a:r>
              <a:rPr altLang="en-US" dirty="0" lang="en-US" sz="2400"/>
              <a:t>intercellular clefts are gaps between neighboring cells</a:t>
            </a:r>
          </a:p>
          <a:p>
            <a:pPr lvl="1">
              <a:lnSpc>
                <a:spcPct val="90000"/>
              </a:lnSpc>
            </a:pPr>
            <a:r>
              <a:rPr altLang="en-US" dirty="0" lang="en-US" sz="2400"/>
              <a:t>Skeletal/smooth, CT, brain and lungs</a:t>
            </a:r>
          </a:p>
          <a:p>
            <a:pPr>
              <a:lnSpc>
                <a:spcPct val="90000"/>
              </a:lnSpc>
            </a:pPr>
            <a:r>
              <a:rPr altLang="en-US" dirty="0" lang="en-US" sz="2600"/>
              <a:t>Fenestrated capillaries</a:t>
            </a:r>
          </a:p>
          <a:p>
            <a:pPr lvl="1">
              <a:lnSpc>
                <a:spcPct val="90000"/>
              </a:lnSpc>
            </a:pPr>
            <a:r>
              <a:rPr altLang="en-US" dirty="0" lang="en-US" sz="2400"/>
              <a:t>plasma membranes have many holes</a:t>
            </a:r>
          </a:p>
          <a:p>
            <a:pPr lvl="1">
              <a:lnSpc>
                <a:spcPct val="90000"/>
              </a:lnSpc>
            </a:pPr>
            <a:r>
              <a:rPr altLang="en-US" dirty="0" lang="en-US" sz="2400"/>
              <a:t>kidneys, small intestine, choroid plexuses,  &amp; endocrine glands</a:t>
            </a:r>
          </a:p>
          <a:p>
            <a:pPr>
              <a:lnSpc>
                <a:spcPct val="90000"/>
              </a:lnSpc>
            </a:pPr>
            <a:r>
              <a:rPr altLang="en-US" dirty="0" lang="en-US" sz="2600"/>
              <a:t>Sinusoids</a:t>
            </a:r>
          </a:p>
          <a:p>
            <a:pPr lvl="1">
              <a:lnSpc>
                <a:spcPct val="90000"/>
              </a:lnSpc>
            </a:pPr>
            <a:r>
              <a:rPr altLang="en-US" dirty="0" lang="en-US" sz="2400"/>
              <a:t>very large fenestrations</a:t>
            </a:r>
          </a:p>
          <a:p>
            <a:pPr lvl="1">
              <a:lnSpc>
                <a:spcPct val="90000"/>
              </a:lnSpc>
            </a:pPr>
            <a:r>
              <a:rPr altLang="en-US" dirty="0" lang="en-US" sz="2400"/>
              <a:t>incomplete basement membrane</a:t>
            </a:r>
          </a:p>
          <a:p>
            <a:pPr lvl="1">
              <a:lnSpc>
                <a:spcPct val="90000"/>
              </a:lnSpc>
            </a:pPr>
            <a:r>
              <a:rPr altLang="en-US" dirty="0" lang="en-US" sz="2400"/>
              <a:t>liver, bone marrow, spleen, anterior pituitary, &amp; parathyroid gland</a:t>
            </a:r>
          </a:p>
        </p:txBody>
      </p:sp>
    </p:spTree>
  </p:cSld>
  <p:clrMapOvr>
    <a:masterClrMapping/>
  </p:clrMapOvr>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7748" name="Rectangle 4"/>
          <p:cNvSpPr>
            <a:spLocks noChangeArrowheads="1" noGrp="1"/>
          </p:cNvSpPr>
          <p:nvPr>
            <p:ph type="title"/>
          </p:nvPr>
        </p:nvSpPr>
        <p:spPr/>
        <p:txBody>
          <a:bodyPr/>
          <a:lstStyle/>
          <a:p>
            <a:r>
              <a:rPr altLang="en-US" lang="en-US"/>
              <a:t>Capillary Beds</a:t>
            </a:r>
          </a:p>
        </p:txBody>
      </p:sp>
      <p:sp>
        <p:nvSpPr>
          <p:cNvPr id="287749" name="Rectangle 5"/>
          <p:cNvSpPr>
            <a:spLocks noChangeArrowheads="1" noGrp="1"/>
          </p:cNvSpPr>
          <p:nvPr>
            <p:ph idx="1" type="body"/>
          </p:nvPr>
        </p:nvSpPr>
        <p:spPr/>
        <p:txBody>
          <a:bodyPr/>
          <a:lstStyle/>
          <a:p>
            <a:r>
              <a:rPr altLang="en-US" lang="en-US"/>
              <a:t>A microcirculation of interwoven networks of capillaries, consisting of:</a:t>
            </a:r>
          </a:p>
          <a:p>
            <a:pPr lvl="1"/>
            <a:r>
              <a:rPr altLang="en-US" lang="en-US"/>
              <a:t>Vascular shunts – </a:t>
            </a:r>
            <a:r>
              <a:rPr altLang="en-US" b="1" lang="en-US"/>
              <a:t>metarteriole</a:t>
            </a:r>
            <a:r>
              <a:rPr altLang="en-US" lang="en-US"/>
              <a:t>–thoroughfare channel connecting an arteriole directly with a  postcapillary venule</a:t>
            </a:r>
          </a:p>
          <a:p>
            <a:pPr lvl="1"/>
            <a:r>
              <a:rPr altLang="en-US" lang="en-US"/>
              <a:t>True capillaries – 10 to 100 per capillary bed, capillaries branch off the metarteriole and return to the thoroughfare channel at the distal end of the bed</a:t>
            </a:r>
          </a:p>
        </p:txBody>
      </p:sp>
    </p:spTree>
  </p:cSld>
  <p:clrMapOvr>
    <a:masterClrMapping/>
  </p:clrMapOvr>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89474" name="Rectangle 2"/>
          <p:cNvSpPr>
            <a:spLocks noChangeArrowheads="1" noGrp="1"/>
          </p:cNvSpPr>
          <p:nvPr>
            <p:ph type="title"/>
          </p:nvPr>
        </p:nvSpPr>
        <p:spPr>
          <a:xfrm>
            <a:off x="685800" y="268288"/>
            <a:ext cx="7772400" cy="722312"/>
          </a:xfrm>
        </p:spPr>
        <p:txBody>
          <a:bodyPr/>
          <a:lstStyle/>
          <a:p>
            <a:r>
              <a:rPr altLang="en-US" lang="en-US"/>
              <a:t>Arterioles</a:t>
            </a:r>
          </a:p>
        </p:txBody>
      </p:sp>
      <p:sp>
        <p:nvSpPr>
          <p:cNvPr id="489475" name="Rectangle 3"/>
          <p:cNvSpPr>
            <a:spLocks noChangeArrowheads="1" noGrp="1"/>
          </p:cNvSpPr>
          <p:nvPr>
            <p:ph idx="1" type="body"/>
          </p:nvPr>
        </p:nvSpPr>
        <p:spPr>
          <a:xfrm>
            <a:off x="228600" y="728663"/>
            <a:ext cx="4343400" cy="6129337"/>
          </a:xfrm>
        </p:spPr>
        <p:txBody>
          <a:bodyPr/>
          <a:lstStyle/>
          <a:p>
            <a:pPr>
              <a:lnSpc>
                <a:spcPct val="90000"/>
              </a:lnSpc>
            </a:pPr>
            <a:r>
              <a:rPr altLang="en-US" lang="en-US"/>
              <a:t>Metarterioles form branches into capillary bed</a:t>
            </a:r>
          </a:p>
          <a:p>
            <a:pPr lvl="1">
              <a:lnSpc>
                <a:spcPct val="90000"/>
              </a:lnSpc>
            </a:pPr>
            <a:r>
              <a:rPr altLang="en-US" lang="en-US"/>
              <a:t>to bypass capillary bed, </a:t>
            </a:r>
            <a:r>
              <a:rPr altLang="en-US" lang="en-US" u="sng"/>
              <a:t>precapillary sphincters</a:t>
            </a:r>
            <a:r>
              <a:rPr altLang="en-US" lang="en-US"/>
              <a:t> close &amp; blood flows out of bed in </a:t>
            </a:r>
            <a:r>
              <a:rPr altLang="en-US" lang="en-US" u="sng"/>
              <a:t>thoroughfare channel</a:t>
            </a:r>
          </a:p>
          <a:p>
            <a:pPr lvl="1">
              <a:lnSpc>
                <a:spcPct val="90000"/>
              </a:lnSpc>
            </a:pPr>
            <a:r>
              <a:rPr altLang="en-US" lang="en-US" u="sng"/>
              <a:t>vasomotion</a:t>
            </a:r>
            <a:r>
              <a:rPr altLang="en-US" lang="en-US"/>
              <a:t> is intermittent contraction &amp; relaxation of sphincters that allow filling of capillary bed 5-10 times/minute</a:t>
            </a:r>
          </a:p>
        </p:txBody>
      </p:sp>
      <p:pic>
        <p:nvPicPr>
          <p:cNvPr descr="Figure is an illustration of a special capillary bed found in serous membranes of intestinal mesenteries. Features of this special type of capillary bed shown are: - Vascular shunt which is made up of a metarteriole that leads into a thoroughfare channel that than drains into venule  - Precapillary sphincters which are cuffs of smooth muscle encircling each true capillary branching off metarteriole. - If precapillary sphincters are closed, blood is channeled into vascular shunt. - If precapillary sphincters are open, blood is channeled into capillary bed through true capillaries. " id="3" name="Picture 2">
            <a:extLst>
              <a:ext uri="{FF2B5EF4-FFF2-40B4-BE49-F238E27FC236}">
                <a16:creationId xmlns:a16="http://schemas.microsoft.com/office/drawing/2014/main" id="{5F6EA45F-7849-F3A0-B3D3-0E1463F4E726}"/>
              </a:ext>
            </a:extLst>
          </p:cNvPr>
          <p:cNvPicPr>
            <a:picLocks noChangeAspect="1"/>
          </p:cNvPicPr>
          <p:nvPr/>
        </p:nvPicPr>
        <p:blipFill rotWithShape="1">
          <a:blip r:embed="rId2">
            <a:extLst>
              <a:ext uri="{28A0092B-C50C-407E-A947-70E740481C1C}">
                <a14:useLocalDpi xmlns:a14="http://schemas.microsoft.com/office/drawing/2010/main" val="0"/>
              </a:ext>
            </a:extLst>
          </a:blip>
          <a:srcRect b="2011"/>
          <a:stretch/>
        </p:blipFill>
        <p:spPr>
          <a:xfrm>
            <a:off x="4572000" y="2085748"/>
            <a:ext cx="4572000" cy="3199446"/>
          </a:xfrm>
          <a:prstGeom prst="rect">
            <a:avLst/>
          </a:prstGeom>
        </p:spPr>
      </p:pic>
    </p:spTree>
  </p:cSld>
  <p:clrMapOvr>
    <a:masterClrMapping/>
  </p:clrMapOv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90498" name="Rectangle 2"/>
          <p:cNvSpPr>
            <a:spLocks noChangeArrowheads="1" noGrp="1"/>
          </p:cNvSpPr>
          <p:nvPr>
            <p:ph type="title"/>
          </p:nvPr>
        </p:nvSpPr>
        <p:spPr/>
        <p:txBody>
          <a:bodyPr/>
          <a:lstStyle/>
          <a:p>
            <a:r>
              <a:rPr altLang="en-US" lang="en-US"/>
              <a:t>Venules</a:t>
            </a:r>
          </a:p>
        </p:txBody>
      </p:sp>
      <p:sp>
        <p:nvSpPr>
          <p:cNvPr id="490499" name="Rectangle 3"/>
          <p:cNvSpPr>
            <a:spLocks noChangeArrowheads="1" noGrp="1"/>
          </p:cNvSpPr>
          <p:nvPr>
            <p:ph idx="1" type="body"/>
          </p:nvPr>
        </p:nvSpPr>
        <p:spPr>
          <a:xfrm>
            <a:off x="685800" y="1295400"/>
            <a:ext cx="7364413" cy="3678238"/>
          </a:xfrm>
        </p:spPr>
        <p:txBody>
          <a:bodyPr/>
          <a:lstStyle/>
          <a:p>
            <a:r>
              <a:rPr altLang="en-US" lang="en-US" sz="3400"/>
              <a:t>Small veins collecting blood from capillaries</a:t>
            </a:r>
          </a:p>
          <a:p>
            <a:r>
              <a:rPr altLang="en-US" lang="en-US" sz="3400"/>
              <a:t>Tunica media contains only a few smooth muscle cells &amp; scattered fibroblasts</a:t>
            </a:r>
          </a:p>
          <a:p>
            <a:pPr lvl="1"/>
            <a:r>
              <a:rPr altLang="en-US" lang="en-US" sz="3200"/>
              <a:t>very porous endothelium allows for escape of many phagocytic white blood cells</a:t>
            </a:r>
          </a:p>
        </p:txBody>
      </p:sp>
    </p:spTree>
  </p:cSld>
  <p:clrMapOvr>
    <a:masterClrMapping/>
  </p:clrMapOvr>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Figure of vein showing valves as well as dissected valve and longitudinal cut vein" id="491522" name="Picture 2"/>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18088" y="762000"/>
            <a:ext cx="4125912" cy="5105400"/>
          </a:xfrm>
          <a:prstGeom prst="rect">
            <a:avLst/>
          </a:prstGeom>
          <a:noFill/>
          <a:extLst>
            <a:ext uri="{909E8E84-426E-40DD-AFC4-6F175D3DCCD1}">
              <a14:hiddenFill xmlns:a14="http://schemas.microsoft.com/office/drawing/2010/main">
                <a:solidFill>
                  <a:srgbClr val="FFFFFF"/>
                </a:solidFill>
              </a14:hiddenFill>
            </a:ext>
          </a:extLst>
        </p:spPr>
      </p:pic>
      <p:sp>
        <p:nvSpPr>
          <p:cNvPr id="491523" name="Rectangle 3"/>
          <p:cNvSpPr>
            <a:spLocks noChangeArrowheads="1" noGrp="1"/>
          </p:cNvSpPr>
          <p:nvPr>
            <p:ph type="title"/>
          </p:nvPr>
        </p:nvSpPr>
        <p:spPr>
          <a:xfrm>
            <a:off x="395288" y="257175"/>
            <a:ext cx="7772400" cy="1143000"/>
          </a:xfrm>
        </p:spPr>
        <p:txBody>
          <a:bodyPr/>
          <a:lstStyle/>
          <a:p>
            <a:r>
              <a:rPr altLang="en-US" lang="en-US"/>
              <a:t>Veins</a:t>
            </a:r>
          </a:p>
        </p:txBody>
      </p:sp>
      <p:sp>
        <p:nvSpPr>
          <p:cNvPr id="491524" name="Rectangle 4"/>
          <p:cNvSpPr>
            <a:spLocks noChangeArrowheads="1" noGrp="1"/>
          </p:cNvSpPr>
          <p:nvPr>
            <p:ph idx="1" type="body"/>
          </p:nvPr>
        </p:nvSpPr>
        <p:spPr>
          <a:xfrm>
            <a:off x="0" y="866775"/>
            <a:ext cx="5105400" cy="5381625"/>
          </a:xfrm>
          <a:solidFill>
            <a:schemeClr val="bg1"/>
          </a:solidFill>
        </p:spPr>
        <p:txBody>
          <a:bodyPr/>
          <a:lstStyle/>
          <a:p>
            <a:r>
              <a:rPr altLang="en-US" lang="en-US" sz="2600"/>
              <a:t>Proportionally thinner walls than same diameter artery</a:t>
            </a:r>
          </a:p>
          <a:p>
            <a:pPr lvl="1"/>
            <a:r>
              <a:rPr altLang="en-US" lang="en-US" sz="2400"/>
              <a:t>tunica media less muscle</a:t>
            </a:r>
          </a:p>
          <a:p>
            <a:pPr lvl="1"/>
            <a:r>
              <a:rPr altLang="en-US" lang="en-US" sz="2400"/>
              <a:t>lack external &amp; internal</a:t>
            </a:r>
            <a:br>
              <a:rPr altLang="en-US" lang="en-US" sz="2400"/>
            </a:br>
            <a:r>
              <a:rPr altLang="en-US" lang="en-US" sz="2400"/>
              <a:t>elastic lamina</a:t>
            </a:r>
          </a:p>
          <a:p>
            <a:r>
              <a:rPr altLang="en-US" lang="en-US" sz="2600"/>
              <a:t>Valves are thin folds of </a:t>
            </a:r>
            <a:br>
              <a:rPr altLang="en-US" lang="en-US" sz="2600"/>
            </a:br>
            <a:r>
              <a:rPr altLang="en-US" lang="en-US" sz="2600"/>
              <a:t>tunica interna designed to prevent backflow</a:t>
            </a:r>
          </a:p>
          <a:p>
            <a:r>
              <a:rPr altLang="en-US" lang="en-US" sz="2600"/>
              <a:t>Capacitance vessels (</a:t>
            </a:r>
            <a:r>
              <a:rPr altLang="en-US" b="1" lang="en-US" sz="2600"/>
              <a:t>blood reservoirs</a:t>
            </a:r>
            <a:r>
              <a:rPr altLang="en-US" lang="en-US" sz="2600"/>
              <a:t>) that contain 65% of the blood supply</a:t>
            </a:r>
          </a:p>
          <a:p>
            <a:endParaRPr altLang="en-US" lang="en-US" sz="2600"/>
          </a:p>
          <a:p>
            <a:pPr>
              <a:buFont charset="2" panose="05000000000000000000" pitchFamily="2" typeface="Wingdings"/>
              <a:buNone/>
            </a:pPr>
            <a:endParaRPr altLang="en-US" lang="en-US" sz="2600"/>
          </a:p>
        </p:txBody>
      </p:sp>
    </p:spTree>
  </p:cSld>
  <p:clrMapOvr>
    <a:masterClrMapping/>
  </p:clrMapOvr>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a:xfrm>
            <a:off x="16934" y="-23706"/>
            <a:ext cx="8680026" cy="252197"/>
          </a:xfrm>
        </p:spPr>
        <p:txBody>
          <a:bodyPr>
            <a:noAutofit/>
          </a:bodyPr>
          <a:lstStyle/>
          <a:p>
            <a:r>
              <a:rPr dirty="0" lang="en-IN" sz="1200">
                <a:solidFill>
                  <a:srgbClr val="02405F"/>
                </a:solidFill>
              </a:rPr>
              <a:t> Relative proportion of blood volume throughout the cardiovascular system.</a:t>
            </a:r>
            <a:endParaRPr dirty="0" lang="en-US" sz="1200"/>
          </a:p>
        </p:txBody>
      </p:sp>
      <p:pic>
        <p:nvPicPr>
          <p:cNvPr descr="This figure is a pie chart that compares the relative percentage of blood volume in systemic arteries and arterioles, pulmonary blood vessels, the heart, capillaries, and systemic veins and venules.  - Capillaries: 5%. - Heart: 8%. - Pulmonary blood vessels: 12% (pulmonary blood vessels supply the lungs). - Systemic arteries and arterioles: 15%. - Systemic veins and venules: 60%.   - Supply all of the body except the lungs.   - Are distensible.   - Contain a large proportion of the blood volume and so are called capacitance vessels or blood reservoirs." id="2" name="Picture 1">
            <a:extLst>
              <a:ext uri="{FF2B5EF4-FFF2-40B4-BE49-F238E27FC236}">
                <a16:creationId xmlns:a16="http://schemas.microsoft.com/office/drawing/2014/main" id="{EA28F07C-07CF-4837-B15E-FC0DED2D7952}"/>
              </a:ext>
            </a:extLst>
          </p:cNvPr>
          <p:cNvPicPr>
            <a:picLocks noChangeAspect="1"/>
          </p:cNvPicPr>
          <p:nvPr/>
        </p:nvPicPr>
        <p:blipFill rotWithShape="1">
          <a:blip r:embed="rId3">
            <a:extLst>
              <a:ext uri="{28A0092B-C50C-407E-A947-70E740481C1C}">
                <a14:useLocalDpi xmlns:a14="http://schemas.microsoft.com/office/drawing/2010/main" val="0"/>
              </a:ext>
            </a:extLst>
          </a:blip>
          <a:srcRect b="3521"/>
          <a:stretch/>
        </p:blipFill>
        <p:spPr>
          <a:xfrm>
            <a:off x="348377" y="1193292"/>
            <a:ext cx="8348583" cy="4471416"/>
          </a:xfrm>
          <a:prstGeom prst="rect">
            <a:avLst/>
          </a:prstGeom>
        </p:spPr>
      </p:pic>
    </p:spTree>
    <p:extLst>
      <p:ext uri="{BB962C8B-B14F-4D97-AF65-F5344CB8AC3E}">
        <p14:creationId xmlns:p14="http://schemas.microsoft.com/office/powerpoint/2010/main" val="2634086544"/>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3892" name="Rectangle 4"/>
          <p:cNvSpPr>
            <a:spLocks noChangeArrowheads="1" noGrp="1"/>
          </p:cNvSpPr>
          <p:nvPr>
            <p:ph type="title"/>
          </p:nvPr>
        </p:nvSpPr>
        <p:spPr/>
        <p:txBody>
          <a:bodyPr/>
          <a:lstStyle/>
          <a:p>
            <a:r>
              <a:rPr altLang="en-US" lang="en-US"/>
              <a:t>Venous System: Veins</a:t>
            </a:r>
          </a:p>
        </p:txBody>
      </p:sp>
      <p:sp>
        <p:nvSpPr>
          <p:cNvPr id="293893" name="Rectangle 5"/>
          <p:cNvSpPr>
            <a:spLocks noChangeArrowheads="1" noGrp="1"/>
          </p:cNvSpPr>
          <p:nvPr>
            <p:ph idx="1" type="body"/>
          </p:nvPr>
        </p:nvSpPr>
        <p:spPr>
          <a:xfrm>
            <a:off x="298450" y="977900"/>
            <a:ext cx="8270875" cy="5656263"/>
          </a:xfrm>
        </p:spPr>
        <p:txBody>
          <a:bodyPr/>
          <a:lstStyle/>
          <a:p>
            <a:pPr>
              <a:lnSpc>
                <a:spcPct val="90000"/>
              </a:lnSpc>
            </a:pPr>
            <a:r>
              <a:rPr altLang="en-US" lang="en-US"/>
              <a:t>Veins have much lower blood pressure and thinner walls than arteries</a:t>
            </a:r>
          </a:p>
          <a:p>
            <a:pPr>
              <a:lnSpc>
                <a:spcPct val="90000"/>
              </a:lnSpc>
            </a:pPr>
            <a:r>
              <a:rPr altLang="en-US" lang="en-US"/>
              <a:t>To return blood to the heart, veins have special adaptations</a:t>
            </a:r>
          </a:p>
          <a:p>
            <a:pPr lvl="1">
              <a:lnSpc>
                <a:spcPct val="90000"/>
              </a:lnSpc>
            </a:pPr>
            <a:r>
              <a:rPr altLang="en-US" lang="en-US"/>
              <a:t>Large-diameter lumens, which offer little resistance to flow</a:t>
            </a:r>
          </a:p>
          <a:p>
            <a:pPr lvl="1">
              <a:lnSpc>
                <a:spcPct val="90000"/>
              </a:lnSpc>
            </a:pPr>
            <a:r>
              <a:rPr altLang="en-US" lang="en-US"/>
              <a:t>Valves (resembling semilunar heart valves), which prevent backflow of blood </a:t>
            </a:r>
          </a:p>
          <a:p>
            <a:pPr>
              <a:lnSpc>
                <a:spcPct val="90000"/>
              </a:lnSpc>
            </a:pPr>
            <a:r>
              <a:rPr altLang="en-US" lang="en-US"/>
              <a:t>Venous sinuses – specialized, flattened veins with extremely thin walls (e.g., coronary sinus of the heart and dural sinuses of the brain)</a:t>
            </a:r>
          </a:p>
        </p:txBody>
      </p:sp>
    </p:spTree>
  </p:cSld>
  <p:clrMapOvr>
    <a:masterClrMapping/>
  </p:clrMapOvr>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a:xfrm>
            <a:off x="16934" y="931334"/>
            <a:ext cx="2360506" cy="4311226"/>
          </a:xfrm>
        </p:spPr>
        <p:txBody>
          <a:bodyPr>
            <a:normAutofit/>
          </a:bodyPr>
          <a:lstStyle/>
          <a:p>
            <a:r>
              <a:rPr dirty="0" lang="en-IN"/>
              <a:t>Summary of Blood Vessel Anatomy (capillaries, venules and veins)</a:t>
            </a:r>
            <a:endParaRPr dirty="0" lang="en-US"/>
          </a:p>
        </p:txBody>
      </p:sp>
      <p:pic>
        <p:nvPicPr>
          <p:cNvPr descr="Table 19.1-2. A 3-column table with 3 rows. The first column is labeled Vessel Type/Illustration. Size relationships are not proportional. Smaller vessels are drawn relatively larger so detail  can be seen. See column 2 for actual dimensions. Column 1 entries are capillaries, venule, and vein. The second column is labeled Average Lumen Diameter (D) and Wall Thickness (T) with entries D: 9.0 micrometers and T: 0.5 micrometers; D: 20.0 micrometers and T: 1.0 micrometers; and D: 5.0 millimeters and T: 0.5 millimeters. The third column is labeled Relative Tissue Makeup with graphs showing endothelium, elastic tissues, smooth muscles, and fibrous (collagenous tissues). Capillaries makeup is endothelium only. From least to most, venule makeup is endothelium, smooth muscles, and fibrous (collagenous) tissues with no elastic tissues. From least to most, vein makeup is elastic tissues, endothelium, smooth muscles, and fibrous (collagenous) tissues." id="3" name="Picture 2">
            <a:extLst>
              <a:ext uri="{FF2B5EF4-FFF2-40B4-BE49-F238E27FC236}">
                <a16:creationId xmlns:a16="http://schemas.microsoft.com/office/drawing/2014/main" id="{A0484B01-A667-3945-1D3B-71F4346CBF1A}"/>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53728" y="269645"/>
            <a:ext cx="4007776" cy="63187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9332673"/>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92546" name="Rectangle 2"/>
          <p:cNvSpPr>
            <a:spLocks noChangeArrowheads="1" noGrp="1"/>
          </p:cNvSpPr>
          <p:nvPr>
            <p:ph type="title"/>
          </p:nvPr>
        </p:nvSpPr>
        <p:spPr>
          <a:noFill/>
          <a:ln/>
          <a:extLst>
            <a:ext uri="{909E8E84-426E-40DD-AFC4-6F175D3DCCD1}">
              <a14:hiddenFill xmlns:a14="http://schemas.microsoft.com/office/drawing/2010/main">
                <a:solidFill>
                  <a:schemeClr val="accent1"/>
                </a:solidFill>
              </a14:hiddenFill>
            </a:ext>
          </a:extLst>
        </p:spPr>
        <p:txBody>
          <a:bodyPr/>
          <a:lstStyle/>
          <a:p>
            <a:r>
              <a:rPr altLang="en-US" lang="en-US"/>
              <a:t>Differences Between Arteries and Veins</a:t>
            </a:r>
          </a:p>
        </p:txBody>
      </p:sp>
      <p:graphicFrame>
        <p:nvGraphicFramePr>
          <p:cNvPr id="492547" name="Group 3"/>
          <p:cNvGraphicFramePr>
            <a:graphicFrameLocks noGrp="1"/>
          </p:cNvGraphicFramePr>
          <p:nvPr>
            <p:extLst>
              <p:ext uri="{D42A27DB-BD31-4B8C-83A1-F6EECF244321}">
                <p14:modId xmlns:p14="http://schemas.microsoft.com/office/powerpoint/2010/main" val="2544979396"/>
              </p:ext>
            </p:extLst>
          </p:nvPr>
        </p:nvGraphicFramePr>
        <p:xfrm>
          <a:off x="341313" y="1897063"/>
          <a:ext cx="8534400" cy="3140711"/>
        </p:xfrm>
        <a:graphic>
          <a:graphicData uri="http://schemas.openxmlformats.org/drawingml/2006/table">
            <a:tbl>
              <a:tblPr firstRow="1"/>
              <a:tblGrid>
                <a:gridCol w="2578100">
                  <a:extLst>
                    <a:ext uri="{9D8B030D-6E8A-4147-A177-3AD203B41FA5}">
                      <a16:colId xmlns:a16="http://schemas.microsoft.com/office/drawing/2014/main" val="20000"/>
                    </a:ext>
                  </a:extLst>
                </a:gridCol>
                <a:gridCol w="2768600">
                  <a:extLst>
                    <a:ext uri="{9D8B030D-6E8A-4147-A177-3AD203B41FA5}">
                      <a16:colId xmlns:a16="http://schemas.microsoft.com/office/drawing/2014/main" val="20001"/>
                    </a:ext>
                  </a:extLst>
                </a:gridCol>
                <a:gridCol w="3187700">
                  <a:extLst>
                    <a:ext uri="{9D8B030D-6E8A-4147-A177-3AD203B41FA5}">
                      <a16:colId xmlns:a16="http://schemas.microsoft.com/office/drawing/2014/main" val="20002"/>
                    </a:ext>
                  </a:extLst>
                </a:gridCol>
              </a:tblGrid>
              <a:tr h="452438">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ctr" defTabSz="914400" eaLnBrk="0" fontAlgn="base" hangingPunct="0" indent="0" latinLnBrk="0" lvl="0" marL="0" marR="0" rtl="0">
                        <a:lnSpc>
                          <a:spcPct val="100000"/>
                        </a:lnSpc>
                        <a:spcBef>
                          <a:spcPct val="0"/>
                        </a:spcBef>
                        <a:spcAft>
                          <a:spcPct val="0"/>
                        </a:spcAft>
                        <a:buClrTx/>
                        <a:buSzTx/>
                        <a:buFontTx/>
                        <a:buNone/>
                        <a:tabLst/>
                      </a:pPr>
                      <a:endParaRPr altLang="en-US" b="1" baseline="0" cap="none" i="0" kumimoji="0" lang="en-US" normalizeH="0" strike="noStrike" sz="1800" u="none">
                        <a:ln>
                          <a:noFill/>
                        </a:ln>
                        <a:solidFill>
                          <a:schemeClr val="tx1"/>
                        </a:solidFill>
                        <a:effectLst/>
                        <a:latin charset="0" panose="02020603050405020304" pitchFamily="18" typeface="Times New Roman"/>
                      </a:endParaRPr>
                    </a:p>
                  </a:txBody>
                  <a:tcPr anchor="ctr" horzOverflow="overflow">
                    <a:lnL algn="ctr" cap="flat" cmpd="sng" w="28575">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28575">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ctr" defTabSz="914400" eaLnBrk="0" fontAlgn="base" hangingPunct="0" indent="0" latinLnBrk="0" lvl="0" marL="0" marR="0" rtl="0">
                        <a:lnSpc>
                          <a:spcPct val="100000"/>
                        </a:lnSpc>
                        <a:spcBef>
                          <a:spcPct val="0"/>
                        </a:spcBef>
                        <a:spcAft>
                          <a:spcPct val="0"/>
                        </a:spcAft>
                        <a:buClrTx/>
                        <a:buSzTx/>
                        <a:buFontTx/>
                        <a:buNone/>
                        <a:tabLst/>
                      </a:pPr>
                      <a:r>
                        <a:rPr altLang="en-US" b="1" baseline="0" cap="none" i="0" kumimoji="0" lang="en-US" normalizeH="0" strike="noStrike" sz="1800" u="none">
                          <a:ln>
                            <a:noFill/>
                          </a:ln>
                          <a:solidFill>
                            <a:schemeClr val="tx1"/>
                          </a:solidFill>
                          <a:effectLst/>
                          <a:latin charset="0" panose="02020603050405020304" pitchFamily="18" typeface="Times New Roman"/>
                        </a:rPr>
                        <a:t>Arteries</a:t>
                      </a:r>
                    </a:p>
                  </a:txBody>
                  <a:tcPr anchor="ctr" horzOverflow="overflow">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28575">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ctr" defTabSz="914400" eaLnBrk="0" fontAlgn="base" hangingPunct="0" indent="0" latinLnBrk="0" lvl="0" marL="0" marR="0" rtl="0">
                        <a:lnSpc>
                          <a:spcPct val="100000"/>
                        </a:lnSpc>
                        <a:spcBef>
                          <a:spcPct val="0"/>
                        </a:spcBef>
                        <a:spcAft>
                          <a:spcPct val="0"/>
                        </a:spcAft>
                        <a:buClrTx/>
                        <a:buSzTx/>
                        <a:buFontTx/>
                        <a:buNone/>
                        <a:tabLst/>
                      </a:pPr>
                      <a:r>
                        <a:rPr altLang="en-US" b="1" baseline="0" cap="none" i="0" kumimoji="0" lang="en-US" normalizeH="0" strike="noStrike" sz="1800" u="none">
                          <a:ln>
                            <a:noFill/>
                          </a:ln>
                          <a:solidFill>
                            <a:schemeClr val="tx1"/>
                          </a:solidFill>
                          <a:effectLst/>
                          <a:latin charset="0" panose="02020603050405020304" pitchFamily="18" typeface="Times New Roman"/>
                        </a:rPr>
                        <a:t>Veins</a:t>
                      </a:r>
                    </a:p>
                  </a:txBody>
                  <a:tcPr anchor="ctr" horzOverflow="overflow">
                    <a:lnL algn="ctr" cap="flat" cmpd="sng" w="12700">
                      <a:solidFill>
                        <a:schemeClr val="tx1"/>
                      </a:solidFill>
                      <a:prstDash val="solid"/>
                      <a:round/>
                      <a:headEnd len="med" type="none" w="med"/>
                      <a:tailEnd len="med" type="none" w="med"/>
                    </a:lnL>
                    <a:lnR algn="ctr" cap="flat" cmpd="sng" w="28575">
                      <a:solidFill>
                        <a:schemeClr val="tx1"/>
                      </a:solidFill>
                      <a:prstDash val="solid"/>
                      <a:round/>
                      <a:headEnd len="med" type="none" w="med"/>
                      <a:tailEnd len="med" type="none" w="med"/>
                    </a:lnR>
                    <a:lnT algn="ctr" cap="flat" cmpd="sng" w="28575">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extLst>
                  <a:ext uri="{0D108BD9-81ED-4DB2-BD59-A6C34878D82A}">
                    <a16:rowId xmlns:a16="http://schemas.microsoft.com/office/drawing/2014/main" val="10000"/>
                  </a:ext>
                </a:extLst>
              </a:tr>
              <a:tr h="508000">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Delivery</a:t>
                      </a:r>
                    </a:p>
                  </a:txBody>
                  <a:tcPr anchor="ctr" horzOverflow="overflow">
                    <a:lnL algn="ctr" cap="flat" cmpd="sng" w="28575">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Blood pumped into single systemic artery – the aorta</a:t>
                      </a:r>
                    </a:p>
                  </a:txBody>
                  <a:tcPr anchor="ctr" horzOverflow="overflow">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Blood returns via superior and interior venae cavae and the coronary sinus</a:t>
                      </a:r>
                    </a:p>
                  </a:txBody>
                  <a:tcPr anchor="ctr" horzOverflow="overflow">
                    <a:lnL algn="ctr" cap="flat" cmpd="sng" w="12700">
                      <a:solidFill>
                        <a:schemeClr val="tx1"/>
                      </a:solidFill>
                      <a:prstDash val="solid"/>
                      <a:round/>
                      <a:headEnd len="med" type="none" w="med"/>
                      <a:tailEnd len="med" type="none" w="med"/>
                    </a:lnL>
                    <a:lnR algn="ctr" cap="flat" cmpd="sng" w="28575">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extLst>
                  <a:ext uri="{0D108BD9-81ED-4DB2-BD59-A6C34878D82A}">
                    <a16:rowId xmlns:a16="http://schemas.microsoft.com/office/drawing/2014/main" val="10001"/>
                  </a:ext>
                </a:extLst>
              </a:tr>
              <a:tr h="495300">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Location</a:t>
                      </a:r>
                    </a:p>
                  </a:txBody>
                  <a:tcPr anchor="ctr" horzOverflow="overflow">
                    <a:lnL algn="ctr" cap="flat" cmpd="sng" w="28575">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Deep, and protected by tissue</a:t>
                      </a:r>
                    </a:p>
                  </a:txBody>
                  <a:tcPr anchor="ctr" horzOverflow="overflow">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Both deep and superficial</a:t>
                      </a:r>
                    </a:p>
                  </a:txBody>
                  <a:tcPr anchor="ctr" horzOverflow="overflow">
                    <a:lnL algn="ctr" cap="flat" cmpd="sng" w="12700">
                      <a:solidFill>
                        <a:schemeClr val="tx1"/>
                      </a:solidFill>
                      <a:prstDash val="solid"/>
                      <a:round/>
                      <a:headEnd len="med" type="none" w="med"/>
                      <a:tailEnd len="med" type="none" w="med"/>
                    </a:lnL>
                    <a:lnR algn="ctr" cap="flat" cmpd="sng" w="28575">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extLst>
                  <a:ext uri="{0D108BD9-81ED-4DB2-BD59-A6C34878D82A}">
                    <a16:rowId xmlns:a16="http://schemas.microsoft.com/office/drawing/2014/main" val="10002"/>
                  </a:ext>
                </a:extLst>
              </a:tr>
              <a:tr h="493713">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Pathways</a:t>
                      </a:r>
                    </a:p>
                  </a:txBody>
                  <a:tcPr anchor="ctr" horzOverflow="overflow">
                    <a:lnL algn="ctr" cap="flat" cmpd="sng" w="28575">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Fair, clear, and defined</a:t>
                      </a:r>
                    </a:p>
                  </a:txBody>
                  <a:tcPr anchor="ctr" horzOverflow="overflow">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Convergent interconnections</a:t>
                      </a:r>
                    </a:p>
                  </a:txBody>
                  <a:tcPr anchor="ctr" horzOverflow="overflow">
                    <a:lnL algn="ctr" cap="flat" cmpd="sng" w="12700">
                      <a:solidFill>
                        <a:schemeClr val="tx1"/>
                      </a:solidFill>
                      <a:prstDash val="solid"/>
                      <a:round/>
                      <a:headEnd len="med" type="none" w="med"/>
                      <a:tailEnd len="med" type="none" w="med"/>
                    </a:lnL>
                    <a:lnR algn="ctr" cap="flat" cmpd="sng" w="28575">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a:noFill/>
                    </a:lnTlToBr>
                    <a:lnBlToTr>
                      <a:noFill/>
                    </a:lnBlToTr>
                    <a:noFill/>
                  </a:tcPr>
                </a:tc>
                <a:extLst>
                  <a:ext uri="{0D108BD9-81ED-4DB2-BD59-A6C34878D82A}">
                    <a16:rowId xmlns:a16="http://schemas.microsoft.com/office/drawing/2014/main" val="10003"/>
                  </a:ext>
                </a:extLst>
              </a:tr>
              <a:tr h="493713">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Supply/drainage</a:t>
                      </a:r>
                    </a:p>
                  </a:txBody>
                  <a:tcPr anchor="ctr" horzOverflow="overflow">
                    <a:lnL algn="ctr" cap="flat" cmpd="sng" w="28575">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28575">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i="0" kumimoji="0" lang="en-US" normalizeH="0" strike="noStrike" sz="1800" u="none">
                          <a:ln>
                            <a:noFill/>
                          </a:ln>
                          <a:solidFill>
                            <a:schemeClr val="tx1"/>
                          </a:solidFill>
                          <a:effectLst/>
                          <a:latin charset="0" panose="02020603050405020304" pitchFamily="18" typeface="Times New Roman"/>
                        </a:rPr>
                        <a:t>Predictable supply</a:t>
                      </a:r>
                    </a:p>
                  </a:txBody>
                  <a:tcPr anchor="ctr" horzOverflow="overflow">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28575">
                      <a:solidFill>
                        <a:schemeClr val="tx1"/>
                      </a:solidFill>
                      <a:prstDash val="solid"/>
                      <a:round/>
                      <a:headEnd len="med" type="none" w="med"/>
                      <a:tailEnd len="med" type="none" w="med"/>
                    </a:lnB>
                    <a:lnTlToBr>
                      <a:noFill/>
                    </a:lnTlToBr>
                    <a:lnBlToTr>
                      <a:noFill/>
                    </a:lnBlToTr>
                    <a:noFill/>
                  </a:tcPr>
                </a:tc>
                <a:tc>
                  <a:txBody>
                    <a:bodyPr/>
                    <a:lstStyle>
                      <a:lvl1pPr>
                        <a:spcAft>
                          <a:spcPct val="50000"/>
                        </a:spcAft>
                        <a:buClr>
                          <a:srgbClr val="0989C9"/>
                        </a:buClr>
                        <a:buSzPct val="60000"/>
                        <a:buFont charset="2" panose="05000000000000000000" pitchFamily="2" typeface="Wingdings"/>
                        <a:defRPr sz="2600">
                          <a:solidFill>
                            <a:schemeClr val="tx1"/>
                          </a:solidFill>
                          <a:latin charset="0" panose="02020603050405020304" pitchFamily="18" typeface="Times New Roman"/>
                        </a:defRPr>
                      </a:lvl1pPr>
                      <a:lvl2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2pPr>
                      <a:lvl3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3pPr>
                      <a:lvl4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4pPr>
                      <a:lvl5pPr>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5pPr>
                      <a:lvl6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6pPr>
                      <a:lvl7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7pPr>
                      <a:lvl8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8pPr>
                      <a:lvl9pPr fontAlgn="base">
                        <a:spcBef>
                          <a:spcPct val="0"/>
                        </a:spcBef>
                        <a:spcAft>
                          <a:spcPct val="50000"/>
                        </a:spcAft>
                        <a:buClr>
                          <a:srgbClr val="0989C9"/>
                        </a:buClr>
                        <a:buSzPct val="60000"/>
                        <a:buFont charset="2" panose="05000000000000000000" pitchFamily="2" typeface="Wingdings"/>
                        <a:defRPr sz="2400">
                          <a:solidFill>
                            <a:schemeClr val="tx1"/>
                          </a:solidFill>
                          <a:latin charset="0" panose="02020603050405020304" pitchFamily="18" typeface="Times New Roman"/>
                        </a:defRPr>
                      </a:lvl9p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dirty="0" i="0" kumimoji="0" lang="en-US" normalizeH="0" strike="noStrike" sz="1800" u="none">
                          <a:ln>
                            <a:noFill/>
                          </a:ln>
                          <a:solidFill>
                            <a:schemeClr val="tx1"/>
                          </a:solidFill>
                          <a:effectLst/>
                          <a:latin charset="0" panose="02020603050405020304" pitchFamily="18" typeface="Times New Roman"/>
                        </a:rPr>
                        <a:t>Dural sinuses and hepatic portal circulation</a:t>
                      </a:r>
                    </a:p>
                  </a:txBody>
                  <a:tcPr anchor="ctr" horzOverflow="overflow">
                    <a:lnL algn="ctr" cap="flat" cmpd="sng" w="12700">
                      <a:solidFill>
                        <a:schemeClr val="tx1"/>
                      </a:solidFill>
                      <a:prstDash val="solid"/>
                      <a:round/>
                      <a:headEnd len="med" type="none" w="med"/>
                      <a:tailEnd len="med" type="none" w="med"/>
                    </a:lnL>
                    <a:lnR algn="ctr" cap="flat" cmpd="sng" w="28575">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28575">
                      <a:solidFill>
                        <a:schemeClr val="tx1"/>
                      </a:solidFill>
                      <a:prstDash val="solid"/>
                      <a:round/>
                      <a:headEnd len="med" type="none" w="med"/>
                      <a:tailEnd len="med" type="none" w="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4916" name="Rectangle 4"/>
          <p:cNvSpPr>
            <a:spLocks noChangeArrowheads="1" noGrp="1"/>
          </p:cNvSpPr>
          <p:nvPr>
            <p:ph type="title"/>
          </p:nvPr>
        </p:nvSpPr>
        <p:spPr/>
        <p:txBody>
          <a:bodyPr/>
          <a:lstStyle/>
          <a:p>
            <a:r>
              <a:rPr altLang="en-US" lang="en-US"/>
              <a:t>Vascular Anastomoses</a:t>
            </a:r>
          </a:p>
        </p:txBody>
      </p:sp>
      <p:sp>
        <p:nvSpPr>
          <p:cNvPr id="294917" name="Rectangle 5"/>
          <p:cNvSpPr>
            <a:spLocks noChangeArrowheads="1" noGrp="1"/>
          </p:cNvSpPr>
          <p:nvPr>
            <p:ph idx="1" type="body"/>
          </p:nvPr>
        </p:nvSpPr>
        <p:spPr/>
        <p:txBody>
          <a:bodyPr/>
          <a:lstStyle/>
          <a:p>
            <a:r>
              <a:rPr altLang="en-US" lang="en-US"/>
              <a:t>Merging blood vessels, more common in veins than arteries</a:t>
            </a:r>
          </a:p>
          <a:p>
            <a:r>
              <a:rPr altLang="en-US" lang="en-US"/>
              <a:t>Arterial anastomoses provide alternate pathways (collateral channels) for blood to reach a given body region</a:t>
            </a:r>
          </a:p>
          <a:p>
            <a:pPr lvl="1"/>
            <a:r>
              <a:rPr altLang="en-US" lang="en-US"/>
              <a:t>If one branch is blocked, the collateral channel can supply the area with adequate blood supply </a:t>
            </a:r>
          </a:p>
        </p:txBody>
      </p:sp>
    </p:spTree>
  </p:cSld>
  <p:clrMapOvr>
    <a:masterClrMapping/>
  </p:clrMapOvr>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0" y="292386"/>
            <a:ext cx="9144000" cy="584775"/>
          </a:xfrm>
        </p:spPr>
        <p:txBody>
          <a:bodyPr/>
          <a:lstStyle/>
          <a:p>
            <a:r>
              <a:rPr dirty="0" lang="en-US"/>
              <a:t>Part 2  Physiology of Circulation</a:t>
            </a:r>
          </a:p>
        </p:txBody>
      </p:sp>
      <p:sp>
        <p:nvSpPr>
          <p:cNvPr id="72706" name="Content Placeholder 2"/>
          <p:cNvSpPr>
            <a:spLocks noGrp="1"/>
          </p:cNvSpPr>
          <p:nvPr>
            <p:ph idx="1"/>
          </p:nvPr>
        </p:nvSpPr>
        <p:spPr>
          <a:xfrm>
            <a:off x="228600" y="1828801"/>
            <a:ext cx="8686800" cy="4800600"/>
          </a:xfrm>
        </p:spPr>
        <p:txBody>
          <a:bodyPr/>
          <a:lstStyle/>
          <a:p>
            <a:pPr indent="0" marL="0">
              <a:buNone/>
            </a:pPr>
            <a:r>
              <a:rPr b="1" dirty="0" lang="en-US" sz="3200">
                <a:solidFill>
                  <a:srgbClr val="000000"/>
                </a:solidFill>
              </a:rPr>
              <a:t>Definition of Terms</a:t>
            </a:r>
          </a:p>
          <a:p>
            <a:r>
              <a:rPr b="1" dirty="0" lang="en-US"/>
              <a:t>Blood flow</a:t>
            </a:r>
            <a:r>
              <a:rPr dirty="0" lang="en-US"/>
              <a:t>: volume of blood flowing through vessel, organ, or entire circulation in given period</a:t>
            </a:r>
          </a:p>
          <a:p>
            <a:pPr lvl="1"/>
            <a:r>
              <a:rPr dirty="0" lang="en-US"/>
              <a:t>Measured in ml/min, it is equivalent to cardiac output (CO) for entire vascular system</a:t>
            </a:r>
          </a:p>
          <a:p>
            <a:pPr lvl="1"/>
            <a:r>
              <a:rPr dirty="0" lang="en-US"/>
              <a:t>Overall is relatively constant when at rest, but at any given moment, varies at individual organ level, based on needs</a:t>
            </a:r>
          </a:p>
          <a:p>
            <a:endParaRPr dirty="0" lang="en-US"/>
          </a:p>
        </p:txBody>
      </p:sp>
      <p:sp>
        <p:nvSpPr>
          <p:cNvPr id="12" name="Title 4"/>
          <p:cNvSpPr txBox="1">
            <a:spLocks/>
          </p:cNvSpPr>
          <p:nvPr/>
        </p:nvSpPr>
        <p:spPr bwMode="auto">
          <a:xfrm>
            <a:off x="0" y="914400"/>
            <a:ext cx="9144000" cy="584775"/>
          </a:xfrm>
          <a:prstGeom prst="rect">
            <a:avLst/>
          </a:prstGeom>
          <a:solidFill>
            <a:srgbClr val="7574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182880" numCol="1" rIns="91440" tIns="45720" vert="horz" wrap="square">
            <a:prstTxWarp prst="textNoShape">
              <a:avLst/>
            </a:prstTxWarp>
            <a:spAutoFit/>
          </a:bodyPr>
          <a:lstStyle>
            <a:lvl1pPr algn="l" eaLnBrk="1" fontAlgn="base" hangingPunct="1" rtl="0">
              <a:spcBef>
                <a:spcPct val="50000"/>
              </a:spcBef>
              <a:spcAft>
                <a:spcPct val="0"/>
              </a:spcAft>
              <a:defRPr b="1" sz="3200">
                <a:solidFill>
                  <a:schemeClr val="tx1"/>
                </a:solidFill>
                <a:latin typeface="+mj-lt"/>
                <a:ea typeface="+mj-ea"/>
                <a:cs typeface="+mj-cs"/>
              </a:defRPr>
            </a:lvl1pPr>
            <a:lvl2pPr algn="l" eaLnBrk="1" fontAlgn="base" hangingPunct="1" rtl="0">
              <a:spcBef>
                <a:spcPct val="50000"/>
              </a:spcBef>
              <a:spcAft>
                <a:spcPct val="0"/>
              </a:spcAft>
              <a:defRPr b="1" sz="3200">
                <a:solidFill>
                  <a:srgbClr val="854F43"/>
                </a:solidFill>
                <a:latin charset="0" typeface="Arial"/>
                <a:cs charset="0" typeface="Arial"/>
              </a:defRPr>
            </a:lvl2pPr>
            <a:lvl3pPr algn="l" eaLnBrk="1" fontAlgn="base" hangingPunct="1" rtl="0">
              <a:spcBef>
                <a:spcPct val="50000"/>
              </a:spcBef>
              <a:spcAft>
                <a:spcPct val="0"/>
              </a:spcAft>
              <a:defRPr b="1" sz="3200">
                <a:solidFill>
                  <a:srgbClr val="854F43"/>
                </a:solidFill>
                <a:latin charset="0" typeface="Arial"/>
                <a:cs charset="0" typeface="Arial"/>
              </a:defRPr>
            </a:lvl3pPr>
            <a:lvl4pPr algn="l" eaLnBrk="1" fontAlgn="base" hangingPunct="1" rtl="0">
              <a:spcBef>
                <a:spcPct val="50000"/>
              </a:spcBef>
              <a:spcAft>
                <a:spcPct val="0"/>
              </a:spcAft>
              <a:defRPr b="1" sz="3200">
                <a:solidFill>
                  <a:srgbClr val="854F43"/>
                </a:solidFill>
                <a:latin charset="0" typeface="Arial"/>
                <a:cs charset="0" typeface="Arial"/>
              </a:defRPr>
            </a:lvl4pPr>
            <a:lvl5pPr algn="l" eaLnBrk="1" fontAlgn="base" hangingPunct="1" rtl="0">
              <a:spcBef>
                <a:spcPct val="50000"/>
              </a:spcBef>
              <a:spcAft>
                <a:spcPct val="0"/>
              </a:spcAft>
              <a:defRPr b="1" sz="3200">
                <a:solidFill>
                  <a:srgbClr val="854F43"/>
                </a:solidFill>
                <a:latin charset="0" typeface="Arial"/>
                <a:cs charset="0" typeface="Arial"/>
              </a:defRPr>
            </a:lvl5pPr>
            <a:lvl6pPr algn="l" eaLnBrk="1" fontAlgn="base" hangingPunct="1" marL="457200" rtl="0">
              <a:spcBef>
                <a:spcPct val="50000"/>
              </a:spcBef>
              <a:spcAft>
                <a:spcPct val="0"/>
              </a:spcAft>
              <a:defRPr b="1" sz="3200">
                <a:solidFill>
                  <a:srgbClr val="854F43"/>
                </a:solidFill>
                <a:latin charset="0" typeface="Arial"/>
                <a:cs charset="0" typeface="Arial"/>
              </a:defRPr>
            </a:lvl6pPr>
            <a:lvl7pPr algn="l" eaLnBrk="1" fontAlgn="base" hangingPunct="1" marL="914400" rtl="0">
              <a:spcBef>
                <a:spcPct val="50000"/>
              </a:spcBef>
              <a:spcAft>
                <a:spcPct val="0"/>
              </a:spcAft>
              <a:defRPr b="1" sz="3200">
                <a:solidFill>
                  <a:srgbClr val="854F43"/>
                </a:solidFill>
                <a:latin charset="0" typeface="Arial"/>
                <a:cs charset="0" typeface="Arial"/>
              </a:defRPr>
            </a:lvl7pPr>
            <a:lvl8pPr algn="l" eaLnBrk="1" fontAlgn="base" hangingPunct="1" marL="1371600" rtl="0">
              <a:spcBef>
                <a:spcPct val="50000"/>
              </a:spcBef>
              <a:spcAft>
                <a:spcPct val="0"/>
              </a:spcAft>
              <a:defRPr b="1" sz="3200">
                <a:solidFill>
                  <a:srgbClr val="854F43"/>
                </a:solidFill>
                <a:latin charset="0" typeface="Arial"/>
                <a:cs charset="0" typeface="Arial"/>
              </a:defRPr>
            </a:lvl8pPr>
            <a:lvl9pPr algn="l" eaLnBrk="1" fontAlgn="base" hangingPunct="1" marL="1828800" rtl="0">
              <a:spcBef>
                <a:spcPct val="50000"/>
              </a:spcBef>
              <a:spcAft>
                <a:spcPct val="0"/>
              </a:spcAft>
              <a:defRPr b="1" sz="3200">
                <a:solidFill>
                  <a:srgbClr val="854F43"/>
                </a:solidFill>
                <a:latin charset="0" typeface="Arial"/>
                <a:cs charset="0" typeface="Arial"/>
              </a:defRPr>
            </a:lvl9pPr>
          </a:lstStyle>
          <a:p>
            <a:r>
              <a:rPr dirty="0" lang="en-US"/>
              <a:t>19.6  Flow, Pressure, and Resistance</a:t>
            </a:r>
          </a:p>
        </p:txBody>
      </p:sp>
    </p:spTree>
    <p:extLst>
      <p:ext uri="{BB962C8B-B14F-4D97-AF65-F5344CB8AC3E}">
        <p14:creationId xmlns:p14="http://schemas.microsoft.com/office/powerpoint/2010/main" val="327641432"/>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6964" name="Rectangle 4"/>
          <p:cNvSpPr>
            <a:spLocks noChangeArrowheads="1" noGrp="1"/>
          </p:cNvSpPr>
          <p:nvPr>
            <p:ph type="title"/>
          </p:nvPr>
        </p:nvSpPr>
        <p:spPr/>
        <p:txBody>
          <a:bodyPr/>
          <a:lstStyle/>
          <a:p>
            <a:r>
              <a:rPr altLang="en-US" lang="en-US"/>
              <a:t>Blood Pressure (BP)</a:t>
            </a:r>
          </a:p>
        </p:txBody>
      </p:sp>
      <p:sp>
        <p:nvSpPr>
          <p:cNvPr id="296965" name="Rectangle 5"/>
          <p:cNvSpPr>
            <a:spLocks noChangeArrowheads="1" noGrp="1"/>
          </p:cNvSpPr>
          <p:nvPr>
            <p:ph idx="1" type="body"/>
          </p:nvPr>
        </p:nvSpPr>
        <p:spPr/>
        <p:txBody>
          <a:bodyPr/>
          <a:lstStyle/>
          <a:p>
            <a:r>
              <a:rPr altLang="en-US" lang="en-US"/>
              <a:t>Force per unit area exerted on the wall of a blood vessel by its contained blood </a:t>
            </a:r>
          </a:p>
          <a:p>
            <a:pPr lvl="1"/>
            <a:r>
              <a:rPr altLang="en-US" lang="en-US"/>
              <a:t>Expressed in millimeters of mercury (</a:t>
            </a:r>
            <a:r>
              <a:rPr altLang="en-US" lang="en-US" u="sng"/>
              <a:t>mm Hg</a:t>
            </a:r>
            <a:r>
              <a:rPr altLang="en-US" lang="en-US"/>
              <a:t>)</a:t>
            </a:r>
          </a:p>
          <a:p>
            <a:r>
              <a:rPr altLang="en-US" lang="en-US"/>
              <a:t>The differences in BP within the vascular system provide the driving force that keeps blood moving from higher to lower pressure areas</a:t>
            </a:r>
          </a:p>
        </p:txBody>
      </p:sp>
    </p:spTree>
  </p:cSld>
  <p:clrMapOvr>
    <a:masterClrMapping/>
  </p:clrMapOvr>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7988" name="Rectangle 4"/>
          <p:cNvSpPr>
            <a:spLocks noChangeArrowheads="1" noGrp="1"/>
          </p:cNvSpPr>
          <p:nvPr>
            <p:ph type="title"/>
          </p:nvPr>
        </p:nvSpPr>
        <p:spPr/>
        <p:txBody>
          <a:bodyPr/>
          <a:lstStyle/>
          <a:p>
            <a:r>
              <a:rPr altLang="en-US" lang="en-US"/>
              <a:t>Resistance</a:t>
            </a:r>
          </a:p>
        </p:txBody>
      </p:sp>
      <p:sp>
        <p:nvSpPr>
          <p:cNvPr id="297989" name="Rectangle 5"/>
          <p:cNvSpPr>
            <a:spLocks noChangeArrowheads="1" noGrp="1"/>
          </p:cNvSpPr>
          <p:nvPr>
            <p:ph idx="1" type="body"/>
          </p:nvPr>
        </p:nvSpPr>
        <p:spPr/>
        <p:txBody>
          <a:bodyPr/>
          <a:lstStyle/>
          <a:p>
            <a:r>
              <a:rPr altLang="en-US" b="1" lang="en-US"/>
              <a:t>Resistance</a:t>
            </a:r>
            <a:r>
              <a:rPr altLang="en-US" lang="en-US"/>
              <a:t> – opposition to flow </a:t>
            </a:r>
          </a:p>
          <a:p>
            <a:pPr lvl="1"/>
            <a:r>
              <a:rPr altLang="en-US" lang="en-US"/>
              <a:t>Measure of the amount of friction blood encounters</a:t>
            </a:r>
          </a:p>
          <a:p>
            <a:pPr lvl="1"/>
            <a:r>
              <a:rPr altLang="en-US" lang="en-US"/>
              <a:t>Generally encountered in the systemic circulation</a:t>
            </a:r>
          </a:p>
          <a:p>
            <a:pPr lvl="1"/>
            <a:r>
              <a:rPr altLang="en-US" lang="en-US"/>
              <a:t>Referred to as peripheral resistance (PR)</a:t>
            </a:r>
          </a:p>
          <a:p>
            <a:r>
              <a:rPr altLang="en-US" lang="en-US"/>
              <a:t>The three </a:t>
            </a:r>
            <a:r>
              <a:rPr altLang="en-US" lang="en-US" u="sng"/>
              <a:t>important</a:t>
            </a:r>
            <a:r>
              <a:rPr altLang="en-US" lang="en-US"/>
              <a:t> sources of resistance are </a:t>
            </a:r>
            <a:r>
              <a:rPr altLang="en-US" b="1" lang="en-US"/>
              <a:t>blood viscosity</a:t>
            </a:r>
            <a:r>
              <a:rPr altLang="en-US" lang="en-US"/>
              <a:t>, </a:t>
            </a:r>
            <a:r>
              <a:rPr altLang="en-US" b="1" lang="en-US"/>
              <a:t>total blood vessel length</a:t>
            </a:r>
            <a:r>
              <a:rPr altLang="en-US" lang="en-US"/>
              <a:t>, and blood </a:t>
            </a:r>
            <a:r>
              <a:rPr altLang="en-US" b="1" lang="en-US"/>
              <a:t>vessel diameter</a:t>
            </a:r>
          </a:p>
        </p:txBody>
      </p:sp>
    </p:spTree>
  </p:cSld>
  <p:clrMapOvr>
    <a:masterClrMapping/>
  </p:clrMapOvr>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9014" name="Rectangle 6"/>
          <p:cNvSpPr>
            <a:spLocks noChangeArrowheads="1" noGrp="1"/>
          </p:cNvSpPr>
          <p:nvPr>
            <p:ph type="title"/>
          </p:nvPr>
        </p:nvSpPr>
        <p:spPr/>
        <p:txBody>
          <a:bodyPr/>
          <a:lstStyle/>
          <a:p>
            <a:r>
              <a:rPr altLang="en-US" lang="en-US"/>
              <a:t>Resistance Factors: Viscosity and Vessel Length</a:t>
            </a:r>
          </a:p>
        </p:txBody>
      </p:sp>
      <p:sp>
        <p:nvSpPr>
          <p:cNvPr id="299015" name="Rectangle 7"/>
          <p:cNvSpPr>
            <a:spLocks noChangeArrowheads="1" noGrp="1"/>
          </p:cNvSpPr>
          <p:nvPr>
            <p:ph idx="1" type="body"/>
          </p:nvPr>
        </p:nvSpPr>
        <p:spPr>
          <a:xfrm>
            <a:off x="298450" y="1320800"/>
            <a:ext cx="8270875" cy="5056188"/>
          </a:xfrm>
        </p:spPr>
        <p:txBody>
          <a:bodyPr/>
          <a:lstStyle/>
          <a:p>
            <a:r>
              <a:rPr altLang="en-US" lang="en-US"/>
              <a:t>Resistance factors that remain </a:t>
            </a:r>
            <a:r>
              <a:rPr altLang="en-US" lang="en-US" u="sng"/>
              <a:t>relatively constant</a:t>
            </a:r>
            <a:r>
              <a:rPr altLang="en-US" lang="en-US"/>
              <a:t> are:</a:t>
            </a:r>
          </a:p>
          <a:p>
            <a:pPr lvl="1"/>
            <a:r>
              <a:rPr altLang="en-US" lang="en-US"/>
              <a:t>Blood viscosity – “stickiness” of the blood </a:t>
            </a:r>
          </a:p>
          <a:p>
            <a:pPr lvl="1"/>
            <a:r>
              <a:rPr altLang="en-US" lang="en-US"/>
              <a:t>Blood vessel length – the longer the vessel, the greater the resistance encountered</a:t>
            </a:r>
          </a:p>
        </p:txBody>
      </p:sp>
    </p:spTree>
  </p:cSld>
  <p:clrMapOvr>
    <a:masterClrMapping/>
  </p:clrMapOvr>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0036" name="Rectangle 4"/>
          <p:cNvSpPr>
            <a:spLocks noChangeArrowheads="1" noGrp="1"/>
          </p:cNvSpPr>
          <p:nvPr>
            <p:ph type="title"/>
          </p:nvPr>
        </p:nvSpPr>
        <p:spPr/>
        <p:txBody>
          <a:bodyPr/>
          <a:lstStyle/>
          <a:p>
            <a:r>
              <a:rPr altLang="en-US" lang="en-US"/>
              <a:t>Resistance Factors: Blood Vessel Diameter</a:t>
            </a:r>
          </a:p>
        </p:txBody>
      </p:sp>
      <p:sp>
        <p:nvSpPr>
          <p:cNvPr id="300037" name="Rectangle 5"/>
          <p:cNvSpPr>
            <a:spLocks noChangeArrowheads="1" noGrp="1"/>
          </p:cNvSpPr>
          <p:nvPr>
            <p:ph idx="1" type="body"/>
          </p:nvPr>
        </p:nvSpPr>
        <p:spPr/>
        <p:txBody>
          <a:bodyPr/>
          <a:lstStyle/>
          <a:p>
            <a:r>
              <a:rPr altLang="en-US" lang="en-US"/>
              <a:t>Changes in vessel diameter are frequent and significantly alter peripheral resistance</a:t>
            </a:r>
          </a:p>
          <a:p>
            <a:r>
              <a:rPr altLang="en-US" lang="en-US"/>
              <a:t>Resistance varies inversely with the fourth power of vessel radius</a:t>
            </a:r>
          </a:p>
          <a:p>
            <a:pPr lvl="1"/>
            <a:r>
              <a:rPr altLang="en-US" lang="en-US"/>
              <a:t>For example, if the radius is doubled, the resistance is 1/16 as much</a:t>
            </a:r>
          </a:p>
        </p:txBody>
      </p:sp>
      <p:pic>
        <p:nvPicPr>
          <p:cNvPr id="2" name="Online Media 1">
            <a:hlinkClick action="ppaction://media" r:id=""/>
            <a:extLst>
              <a:ext uri="{FF2B5EF4-FFF2-40B4-BE49-F238E27FC236}">
                <a16:creationId xmlns:a16="http://schemas.microsoft.com/office/drawing/2014/main" id="{359864E3-39DD-C372-9EAB-8980290B7778}"/>
              </a:ext>
              <a:ext uri="{C183D7F6-B498-43B3-948B-1728B52AA6E4}">
                <adec:decorative xmlns:adec="http://schemas.microsoft.com/office/drawing/2017/decorative" val="1"/>
              </a:ext>
            </a:extLst>
          </p:cNvPr>
          <p:cNvPicPr>
            <a:picLocks noChangeAspect="1" noRot="1"/>
          </p:cNvPicPr>
          <p:nvPr>
            <a:videoFile r:link="rId1"/>
          </p:nvPr>
        </p:nvPicPr>
        <p:blipFill>
          <a:blip r:embed="rId3"/>
          <a:stretch>
            <a:fillRect/>
          </a:stretch>
        </p:blipFill>
        <p:spPr>
          <a:xfrm>
            <a:off x="5268913" y="0"/>
            <a:ext cx="3875087" cy="6858000"/>
          </a:xfrm>
          <a:prstGeom prst="rect">
            <a:avLst/>
          </a:prstGeom>
        </p:spPr>
      </p:pic>
    </p:spTree>
  </p:cSld>
  <p:clrMapOvr>
    <a:masterClrMapping/>
  </p:clrMapOvr>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mediacall" presetID="1" presetSubtype="0">
                                  <p:stCondLst>
                                    <p:cond delay="0"/>
                                  </p:stCondLst>
                                  <p:childTnLst>
                                    <p:cmd cmd="playFrom(0.0)" type="call">
                                      <p:cBhvr>
                                        <p:cTn dur="1" fill="hold" id="6"/>
                                        <p:tgtEl>
                                          <p:spTgt spid="2"/>
                                        </p:tgtEl>
                                      </p:cBhvr>
                                    </p:cmd>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0" presetSubtype="0">
                                  <p:stCondLst>
                                    <p:cond delay="0"/>
                                  </p:stCondLst>
                                  <p:childTnLst>
                                    <p:set>
                                      <p:cBhvr>
                                        <p:cTn dur="1" fill="hold" id="10">
                                          <p:stCondLst>
                                            <p:cond delay="0"/>
                                          </p:stCondLst>
                                        </p:cTn>
                                        <p:tgtEl>
                                          <p:spTgt spid="2"/>
                                        </p:tgtEl>
                                        <p:attrNameLst>
                                          <p:attrName>style.visibility</p:attrName>
                                        </p:attrNameLst>
                                      </p:cBhvr>
                                      <p:to>
                                        <p:strVal val="visible"/>
                                      </p:to>
                                    </p:set>
                                    <p:animEffect filter="fade" transition="in">
                                      <p:cBhvr>
                                        <p:cTn dur="500" id="11"/>
                                        <p:tgtEl>
                                          <p:spTgt spid="2"/>
                                        </p:tgtEl>
                                      </p:cBhvr>
                                    </p:animEffect>
                                  </p:childTnLst>
                                </p:cTn>
                              </p:par>
                            </p:childTnLst>
                          </p:cTn>
                        </p:par>
                      </p:childTnLst>
                    </p:cTn>
                  </p:par>
                </p:childTnLst>
              </p:cTn>
              <p:prevCondLst>
                <p:cond delay="0" evt="onPrev">
                  <p:tgtEl>
                    <p:sldTgt/>
                  </p:tgtEl>
                </p:cond>
              </p:prevCondLst>
              <p:nextCondLst>
                <p:cond delay="0" evt="onNext">
                  <p:tgtEl>
                    <p:sldTgt/>
                  </p:tgtEl>
                </p:cond>
              </p:nextCondLst>
            </p:seq>
            <p:video>
              <p:cMediaNode vol="80000">
                <p:cTn display="0" fill="hold" id="12">
                  <p:stCondLst>
                    <p:cond delay="indefinite"/>
                  </p:stCondLst>
                </p:cTn>
                <p:tgtEl>
                  <p:spTgt spid="2"/>
                </p:tgtEl>
              </p:cMediaNode>
            </p:video>
            <p:seq concurrent="1" nextAc="seek">
              <p:cTn evtFilter="cancelBubble" fill="hold" id="13" nodeType="interactiveSeq" restart="whenNotActive">
                <p:stCondLst>
                  <p:cond delay="0" evt="onClick">
                    <p:tgtEl>
                      <p:spTgt spid="2"/>
                    </p:tgtEl>
                  </p:cond>
                </p:stCondLst>
                <p:endSync delay="0" evt="end">
                  <p:rtn val="all"/>
                </p:endSync>
                <p:childTnLst>
                  <p:par>
                    <p:cTn fill="hold" id="14">
                      <p:stCondLst>
                        <p:cond delay="0"/>
                      </p:stCondLst>
                      <p:childTnLst>
                        <p:par>
                          <p:cTn fill="hold" id="15">
                            <p:stCondLst>
                              <p:cond delay="0"/>
                            </p:stCondLst>
                            <p:childTnLst>
                              <p:par>
                                <p:cTn fill="hold" id="16" nodeType="clickEffect" presetClass="mediacall" presetID="2" presetSubtype="0">
                                  <p:stCondLst>
                                    <p:cond delay="0"/>
                                  </p:stCondLst>
                                  <p:childTnLst>
                                    <p:cmd cmd="togglePause" type="call">
                                      <p:cBhvr>
                                        <p:cTn dur="1" fill="hold" id="17"/>
                                        <p:tgtEl>
                                          <p:spTgt spid="2"/>
                                        </p:tgtEl>
                                      </p:cBhvr>
                                    </p:cmd>
                                  </p:childTnLst>
                                </p:cTn>
                              </p:par>
                            </p:childTnLst>
                          </p:cTn>
                        </p:par>
                      </p:childTnLst>
                    </p:cTn>
                  </p:par>
                </p:childTnLst>
              </p:cTn>
              <p:nextCondLst>
                <p:cond delay="0" evt="onClick">
                  <p:tgtEl>
                    <p:spTgt spid="2"/>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1060" name="Rectangle 4"/>
          <p:cNvSpPr>
            <a:spLocks noChangeArrowheads="1" noGrp="1"/>
          </p:cNvSpPr>
          <p:nvPr>
            <p:ph type="title"/>
          </p:nvPr>
        </p:nvSpPr>
        <p:spPr/>
        <p:txBody>
          <a:bodyPr/>
          <a:lstStyle/>
          <a:p>
            <a:r>
              <a:rPr altLang="en-US" dirty="0" lang="en-US"/>
              <a:t>Resistance Factors: Blood Vessel Diameter </a:t>
            </a:r>
          </a:p>
        </p:txBody>
      </p:sp>
      <p:sp>
        <p:nvSpPr>
          <p:cNvPr id="301061" name="Rectangle 5"/>
          <p:cNvSpPr>
            <a:spLocks noChangeArrowheads="1" noGrp="1"/>
          </p:cNvSpPr>
          <p:nvPr>
            <p:ph idx="1" type="body"/>
          </p:nvPr>
        </p:nvSpPr>
        <p:spPr/>
        <p:txBody>
          <a:bodyPr/>
          <a:lstStyle/>
          <a:p>
            <a:r>
              <a:rPr altLang="en-US" lang="en-US"/>
              <a:t>Small-diameter arterioles are the major determinants of peripheral resistance</a:t>
            </a:r>
          </a:p>
          <a:p>
            <a:r>
              <a:rPr altLang="en-US" lang="en-US"/>
              <a:t>Fatty plaques from atherosclerosis: </a:t>
            </a:r>
          </a:p>
          <a:p>
            <a:pPr lvl="1"/>
            <a:r>
              <a:rPr altLang="en-US" lang="en-US"/>
              <a:t>Cause turbulent blood flow</a:t>
            </a:r>
          </a:p>
          <a:p>
            <a:pPr lvl="1"/>
            <a:r>
              <a:rPr altLang="en-US" lang="en-US"/>
              <a:t>Dramatically increase resistance due to turbulence</a:t>
            </a:r>
          </a:p>
        </p:txBody>
      </p:sp>
    </p:spTree>
  </p:cSld>
  <p:clrMapOvr>
    <a:masterClrMapping/>
  </p:clrMapOv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2082" name="Rectangle 2"/>
          <p:cNvSpPr>
            <a:spLocks noChangeArrowheads="1" noGrp="1"/>
          </p:cNvSpPr>
          <p:nvPr>
            <p:ph type="title"/>
          </p:nvPr>
        </p:nvSpPr>
        <p:spPr/>
        <p:txBody>
          <a:bodyPr/>
          <a:lstStyle/>
          <a:p>
            <a:r>
              <a:rPr altLang="en-US" lang="en-US"/>
              <a:t>Blood Flow, Blood Pressure, and Resistance</a:t>
            </a:r>
          </a:p>
        </p:txBody>
      </p:sp>
      <p:sp>
        <p:nvSpPr>
          <p:cNvPr id="302083" name="Rectangle 3"/>
          <p:cNvSpPr>
            <a:spLocks noChangeArrowheads="1" noGrp="1"/>
          </p:cNvSpPr>
          <p:nvPr>
            <p:ph idx="1" type="body"/>
          </p:nvPr>
        </p:nvSpPr>
        <p:spPr>
          <a:xfrm>
            <a:off x="298450" y="977900"/>
            <a:ext cx="8270875" cy="5667375"/>
          </a:xfrm>
        </p:spPr>
        <p:txBody>
          <a:bodyPr/>
          <a:lstStyle/>
          <a:p>
            <a:pPr>
              <a:lnSpc>
                <a:spcPct val="90000"/>
              </a:lnSpc>
            </a:pPr>
            <a:r>
              <a:rPr altLang="en-US" lang="en-US">
                <a:solidFill>
                  <a:srgbClr val="000000"/>
                </a:solidFill>
              </a:rPr>
              <a:t>Blood flow (F) is directly proportional to the difference in blood pressure (</a:t>
            </a:r>
            <a:r>
              <a:rPr altLang="en-US" lang="en-US">
                <a:solidFill>
                  <a:srgbClr val="000000"/>
                </a:solidFill>
                <a:sym charset="2" panose="05050102010706020507" pitchFamily="18" typeface="Symbol"/>
              </a:rPr>
              <a:t></a:t>
            </a:r>
            <a:r>
              <a:rPr altLang="en-US" i="1" lang="en-US">
                <a:solidFill>
                  <a:srgbClr val="000000"/>
                </a:solidFill>
              </a:rPr>
              <a:t>P</a:t>
            </a:r>
            <a:r>
              <a:rPr altLang="en-US" lang="en-US">
                <a:solidFill>
                  <a:srgbClr val="000000"/>
                </a:solidFill>
              </a:rPr>
              <a:t>) between two points in the circulation</a:t>
            </a:r>
          </a:p>
          <a:p>
            <a:pPr lvl="1">
              <a:lnSpc>
                <a:spcPct val="90000"/>
              </a:lnSpc>
            </a:pPr>
            <a:r>
              <a:rPr altLang="en-US" lang="en-US">
                <a:solidFill>
                  <a:srgbClr val="000000"/>
                </a:solidFill>
              </a:rPr>
              <a:t>If </a:t>
            </a:r>
            <a:r>
              <a:rPr altLang="en-US" lang="en-US">
                <a:solidFill>
                  <a:srgbClr val="000000"/>
                </a:solidFill>
                <a:sym charset="2" panose="05050102010706020507" pitchFamily="18" typeface="Symbol"/>
              </a:rPr>
              <a:t></a:t>
            </a:r>
            <a:r>
              <a:rPr altLang="en-US" i="1" lang="en-US">
                <a:solidFill>
                  <a:srgbClr val="000000"/>
                </a:solidFill>
              </a:rPr>
              <a:t>P</a:t>
            </a:r>
            <a:r>
              <a:rPr altLang="en-US" lang="en-US">
                <a:solidFill>
                  <a:srgbClr val="000000"/>
                </a:solidFill>
              </a:rPr>
              <a:t> increases, blood flow speeds up; if </a:t>
            </a:r>
            <a:r>
              <a:rPr altLang="en-US" lang="en-US">
                <a:solidFill>
                  <a:srgbClr val="000000"/>
                </a:solidFill>
                <a:sym charset="2" panose="05050102010706020507" pitchFamily="18" typeface="Symbol"/>
              </a:rPr>
              <a:t></a:t>
            </a:r>
            <a:r>
              <a:rPr altLang="en-US" i="1" lang="en-US">
                <a:solidFill>
                  <a:srgbClr val="000000"/>
                </a:solidFill>
              </a:rPr>
              <a:t>P</a:t>
            </a:r>
            <a:r>
              <a:rPr altLang="en-US" lang="en-US">
                <a:solidFill>
                  <a:srgbClr val="000000"/>
                </a:solidFill>
              </a:rPr>
              <a:t> decreases, blood flow declines</a:t>
            </a:r>
          </a:p>
        </p:txBody>
      </p:sp>
    </p:spTree>
  </p:cSld>
  <p:clrMapOvr>
    <a:masterClrMapping/>
  </p:clrMapOvr>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25988" name="Rectangle 4"/>
          <p:cNvSpPr>
            <a:spLocks noChangeArrowheads="1" noGrp="1"/>
          </p:cNvSpPr>
          <p:nvPr>
            <p:ph type="title"/>
          </p:nvPr>
        </p:nvSpPr>
        <p:spPr/>
        <p:txBody>
          <a:bodyPr/>
          <a:lstStyle/>
          <a:p>
            <a:r>
              <a:rPr altLang="en-US" lang="en-US"/>
              <a:t>Systemic Blood Pressure</a:t>
            </a:r>
          </a:p>
        </p:txBody>
      </p:sp>
      <p:sp>
        <p:nvSpPr>
          <p:cNvPr id="425989" name="Rectangle 5"/>
          <p:cNvSpPr>
            <a:spLocks noChangeArrowheads="1" noGrp="1"/>
          </p:cNvSpPr>
          <p:nvPr>
            <p:ph idx="1" type="body"/>
          </p:nvPr>
        </p:nvSpPr>
        <p:spPr/>
        <p:txBody>
          <a:bodyPr/>
          <a:lstStyle/>
          <a:p>
            <a:r>
              <a:rPr altLang="en-US" lang="en-US"/>
              <a:t>Systemic pressure:</a:t>
            </a:r>
          </a:p>
          <a:p>
            <a:pPr lvl="1"/>
            <a:r>
              <a:rPr altLang="en-US" lang="en-US"/>
              <a:t>Is highest in the aorta</a:t>
            </a:r>
          </a:p>
          <a:p>
            <a:pPr lvl="1"/>
            <a:r>
              <a:rPr altLang="en-US" lang="en-US"/>
              <a:t>Declines throughout the length of the pathway</a:t>
            </a:r>
          </a:p>
          <a:p>
            <a:pPr lvl="1"/>
            <a:r>
              <a:rPr altLang="en-US" lang="en-US"/>
              <a:t>Is 0 mm Hg in the right atrium</a:t>
            </a:r>
          </a:p>
          <a:p>
            <a:r>
              <a:rPr altLang="en-US" lang="en-US"/>
              <a:t>The steepest change in blood pressure occurs in the arterioles</a:t>
            </a:r>
          </a:p>
        </p:txBody>
      </p:sp>
    </p:spTree>
  </p:cSld>
  <p:clrMapOvr>
    <a:masterClrMapping/>
  </p:clrMapOvr>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Figure is a graph that compares blood pressure (systolic, diastolic, and mean pressures), in different blood vessels starting with the aorta and ending with the venae cavae.  Vertical axis is blood pressure (in mm Hg) from zero to 120. The horizontal axis lists the following blood vessels of the systemic circulation, from left to right:  - Aorta:  120/80 mm Hg (MAP=95 mm Hg) - Arteries:  115/78 mm Hg (MAP = 85 mm Hg) - Arterioles:  55/50 mm Hg (MAP = 52 mm Hg) - Capillaries:  20 mm Hg  - Venules:  15 mm Hg  - Veins:  5 mm Hg - Venae cavae:  0 mm Hg " id="2" name="Picture 1">
            <a:extLst>
              <a:ext uri="{FF2B5EF4-FFF2-40B4-BE49-F238E27FC236}">
                <a16:creationId xmlns:a16="http://schemas.microsoft.com/office/drawing/2014/main" id="{0BE66437-FE7F-E211-4D44-20728A79D371}"/>
              </a:ext>
            </a:extLst>
          </p:cNvPr>
          <p:cNvPicPr>
            <a:picLocks noChangeAspect="1"/>
          </p:cNvPicPr>
          <p:nvPr/>
        </p:nvPicPr>
        <p:blipFill rotWithShape="1">
          <a:blip r:embed="rId2">
            <a:extLst>
              <a:ext uri="{28A0092B-C50C-407E-A947-70E740481C1C}">
                <a14:useLocalDpi xmlns:a14="http://schemas.microsoft.com/office/drawing/2010/main" val="0"/>
              </a:ext>
            </a:extLst>
          </a:blip>
          <a:srcRect b="1923"/>
          <a:stretch/>
        </p:blipFill>
        <p:spPr>
          <a:xfrm>
            <a:off x="816864" y="831370"/>
            <a:ext cx="7650958" cy="5679158"/>
          </a:xfrm>
          <a:prstGeom prst="rect">
            <a:avLst/>
          </a:prstGeom>
        </p:spPr>
      </p:pic>
      <p:sp>
        <p:nvSpPr>
          <p:cNvPr id="304131" name="Rectangle 3"/>
          <p:cNvSpPr>
            <a:spLocks noChangeArrowheads="1" noGrp="1"/>
          </p:cNvSpPr>
          <p:nvPr>
            <p:ph type="title"/>
          </p:nvPr>
        </p:nvSpPr>
        <p:spPr/>
        <p:txBody>
          <a:bodyPr/>
          <a:lstStyle/>
          <a:p>
            <a:r>
              <a:rPr altLang="en-US" dirty="0" lang="en-US"/>
              <a:t>Systemic Blood Pressure: graphic</a:t>
            </a:r>
          </a:p>
        </p:txBody>
      </p:sp>
      <p:sp>
        <p:nvSpPr>
          <p:cNvPr id="304136" name="Line 8">
            <a:extLst>
              <a:ext uri="{C183D7F6-B498-43B3-948B-1728B52AA6E4}">
                <adec:decorative xmlns:adec="http://schemas.microsoft.com/office/drawing/2017/decorative" val="1"/>
              </a:ext>
            </a:extLst>
          </p:cNvPr>
          <p:cNvSpPr>
            <a:spLocks noChangeShapeType="1"/>
          </p:cNvSpPr>
          <p:nvPr/>
        </p:nvSpPr>
        <p:spPr bwMode="auto">
          <a:xfrm>
            <a:off x="4543425" y="2598738"/>
            <a:ext cx="0" cy="1335087"/>
          </a:xfrm>
          <a:prstGeom prst="line">
            <a:avLst/>
          </a:prstGeom>
          <a:noFill/>
          <a:ln w="63500">
            <a:solidFill>
              <a:srgbClr val="FF0000"/>
            </a:solidFill>
            <a:round/>
            <a:headEnd/>
            <a:tailEnd len="med" type="triangle" w="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p>
            <a:endParaRPr lang="en-US"/>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6" presetSubtype="0">
                                  <p:stCondLst>
                                    <p:cond delay="0"/>
                                  </p:stCondLst>
                                  <p:childTnLst>
                                    <p:set>
                                      <p:cBhvr>
                                        <p:cTn dur="1" fill="hold" id="6">
                                          <p:stCondLst>
                                            <p:cond delay="0"/>
                                          </p:stCondLst>
                                        </p:cTn>
                                        <p:tgtEl>
                                          <p:spTgt spid="304136"/>
                                        </p:tgtEl>
                                        <p:attrNameLst>
                                          <p:attrName>style.visibility</p:attrName>
                                        </p:attrNameLst>
                                      </p:cBhvr>
                                      <p:to>
                                        <p:strVal val="visible"/>
                                      </p:to>
                                    </p:set>
                                    <p:animEffect filter="wipe(down)" transition="in">
                                      <p:cBhvr>
                                        <p:cTn dur="580" id="7">
                                          <p:stCondLst>
                                            <p:cond delay="0"/>
                                          </p:stCondLst>
                                        </p:cTn>
                                        <p:tgtEl>
                                          <p:spTgt spid="304136"/>
                                        </p:tgtEl>
                                      </p:cBhvr>
                                    </p:animEffect>
                                    <p:anim calcmode="lin" valueType="num">
                                      <p:cBhvr>
                                        <p:cTn dur="1822" id="8" tmFilter="0,0; 0.14,0.36; 0.43,0.73; 0.71,0.91; 1.0,1.0">
                                          <p:stCondLst>
                                            <p:cond delay="0"/>
                                          </p:stCondLst>
                                        </p:cTn>
                                        <p:tgtEl>
                                          <p:spTgt spid="304136"/>
                                        </p:tgtEl>
                                        <p:attrNameLst>
                                          <p:attrName>ppt_x</p:attrName>
                                        </p:attrNameLst>
                                      </p:cBhvr>
                                      <p:tavLst>
                                        <p:tav tm="0">
                                          <p:val>
                                            <p:strVal val="#ppt_x-0.25"/>
                                          </p:val>
                                        </p:tav>
                                        <p:tav tm="100000">
                                          <p:val>
                                            <p:strVal val="#ppt_x"/>
                                          </p:val>
                                        </p:tav>
                                      </p:tavLst>
                                    </p:anim>
                                    <p:anim calcmode="lin" valueType="num">
                                      <p:cBhvr>
                                        <p:cTn dur="664" id="9" tmFilter="0.0,0.0; 0.25,0.07; 0.50,0.2; 0.75,0.467; 1.0,1.0">
                                          <p:stCondLst>
                                            <p:cond delay="0"/>
                                          </p:stCondLst>
                                        </p:cTn>
                                        <p:tgtEl>
                                          <p:spTgt spid="304136"/>
                                        </p:tgtEl>
                                        <p:attrNameLst>
                                          <p:attrName>ppt_y</p:attrName>
                                        </p:attrNameLst>
                                      </p:cBhvr>
                                      <p:tavLst>
                                        <p:tav fmla="#ppt_y-sin(pi*$)/3" tm="0">
                                          <p:val>
                                            <p:fltVal val="0.5"/>
                                          </p:val>
                                        </p:tav>
                                        <p:tav tm="100000">
                                          <p:val>
                                            <p:fltVal val="1"/>
                                          </p:val>
                                        </p:tav>
                                      </p:tavLst>
                                    </p:anim>
                                    <p:anim calcmode="lin" valueType="num">
                                      <p:cBhvr>
                                        <p:cTn dur="664" id="10" tmFilter="0, 0; 0.125,0.2665; 0.25,0.4; 0.375,0.465; 0.5,0.5;  0.625,0.535; 0.75,0.6; 0.875,0.7335; 1,1">
                                          <p:stCondLst>
                                            <p:cond delay="664"/>
                                          </p:stCondLst>
                                        </p:cTn>
                                        <p:tgtEl>
                                          <p:spTgt spid="304136"/>
                                        </p:tgtEl>
                                        <p:attrNameLst>
                                          <p:attrName>ppt_y</p:attrName>
                                        </p:attrNameLst>
                                      </p:cBhvr>
                                      <p:tavLst>
                                        <p:tav fmla="#ppt_y-sin(pi*$)/9" tm="0">
                                          <p:val>
                                            <p:fltVal val="0"/>
                                          </p:val>
                                        </p:tav>
                                        <p:tav tm="100000">
                                          <p:val>
                                            <p:fltVal val="1"/>
                                          </p:val>
                                        </p:tav>
                                      </p:tavLst>
                                    </p:anim>
                                    <p:anim calcmode="lin" valueType="num">
                                      <p:cBhvr>
                                        <p:cTn dur="332" id="11" tmFilter="0, 0; 0.125,0.2665; 0.25,0.4; 0.375,0.465; 0.5,0.5;  0.625,0.535; 0.75,0.6; 0.875,0.7335; 1,1">
                                          <p:stCondLst>
                                            <p:cond delay="1324"/>
                                          </p:stCondLst>
                                        </p:cTn>
                                        <p:tgtEl>
                                          <p:spTgt spid="304136"/>
                                        </p:tgtEl>
                                        <p:attrNameLst>
                                          <p:attrName>ppt_y</p:attrName>
                                        </p:attrNameLst>
                                      </p:cBhvr>
                                      <p:tavLst>
                                        <p:tav fmla="#ppt_y-sin(pi*$)/27" tm="0">
                                          <p:val>
                                            <p:fltVal val="0"/>
                                          </p:val>
                                        </p:tav>
                                        <p:tav tm="100000">
                                          <p:val>
                                            <p:fltVal val="1"/>
                                          </p:val>
                                        </p:tav>
                                      </p:tavLst>
                                    </p:anim>
                                    <p:anim calcmode="lin" valueType="num">
                                      <p:cBhvr>
                                        <p:cTn dur="164" id="12" tmFilter="0, 0; 0.125,0.2665; 0.25,0.4; 0.375,0.465; 0.5,0.5;  0.625,0.535; 0.75,0.6; 0.875,0.7335; 1,1">
                                          <p:stCondLst>
                                            <p:cond delay="1656"/>
                                          </p:stCondLst>
                                        </p:cTn>
                                        <p:tgtEl>
                                          <p:spTgt spid="304136"/>
                                        </p:tgtEl>
                                        <p:attrNameLst>
                                          <p:attrName>ppt_y</p:attrName>
                                        </p:attrNameLst>
                                      </p:cBhvr>
                                      <p:tavLst>
                                        <p:tav fmla="#ppt_y-sin(pi*$)/81" tm="0">
                                          <p:val>
                                            <p:fltVal val="0"/>
                                          </p:val>
                                        </p:tav>
                                        <p:tav tm="100000">
                                          <p:val>
                                            <p:fltVal val="1"/>
                                          </p:val>
                                        </p:tav>
                                      </p:tavLst>
                                    </p:anim>
                                    <p:animScale>
                                      <p:cBhvr>
                                        <p:cTn dur="26" id="13">
                                          <p:stCondLst>
                                            <p:cond delay="650"/>
                                          </p:stCondLst>
                                        </p:cTn>
                                        <p:tgtEl>
                                          <p:spTgt spid="304136"/>
                                        </p:tgtEl>
                                      </p:cBhvr>
                                      <p:to x="100000" y="60000"/>
                                    </p:animScale>
                                    <p:animScale>
                                      <p:cBhvr>
                                        <p:cTn decel="50000" dur="166" id="14">
                                          <p:stCondLst>
                                            <p:cond delay="676"/>
                                          </p:stCondLst>
                                        </p:cTn>
                                        <p:tgtEl>
                                          <p:spTgt spid="304136"/>
                                        </p:tgtEl>
                                      </p:cBhvr>
                                      <p:to x="100000" y="100000"/>
                                    </p:animScale>
                                    <p:animScale>
                                      <p:cBhvr>
                                        <p:cTn dur="26" id="15">
                                          <p:stCondLst>
                                            <p:cond delay="1312"/>
                                          </p:stCondLst>
                                        </p:cTn>
                                        <p:tgtEl>
                                          <p:spTgt spid="304136"/>
                                        </p:tgtEl>
                                      </p:cBhvr>
                                      <p:to x="100000" y="80000"/>
                                    </p:animScale>
                                    <p:animScale>
                                      <p:cBhvr>
                                        <p:cTn decel="50000" dur="166" id="16">
                                          <p:stCondLst>
                                            <p:cond delay="1338"/>
                                          </p:stCondLst>
                                        </p:cTn>
                                        <p:tgtEl>
                                          <p:spTgt spid="304136"/>
                                        </p:tgtEl>
                                      </p:cBhvr>
                                      <p:to x="100000" y="100000"/>
                                    </p:animScale>
                                    <p:animScale>
                                      <p:cBhvr>
                                        <p:cTn dur="26" id="17">
                                          <p:stCondLst>
                                            <p:cond delay="1642"/>
                                          </p:stCondLst>
                                        </p:cTn>
                                        <p:tgtEl>
                                          <p:spTgt spid="304136"/>
                                        </p:tgtEl>
                                      </p:cBhvr>
                                      <p:to x="100000" y="90000"/>
                                    </p:animScale>
                                    <p:animScale>
                                      <p:cBhvr>
                                        <p:cTn decel="50000" dur="166" id="18">
                                          <p:stCondLst>
                                            <p:cond delay="1668"/>
                                          </p:stCondLst>
                                        </p:cTn>
                                        <p:tgtEl>
                                          <p:spTgt spid="304136"/>
                                        </p:tgtEl>
                                      </p:cBhvr>
                                      <p:to x="100000" y="100000"/>
                                    </p:animScale>
                                    <p:animScale>
                                      <p:cBhvr>
                                        <p:cTn dur="26" id="19">
                                          <p:stCondLst>
                                            <p:cond delay="1808"/>
                                          </p:stCondLst>
                                        </p:cTn>
                                        <p:tgtEl>
                                          <p:spTgt spid="304136"/>
                                        </p:tgtEl>
                                      </p:cBhvr>
                                      <p:to x="100000" y="95000"/>
                                    </p:animScale>
                                    <p:animScale>
                                      <p:cBhvr>
                                        <p:cTn decel="50000" dur="166" id="20">
                                          <p:stCondLst>
                                            <p:cond delay="1834"/>
                                          </p:stCondLst>
                                        </p:cTn>
                                        <p:tgtEl>
                                          <p:spTgt spid="304136"/>
                                        </p:tgtEl>
                                      </p:cBhvr>
                                      <p:to x="100000" y="100000"/>
                                    </p:animScale>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304136"/>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6180" name="Rectangle 4"/>
          <p:cNvSpPr>
            <a:spLocks noChangeArrowheads="1" noGrp="1"/>
          </p:cNvSpPr>
          <p:nvPr>
            <p:ph type="title"/>
          </p:nvPr>
        </p:nvSpPr>
        <p:spPr/>
        <p:txBody>
          <a:bodyPr/>
          <a:lstStyle/>
          <a:p>
            <a:r>
              <a:rPr altLang="en-US" lang="en-US"/>
              <a:t>Arterial Blood Pressure</a:t>
            </a:r>
          </a:p>
        </p:txBody>
      </p:sp>
      <p:sp>
        <p:nvSpPr>
          <p:cNvPr id="306181" name="Rectangle 5"/>
          <p:cNvSpPr>
            <a:spLocks noChangeArrowheads="1" noGrp="1"/>
          </p:cNvSpPr>
          <p:nvPr>
            <p:ph idx="1" type="body"/>
          </p:nvPr>
        </p:nvSpPr>
        <p:spPr/>
        <p:txBody>
          <a:bodyPr/>
          <a:lstStyle/>
          <a:p>
            <a:pPr>
              <a:lnSpc>
                <a:spcPct val="90000"/>
              </a:lnSpc>
            </a:pPr>
            <a:r>
              <a:rPr altLang="en-US" b="1" lang="en-US"/>
              <a:t>Systolic pressure</a:t>
            </a:r>
            <a:r>
              <a:rPr altLang="en-US" lang="en-US"/>
              <a:t> – pressure exerted on arterial walls during ventricular contraction </a:t>
            </a:r>
          </a:p>
          <a:p>
            <a:pPr>
              <a:lnSpc>
                <a:spcPct val="90000"/>
              </a:lnSpc>
            </a:pPr>
            <a:r>
              <a:rPr altLang="en-US" b="1" lang="en-US"/>
              <a:t>Diastolic pressure</a:t>
            </a:r>
            <a:r>
              <a:rPr altLang="en-US" lang="en-US"/>
              <a:t> – lowest level of arterial pressure during a ventricular cycle</a:t>
            </a:r>
          </a:p>
          <a:p>
            <a:pPr>
              <a:lnSpc>
                <a:spcPct val="90000"/>
              </a:lnSpc>
            </a:pPr>
            <a:r>
              <a:rPr altLang="en-US" b="1" lang="en-US"/>
              <a:t>Pulse pressure</a:t>
            </a:r>
            <a:r>
              <a:rPr altLang="en-US" lang="en-US"/>
              <a:t> – the difference between systolic and diastolic pressure</a:t>
            </a:r>
          </a:p>
          <a:p>
            <a:pPr>
              <a:lnSpc>
                <a:spcPct val="90000"/>
              </a:lnSpc>
            </a:pPr>
            <a:r>
              <a:rPr altLang="en-US" b="1" lang="en-US"/>
              <a:t>Mean arterial pressure</a:t>
            </a:r>
            <a:r>
              <a:rPr altLang="en-US" lang="en-US"/>
              <a:t> (MAP) – pressure that propels the blood to the tissues</a:t>
            </a:r>
          </a:p>
          <a:p>
            <a:pPr lvl="1">
              <a:lnSpc>
                <a:spcPct val="90000"/>
              </a:lnSpc>
            </a:pPr>
            <a:r>
              <a:rPr altLang="en-US" lang="en-US"/>
              <a:t>MAP = diastolic pressure + 1/3 pulse pressure </a:t>
            </a:r>
          </a:p>
        </p:txBody>
      </p:sp>
    </p:spTree>
  </p:cSld>
  <p:clrMapOvr>
    <a:masterClrMapping/>
  </p:clrMapOvr>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dirty="0" lang="en-US"/>
              <a:t>Arterial Blood Pressure (cont.)</a:t>
            </a:r>
          </a:p>
        </p:txBody>
      </p:sp>
      <p:sp>
        <p:nvSpPr>
          <p:cNvPr id="93186" name="Rectangle 9"/>
          <p:cNvSpPr>
            <a:spLocks noChangeArrowheads="1" noGrp="1"/>
          </p:cNvSpPr>
          <p:nvPr>
            <p:ph idx="1"/>
          </p:nvPr>
        </p:nvSpPr>
        <p:spPr>
          <a:xfrm>
            <a:off x="304800" y="767716"/>
            <a:ext cx="8270875" cy="5056188"/>
          </a:xfrm>
        </p:spPr>
        <p:txBody>
          <a:bodyPr/>
          <a:lstStyle/>
          <a:p>
            <a:r>
              <a:rPr b="1" dirty="0" lang="en-US"/>
              <a:t>Clinical monitoring of circulatory efficiency</a:t>
            </a:r>
          </a:p>
          <a:p>
            <a:pPr lvl="1"/>
            <a:r>
              <a:rPr b="1" dirty="0" lang="en-US"/>
              <a:t>Vital signs</a:t>
            </a:r>
            <a:r>
              <a:rPr dirty="0" lang="en-US"/>
              <a:t>: pulse and blood pressure, along with respiratory rate and body temperature</a:t>
            </a:r>
          </a:p>
          <a:p>
            <a:pPr lvl="1"/>
            <a:r>
              <a:rPr b="1" dirty="0" lang="en-US"/>
              <a:t>Taking a pulse</a:t>
            </a:r>
          </a:p>
          <a:p>
            <a:pPr lvl="2"/>
            <a:r>
              <a:rPr b="1" dirty="0" lang="en-US"/>
              <a:t>Radial pulse </a:t>
            </a:r>
            <a:r>
              <a:rPr dirty="0" lang="en-US"/>
              <a:t>(taken at the wrist): most routinely used, but there are other clinically important pulse points</a:t>
            </a:r>
          </a:p>
          <a:p>
            <a:pPr lvl="2"/>
            <a:r>
              <a:rPr b="1" dirty="0" lang="en-US"/>
              <a:t>Pressure points</a:t>
            </a:r>
            <a:r>
              <a:rPr dirty="0" lang="en-US"/>
              <a:t>: areas where arteries are close to body surface</a:t>
            </a:r>
          </a:p>
          <a:p>
            <a:pPr lvl="3"/>
            <a:r>
              <a:rPr dirty="0" lang="en-US"/>
              <a:t>Can be compressed to stop blood flow in event of hemorrhaging</a:t>
            </a:r>
          </a:p>
        </p:txBody>
      </p:sp>
    </p:spTree>
    <p:extLst>
      <p:ext uri="{BB962C8B-B14F-4D97-AF65-F5344CB8AC3E}">
        <p14:creationId xmlns:p14="http://schemas.microsoft.com/office/powerpoint/2010/main" val="226934337"/>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a:xfrm>
            <a:off x="239920" y="860155"/>
            <a:ext cx="2844095" cy="4620154"/>
          </a:xfrm>
        </p:spPr>
        <p:txBody>
          <a:bodyPr>
            <a:normAutofit/>
          </a:bodyPr>
          <a:lstStyle/>
          <a:p>
            <a:r>
              <a:rPr dirty="0" lang="en-IN"/>
              <a:t>Body sites where the pulse is most easily palpated.</a:t>
            </a:r>
            <a:endParaRPr dirty="0" lang="en-US"/>
          </a:p>
        </p:txBody>
      </p:sp>
      <p:pic>
        <p:nvPicPr>
          <p:cNvPr descr="This drawing illustrates a frontal view of the human body and labels nine sites where the pulse is easiest to palpate.  The nine body sites labeled are: - Superficial temporal artery, which can be detected in the lateral temple between the eyebrow and the hair line. - Facial artery, which can be detected at the outer edge of the jaw underneath the ear. - Common carotid artery, which can be palpated at the side of the neck. - Brachial artery, which can be detected inside the elbow. - Radial artery, on the inner side of the wrist. - Femoral artery, in the groin near the genitals. - Popliteal artery: at the back of the knee. - Posterior tibial artery, on the lateral inner side of the ankle. - Dorsalis pedis artery, on the upper side of the foot just below the ankle." id="2" name="Picture 1">
            <a:extLst>
              <a:ext uri="{FF2B5EF4-FFF2-40B4-BE49-F238E27FC236}">
                <a16:creationId xmlns:a16="http://schemas.microsoft.com/office/drawing/2014/main" id="{6D1D1F15-444B-DD42-9F95-84649397BB57}"/>
              </a:ext>
            </a:extLst>
          </p:cNvPr>
          <p:cNvPicPr>
            <a:picLocks noChangeAspect="1"/>
          </p:cNvPicPr>
          <p:nvPr/>
        </p:nvPicPr>
        <p:blipFill rotWithShape="1">
          <a:blip r:embed="rId3">
            <a:extLst>
              <a:ext uri="{28A0092B-C50C-407E-A947-70E740481C1C}">
                <a14:useLocalDpi xmlns:a14="http://schemas.microsoft.com/office/drawing/2010/main" val="0"/>
              </a:ext>
            </a:extLst>
          </a:blip>
          <a:srcRect b="2933"/>
          <a:stretch/>
        </p:blipFill>
        <p:spPr>
          <a:xfrm>
            <a:off x="4074438" y="484151"/>
            <a:ext cx="3971097" cy="5889697"/>
          </a:xfrm>
          <a:prstGeom prst="rect">
            <a:avLst/>
          </a:prstGeom>
        </p:spPr>
      </p:pic>
    </p:spTree>
    <p:extLst>
      <p:ext uri="{BB962C8B-B14F-4D97-AF65-F5344CB8AC3E}">
        <p14:creationId xmlns:p14="http://schemas.microsoft.com/office/powerpoint/2010/main" val="1078861712"/>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9254" name="Rectangle 6"/>
          <p:cNvSpPr>
            <a:spLocks noChangeArrowheads="1" noGrp="1"/>
          </p:cNvSpPr>
          <p:nvPr>
            <p:ph type="title"/>
          </p:nvPr>
        </p:nvSpPr>
        <p:spPr/>
        <p:txBody>
          <a:bodyPr/>
          <a:lstStyle/>
          <a:p>
            <a:r>
              <a:rPr altLang="en-US" lang="en-US"/>
              <a:t>Factors Aiding Venous Return</a:t>
            </a:r>
          </a:p>
        </p:txBody>
      </p:sp>
      <p:sp>
        <p:nvSpPr>
          <p:cNvPr id="309255" name="Rectangle 7"/>
          <p:cNvSpPr>
            <a:spLocks noChangeArrowheads="1" noGrp="1"/>
          </p:cNvSpPr>
          <p:nvPr>
            <p:ph idx="1" type="body"/>
          </p:nvPr>
        </p:nvSpPr>
        <p:spPr/>
        <p:txBody>
          <a:bodyPr/>
          <a:lstStyle/>
          <a:p>
            <a:r>
              <a:rPr altLang="en-US" lang="en-US"/>
              <a:t>Venous BP alone is too low to promote adequate blood return and is aided by the:</a:t>
            </a:r>
          </a:p>
          <a:p>
            <a:pPr lvl="1"/>
            <a:r>
              <a:rPr altLang="en-US" lang="en-US"/>
              <a:t>Respiratory “pump” – pressure changes created during breathing suck blood toward the heart by squeezing local veins </a:t>
            </a:r>
          </a:p>
          <a:p>
            <a:pPr lvl="1"/>
            <a:r>
              <a:rPr altLang="en-US" lang="en-US"/>
              <a:t>Muscular “pump” – contraction of skeletal muscles “milk” blood toward the heart 	</a:t>
            </a:r>
          </a:p>
          <a:p>
            <a:r>
              <a:rPr altLang="en-US" lang="en-US"/>
              <a:t>Valves prevent backflow during venous return</a:t>
            </a:r>
          </a:p>
        </p:txBody>
      </p:sp>
      <p:pic>
        <p:nvPicPr>
          <p:cNvPr descr="Figure is an illustration showing a vein surrounded by skeletal muscles.  When contracting skeletal muscle press against a vein, they force open the valves proximal to the area of contraction and blood is propelled toward the heart.  Backflowing blood closes the valves distal to the area of contraction." id="2" name="Picture 1">
            <a:extLst>
              <a:ext uri="{FF2B5EF4-FFF2-40B4-BE49-F238E27FC236}">
                <a16:creationId xmlns:a16="http://schemas.microsoft.com/office/drawing/2014/main" id="{4BE38058-C2C0-A6D5-87F4-FED7CDA2C907}"/>
              </a:ext>
            </a:extLst>
          </p:cNvPr>
          <p:cNvPicPr>
            <a:picLocks noChangeAspect="1"/>
          </p:cNvPicPr>
          <p:nvPr/>
        </p:nvPicPr>
        <p:blipFill rotWithShape="1">
          <a:blip r:embed="rId2">
            <a:extLst>
              <a:ext uri="{28A0092B-C50C-407E-A947-70E740481C1C}">
                <a14:useLocalDpi xmlns:a14="http://schemas.microsoft.com/office/drawing/2010/main" val="0"/>
              </a:ext>
            </a:extLst>
          </a:blip>
          <a:srcRect b="3305"/>
          <a:stretch/>
        </p:blipFill>
        <p:spPr>
          <a:xfrm rot="16200000">
            <a:off x="3593325" y="4230932"/>
            <a:ext cx="1681126" cy="3573009"/>
          </a:xfrm>
          <a:prstGeom prst="rect">
            <a:avLst/>
          </a:prstGeom>
        </p:spPr>
      </p:pic>
    </p:spTree>
  </p:cSld>
  <p:clrMapOvr>
    <a:masterClrMapping/>
  </p:clrMapOvr>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89126" name="Rectangle 6"/>
          <p:cNvSpPr>
            <a:spLocks noChangeArrowheads="1" noGrp="1"/>
          </p:cNvSpPr>
          <p:nvPr>
            <p:ph type="title"/>
          </p:nvPr>
        </p:nvSpPr>
        <p:spPr/>
        <p:txBody>
          <a:bodyPr/>
          <a:lstStyle/>
          <a:p>
            <a:r>
              <a:rPr altLang="en-US" lang="en-US"/>
              <a:t>Maintaining Blood Pressure</a:t>
            </a:r>
          </a:p>
        </p:txBody>
      </p:sp>
      <p:sp>
        <p:nvSpPr>
          <p:cNvPr id="389127" name="Rectangle 7"/>
          <p:cNvSpPr>
            <a:spLocks noChangeArrowheads="1" noGrp="1"/>
          </p:cNvSpPr>
          <p:nvPr>
            <p:ph idx="1" type="body"/>
          </p:nvPr>
        </p:nvSpPr>
        <p:spPr/>
        <p:txBody>
          <a:bodyPr/>
          <a:lstStyle/>
          <a:p>
            <a:r>
              <a:rPr altLang="en-US" lang="en-US"/>
              <a:t>The main factors influencing blood pressure are:</a:t>
            </a:r>
          </a:p>
          <a:p>
            <a:pPr lvl="1"/>
            <a:r>
              <a:rPr altLang="en-US" lang="en-US"/>
              <a:t>Cardiac output (CO)</a:t>
            </a:r>
          </a:p>
          <a:p>
            <a:pPr lvl="1"/>
            <a:r>
              <a:rPr altLang="en-US" lang="en-US"/>
              <a:t>Peripheral resistance (PR)</a:t>
            </a:r>
          </a:p>
          <a:p>
            <a:pPr lvl="1"/>
            <a:r>
              <a:rPr altLang="en-US" lang="en-US"/>
              <a:t>Blood volume</a:t>
            </a:r>
          </a:p>
          <a:p>
            <a:r>
              <a:rPr altLang="en-US" lang="en-US"/>
              <a:t>Blood pressure = CO x PR</a:t>
            </a:r>
          </a:p>
          <a:p>
            <a:r>
              <a:rPr altLang="en-US" lang="en-US"/>
              <a:t>Blood pressure varies directly with CO, PR, and blood volume</a:t>
            </a:r>
          </a:p>
        </p:txBody>
      </p:sp>
    </p:spTree>
  </p:cSld>
  <p:clrMapOvr>
    <a:masterClrMapping/>
  </p:clrMapOvr>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92196" name="Rectangle 4"/>
          <p:cNvSpPr>
            <a:spLocks noChangeArrowheads="1" noGrp="1"/>
          </p:cNvSpPr>
          <p:nvPr>
            <p:ph type="title"/>
          </p:nvPr>
        </p:nvSpPr>
        <p:spPr/>
        <p:txBody>
          <a:bodyPr/>
          <a:lstStyle/>
          <a:p>
            <a:r>
              <a:rPr altLang="en-US" lang="en-US"/>
              <a:t>Controls of Blood Pressure</a:t>
            </a:r>
          </a:p>
        </p:txBody>
      </p:sp>
      <p:sp>
        <p:nvSpPr>
          <p:cNvPr id="392197" name="Rectangle 5"/>
          <p:cNvSpPr>
            <a:spLocks noChangeArrowheads="1" noGrp="1"/>
          </p:cNvSpPr>
          <p:nvPr>
            <p:ph idx="1" type="body"/>
          </p:nvPr>
        </p:nvSpPr>
        <p:spPr/>
        <p:txBody>
          <a:bodyPr/>
          <a:lstStyle/>
          <a:p>
            <a:r>
              <a:rPr altLang="en-US" lang="en-US"/>
              <a:t>Short-term controls: </a:t>
            </a:r>
          </a:p>
          <a:p>
            <a:pPr lvl="1"/>
            <a:r>
              <a:rPr altLang="en-US" lang="en-US"/>
              <a:t>Are mediated by the nervous system and bloodborne chemicals</a:t>
            </a:r>
          </a:p>
          <a:p>
            <a:pPr lvl="1"/>
            <a:r>
              <a:rPr altLang="en-US" lang="en-US"/>
              <a:t>Counteract moment-to-moment fluctuations in blood pressure by altering peripheral resistance</a:t>
            </a:r>
          </a:p>
          <a:p>
            <a:r>
              <a:rPr altLang="en-US" lang="en-US"/>
              <a:t>Long-term controls regulate blood volume</a:t>
            </a:r>
          </a:p>
        </p:txBody>
      </p:sp>
    </p:spTree>
  </p:cSld>
  <p:clrMapOvr>
    <a:masterClrMapping/>
  </p:clrMapOvr>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19.8  Regulation of Blood Pressure</a:t>
            </a:r>
          </a:p>
        </p:txBody>
      </p:sp>
      <p:sp>
        <p:nvSpPr>
          <p:cNvPr id="110594" name="Rectangle 9"/>
          <p:cNvSpPr>
            <a:spLocks noChangeArrowheads="1" noGrp="1"/>
          </p:cNvSpPr>
          <p:nvPr>
            <p:ph idx="1"/>
          </p:nvPr>
        </p:nvSpPr>
        <p:spPr/>
        <p:txBody>
          <a:bodyPr/>
          <a:lstStyle/>
          <a:p>
            <a:r>
              <a:rPr dirty="0" lang="en-US"/>
              <a:t>Factors can be affected by:</a:t>
            </a:r>
          </a:p>
          <a:p>
            <a:pPr lvl="1"/>
            <a:r>
              <a:rPr b="1" dirty="0" lang="en-US"/>
              <a:t>Short-term regulation</a:t>
            </a:r>
            <a:r>
              <a:rPr dirty="0" lang="en-US"/>
              <a:t>:</a:t>
            </a:r>
            <a:r>
              <a:rPr b="1" dirty="0" lang="en-US"/>
              <a:t> neural controls</a:t>
            </a:r>
          </a:p>
          <a:p>
            <a:pPr lvl="1"/>
            <a:r>
              <a:rPr b="1" dirty="0" lang="en-US"/>
              <a:t>Short-term regulation</a:t>
            </a:r>
            <a:r>
              <a:rPr dirty="0" lang="en-US"/>
              <a:t>:</a:t>
            </a:r>
            <a:r>
              <a:rPr b="1" dirty="0" lang="en-US"/>
              <a:t> hormonal controls</a:t>
            </a:r>
          </a:p>
          <a:p>
            <a:pPr lvl="1"/>
            <a:r>
              <a:rPr b="1" dirty="0" lang="en-US"/>
              <a:t>Long-term regulation</a:t>
            </a:r>
            <a:r>
              <a:rPr dirty="0" lang="en-US"/>
              <a:t>:</a:t>
            </a:r>
            <a:r>
              <a:rPr b="1" dirty="0" lang="en-US"/>
              <a:t> renal controls</a:t>
            </a:r>
          </a:p>
        </p:txBody>
      </p:sp>
    </p:spTree>
    <p:extLst>
      <p:ext uri="{BB962C8B-B14F-4D97-AF65-F5344CB8AC3E}">
        <p14:creationId xmlns:p14="http://schemas.microsoft.com/office/powerpoint/2010/main" val="1061066450"/>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94244" name="Rectangle 4"/>
          <p:cNvSpPr>
            <a:spLocks noChangeArrowheads="1" noGrp="1"/>
          </p:cNvSpPr>
          <p:nvPr>
            <p:ph type="title"/>
          </p:nvPr>
        </p:nvSpPr>
        <p:spPr/>
        <p:txBody>
          <a:bodyPr/>
          <a:lstStyle/>
          <a:p>
            <a:r>
              <a:rPr altLang="en-US" lang="en-US"/>
              <a:t>Short-Term Mechanisms: Vasomotor Center</a:t>
            </a:r>
          </a:p>
        </p:txBody>
      </p:sp>
      <p:sp>
        <p:nvSpPr>
          <p:cNvPr id="394245" name="Rectangle 5"/>
          <p:cNvSpPr>
            <a:spLocks noChangeArrowheads="1" noGrp="1"/>
          </p:cNvSpPr>
          <p:nvPr>
            <p:ph idx="1" type="body"/>
          </p:nvPr>
        </p:nvSpPr>
        <p:spPr/>
        <p:txBody>
          <a:bodyPr/>
          <a:lstStyle/>
          <a:p>
            <a:r>
              <a:rPr altLang="en-US" b="1" lang="en-US"/>
              <a:t>Vasomotor center</a:t>
            </a:r>
            <a:r>
              <a:rPr altLang="en-US" lang="en-US"/>
              <a:t> – a cluster of sympathetic neurons in the </a:t>
            </a:r>
            <a:r>
              <a:rPr altLang="en-US" b="1" lang="en-US"/>
              <a:t>medulla</a:t>
            </a:r>
            <a:r>
              <a:rPr altLang="en-US" lang="en-US"/>
              <a:t> that oversees changes in blood vessel diameter</a:t>
            </a:r>
          </a:p>
          <a:p>
            <a:pPr lvl="1"/>
            <a:r>
              <a:rPr altLang="en-US" lang="en-US"/>
              <a:t>Maintains blood vessel tone by innervating smooth muscles of blood vessels, especially arterioles</a:t>
            </a:r>
          </a:p>
          <a:p>
            <a:r>
              <a:rPr altLang="en-US" b="1" lang="en-US"/>
              <a:t>Cardiovascular center</a:t>
            </a:r>
            <a:r>
              <a:rPr altLang="en-US" lang="en-US"/>
              <a:t> – vasomotor center plus the cardiac centers that integrate blood pressure control by altering cardiac output and blood vessel diameter</a:t>
            </a:r>
          </a:p>
        </p:txBody>
      </p:sp>
    </p:spTree>
  </p:cSld>
  <p:clrMapOvr>
    <a:masterClrMapping/>
  </p:clrMapOvr>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95268" name="Rectangle 4"/>
          <p:cNvSpPr>
            <a:spLocks noChangeArrowheads="1" noGrp="1"/>
          </p:cNvSpPr>
          <p:nvPr>
            <p:ph type="title"/>
          </p:nvPr>
        </p:nvSpPr>
        <p:spPr/>
        <p:txBody>
          <a:bodyPr/>
          <a:lstStyle/>
          <a:p>
            <a:r>
              <a:rPr altLang="en-US" lang="en-US"/>
              <a:t>Short-Term Mechanisms: Vasomotor Activity</a:t>
            </a:r>
          </a:p>
        </p:txBody>
      </p:sp>
      <p:sp>
        <p:nvSpPr>
          <p:cNvPr id="395269" name="Rectangle 5"/>
          <p:cNvSpPr>
            <a:spLocks noChangeArrowheads="1" noGrp="1"/>
          </p:cNvSpPr>
          <p:nvPr>
            <p:ph idx="1" type="body"/>
          </p:nvPr>
        </p:nvSpPr>
        <p:spPr>
          <a:xfrm>
            <a:off x="298450" y="977900"/>
            <a:ext cx="8270875" cy="5651500"/>
          </a:xfrm>
        </p:spPr>
        <p:txBody>
          <a:bodyPr/>
          <a:lstStyle/>
          <a:p>
            <a:pPr>
              <a:lnSpc>
                <a:spcPct val="90000"/>
              </a:lnSpc>
            </a:pPr>
            <a:r>
              <a:rPr altLang="en-US" lang="en-US"/>
              <a:t>Sympathetic activity causes:</a:t>
            </a:r>
          </a:p>
          <a:p>
            <a:pPr lvl="1">
              <a:lnSpc>
                <a:spcPct val="90000"/>
              </a:lnSpc>
            </a:pPr>
            <a:r>
              <a:rPr altLang="en-US" lang="en-US"/>
              <a:t>Vasoconstriction and a rise in BP if increased</a:t>
            </a:r>
          </a:p>
          <a:p>
            <a:pPr lvl="1">
              <a:lnSpc>
                <a:spcPct val="90000"/>
              </a:lnSpc>
            </a:pPr>
            <a:r>
              <a:rPr altLang="en-US" lang="en-US"/>
              <a:t>BP to decline to basal levels if decreased</a:t>
            </a:r>
          </a:p>
          <a:p>
            <a:pPr>
              <a:lnSpc>
                <a:spcPct val="90000"/>
              </a:lnSpc>
            </a:pPr>
            <a:r>
              <a:rPr altLang="en-US" lang="en-US"/>
              <a:t>Vasomotor activity is modified by:</a:t>
            </a:r>
          </a:p>
          <a:p>
            <a:pPr lvl="1">
              <a:lnSpc>
                <a:spcPct val="90000"/>
              </a:lnSpc>
            </a:pPr>
            <a:r>
              <a:rPr altLang="en-US" lang="en-US"/>
              <a:t>Baroreceptors (pressure-sensitive)</a:t>
            </a:r>
          </a:p>
          <a:p>
            <a:pPr lvl="1">
              <a:lnSpc>
                <a:spcPct val="90000"/>
              </a:lnSpc>
            </a:pPr>
            <a:r>
              <a:rPr altLang="en-US" lang="en-US"/>
              <a:t>chemoreceptors (O</a:t>
            </a:r>
            <a:r>
              <a:rPr altLang="en-US" baseline="-25000" lang="en-US"/>
              <a:t>2</a:t>
            </a:r>
            <a:r>
              <a:rPr altLang="en-US" lang="en-US"/>
              <a:t>, CO</a:t>
            </a:r>
            <a:r>
              <a:rPr altLang="en-US" baseline="-25000" lang="en-US"/>
              <a:t>2</a:t>
            </a:r>
            <a:r>
              <a:rPr altLang="en-US" lang="en-US"/>
              <a:t>, and H</a:t>
            </a:r>
            <a:r>
              <a:rPr altLang="en-US" baseline="30000" lang="en-US"/>
              <a:t>+</a:t>
            </a:r>
            <a:r>
              <a:rPr altLang="en-US" lang="en-US"/>
              <a:t> sensitive)</a:t>
            </a:r>
          </a:p>
          <a:p>
            <a:pPr lvl="1">
              <a:lnSpc>
                <a:spcPct val="90000"/>
              </a:lnSpc>
            </a:pPr>
            <a:r>
              <a:rPr altLang="en-US" lang="en-US"/>
              <a:t>higher brain centers</a:t>
            </a:r>
          </a:p>
          <a:p>
            <a:pPr lvl="1">
              <a:lnSpc>
                <a:spcPct val="90000"/>
              </a:lnSpc>
            </a:pPr>
            <a:r>
              <a:rPr altLang="en-US" lang="en-US"/>
              <a:t>bloodborne chemicals</a:t>
            </a:r>
          </a:p>
          <a:p>
            <a:pPr lvl="1">
              <a:lnSpc>
                <a:spcPct val="90000"/>
              </a:lnSpc>
            </a:pPr>
            <a:r>
              <a:rPr altLang="en-US" lang="en-US"/>
              <a:t>hormones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395269">
                                            <p:txEl>
                                              <p:pRg end="4" st="4"/>
                                            </p:txEl>
                                          </p:spTgt>
                                        </p:tgtEl>
                                        <p:attrNameLst>
                                          <p:attrName>style.visibility</p:attrName>
                                        </p:attrNameLst>
                                      </p:cBhvr>
                                      <p:to>
                                        <p:strVal val="visible"/>
                                      </p:to>
                                    </p:set>
                                    <p:anim calcmode="discrete" valueType="clr">
                                      <p:cBhvr override="childStyle">
                                        <p:cTn dur="80" id="7"/>
                                        <p:tgtEl>
                                          <p:spTgt spid="395269">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395269">
                                            <p:txEl>
                                              <p:pRg end="4" st="4"/>
                                            </p:txEl>
                                          </p:spTgt>
                                        </p:tgtEl>
                                        <p:attrNameLst>
                                          <p:attrName>fillcolor</p:attrName>
                                        </p:attrNameLst>
                                      </p:cBhvr>
                                      <p:tavLst>
                                        <p:tav tm="0">
                                          <p:val>
                                            <p:clrVal>
                                              <a:schemeClr val="accent2"/>
                                            </p:clrVal>
                                          </p:val>
                                        </p:tav>
                                        <p:tav tm="50000">
                                          <p:val>
                                            <p:clrVal>
                                              <a:schemeClr val="hlink"/>
                                            </p:clrVal>
                                          </p:val>
                                        </p:tav>
                                      </p:tavLst>
                                    </p:anim>
                                    <p:set>
                                      <p:cBhvr>
                                        <p:cTn dur="80" id="9"/>
                                        <p:tgtEl>
                                          <p:spTgt spid="395269">
                                            <p:txEl>
                                              <p:pRg end="4" st="4"/>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395269">
                                            <p:txEl>
                                              <p:pRg end="5" st="5"/>
                                            </p:txEl>
                                          </p:spTgt>
                                        </p:tgtEl>
                                        <p:attrNameLst>
                                          <p:attrName>style.visibility</p:attrName>
                                        </p:attrNameLst>
                                      </p:cBhvr>
                                      <p:to>
                                        <p:strVal val="visible"/>
                                      </p:to>
                                    </p:set>
                                    <p:anim calcmode="discrete" valueType="clr">
                                      <p:cBhvr override="childStyle">
                                        <p:cTn dur="80" id="14"/>
                                        <p:tgtEl>
                                          <p:spTgt spid="395269">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395269">
                                            <p:txEl>
                                              <p:pRg end="5" st="5"/>
                                            </p:txEl>
                                          </p:spTgt>
                                        </p:tgtEl>
                                        <p:attrNameLst>
                                          <p:attrName>fillcolor</p:attrName>
                                        </p:attrNameLst>
                                      </p:cBhvr>
                                      <p:tavLst>
                                        <p:tav tm="0">
                                          <p:val>
                                            <p:clrVal>
                                              <a:schemeClr val="accent2"/>
                                            </p:clrVal>
                                          </p:val>
                                        </p:tav>
                                        <p:tav tm="50000">
                                          <p:val>
                                            <p:clrVal>
                                              <a:schemeClr val="hlink"/>
                                            </p:clrVal>
                                          </p:val>
                                        </p:tav>
                                      </p:tavLst>
                                    </p:anim>
                                    <p:set>
                                      <p:cBhvr>
                                        <p:cTn dur="80" id="16"/>
                                        <p:tgtEl>
                                          <p:spTgt spid="395269">
                                            <p:txEl>
                                              <p:pRg end="5" st="5"/>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395269">
                                            <p:txEl>
                                              <p:pRg end="6" st="6"/>
                                            </p:txEl>
                                          </p:spTgt>
                                        </p:tgtEl>
                                        <p:attrNameLst>
                                          <p:attrName>style.visibility</p:attrName>
                                        </p:attrNameLst>
                                      </p:cBhvr>
                                      <p:to>
                                        <p:strVal val="visible"/>
                                      </p:to>
                                    </p:set>
                                    <p:anim calcmode="discrete" valueType="clr">
                                      <p:cBhvr override="childStyle">
                                        <p:cTn dur="80" id="21"/>
                                        <p:tgtEl>
                                          <p:spTgt spid="395269">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395269">
                                            <p:txEl>
                                              <p:pRg end="6" st="6"/>
                                            </p:txEl>
                                          </p:spTgt>
                                        </p:tgtEl>
                                        <p:attrNameLst>
                                          <p:attrName>fillcolor</p:attrName>
                                        </p:attrNameLst>
                                      </p:cBhvr>
                                      <p:tavLst>
                                        <p:tav tm="0">
                                          <p:val>
                                            <p:clrVal>
                                              <a:schemeClr val="accent2"/>
                                            </p:clrVal>
                                          </p:val>
                                        </p:tav>
                                        <p:tav tm="50000">
                                          <p:val>
                                            <p:clrVal>
                                              <a:schemeClr val="hlink"/>
                                            </p:clrVal>
                                          </p:val>
                                        </p:tav>
                                      </p:tavLst>
                                    </p:anim>
                                    <p:set>
                                      <p:cBhvr>
                                        <p:cTn dur="80" id="23"/>
                                        <p:tgtEl>
                                          <p:spTgt spid="395269">
                                            <p:txEl>
                                              <p:pRg end="6" st="6"/>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395269">
                                            <p:txEl>
                                              <p:pRg end="7" st="7"/>
                                            </p:txEl>
                                          </p:spTgt>
                                        </p:tgtEl>
                                        <p:attrNameLst>
                                          <p:attrName>style.visibility</p:attrName>
                                        </p:attrNameLst>
                                      </p:cBhvr>
                                      <p:to>
                                        <p:strVal val="visible"/>
                                      </p:to>
                                    </p:set>
                                    <p:anim calcmode="discrete" valueType="clr">
                                      <p:cBhvr override="childStyle">
                                        <p:cTn dur="80" id="28"/>
                                        <p:tgtEl>
                                          <p:spTgt spid="395269">
                                            <p:txEl>
                                              <p:pRg end="7" st="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395269">
                                            <p:txEl>
                                              <p:pRg end="7" st="7"/>
                                            </p:txEl>
                                          </p:spTgt>
                                        </p:tgtEl>
                                        <p:attrNameLst>
                                          <p:attrName>fillcolor</p:attrName>
                                        </p:attrNameLst>
                                      </p:cBhvr>
                                      <p:tavLst>
                                        <p:tav tm="0">
                                          <p:val>
                                            <p:clrVal>
                                              <a:schemeClr val="accent2"/>
                                            </p:clrVal>
                                          </p:val>
                                        </p:tav>
                                        <p:tav tm="50000">
                                          <p:val>
                                            <p:clrVal>
                                              <a:schemeClr val="hlink"/>
                                            </p:clrVal>
                                          </p:val>
                                        </p:tav>
                                      </p:tavLst>
                                    </p:anim>
                                    <p:set>
                                      <p:cBhvr>
                                        <p:cTn dur="80" id="30"/>
                                        <p:tgtEl>
                                          <p:spTgt spid="395269">
                                            <p:txEl>
                                              <p:pRg end="7" st="7"/>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395269">
                                            <p:txEl>
                                              <p:pRg end="8" st="8"/>
                                            </p:txEl>
                                          </p:spTgt>
                                        </p:tgtEl>
                                        <p:attrNameLst>
                                          <p:attrName>style.visibility</p:attrName>
                                        </p:attrNameLst>
                                      </p:cBhvr>
                                      <p:to>
                                        <p:strVal val="visible"/>
                                      </p:to>
                                    </p:set>
                                    <p:anim calcmode="discrete" valueType="clr">
                                      <p:cBhvr override="childStyle">
                                        <p:cTn dur="80" id="35"/>
                                        <p:tgtEl>
                                          <p:spTgt spid="395269">
                                            <p:txEl>
                                              <p:pRg end="8" st="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395269">
                                            <p:txEl>
                                              <p:pRg end="8" st="8"/>
                                            </p:txEl>
                                          </p:spTgt>
                                        </p:tgtEl>
                                        <p:attrNameLst>
                                          <p:attrName>fillcolor</p:attrName>
                                        </p:attrNameLst>
                                      </p:cBhvr>
                                      <p:tavLst>
                                        <p:tav tm="0">
                                          <p:val>
                                            <p:clrVal>
                                              <a:schemeClr val="accent2"/>
                                            </p:clrVal>
                                          </p:val>
                                        </p:tav>
                                        <p:tav tm="50000">
                                          <p:val>
                                            <p:clrVal>
                                              <a:schemeClr val="hlink"/>
                                            </p:clrVal>
                                          </p:val>
                                        </p:tav>
                                      </p:tavLst>
                                    </p:anim>
                                    <p:set>
                                      <p:cBhvr>
                                        <p:cTn dur="80" id="37"/>
                                        <p:tgtEl>
                                          <p:spTgt spid="395269">
                                            <p:txEl>
                                              <p:pRg end="8" st="8"/>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5B6FBD-5E9B-A824-993B-F01F547B4205}"/>
              </a:ext>
            </a:extLst>
          </p:cNvPr>
          <p:cNvSpPr txBox="1">
            <a:spLocks noGrp="1"/>
          </p:cNvSpPr>
          <p:nvPr>
            <p:ph idx="4294967295" type="title"/>
          </p:nvPr>
        </p:nvSpPr>
        <p:spPr>
          <a:xfrm>
            <a:off x="591312" y="751344"/>
            <a:ext cx="2212848" cy="2308324"/>
          </a:xfrm>
          <a:prstGeom prst="rect">
            <a:avLst/>
          </a:prstGeom>
          <a:noFill/>
          <a:ln>
            <a:noFill/>
            <a:prstDash/>
          </a:ln>
          <a:effectLst/>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defRPr/>
            </a:pPr>
            <a:r>
              <a:rPr b="1" baseline="0" cap="none" dirty="0" i="0" kern="1200" kumimoji="0" lang="en-US" noProof="0" normalizeH="0" spc="0" strike="noStrike" sz="2400" u="none">
                <a:ln>
                  <a:noFill/>
                </a:ln>
                <a:solidFill>
                  <a:srgbClr val="0070C0"/>
                </a:solidFill>
                <a:effectLst/>
                <a:uLnTx/>
                <a:uFillTx/>
                <a:latin typeface="+mj-lt"/>
                <a:ea typeface="+mn-ea"/>
                <a:cs typeface="+mn-cs"/>
              </a:rPr>
              <a:t>Baroreceptor Reflexes that Help Maintain Blood Pressure Homeostasis </a:t>
            </a:r>
          </a:p>
        </p:txBody>
      </p:sp>
      <p:pic>
        <p:nvPicPr>
          <p:cNvPr descr="This diagram illustrates the process of maintaining blood pressure homeostasis as a seesaw that must remain in balance. When the balance is disturbed by rising or falling blood pressure, the diagram illustrates 5 events that act to restore homeostasis.  - Increasing blood pressure:    - Step 1: Stimulus: increasing pressure above normal arterial blood pressure range.   - Step 2: Baroreceptors in carotid sinuses and aortic arch are stimulated.   - Step 3: Increasing impulses from baroreceptors stimulate the cardioinhibitory center     (and inhibit the cardioacceleratory center), and also inhibit the vasomotor center.   - Step 4a: Decreasing sympathetic impulses to heart lower heart rate, contractility, and     cardiac output.    - Step 4b:  At the same time, decreasing rate of vasomotor impulses allows vasodilation,    which decreases total peripheral resistance.   - Step 5: Decreasing cardiac output and decreasing total peripheral resistance return     blood pressure to its homeostatic range. Balance is restored.  - Decreasing blood pressure:   - Step 1: Stimulus: Falling pressure below normal arterial blood pressure range.   - Step 2: Baroreceptors in the carotid sinuses and aortic arch are inhibited.   - Step 3: Decreasing impulses from baroreceptors activate the cardioacceleratory center     (and inhibit the cardioinhibitory center), and also stimulate the vasomotor center.   - Step 4a: Increasing sympathetic impulses to the heart raise the heart rate, contractility,     and cardiac output.    - Step 4b:  At the same time, vasomotor fibers stimulate vasoconstriction, which      increases total peripheral resistance.   - Step 5: Increasing cardiac output and increasing total peripheral resistance return     blood pressure to its homeostatic range. Balance is restored." id="2" name="Picture 4">
            <a:extLst>
              <a:ext uri="{FF2B5EF4-FFF2-40B4-BE49-F238E27FC236}">
                <a16:creationId xmlns:a16="http://schemas.microsoft.com/office/drawing/2014/main" id="{56D9E062-F6FB-065B-8084-EF537BFF0874}"/>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561"/>
          <a:stretch/>
        </p:blipFill>
        <p:spPr bwMode="auto">
          <a:xfrm>
            <a:off x="3329894" y="429070"/>
            <a:ext cx="5058201" cy="59998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99364" name="Rectangle 4"/>
          <p:cNvSpPr>
            <a:spLocks noChangeArrowheads="1" noGrp="1"/>
          </p:cNvSpPr>
          <p:nvPr>
            <p:ph type="title"/>
          </p:nvPr>
        </p:nvSpPr>
        <p:spPr/>
        <p:txBody>
          <a:bodyPr/>
          <a:lstStyle/>
          <a:p>
            <a:r>
              <a:rPr altLang="en-US" lang="en-US"/>
              <a:t>Short-Term Mechanisms: Chemical Controls</a:t>
            </a:r>
          </a:p>
        </p:txBody>
      </p:sp>
      <p:sp>
        <p:nvSpPr>
          <p:cNvPr id="399365" name="Rectangle 5"/>
          <p:cNvSpPr>
            <a:spLocks noChangeArrowheads="1" noGrp="1"/>
          </p:cNvSpPr>
          <p:nvPr>
            <p:ph idx="1" type="body"/>
          </p:nvPr>
        </p:nvSpPr>
        <p:spPr/>
        <p:txBody>
          <a:bodyPr/>
          <a:lstStyle/>
          <a:p>
            <a:r>
              <a:rPr altLang="en-US" lang="en-US"/>
              <a:t>Blood pressure is regulated by chemoreceptor reflexes sensitive to </a:t>
            </a:r>
            <a:r>
              <a:rPr altLang="en-US" b="1" lang="en-US"/>
              <a:t>oxygen</a:t>
            </a:r>
            <a:r>
              <a:rPr altLang="en-US" lang="en-US"/>
              <a:t> and </a:t>
            </a:r>
            <a:r>
              <a:rPr altLang="en-US" b="1" lang="en-US"/>
              <a:t>carbon dioxide</a:t>
            </a:r>
          </a:p>
          <a:p>
            <a:pPr lvl="1"/>
            <a:r>
              <a:rPr altLang="en-US" lang="en-US"/>
              <a:t>Prominent chemoreceptors are in the </a:t>
            </a:r>
            <a:r>
              <a:rPr altLang="en-US" b="1" lang="en-US"/>
              <a:t>carotid</a:t>
            </a:r>
            <a:r>
              <a:rPr altLang="en-US" lang="en-US"/>
              <a:t> and </a:t>
            </a:r>
            <a:r>
              <a:rPr altLang="en-US" b="1" lang="en-US"/>
              <a:t>aortic</a:t>
            </a:r>
            <a:r>
              <a:rPr altLang="en-US" lang="en-US"/>
              <a:t> bodies</a:t>
            </a:r>
          </a:p>
          <a:p>
            <a:pPr lvl="1"/>
            <a:r>
              <a:rPr altLang="en-US" lang="en-US"/>
              <a:t>Reflexes that regulate BP are integrated in the medulla</a:t>
            </a:r>
          </a:p>
          <a:p>
            <a:pPr lvl="1"/>
            <a:r>
              <a:rPr altLang="en-US" lang="en-US"/>
              <a:t>Higher brain centers (cortex and hypothalamus) can modify BP via relays to medullary centers</a:t>
            </a:r>
          </a:p>
        </p:txBody>
      </p:sp>
    </p:spTree>
  </p:cSld>
  <p:clrMapOvr>
    <a:masterClrMapping/>
  </p:clrMapOvr>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00388" name="Rectangle 4"/>
          <p:cNvSpPr>
            <a:spLocks noChangeArrowheads="1" noGrp="1"/>
          </p:cNvSpPr>
          <p:nvPr>
            <p:ph type="title"/>
          </p:nvPr>
        </p:nvSpPr>
        <p:spPr/>
        <p:txBody>
          <a:bodyPr/>
          <a:lstStyle/>
          <a:p>
            <a:r>
              <a:rPr altLang="en-US" lang="en-US"/>
              <a:t>Chemicals that Increase Blood Pressure</a:t>
            </a:r>
          </a:p>
        </p:txBody>
      </p:sp>
      <p:sp>
        <p:nvSpPr>
          <p:cNvPr id="400389" name="Rectangle 5"/>
          <p:cNvSpPr>
            <a:spLocks noChangeArrowheads="1" noGrp="1"/>
          </p:cNvSpPr>
          <p:nvPr>
            <p:ph idx="1" type="body"/>
          </p:nvPr>
        </p:nvSpPr>
        <p:spPr/>
        <p:txBody>
          <a:bodyPr/>
          <a:lstStyle/>
          <a:p>
            <a:pPr>
              <a:lnSpc>
                <a:spcPct val="90000"/>
              </a:lnSpc>
            </a:pPr>
            <a:r>
              <a:rPr altLang="en-US" b="1" lang="en-US"/>
              <a:t>Adrenal medulla hormones</a:t>
            </a:r>
            <a:r>
              <a:rPr altLang="en-US" lang="en-US"/>
              <a:t> – norepinephrine and epinephrine increase blood pressure</a:t>
            </a:r>
          </a:p>
          <a:p>
            <a:pPr>
              <a:lnSpc>
                <a:spcPct val="90000"/>
              </a:lnSpc>
            </a:pPr>
            <a:r>
              <a:rPr altLang="en-US" b="1" lang="en-US"/>
              <a:t>Antidiuretic hormone (ADH)</a:t>
            </a:r>
            <a:r>
              <a:rPr altLang="en-US" lang="en-US"/>
              <a:t> – causes intense vasoconstriction in cases of extremely low BP</a:t>
            </a:r>
          </a:p>
          <a:p>
            <a:pPr>
              <a:lnSpc>
                <a:spcPct val="90000"/>
              </a:lnSpc>
            </a:pPr>
            <a:r>
              <a:rPr altLang="en-US" b="1" lang="en-US"/>
              <a:t>Angiotensin II</a:t>
            </a:r>
            <a:r>
              <a:rPr altLang="en-US" lang="en-US"/>
              <a:t> – kidney release of renin generates angiotensin II, which causes vasoconstriction</a:t>
            </a:r>
          </a:p>
          <a:p>
            <a:pPr>
              <a:lnSpc>
                <a:spcPct val="90000"/>
              </a:lnSpc>
            </a:pPr>
            <a:r>
              <a:rPr altLang="en-US" b="1" lang="en-US"/>
              <a:t>Endothelium-derived factors</a:t>
            </a:r>
            <a:r>
              <a:rPr altLang="en-US" lang="en-US"/>
              <a:t> – endothelin and prostaglandin-derived growth factor (PDGF) are both vasoconstrictors</a:t>
            </a:r>
          </a:p>
        </p:txBody>
      </p:sp>
    </p:spTree>
  </p:cSld>
  <p:clrMapOvr>
    <a:masterClrMapping/>
  </p:clrMapOvr>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01412" name="Rectangle 4"/>
          <p:cNvSpPr>
            <a:spLocks noChangeArrowheads="1" noGrp="1"/>
          </p:cNvSpPr>
          <p:nvPr>
            <p:ph type="title"/>
          </p:nvPr>
        </p:nvSpPr>
        <p:spPr/>
        <p:txBody>
          <a:bodyPr/>
          <a:lstStyle/>
          <a:p>
            <a:r>
              <a:rPr altLang="en-US" lang="en-US"/>
              <a:t>Chemicals that Decrease Blood Pressure</a:t>
            </a:r>
          </a:p>
        </p:txBody>
      </p:sp>
      <p:sp>
        <p:nvSpPr>
          <p:cNvPr id="401413" name="Rectangle 5"/>
          <p:cNvSpPr>
            <a:spLocks noChangeArrowheads="1" noGrp="1"/>
          </p:cNvSpPr>
          <p:nvPr>
            <p:ph idx="1" type="body"/>
          </p:nvPr>
        </p:nvSpPr>
        <p:spPr/>
        <p:txBody>
          <a:bodyPr/>
          <a:lstStyle/>
          <a:p>
            <a:r>
              <a:rPr altLang="en-US" b="1" lang="en-US"/>
              <a:t>Atrial natriuretic peptide (ANP)</a:t>
            </a:r>
            <a:r>
              <a:rPr altLang="en-US" lang="en-US"/>
              <a:t> – causes blood volume and pressure to decline</a:t>
            </a:r>
          </a:p>
          <a:p>
            <a:r>
              <a:rPr altLang="en-US" b="1" lang="en-US"/>
              <a:t>Nitric oxide (NO)</a:t>
            </a:r>
            <a:r>
              <a:rPr altLang="en-US" lang="en-US"/>
              <a:t> – is a brief but potent vasodilator</a:t>
            </a:r>
          </a:p>
          <a:p>
            <a:r>
              <a:rPr altLang="en-US" b="1" lang="en-US"/>
              <a:t>Inflammatory chemicals</a:t>
            </a:r>
            <a:r>
              <a:rPr altLang="en-US" lang="en-US"/>
              <a:t> – histamine, prostacyclin, and kinins are potent vasodilators</a:t>
            </a:r>
          </a:p>
          <a:p>
            <a:r>
              <a:rPr altLang="en-US" b="1" lang="en-US"/>
              <a:t>Alcohol</a:t>
            </a:r>
            <a:r>
              <a:rPr altLang="en-US" lang="en-US"/>
              <a:t> – causes BP to drop by inhibiting ADH</a:t>
            </a:r>
          </a:p>
        </p:txBody>
      </p:sp>
    </p:spTree>
  </p:cSld>
  <p:clrMapOvr>
    <a:masterClrMapping/>
  </p:clrMapOvr>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02436" name="Rectangle 4"/>
          <p:cNvSpPr>
            <a:spLocks noChangeArrowheads="1" noGrp="1"/>
          </p:cNvSpPr>
          <p:nvPr>
            <p:ph type="title"/>
          </p:nvPr>
        </p:nvSpPr>
        <p:spPr/>
        <p:txBody>
          <a:bodyPr/>
          <a:lstStyle/>
          <a:p>
            <a:r>
              <a:rPr altLang="en-US" lang="en-US"/>
              <a:t>Long-Term Mechanisms: Renal Regulation</a:t>
            </a:r>
          </a:p>
        </p:txBody>
      </p:sp>
      <p:sp>
        <p:nvSpPr>
          <p:cNvPr id="402437" name="Rectangle 5"/>
          <p:cNvSpPr>
            <a:spLocks noChangeArrowheads="1" noGrp="1"/>
          </p:cNvSpPr>
          <p:nvPr>
            <p:ph idx="1" type="body"/>
          </p:nvPr>
        </p:nvSpPr>
        <p:spPr/>
        <p:txBody>
          <a:bodyPr/>
          <a:lstStyle/>
          <a:p>
            <a:pPr>
              <a:lnSpc>
                <a:spcPct val="90000"/>
              </a:lnSpc>
            </a:pPr>
            <a:r>
              <a:rPr altLang="en-US" lang="en-US"/>
              <a:t>Long-term mechanisms control BP by altering blood volume</a:t>
            </a:r>
          </a:p>
          <a:p>
            <a:pPr>
              <a:lnSpc>
                <a:spcPct val="90000"/>
              </a:lnSpc>
            </a:pPr>
            <a:r>
              <a:rPr altLang="en-US" lang="en-US"/>
              <a:t>Baroreceptors adapt to chronic high or low BP</a:t>
            </a:r>
          </a:p>
          <a:p>
            <a:pPr lvl="1">
              <a:lnSpc>
                <a:spcPct val="90000"/>
              </a:lnSpc>
            </a:pPr>
            <a:r>
              <a:rPr altLang="en-US" lang="en-US"/>
              <a:t>Increased BP stimulates the kidneys to eliminate water, thus reducing BP</a:t>
            </a:r>
          </a:p>
          <a:p>
            <a:pPr lvl="1">
              <a:lnSpc>
                <a:spcPct val="90000"/>
              </a:lnSpc>
            </a:pPr>
            <a:r>
              <a:rPr altLang="en-US" lang="en-US"/>
              <a:t>Decreased BP stimulates the kidneys to increase blood volume and BP</a:t>
            </a:r>
          </a:p>
          <a:p>
            <a:pPr lvl="1">
              <a:lnSpc>
                <a:spcPct val="90000"/>
              </a:lnSpc>
            </a:pPr>
            <a:r>
              <a:rPr altLang="en-US" b="1" lang="en-US"/>
              <a:t>*In 2006, a new technique was developed called carotid baroreceptor therapy to reduce hypertension (similar to a pacemaker)</a:t>
            </a:r>
          </a:p>
        </p:txBody>
      </p:sp>
    </p:spTree>
  </p:cSld>
  <p:clrMapOvr>
    <a:masterClrMapping/>
  </p:clrMapOvr>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itle 4"/>
          <p:cNvSpPr>
            <a:spLocks noGrp="1"/>
          </p:cNvSpPr>
          <p:nvPr>
            <p:ph type="title"/>
          </p:nvPr>
        </p:nvSpPr>
        <p:spPr>
          <a:xfrm>
            <a:off x="0" y="365760"/>
            <a:ext cx="9144000" cy="711458"/>
          </a:xfrm>
        </p:spPr>
        <p:txBody>
          <a:bodyPr/>
          <a:lstStyle/>
          <a:p>
            <a:r>
              <a:rPr dirty="0" lang="en-US" sz="2800"/>
              <a:t>Long-Term Mechanisms: Renal Regulation (cont.)</a:t>
            </a:r>
          </a:p>
        </p:txBody>
      </p:sp>
      <p:sp>
        <p:nvSpPr>
          <p:cNvPr id="147458" name="Rectangle 7"/>
          <p:cNvSpPr>
            <a:spLocks noChangeArrowheads="1" noGrp="1"/>
          </p:cNvSpPr>
          <p:nvPr>
            <p:ph idx="1"/>
          </p:nvPr>
        </p:nvSpPr>
        <p:spPr/>
        <p:txBody>
          <a:bodyPr/>
          <a:lstStyle/>
          <a:p>
            <a:r>
              <a:rPr b="1" dirty="0" lang="en-US"/>
              <a:t>Direct renal mechanism</a:t>
            </a:r>
          </a:p>
          <a:p>
            <a:pPr lvl="1"/>
            <a:r>
              <a:rPr dirty="0" lang="en-US"/>
              <a:t>Alters blood volume independently of hormones</a:t>
            </a:r>
          </a:p>
          <a:p>
            <a:pPr lvl="2"/>
            <a:r>
              <a:rPr dirty="0" lang="en-US"/>
              <a:t>Increased BP or blood volume causes elimination of more urine, thus reducing BP</a:t>
            </a:r>
          </a:p>
          <a:p>
            <a:pPr lvl="2"/>
            <a:r>
              <a:rPr dirty="0" lang="en-US"/>
              <a:t>Decreased BP or blood volume causes kidneys to conserve water, and BP rises</a:t>
            </a:r>
          </a:p>
        </p:txBody>
      </p:sp>
    </p:spTree>
    <p:extLst>
      <p:ext uri="{BB962C8B-B14F-4D97-AF65-F5344CB8AC3E}">
        <p14:creationId xmlns:p14="http://schemas.microsoft.com/office/powerpoint/2010/main" val="1561859733"/>
      </p:ext>
    </p:extLst>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itle 4"/>
          <p:cNvSpPr>
            <a:spLocks noGrp="1"/>
          </p:cNvSpPr>
          <p:nvPr>
            <p:ph type="title"/>
          </p:nvPr>
        </p:nvSpPr>
        <p:spPr>
          <a:xfrm>
            <a:off x="0" y="345440"/>
            <a:ext cx="9144000" cy="731778"/>
          </a:xfrm>
        </p:spPr>
        <p:txBody>
          <a:bodyPr/>
          <a:lstStyle/>
          <a:p>
            <a:r>
              <a:rPr dirty="0" lang="en-US" sz="2800"/>
              <a:t>Long-Term Mechanisms: Renal Regulation pt 3</a:t>
            </a:r>
          </a:p>
        </p:txBody>
      </p:sp>
      <p:sp>
        <p:nvSpPr>
          <p:cNvPr id="150530" name="Rectangle 7"/>
          <p:cNvSpPr>
            <a:spLocks noChangeArrowheads="1" noGrp="1"/>
          </p:cNvSpPr>
          <p:nvPr>
            <p:ph idx="1"/>
          </p:nvPr>
        </p:nvSpPr>
        <p:spPr/>
        <p:txBody>
          <a:bodyPr/>
          <a:lstStyle/>
          <a:p>
            <a:r>
              <a:rPr b="1" dirty="0" lang="en-US"/>
              <a:t>Indirect mechanism</a:t>
            </a:r>
          </a:p>
          <a:p>
            <a:pPr lvl="1"/>
            <a:r>
              <a:rPr dirty="0" lang="en-US"/>
              <a:t>The renin-angiotensin-aldosterone mechanism</a:t>
            </a:r>
          </a:p>
          <a:p>
            <a:pPr lvl="2"/>
            <a:r>
              <a:rPr dirty="0" lang="en-US">
                <a:sym charset="0" typeface="Symbol"/>
              </a:rPr>
              <a:t>Decreased a</a:t>
            </a:r>
            <a:r>
              <a:rPr dirty="0" lang="en-US"/>
              <a:t>rterial blood pressure </a:t>
            </a:r>
            <a:r>
              <a:rPr dirty="0" lang="en-US">
                <a:sym charset="0" typeface="Symbol"/>
              </a:rPr>
              <a:t>causes </a:t>
            </a:r>
            <a:r>
              <a:rPr dirty="0" lang="en-US"/>
              <a:t>release of renin from kidneys</a:t>
            </a:r>
          </a:p>
          <a:p>
            <a:pPr lvl="2"/>
            <a:r>
              <a:rPr dirty="0" lang="en-US"/>
              <a:t>Renin enters blood and catalyzes conversion of angiotensinogen from liver to angiotensin I</a:t>
            </a:r>
          </a:p>
          <a:p>
            <a:pPr lvl="2"/>
            <a:r>
              <a:rPr dirty="0" lang="en-US"/>
              <a:t>Angiotensin-converting enzyme, especially from lungs, converts angiotensin I to angiotensin II</a:t>
            </a:r>
          </a:p>
          <a:p>
            <a:pPr indent="0" lvl="1" marL="457200">
              <a:buNone/>
            </a:pPr>
            <a:endParaRPr dirty="0" lang="en-US"/>
          </a:p>
        </p:txBody>
      </p:sp>
    </p:spTree>
    <p:extLst>
      <p:ext uri="{BB962C8B-B14F-4D97-AF65-F5344CB8AC3E}">
        <p14:creationId xmlns:p14="http://schemas.microsoft.com/office/powerpoint/2010/main" val="4119839991"/>
      </p:ext>
    </p:extLst>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07556" name="Rectangle 4"/>
          <p:cNvSpPr>
            <a:spLocks noChangeArrowheads="1" noGrp="1"/>
          </p:cNvSpPr>
          <p:nvPr>
            <p:ph type="title"/>
          </p:nvPr>
        </p:nvSpPr>
        <p:spPr/>
        <p:txBody>
          <a:bodyPr/>
          <a:lstStyle/>
          <a:p>
            <a:r>
              <a:rPr altLang="en-US" lang="en-US"/>
              <a:t>Measuring Blood Pressure</a:t>
            </a:r>
          </a:p>
        </p:txBody>
      </p:sp>
      <p:sp>
        <p:nvSpPr>
          <p:cNvPr id="407557" name="Rectangle 5"/>
          <p:cNvSpPr>
            <a:spLocks noChangeArrowheads="1" noGrp="1"/>
          </p:cNvSpPr>
          <p:nvPr>
            <p:ph idx="1" type="body"/>
          </p:nvPr>
        </p:nvSpPr>
        <p:spPr/>
        <p:txBody>
          <a:bodyPr/>
          <a:lstStyle/>
          <a:p>
            <a:r>
              <a:rPr altLang="en-US" lang="en-US"/>
              <a:t>Systemic arterial BP is measured indirectly with the auscultatory method</a:t>
            </a:r>
          </a:p>
          <a:p>
            <a:pPr lvl="1"/>
            <a:r>
              <a:rPr altLang="en-US" lang="en-US"/>
              <a:t>A sphygmomanometer is placed on the arm superior to the elbow</a:t>
            </a:r>
          </a:p>
          <a:p>
            <a:pPr lvl="1"/>
            <a:r>
              <a:rPr altLang="en-US" lang="en-US"/>
              <a:t>Pressure is increased in the cuff until it is greater than systolic pressure in the brachial artery</a:t>
            </a:r>
          </a:p>
          <a:p>
            <a:pPr lvl="1"/>
            <a:r>
              <a:rPr altLang="en-US" lang="en-US"/>
              <a:t>Pressure is released slowly and the examiner listens with a stethoscope</a:t>
            </a:r>
          </a:p>
        </p:txBody>
      </p:sp>
    </p:spTree>
  </p:cSld>
  <p:clrMapOvr>
    <a:masterClrMapping/>
  </p:clrMapOvr>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93570" name="Rectangle 2"/>
          <p:cNvSpPr>
            <a:spLocks noChangeArrowheads="1" noGrp="1"/>
          </p:cNvSpPr>
          <p:nvPr>
            <p:ph type="title"/>
          </p:nvPr>
        </p:nvSpPr>
        <p:spPr/>
        <p:txBody>
          <a:bodyPr/>
          <a:lstStyle/>
          <a:p>
            <a:r>
              <a:rPr altLang="en-US" lang="en-US"/>
              <a:t>Evaluating Circulation</a:t>
            </a:r>
          </a:p>
        </p:txBody>
      </p:sp>
      <p:sp>
        <p:nvSpPr>
          <p:cNvPr id="493571" name="Rectangle 3"/>
          <p:cNvSpPr>
            <a:spLocks noChangeArrowheads="1" noGrp="1"/>
          </p:cNvSpPr>
          <p:nvPr>
            <p:ph idx="1" type="body"/>
          </p:nvPr>
        </p:nvSpPr>
        <p:spPr/>
        <p:txBody>
          <a:bodyPr/>
          <a:lstStyle/>
          <a:p>
            <a:endParaRPr altLang="en-US" lang="en-US"/>
          </a:p>
        </p:txBody>
      </p:sp>
      <p:pic>
        <p:nvPicPr>
          <p:cNvPr descr="Graph of varying arterial pressure when to record systolic and diastolic pressure when taking blood pressure" id="493572" name="Picture 4"/>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0"/>
            <a:ext cx="8458200" cy="4722813"/>
          </a:xfrm>
          <a:prstGeom prst="rect">
            <a:avLst/>
          </a:prstGeom>
          <a:noFill/>
          <a:extLst>
            <a:ext uri="{909E8E84-426E-40DD-AFC4-6F175D3DCCD1}">
              <a14:hiddenFill xmlns:a14="http://schemas.microsoft.com/office/drawing/2010/main">
                <a:solidFill>
                  <a:srgbClr val="FFFFFF"/>
                </a:solidFill>
              </a14:hiddenFill>
            </a:ext>
          </a:extLst>
        </p:spPr>
      </p:pic>
      <p:pic>
        <p:nvPicPr>
          <p:cNvPr descr="Diagram of how to take blood pressure of the brachial artery" id="493573" name="Picture 5"/>
          <p:cNvPicPr>
            <a:picLocks noChangeArrowheads="1" noChangeAspect="1"/>
          </p:cNvPicPr>
          <p:nvPr/>
        </p:nvPicPr>
        <p:blipFill>
          <a:blip r:embed="rId3">
            <a:extLst>
              <a:ext uri="{28A0092B-C50C-407E-A947-70E740481C1C}">
                <a14:useLocalDpi xmlns:a14="http://schemas.microsoft.com/office/drawing/2010/main" val="0"/>
              </a:ext>
            </a:extLst>
          </a:blip>
          <a:srcRect b="7014" t="2238"/>
          <a:stretch>
            <a:fillRect/>
          </a:stretch>
        </p:blipFill>
        <p:spPr bwMode="auto">
          <a:xfrm>
            <a:off x="1447800" y="4121150"/>
            <a:ext cx="6781800" cy="2736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0628" name="Rectangle 4"/>
          <p:cNvSpPr>
            <a:spLocks noChangeArrowheads="1" noGrp="1"/>
          </p:cNvSpPr>
          <p:nvPr>
            <p:ph type="title"/>
          </p:nvPr>
        </p:nvSpPr>
        <p:spPr/>
        <p:txBody>
          <a:bodyPr/>
          <a:lstStyle/>
          <a:p>
            <a:r>
              <a:rPr altLang="en-US" lang="en-US"/>
              <a:t>Alterations in Blood Pressure</a:t>
            </a:r>
          </a:p>
        </p:txBody>
      </p:sp>
      <p:sp>
        <p:nvSpPr>
          <p:cNvPr id="410629" name="Rectangle 5"/>
          <p:cNvSpPr>
            <a:spLocks noChangeArrowheads="1" noGrp="1"/>
          </p:cNvSpPr>
          <p:nvPr>
            <p:ph idx="1" type="body"/>
          </p:nvPr>
        </p:nvSpPr>
        <p:spPr/>
        <p:txBody>
          <a:bodyPr/>
          <a:lstStyle/>
          <a:p>
            <a:r>
              <a:rPr altLang="en-US" b="1" lang="en-US"/>
              <a:t>Hypotension</a:t>
            </a:r>
            <a:r>
              <a:rPr altLang="en-US" lang="en-US"/>
              <a:t> – low BP in which systolic pressure is below 100 mm Hg</a:t>
            </a:r>
          </a:p>
          <a:p>
            <a:r>
              <a:rPr altLang="en-US" b="1" lang="en-US"/>
              <a:t>Hypertension</a:t>
            </a:r>
            <a:r>
              <a:rPr altLang="en-US" lang="en-US"/>
              <a:t> –  condition of sustained elevated arterial pressure of 140/90 or higher</a:t>
            </a:r>
          </a:p>
        </p:txBody>
      </p:sp>
    </p:spTree>
  </p:cSld>
  <p:clrMapOvr>
    <a:masterClrMapping/>
  </p:clrMapOvr>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1652" name="Rectangle 4"/>
          <p:cNvSpPr>
            <a:spLocks noChangeArrowheads="1" noGrp="1"/>
          </p:cNvSpPr>
          <p:nvPr>
            <p:ph type="title"/>
          </p:nvPr>
        </p:nvSpPr>
        <p:spPr/>
        <p:txBody>
          <a:bodyPr/>
          <a:lstStyle/>
          <a:p>
            <a:r>
              <a:rPr altLang="en-US" lang="en-US"/>
              <a:t>Hypotension</a:t>
            </a:r>
          </a:p>
        </p:txBody>
      </p:sp>
      <p:sp>
        <p:nvSpPr>
          <p:cNvPr id="411653" name="Rectangle 5"/>
          <p:cNvSpPr>
            <a:spLocks noChangeArrowheads="1" noGrp="1"/>
          </p:cNvSpPr>
          <p:nvPr>
            <p:ph idx="1" type="body"/>
          </p:nvPr>
        </p:nvSpPr>
        <p:spPr/>
        <p:txBody>
          <a:bodyPr/>
          <a:lstStyle/>
          <a:p>
            <a:r>
              <a:rPr altLang="en-US" b="1" lang="en-US"/>
              <a:t>Orthostatic</a:t>
            </a:r>
            <a:r>
              <a:rPr altLang="en-US" lang="en-US"/>
              <a:t> hypotension – temporary low BP and dizziness when suddenly rising from a sitting or reclining position </a:t>
            </a:r>
          </a:p>
          <a:p>
            <a:r>
              <a:rPr altLang="en-US" b="1" lang="en-US"/>
              <a:t>Chronic</a:t>
            </a:r>
            <a:r>
              <a:rPr altLang="en-US" lang="en-US"/>
              <a:t> hypotension – hint of poor nutrition and warning sign for Addison’s disease</a:t>
            </a:r>
          </a:p>
          <a:p>
            <a:r>
              <a:rPr altLang="en-US" b="1" lang="en-US"/>
              <a:t>Acute</a:t>
            </a:r>
            <a:r>
              <a:rPr altLang="en-US" lang="en-US"/>
              <a:t> hypotension – important sign of circulatory shock</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411653">
                                            <p:txEl>
                                              <p:pRg end="0" st="0"/>
                                            </p:txEl>
                                          </p:spTgt>
                                        </p:tgtEl>
                                        <p:attrNameLst>
                                          <p:attrName>style.visibility</p:attrName>
                                        </p:attrNameLst>
                                      </p:cBhvr>
                                      <p:to>
                                        <p:strVal val="visible"/>
                                      </p:to>
                                    </p:set>
                                    <p:anim calcmode="discrete" valueType="clr">
                                      <p:cBhvr override="childStyle">
                                        <p:cTn dur="80" id="7"/>
                                        <p:tgtEl>
                                          <p:spTgt spid="411653">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411653">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411653">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411653">
                                            <p:txEl>
                                              <p:pRg end="1" st="1"/>
                                            </p:txEl>
                                          </p:spTgt>
                                        </p:tgtEl>
                                        <p:attrNameLst>
                                          <p:attrName>style.visibility</p:attrName>
                                        </p:attrNameLst>
                                      </p:cBhvr>
                                      <p:to>
                                        <p:strVal val="visible"/>
                                      </p:to>
                                    </p:set>
                                    <p:anim calcmode="discrete" valueType="clr">
                                      <p:cBhvr override="childStyle">
                                        <p:cTn dur="80" id="14"/>
                                        <p:tgtEl>
                                          <p:spTgt spid="411653">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411653">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411653">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411653">
                                            <p:txEl>
                                              <p:pRg end="2" st="2"/>
                                            </p:txEl>
                                          </p:spTgt>
                                        </p:tgtEl>
                                        <p:attrNameLst>
                                          <p:attrName>style.visibility</p:attrName>
                                        </p:attrNameLst>
                                      </p:cBhvr>
                                      <p:to>
                                        <p:strVal val="visible"/>
                                      </p:to>
                                    </p:set>
                                    <p:anim calcmode="discrete" valueType="clr">
                                      <p:cBhvr override="childStyle">
                                        <p:cTn dur="80" id="21"/>
                                        <p:tgtEl>
                                          <p:spTgt spid="411653">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411653">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411653">
                                            <p:txEl>
                                              <p:pRg end="2" st="2"/>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2676" name="Rectangle 4"/>
          <p:cNvSpPr>
            <a:spLocks noChangeArrowheads="1" noGrp="1"/>
          </p:cNvSpPr>
          <p:nvPr>
            <p:ph type="title"/>
          </p:nvPr>
        </p:nvSpPr>
        <p:spPr/>
        <p:txBody>
          <a:bodyPr/>
          <a:lstStyle/>
          <a:p>
            <a:r>
              <a:rPr altLang="en-US" lang="en-US"/>
              <a:t>Hypertension</a:t>
            </a:r>
          </a:p>
        </p:txBody>
      </p:sp>
      <p:sp>
        <p:nvSpPr>
          <p:cNvPr id="412677" name="Rectangle 5"/>
          <p:cNvSpPr>
            <a:spLocks noChangeArrowheads="1" noGrp="1"/>
          </p:cNvSpPr>
          <p:nvPr>
            <p:ph idx="1" type="body"/>
          </p:nvPr>
        </p:nvSpPr>
        <p:spPr/>
        <p:txBody>
          <a:bodyPr/>
          <a:lstStyle/>
          <a:p>
            <a:r>
              <a:rPr altLang="en-US" lang="en-US"/>
              <a:t>Hypertension maybe transient or persistent</a:t>
            </a:r>
          </a:p>
          <a:p>
            <a:r>
              <a:rPr altLang="en-US" b="1" lang="en-US"/>
              <a:t>Primary</a:t>
            </a:r>
            <a:r>
              <a:rPr altLang="en-US" lang="en-US"/>
              <a:t> or essential hypertension – risk factors in primary hypertension include diet, obesity, age, race, heredity, stress, and smoking</a:t>
            </a:r>
          </a:p>
          <a:p>
            <a:r>
              <a:rPr altLang="en-US" b="1" lang="en-US"/>
              <a:t>Secondary</a:t>
            </a:r>
            <a:r>
              <a:rPr altLang="en-US" lang="en-US"/>
              <a:t> hypertension – due to identifiable disorders, including excessive renin secretion, arteriosclerosis, and endocrine disorders</a:t>
            </a:r>
          </a:p>
        </p:txBody>
      </p:sp>
    </p:spTree>
  </p:cSld>
  <p:clrMapOvr>
    <a:masterClrMapping/>
  </p:clrMapOvr>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3700" name="Rectangle 4"/>
          <p:cNvSpPr>
            <a:spLocks noChangeArrowheads="1" noGrp="1"/>
          </p:cNvSpPr>
          <p:nvPr>
            <p:ph type="title"/>
          </p:nvPr>
        </p:nvSpPr>
        <p:spPr/>
        <p:txBody>
          <a:bodyPr/>
          <a:lstStyle/>
          <a:p>
            <a:r>
              <a:rPr altLang="en-US" lang="en-US"/>
              <a:t>Blood Flow Through Tissues</a:t>
            </a:r>
          </a:p>
        </p:txBody>
      </p:sp>
      <p:sp>
        <p:nvSpPr>
          <p:cNvPr id="413701" name="Rectangle 5"/>
          <p:cNvSpPr>
            <a:spLocks noChangeArrowheads="1" noGrp="1"/>
          </p:cNvSpPr>
          <p:nvPr>
            <p:ph idx="1" type="body"/>
          </p:nvPr>
        </p:nvSpPr>
        <p:spPr/>
        <p:txBody>
          <a:bodyPr/>
          <a:lstStyle/>
          <a:p>
            <a:r>
              <a:rPr altLang="en-US" lang="en-US"/>
              <a:t>Blood flow, or tissue perfusion, is involved in:</a:t>
            </a:r>
          </a:p>
          <a:p>
            <a:pPr lvl="1"/>
            <a:r>
              <a:rPr altLang="en-US" lang="en-US"/>
              <a:t>Delivery of oxygen and nutrients to, and removal of wastes from, tissue cells </a:t>
            </a:r>
          </a:p>
          <a:p>
            <a:pPr lvl="1"/>
            <a:r>
              <a:rPr altLang="en-US" lang="en-US"/>
              <a:t>Gas exchange in the lungs</a:t>
            </a:r>
          </a:p>
          <a:p>
            <a:pPr lvl="1"/>
            <a:r>
              <a:rPr altLang="en-US" lang="en-US"/>
              <a:t>Absorption of nutrients from the digestive tract</a:t>
            </a:r>
          </a:p>
          <a:p>
            <a:pPr lvl="1"/>
            <a:r>
              <a:rPr altLang="en-US" lang="en-US"/>
              <a:t>Urine formation by the kidneys</a:t>
            </a:r>
          </a:p>
          <a:p>
            <a:r>
              <a:rPr altLang="en-US" lang="en-US"/>
              <a:t>Blood flow is precisely the right amount to provide proper tissue function</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413701">
                                            <p:txEl>
                                              <p:pRg end="1" st="1"/>
                                            </p:txEl>
                                          </p:spTgt>
                                        </p:tgtEl>
                                        <p:attrNameLst>
                                          <p:attrName>style.visibility</p:attrName>
                                        </p:attrNameLst>
                                      </p:cBhvr>
                                      <p:to>
                                        <p:strVal val="visible"/>
                                      </p:to>
                                    </p:set>
                                    <p:anim calcmode="discrete" valueType="clr">
                                      <p:cBhvr override="childStyle">
                                        <p:cTn dur="80" id="7"/>
                                        <p:tgtEl>
                                          <p:spTgt spid="41370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413701">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413701">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413701">
                                            <p:txEl>
                                              <p:pRg end="2" st="2"/>
                                            </p:txEl>
                                          </p:spTgt>
                                        </p:tgtEl>
                                        <p:attrNameLst>
                                          <p:attrName>style.visibility</p:attrName>
                                        </p:attrNameLst>
                                      </p:cBhvr>
                                      <p:to>
                                        <p:strVal val="visible"/>
                                      </p:to>
                                    </p:set>
                                    <p:anim calcmode="discrete" valueType="clr">
                                      <p:cBhvr override="childStyle">
                                        <p:cTn dur="80" id="14"/>
                                        <p:tgtEl>
                                          <p:spTgt spid="41370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413701">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413701">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413701">
                                            <p:txEl>
                                              <p:pRg end="3" st="3"/>
                                            </p:txEl>
                                          </p:spTgt>
                                        </p:tgtEl>
                                        <p:attrNameLst>
                                          <p:attrName>style.visibility</p:attrName>
                                        </p:attrNameLst>
                                      </p:cBhvr>
                                      <p:to>
                                        <p:strVal val="visible"/>
                                      </p:to>
                                    </p:set>
                                    <p:anim calcmode="discrete" valueType="clr">
                                      <p:cBhvr override="childStyle">
                                        <p:cTn dur="80" id="21"/>
                                        <p:tgtEl>
                                          <p:spTgt spid="41370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413701">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413701">
                                            <p:txEl>
                                              <p:pRg end="3" st="3"/>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413701">
                                            <p:txEl>
                                              <p:pRg end="4" st="4"/>
                                            </p:txEl>
                                          </p:spTgt>
                                        </p:tgtEl>
                                        <p:attrNameLst>
                                          <p:attrName>style.visibility</p:attrName>
                                        </p:attrNameLst>
                                      </p:cBhvr>
                                      <p:to>
                                        <p:strVal val="visible"/>
                                      </p:to>
                                    </p:set>
                                    <p:anim calcmode="discrete" valueType="clr">
                                      <p:cBhvr override="childStyle">
                                        <p:cTn dur="80" id="28"/>
                                        <p:tgtEl>
                                          <p:spTgt spid="413701">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413701">
                                            <p:txEl>
                                              <p:pRg end="4" st="4"/>
                                            </p:txEl>
                                          </p:spTgt>
                                        </p:tgtEl>
                                        <p:attrNameLst>
                                          <p:attrName>fillcolor</p:attrName>
                                        </p:attrNameLst>
                                      </p:cBhvr>
                                      <p:tavLst>
                                        <p:tav tm="0">
                                          <p:val>
                                            <p:clrVal>
                                              <a:schemeClr val="accent2"/>
                                            </p:clrVal>
                                          </p:val>
                                        </p:tav>
                                        <p:tav tm="50000">
                                          <p:val>
                                            <p:clrVal>
                                              <a:schemeClr val="hlink"/>
                                            </p:clrVal>
                                          </p:val>
                                        </p:tav>
                                      </p:tavLst>
                                    </p:anim>
                                    <p:set>
                                      <p:cBhvr>
                                        <p:cTn dur="80" id="30"/>
                                        <p:tgtEl>
                                          <p:spTgt spid="413701">
                                            <p:txEl>
                                              <p:pRg end="4" st="4"/>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413701">
                                            <p:txEl>
                                              <p:pRg end="5" st="5"/>
                                            </p:txEl>
                                          </p:spTgt>
                                        </p:tgtEl>
                                        <p:attrNameLst>
                                          <p:attrName>style.visibility</p:attrName>
                                        </p:attrNameLst>
                                      </p:cBhvr>
                                      <p:to>
                                        <p:strVal val="visible"/>
                                      </p:to>
                                    </p:set>
                                    <p:anim calcmode="discrete" valueType="clr">
                                      <p:cBhvr override="childStyle">
                                        <p:cTn dur="80" id="35"/>
                                        <p:tgtEl>
                                          <p:spTgt spid="413701">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413701">
                                            <p:txEl>
                                              <p:pRg end="5" st="5"/>
                                            </p:txEl>
                                          </p:spTgt>
                                        </p:tgtEl>
                                        <p:attrNameLst>
                                          <p:attrName>fillcolor</p:attrName>
                                        </p:attrNameLst>
                                      </p:cBhvr>
                                      <p:tavLst>
                                        <p:tav tm="0">
                                          <p:val>
                                            <p:clrVal>
                                              <a:schemeClr val="accent2"/>
                                            </p:clrVal>
                                          </p:val>
                                        </p:tav>
                                        <p:tav tm="50000">
                                          <p:val>
                                            <p:clrVal>
                                              <a:schemeClr val="hlink"/>
                                            </p:clrVal>
                                          </p:val>
                                        </p:tav>
                                      </p:tavLst>
                                    </p:anim>
                                    <p:set>
                                      <p:cBhvr>
                                        <p:cTn dur="80" id="37"/>
                                        <p:tgtEl>
                                          <p:spTgt spid="413701">
                                            <p:txEl>
                                              <p:pRg end="5" st="5"/>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4724" name="Rectangle 4"/>
          <p:cNvSpPr>
            <a:spLocks noChangeArrowheads="1" noGrp="1"/>
          </p:cNvSpPr>
          <p:nvPr>
            <p:ph type="title"/>
          </p:nvPr>
        </p:nvSpPr>
        <p:spPr/>
        <p:txBody>
          <a:bodyPr/>
          <a:lstStyle/>
          <a:p>
            <a:r>
              <a:rPr altLang="en-US" lang="en-US"/>
              <a:t>Velocity of Blood Flow</a:t>
            </a:r>
          </a:p>
        </p:txBody>
      </p:sp>
      <p:sp>
        <p:nvSpPr>
          <p:cNvPr id="414725" name="Rectangle 5"/>
          <p:cNvSpPr>
            <a:spLocks noChangeArrowheads="1" noGrp="1"/>
          </p:cNvSpPr>
          <p:nvPr>
            <p:ph idx="1" type="body"/>
          </p:nvPr>
        </p:nvSpPr>
        <p:spPr/>
        <p:txBody>
          <a:bodyPr/>
          <a:lstStyle/>
          <a:p>
            <a:r>
              <a:rPr altLang="en-US" lang="en-US"/>
              <a:t>Blood velocity: </a:t>
            </a:r>
          </a:p>
          <a:p>
            <a:pPr lvl="1"/>
            <a:r>
              <a:rPr altLang="en-US" lang="en-US"/>
              <a:t>Changes as it travels through the systemic circulation</a:t>
            </a:r>
          </a:p>
          <a:p>
            <a:pPr lvl="1"/>
            <a:r>
              <a:rPr altLang="en-US" lang="en-US"/>
              <a:t>Is inversely proportional to the cross-sectional area</a:t>
            </a:r>
          </a:p>
          <a:p>
            <a:r>
              <a:rPr altLang="en-US" lang="en-US"/>
              <a:t>Slow capillary flow allows adequate time for exchange between blood and tissues</a:t>
            </a:r>
          </a:p>
        </p:txBody>
      </p:sp>
    </p:spTree>
  </p:cSld>
  <p:clrMapOvr>
    <a:masterClrMapping/>
  </p:clrMapOvr>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5746" name="Rectangle 2"/>
          <p:cNvSpPr>
            <a:spLocks noChangeArrowheads="1" noGrp="1"/>
          </p:cNvSpPr>
          <p:nvPr>
            <p:ph type="title"/>
          </p:nvPr>
        </p:nvSpPr>
        <p:spPr/>
        <p:txBody>
          <a:bodyPr/>
          <a:lstStyle/>
          <a:p>
            <a:r>
              <a:rPr altLang="en-US" dirty="0" lang="en-US"/>
              <a:t>Velocity of Blood Flow: graphic</a:t>
            </a:r>
          </a:p>
        </p:txBody>
      </p:sp>
      <p:pic>
        <p:nvPicPr>
          <p:cNvPr descr="This figure consists of two graphs. The top graph shows the total area (in cm²) of the vascular bed. The bottom graph shows the velocity of blood flow (in cm/s) in the vascular bed.  Both graphs analyze data seen in aorta, arteries, arterioles, capillaries, venules, veins, and venae cavae.  - Top graph:  vertical axis shows total area of the vascular bed, from 0 to 5000 cm².  Total area covered by each type of blood vessel: - Aorta:   2.5 cm² - Arteries:  ~ 500 cm² - Arterioles:  upward to 4000 cm² - Capillaries:  peaks at 4500 cm² - Venules:   falls to approximately 2500 cm² - Veins:  ~ 100 cm² - Venae cavae:  similar to total area of aorta - Bottom graph:  vertical axis shows the velocity of blood flow from 0 to 50 cm/s.  Total velocity of each type of blood vessel: - Aorta:   48 cm/s - Arteries:  35 cm/s - Arterioles:  10 cm/s - Capillaries:  0.03 cm/s - Venules:   8 cm/s - Veins:  20 cm/s - Venae cavae:  28 cm/s " id="2" name="Picture 1">
            <a:extLst>
              <a:ext uri="{FF2B5EF4-FFF2-40B4-BE49-F238E27FC236}">
                <a16:creationId xmlns:a16="http://schemas.microsoft.com/office/drawing/2014/main" id="{E109DB8B-A93F-2FA3-4C4F-C8187616F409}"/>
              </a:ext>
            </a:extLst>
          </p:cNvPr>
          <p:cNvPicPr>
            <a:picLocks noChangeAspect="1"/>
          </p:cNvPicPr>
          <p:nvPr/>
        </p:nvPicPr>
        <p:blipFill rotWithShape="1">
          <a:blip r:embed="rId2">
            <a:extLst>
              <a:ext uri="{28A0092B-C50C-407E-A947-70E740481C1C}">
                <a14:useLocalDpi xmlns:a14="http://schemas.microsoft.com/office/drawing/2010/main" val="0"/>
              </a:ext>
            </a:extLst>
          </a:blip>
          <a:srcRect b="2807"/>
          <a:stretch/>
        </p:blipFill>
        <p:spPr>
          <a:xfrm>
            <a:off x="1435609" y="1019651"/>
            <a:ext cx="5827762" cy="5576411"/>
          </a:xfrm>
          <a:prstGeom prst="rect">
            <a:avLst/>
          </a:prstGeom>
        </p:spPr>
      </p:pic>
    </p:spTree>
  </p:cSld>
  <p:clrMapOvr>
    <a:masterClrMapping/>
  </p:clrMapOvr>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16772" name="Rectangle 4"/>
          <p:cNvSpPr>
            <a:spLocks noChangeArrowheads="1" noGrp="1"/>
          </p:cNvSpPr>
          <p:nvPr>
            <p:ph type="title"/>
          </p:nvPr>
        </p:nvSpPr>
        <p:spPr/>
        <p:txBody>
          <a:bodyPr/>
          <a:lstStyle/>
          <a:p>
            <a:r>
              <a:rPr altLang="en-US" dirty="0" lang="en-US"/>
              <a:t>BIG TOPIC: control of blood pressure</a:t>
            </a:r>
          </a:p>
        </p:txBody>
      </p:sp>
      <p:sp>
        <p:nvSpPr>
          <p:cNvPr id="416773" name="Rectangle 5"/>
          <p:cNvSpPr>
            <a:spLocks noChangeArrowheads="1" noGrp="1"/>
          </p:cNvSpPr>
          <p:nvPr>
            <p:ph idx="1" type="body"/>
          </p:nvPr>
        </p:nvSpPr>
        <p:spPr>
          <a:xfrm>
            <a:off x="298450" y="1244600"/>
            <a:ext cx="8270875" cy="5056188"/>
          </a:xfrm>
        </p:spPr>
        <p:txBody>
          <a:bodyPr/>
          <a:lstStyle/>
          <a:p>
            <a:r>
              <a:rPr altLang="en-US" b="1" dirty="0" lang="en-US"/>
              <a:t>Extrinsic control</a:t>
            </a:r>
          </a:p>
          <a:p>
            <a:pPr lvl="1"/>
            <a:r>
              <a:rPr altLang="en-US" b="1" dirty="0" lang="en-US"/>
              <a:t>Nervous control (ANS)</a:t>
            </a:r>
          </a:p>
          <a:p>
            <a:pPr lvl="2"/>
            <a:r>
              <a:rPr altLang="en-US" dirty="0" lang="en-US"/>
              <a:t>Sympathetic (mainly)</a:t>
            </a:r>
          </a:p>
          <a:p>
            <a:pPr lvl="1"/>
            <a:r>
              <a:rPr altLang="en-US" b="1" dirty="0" lang="en-US"/>
              <a:t>Hormonal control (endocrine and renal)</a:t>
            </a:r>
          </a:p>
          <a:p>
            <a:pPr lvl="2"/>
            <a:r>
              <a:rPr altLang="en-US" dirty="0" lang="en-US"/>
              <a:t>Epinephrine</a:t>
            </a:r>
          </a:p>
          <a:p>
            <a:pPr lvl="2"/>
            <a:r>
              <a:rPr altLang="en-US" dirty="0" lang="en-US"/>
              <a:t>ADH</a:t>
            </a:r>
          </a:p>
          <a:p>
            <a:pPr lvl="2"/>
            <a:r>
              <a:rPr altLang="en-US" dirty="0" lang="en-US"/>
              <a:t>Aldosterone</a:t>
            </a:r>
          </a:p>
          <a:p>
            <a:r>
              <a:rPr altLang="en-US" b="1" dirty="0" lang="en-US"/>
              <a:t>Intrinsic control (autoregulation)</a:t>
            </a:r>
            <a:endParaRPr altLang="en-US" dirty="0" lang="en-US"/>
          </a:p>
        </p:txBody>
      </p:sp>
    </p:spTree>
  </p:cSld>
  <p:clrMapOvr>
    <a:masterClrMapping/>
  </p:clrMapOvr>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A5021B5A-C46B-178F-7065-3A5AE9D53082}"/>
            </a:ext>
          </a:extLst>
        </p:cNvPr>
        <p:cNvGrpSpPr/>
        <p:nvPr/>
      </p:nvGrpSpPr>
      <p:grpSpPr>
        <a:xfrm>
          <a:off x="0" y="0"/>
          <a:ext cx="0" cy="0"/>
          <a:chOff x="0" y="0"/>
          <a:chExt cx="0" cy="0"/>
        </a:xfrm>
      </p:grpSpPr>
      <p:sp>
        <p:nvSpPr>
          <p:cNvPr id="416772" name="Rectangle 4">
            <a:extLst>
              <a:ext uri="{FF2B5EF4-FFF2-40B4-BE49-F238E27FC236}">
                <a16:creationId xmlns:a16="http://schemas.microsoft.com/office/drawing/2014/main" id="{A57D3464-8170-993E-C91D-0AB31A7B5071}"/>
              </a:ext>
            </a:extLst>
          </p:cNvPr>
          <p:cNvSpPr>
            <a:spLocks noChangeArrowheads="1" noGrp="1"/>
          </p:cNvSpPr>
          <p:nvPr>
            <p:ph type="title"/>
          </p:nvPr>
        </p:nvSpPr>
        <p:spPr/>
        <p:txBody>
          <a:bodyPr/>
          <a:lstStyle/>
          <a:p>
            <a:r>
              <a:rPr altLang="en-US" lang="en-US"/>
              <a:t>Autoregulation: Local Regulation of Blood Flow</a:t>
            </a:r>
          </a:p>
        </p:txBody>
      </p:sp>
      <p:sp>
        <p:nvSpPr>
          <p:cNvPr id="416773" name="Rectangle 5">
            <a:extLst>
              <a:ext uri="{FF2B5EF4-FFF2-40B4-BE49-F238E27FC236}">
                <a16:creationId xmlns:a16="http://schemas.microsoft.com/office/drawing/2014/main" id="{BB6E303F-2189-92B9-D6C0-3645400ABB96}"/>
              </a:ext>
            </a:extLst>
          </p:cNvPr>
          <p:cNvSpPr>
            <a:spLocks noChangeArrowheads="1" noGrp="1"/>
          </p:cNvSpPr>
          <p:nvPr>
            <p:ph idx="1" type="body"/>
          </p:nvPr>
        </p:nvSpPr>
        <p:spPr>
          <a:xfrm>
            <a:off x="298450" y="1244600"/>
            <a:ext cx="8270875" cy="5056188"/>
          </a:xfrm>
        </p:spPr>
        <p:txBody>
          <a:bodyPr/>
          <a:lstStyle/>
          <a:p>
            <a:r>
              <a:rPr altLang="en-US" b="1" lang="en-US"/>
              <a:t>Autoregulation</a:t>
            </a:r>
            <a:r>
              <a:rPr altLang="en-US" lang="en-US"/>
              <a:t> – automatic adjustment of blood flow to each tissue in proportion to its requirements at any given point in time</a:t>
            </a:r>
          </a:p>
          <a:p>
            <a:r>
              <a:rPr altLang="en-US" lang="en-US"/>
              <a:t>Blood flow through an individual organ is intrinsically controlled by modifying the diameter of local arterioles feeding its capillaries</a:t>
            </a:r>
          </a:p>
          <a:p>
            <a:r>
              <a:rPr altLang="en-US" lang="en-US"/>
              <a:t>MAP remains constant, while local demands regulate the amount of blood delivered to various areas according to need</a:t>
            </a:r>
          </a:p>
        </p:txBody>
      </p:sp>
    </p:spTree>
    <p:extLst>
      <p:ext uri="{BB962C8B-B14F-4D97-AF65-F5344CB8AC3E}">
        <p14:creationId xmlns:p14="http://schemas.microsoft.com/office/powerpoint/2010/main" val="1147955609"/>
      </p:ext>
    </p:extLst>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416773">
                                            <p:txEl>
                                              <p:pRg end="1" st="1"/>
                                            </p:txEl>
                                          </p:spTgt>
                                        </p:tgtEl>
                                        <p:attrNameLst>
                                          <p:attrName>style.visibility</p:attrName>
                                        </p:attrNameLst>
                                      </p:cBhvr>
                                      <p:to>
                                        <p:strVal val="visible"/>
                                      </p:to>
                                    </p:set>
                                    <p:anim calcmode="discrete" valueType="clr">
                                      <p:cBhvr override="childStyle">
                                        <p:cTn dur="80" id="7"/>
                                        <p:tgtEl>
                                          <p:spTgt spid="416773">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416773">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416773">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416773">
                                            <p:txEl>
                                              <p:pRg end="2" st="2"/>
                                            </p:txEl>
                                          </p:spTgt>
                                        </p:tgtEl>
                                        <p:attrNameLst>
                                          <p:attrName>style.visibility</p:attrName>
                                        </p:attrNameLst>
                                      </p:cBhvr>
                                      <p:to>
                                        <p:strVal val="visible"/>
                                      </p:to>
                                    </p:set>
                                    <p:anim calcmode="discrete" valueType="clr">
                                      <p:cBhvr override="childStyle">
                                        <p:cTn dur="80" id="14"/>
                                        <p:tgtEl>
                                          <p:spTgt spid="416773">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416773">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416773">
                                            <p:txEl>
                                              <p:pRg end="2" st="2"/>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24962" name="Rectangle 2"/>
          <p:cNvSpPr>
            <a:spLocks noChangeArrowheads="1" noGrp="1"/>
          </p:cNvSpPr>
          <p:nvPr>
            <p:ph type="title"/>
          </p:nvPr>
        </p:nvSpPr>
        <p:spPr/>
        <p:txBody>
          <a:bodyPr/>
          <a:lstStyle/>
          <a:p>
            <a:r>
              <a:rPr altLang="en-US" lang="en-US"/>
              <a:t>Control of Arteriolar Smooth Muscle</a:t>
            </a:r>
          </a:p>
        </p:txBody>
      </p:sp>
      <p:sp>
        <p:nvSpPr>
          <p:cNvPr id="424964" name="Text Box 4"/>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lang="en-US" sz="1200">
                <a:solidFill>
                  <a:schemeClr val="accent2"/>
                </a:solidFill>
                <a:latin charset="0" panose="020B0604020202020204" pitchFamily="34" typeface="Arial"/>
              </a:rPr>
              <a:t>Figure 19.14</a:t>
            </a:r>
          </a:p>
        </p:txBody>
      </p:sp>
      <p:pic>
        <p:nvPicPr>
          <p:cNvPr descr="Factors affaecting smooth muscle diameter" id="424966" name="Picture 6"/>
          <p:cNvPicPr>
            <a:picLocks noChangeArrowheads="1" noChangeAspect="1"/>
          </p:cNvPicPr>
          <p:nvPr/>
        </p:nvPicPr>
        <p:blipFill>
          <a:blip r:embed="rId2">
            <a:extLst>
              <a:ext uri="{28A0092B-C50C-407E-A947-70E740481C1C}">
                <a14:useLocalDpi xmlns:a14="http://schemas.microsoft.com/office/drawing/2010/main" val="0"/>
              </a:ext>
            </a:extLst>
          </a:blip>
          <a:srcRect b="5934" l="1024" r="874" t="1335"/>
          <a:stretch>
            <a:fillRect/>
          </a:stretch>
        </p:blipFill>
        <p:spPr bwMode="auto">
          <a:xfrm>
            <a:off x="385763" y="836613"/>
            <a:ext cx="8370887" cy="51847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bwMode="auto">
          <a:xfrm>
            <a:off x="1035169" y="5538158"/>
            <a:ext cx="974785" cy="483230"/>
          </a:xfrm>
          <a:prstGeom prst="rect">
            <a:avLst/>
          </a:prstGeom>
          <a:solidFill>
            <a:schemeClr val="bg1"/>
          </a:solidFill>
          <a:ln algn="ctr" cap="flat" cmpd="sng" w="25400">
            <a:solidFill>
              <a:schemeClr val="bg1"/>
            </a:solidFill>
            <a:prstDash val="solid"/>
            <a:round/>
            <a:headEnd len="med" type="none" w="med"/>
            <a:tailEnd len="med" type="none" w="med"/>
          </a:ln>
          <a:effectLst/>
        </p:spPr>
        <p:txBody>
          <a:bodyPr anchor="t" anchorCtr="0" bIns="45720" compatLnSpc="1" lIns="91440" numCol="1" rIns="91440" rtlCol="0" tIns="45720" vert="horz" wrap="square">
            <a:prstTxWarp prst="textNoShape">
              <a:avLst/>
            </a:prstTxWarp>
          </a:bodyPr>
          <a:lstStyle/>
          <a:p>
            <a:pPr algn="l" defTabSz="914400" eaLnBrk="0" fontAlgn="base" hangingPunct="0" indent="0" latinLnBrk="0" marL="0" marR="0" rtl="0">
              <a:lnSpc>
                <a:spcPct val="100000"/>
              </a:lnSpc>
              <a:spcBef>
                <a:spcPct val="0"/>
              </a:spcBef>
              <a:spcAft>
                <a:spcPct val="0"/>
              </a:spcAft>
              <a:buClrTx/>
              <a:buSzTx/>
              <a:buFontTx/>
              <a:buNone/>
              <a:tabLst/>
            </a:pPr>
            <a:r>
              <a:rPr dirty="0" lang="en-US" sz="1400">
                <a:latin typeface="+mj-lt"/>
              </a:rPr>
              <a:t>Dilate*</a:t>
            </a:r>
          </a:p>
          <a:p>
            <a:pPr algn="l" defTabSz="914400" eaLnBrk="0" fontAlgn="base" hangingPunct="0" indent="0" latinLnBrk="0" marL="0" marR="0" rtl="0">
              <a:lnSpc>
                <a:spcPct val="100000"/>
              </a:lnSpc>
              <a:spcBef>
                <a:spcPct val="0"/>
              </a:spcBef>
              <a:spcAft>
                <a:spcPct val="0"/>
              </a:spcAft>
              <a:buClrTx/>
              <a:buSzTx/>
              <a:buFontTx/>
              <a:buNone/>
              <a:tabLst/>
            </a:pPr>
            <a:r>
              <a:rPr b="1" baseline="0" cap="none" dirty="0" i="0" kumimoji="0" lang="en-US" normalizeH="0" strike="noStrike" sz="1400" u="none">
                <a:ln>
                  <a:noFill/>
                </a:ln>
                <a:solidFill>
                  <a:schemeClr val="tx1"/>
                </a:solidFill>
                <a:effectLst/>
                <a:latin typeface="+mj-lt"/>
              </a:rPr>
              <a:t>Constrict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567F-C887-5F0A-9EB3-7920D00369FC}"/>
              </a:ext>
            </a:extLst>
          </p:cNvPr>
          <p:cNvSpPr>
            <a:spLocks noGrp="1"/>
          </p:cNvSpPr>
          <p:nvPr>
            <p:ph type="title"/>
          </p:nvPr>
        </p:nvSpPr>
        <p:spPr/>
        <p:txBody>
          <a:bodyPr/>
          <a:lstStyle/>
          <a:p>
            <a:r>
              <a:rPr dirty="0" lang="en-US"/>
              <a:t>Control of arteriolar diameter</a:t>
            </a:r>
          </a:p>
        </p:txBody>
      </p:sp>
      <p:pic>
        <p:nvPicPr>
          <p:cNvPr descr="This figure summarizes vasodilators and vasoconstrictors of arteriolar smooth muscle, including intrinsic mechanisms (autoregulation) and extrinsic mechanisms.  Epinephrine and norepinephrine constrict arteriolar smooth muscle by acting at α-adrenergic receptors.  β-adrenergic receptors (causing vasodilation) are present in arterioles supplying skeletal and heart muscle, but their physiological relevance is minimal. - Intrinsic controls (autoregulation):  Metabolic or myogenic controls;  distribute blood flow to individual organs and tissues as needed. - Vasodilators: - Metabolic controls:   - Decreasing O2 - Increasing CO2 - Increasing H+ - Increasing K+ - Prostaglandins - Adenosine - Nitric oxide - Vasoconstrictors: - Metabolic controls - Endothelins - Myogenic controls - Stretch - Extrinsic controls:  neural or hormonal controls;  maintain MAP;  redistribute blood during exercise and thermoregulation. - Vasodilators: - Neural - Decreased sympathetic tone - Hormonal - Atrial natriuretic peptide - Vasoconstrictors: - Neural - Increased sympathetic tone - Hormonal - Angiotensin II - Antidiuretic hormone - Epinephrine - Norepinephrine " id="3" name="Picture 2">
            <a:extLst>
              <a:ext uri="{FF2B5EF4-FFF2-40B4-BE49-F238E27FC236}">
                <a16:creationId xmlns:a16="http://schemas.microsoft.com/office/drawing/2014/main" id="{25E441B3-B44C-B387-02BB-E651160C98D0}"/>
              </a:ext>
            </a:extLst>
          </p:cNvPr>
          <p:cNvPicPr>
            <a:picLocks noChangeAspect="1"/>
          </p:cNvPicPr>
          <p:nvPr/>
        </p:nvPicPr>
        <p:blipFill rotWithShape="1">
          <a:blip cstate="print" r:embed="rId3">
            <a:extLst>
              <a:ext uri="{28A0092B-C50C-407E-A947-70E740481C1C}">
                <a14:useLocalDpi xmlns:a14="http://schemas.microsoft.com/office/drawing/2010/main" val="0"/>
              </a:ext>
            </a:extLst>
          </a:blip>
          <a:srcRect b="2149"/>
          <a:stretch/>
        </p:blipFill>
        <p:spPr>
          <a:xfrm>
            <a:off x="570074" y="871538"/>
            <a:ext cx="8080052" cy="5986462"/>
          </a:xfrm>
          <a:prstGeom prst="rect">
            <a:avLst/>
          </a:prstGeom>
        </p:spPr>
      </p:pic>
    </p:spTree>
    <p:extLst>
      <p:ext uri="{BB962C8B-B14F-4D97-AF65-F5344CB8AC3E}">
        <p14:creationId xmlns:p14="http://schemas.microsoft.com/office/powerpoint/2010/main" val="1201693950"/>
      </p:ext>
    </p:extLst>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131FD-7B38-3AC0-8137-F13BFB81FCBB}"/>
              </a:ext>
            </a:extLst>
          </p:cNvPr>
          <p:cNvSpPr>
            <a:spLocks noGrp="1"/>
          </p:cNvSpPr>
          <p:nvPr>
            <p:ph type="title"/>
          </p:nvPr>
        </p:nvSpPr>
        <p:spPr/>
        <p:txBody>
          <a:bodyPr/>
          <a:lstStyle/>
          <a:p>
            <a:r>
              <a:rPr dirty="0" lang="en-US"/>
              <a:t>Active hyperemia</a:t>
            </a:r>
          </a:p>
        </p:txBody>
      </p:sp>
      <p:pic>
        <p:nvPicPr>
          <p:cNvPr descr="This flowchart summarizes initial stimuli, physiological responses, and the results that occur in exercising skeletal muscle. - Initial stimulus:  exercising skeletal muscle.  - Physiological responses: - Falling O2, rising CO2, rising H+, and increasing levels of other metabolic factors in extracellular fluid.  - Physiological responses lead to the vasodilation of arterioles (which overrides extrinsic sympathetic input). - Result: - Increasing muscle blood flow, or active hyperemia." id="3" name="Picture 2">
            <a:extLst>
              <a:ext uri="{FF2B5EF4-FFF2-40B4-BE49-F238E27FC236}">
                <a16:creationId xmlns:a16="http://schemas.microsoft.com/office/drawing/2014/main" id="{7D20B01A-4CE5-CD55-E0FF-0BA0F1E9185D}"/>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439"/>
          <a:stretch/>
        </p:blipFill>
        <p:spPr bwMode="auto">
          <a:xfrm>
            <a:off x="1706881" y="1047561"/>
            <a:ext cx="5455920" cy="537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016953"/>
      </p:ext>
    </p:extLst>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p:cNvSpPr>
            <a:spLocks noGrp="1"/>
          </p:cNvSpPr>
          <p:nvPr>
            <p:ph type="title"/>
          </p:nvPr>
        </p:nvSpPr>
        <p:spPr>
          <a:xfrm>
            <a:off x="457581" y="246888"/>
            <a:ext cx="8229600" cy="1046440"/>
          </a:xfrm>
        </p:spPr>
        <p:txBody>
          <a:bodyPr wrap="square">
            <a:spAutoFit/>
          </a:bodyPr>
          <a:lstStyle/>
          <a:p>
            <a:r>
              <a:rPr dirty="0" lang="en-US">
                <a:latin typeface="Times New Roman"/>
              </a:rPr>
              <a:t>A Quick Summary of Intrinsic Versus Extrinsic Control Mechanisms</a:t>
            </a:r>
          </a:p>
        </p:txBody>
      </p:sp>
      <p:pic>
        <p:nvPicPr>
          <p:cNvPr descr="Figure summarizes intrinsic controls and extrinsic controls, and gives three examples where both control mechanisms occur. - Intrinsic controls:  - Control is entirely from within the tissue or organ - Uses paracrines or properties of muscle tissue - Also known as autoregulation or local control - Extrinsic controls: - Control is from outside of the tissue or organ. - Use nerves or hormones. - Examples where both control mechanisms occur: - Stroke volume in heart (refer to pages. 697–698) - Arteriolar diameter (see Figure 19.16) - Glomerular filtration in kidneys (see Chapter 25)" id="2" name="Picture 1"/>
          <p:cNvPicPr>
            <a:picLocks noChangeAspect="1"/>
          </p:cNvPicPr>
          <p:nvPr/>
        </p:nvPicPr>
        <p:blipFill rotWithShape="1">
          <a:blip r:embed="rId3">
            <a:extLst>
              <a:ext uri="{28A0092B-C50C-407E-A947-70E740481C1C}">
                <a14:useLocalDpi xmlns:a14="http://schemas.microsoft.com/office/drawing/2010/main" val="0"/>
              </a:ext>
            </a:extLst>
          </a:blip>
          <a:srcRect b="38794"/>
          <a:stretch>
            <a:fillRect/>
          </a:stretch>
        </p:blipFill>
        <p:spPr>
          <a:xfrm>
            <a:off x="527083" y="2109764"/>
            <a:ext cx="8089833" cy="2807208"/>
          </a:xfrm>
          <a:prstGeom prst="rect">
            <a:avLst/>
          </a:prstGeom>
        </p:spPr>
      </p:pic>
    </p:spTree>
    <p:extLst>
      <p:ext uri="{BB962C8B-B14F-4D97-AF65-F5344CB8AC3E}">
        <p14:creationId xmlns:p14="http://schemas.microsoft.com/office/powerpoint/2010/main" val="3864054707"/>
      </p:ext>
    </p:extLst>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5683" name="Rectangle 3"/>
          <p:cNvSpPr>
            <a:spLocks noChangeArrowheads="1" noGrp="1"/>
          </p:cNvSpPr>
          <p:nvPr>
            <p:ph type="title"/>
          </p:nvPr>
        </p:nvSpPr>
        <p:spPr/>
        <p:txBody>
          <a:bodyPr/>
          <a:lstStyle/>
          <a:p>
            <a:r>
              <a:rPr altLang="en-US" dirty="0" lang="en-US"/>
              <a:t>BIG TOPIC: Capillary Exchange</a:t>
            </a:r>
          </a:p>
        </p:txBody>
      </p:sp>
      <p:sp>
        <p:nvSpPr>
          <p:cNvPr id="455684" name="Rectangle 4"/>
          <p:cNvSpPr>
            <a:spLocks noChangeArrowheads="1" noGrp="1"/>
          </p:cNvSpPr>
          <p:nvPr>
            <p:ph idx="1" type="body"/>
          </p:nvPr>
        </p:nvSpPr>
        <p:spPr>
          <a:xfrm>
            <a:off x="298450" y="1231900"/>
            <a:ext cx="8270875" cy="5549900"/>
          </a:xfrm>
        </p:spPr>
        <p:txBody>
          <a:bodyPr/>
          <a:lstStyle/>
          <a:p>
            <a:r>
              <a:rPr altLang="en-US" lang="en-US"/>
              <a:t>Oxygen, carbon dioxide, nutrients, and metabolic wastes diffuse between the blood and interstitial fluid along concentration gradients</a:t>
            </a:r>
          </a:p>
        </p:txBody>
      </p:sp>
      <p:pic>
        <p:nvPicPr>
          <p:cNvPr descr="This figure is a two part illustration of capillary transport mechanisms.  - Part 1:  illustration of the cross section of a capillary showing microanatomy.  Labels include pinocytotic vesicles, red blood cell in lumen, endothelial cell with nucleus, fenestration (pore), intercellular cleft, tight junction, and basement membrane.  " id="2" name="Picture 1">
            <a:extLst>
              <a:ext uri="{FF2B5EF4-FFF2-40B4-BE49-F238E27FC236}">
                <a16:creationId xmlns:a16="http://schemas.microsoft.com/office/drawing/2014/main" id="{24F260F4-AE57-9987-3F6D-F617948F94FB}"/>
              </a:ext>
            </a:extLst>
          </p:cNvPr>
          <p:cNvPicPr>
            <a:picLocks noChangeAspect="1"/>
          </p:cNvPicPr>
          <p:nvPr/>
        </p:nvPicPr>
        <p:blipFill rotWithShape="1">
          <a:blip r:embed="rId2">
            <a:extLst>
              <a:ext uri="{28A0092B-C50C-407E-A947-70E740481C1C}">
                <a14:useLocalDpi xmlns:a14="http://schemas.microsoft.com/office/drawing/2010/main" val="0"/>
              </a:ext>
            </a:extLst>
          </a:blip>
          <a:srcRect b="61915"/>
          <a:stretch/>
        </p:blipFill>
        <p:spPr>
          <a:xfrm>
            <a:off x="1880210" y="2786062"/>
            <a:ext cx="5798108" cy="3810000"/>
          </a:xfrm>
          <a:prstGeom prst="rect">
            <a:avLst/>
          </a:prstGeom>
        </p:spPr>
      </p:pic>
    </p:spTree>
  </p:cSld>
  <p:clrMapOvr>
    <a:masterClrMapping/>
  </p:clrMapOvr>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354" name="Rectangle 6"/>
          <p:cNvSpPr>
            <a:spLocks noChangeArrowheads="1" noGrp="1"/>
          </p:cNvSpPr>
          <p:nvPr>
            <p:ph type="title"/>
          </p:nvPr>
        </p:nvSpPr>
        <p:spPr/>
        <p:txBody>
          <a:bodyPr/>
          <a:lstStyle/>
          <a:p>
            <a:r>
              <a:rPr dirty="0" lang="en-US"/>
              <a:t>Capillary Blood Pressure</a:t>
            </a:r>
          </a:p>
        </p:txBody>
      </p:sp>
      <p:sp>
        <p:nvSpPr>
          <p:cNvPr id="100355" name="Rectangle 7"/>
          <p:cNvSpPr>
            <a:spLocks noChangeArrowheads="1" noGrp="1"/>
          </p:cNvSpPr>
          <p:nvPr>
            <p:ph idx="1"/>
          </p:nvPr>
        </p:nvSpPr>
        <p:spPr/>
        <p:txBody>
          <a:bodyPr/>
          <a:lstStyle/>
          <a:p>
            <a:r>
              <a:rPr dirty="0" lang="en-US"/>
              <a:t>Ranges from 35 mm Hg at beginning of capillary bed to ∼17 mm Hg at the end of the bed</a:t>
            </a:r>
          </a:p>
          <a:p>
            <a:r>
              <a:rPr dirty="0" lang="en-US"/>
              <a:t>Low capillary pressure is desirable because:</a:t>
            </a:r>
          </a:p>
          <a:p>
            <a:pPr indent="-514350" lvl="1" marL="971550">
              <a:buFont typeface="+mj-lt"/>
              <a:buAutoNum type="arabicPeriod"/>
            </a:pPr>
            <a:r>
              <a:rPr dirty="0" lang="en-US"/>
              <a:t>High BP would rupture fragile, thin-walled capillaries</a:t>
            </a:r>
          </a:p>
          <a:p>
            <a:pPr indent="-514350" lvl="1" marL="971550">
              <a:buFont typeface="+mj-lt"/>
              <a:buAutoNum type="arabicPeriod"/>
            </a:pPr>
            <a:r>
              <a:rPr dirty="0" lang="en-US"/>
              <a:t>Most capillaries are very permeable, so low pressure forces filtrate into interstitial spaces</a:t>
            </a:r>
          </a:p>
        </p:txBody>
      </p:sp>
    </p:spTree>
    <p:extLst>
      <p:ext uri="{BB962C8B-B14F-4D97-AF65-F5344CB8AC3E}">
        <p14:creationId xmlns:p14="http://schemas.microsoft.com/office/powerpoint/2010/main" val="2271195494"/>
      </p:ext>
    </p:extLst>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7731" name="Rectangle 3"/>
          <p:cNvSpPr>
            <a:spLocks noChangeArrowheads="1" noGrp="1"/>
          </p:cNvSpPr>
          <p:nvPr>
            <p:ph type="title"/>
          </p:nvPr>
        </p:nvSpPr>
        <p:spPr>
          <a:noFill/>
          <a:ln/>
          <a:extLst>
            <a:ext uri="{909E8E84-426E-40DD-AFC4-6F175D3DCCD1}">
              <a14:hiddenFill xmlns:a14="http://schemas.microsoft.com/office/drawing/2010/main">
                <a:solidFill>
                  <a:schemeClr val="accent1"/>
                </a:solidFill>
              </a14:hiddenFill>
            </a:ext>
          </a:extLst>
        </p:spPr>
        <p:txBody>
          <a:bodyPr/>
          <a:lstStyle/>
          <a:p>
            <a:r>
              <a:rPr altLang="en-US" lang="en-US"/>
              <a:t>Capillary Exchange of Respiratory Gases and Nutrients</a:t>
            </a:r>
          </a:p>
        </p:txBody>
      </p:sp>
      <p:pic>
        <p:nvPicPr>
          <p:cNvPr descr="- Part 2:  illustration showing enlargement of endothelial wall from Part 1 showing the 4 possible pathways or routes or transport across the endothelial cell wall of a fenestrated capillary. - Pathway 1:  Diffusion through plasma membrane (lipid-soluble substances) - Pathway 2:  Movement through intercellular clefts (water-soluble substances) - Pathway 3:  Movement through fenestrations (water-soluble substances) - Pathway 4:  Transport via vesicles (large substances)" id="2" name="Picture 1">
            <a:extLst>
              <a:ext uri="{FF2B5EF4-FFF2-40B4-BE49-F238E27FC236}">
                <a16:creationId xmlns:a16="http://schemas.microsoft.com/office/drawing/2014/main" id="{64A379DD-601A-1A73-3C14-3AABB721B44F}"/>
              </a:ext>
            </a:extLst>
          </p:cNvPr>
          <p:cNvPicPr>
            <a:picLocks noChangeAspect="1"/>
          </p:cNvPicPr>
          <p:nvPr/>
        </p:nvPicPr>
        <p:blipFill rotWithShape="1">
          <a:blip r:embed="rId2">
            <a:extLst>
              <a:ext uri="{28A0092B-C50C-407E-A947-70E740481C1C}">
                <a14:useLocalDpi xmlns:a14="http://schemas.microsoft.com/office/drawing/2010/main" val="0"/>
              </a:ext>
            </a:extLst>
          </a:blip>
          <a:srcRect b="3023" t="42571"/>
          <a:stretch/>
        </p:blipFill>
        <p:spPr>
          <a:xfrm>
            <a:off x="1609344" y="1201568"/>
            <a:ext cx="5457445" cy="5123032"/>
          </a:xfrm>
          <a:prstGeom prst="rect">
            <a:avLst/>
          </a:prstGeom>
        </p:spPr>
      </p:pic>
    </p:spTree>
  </p:cSld>
  <p:clrMapOvr>
    <a:masterClrMapping/>
  </p:clrMapOvr>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8754" name="Rectangle 2"/>
          <p:cNvSpPr>
            <a:spLocks noChangeArrowheads="1" noGrp="1"/>
          </p:cNvSpPr>
          <p:nvPr>
            <p:ph type="title"/>
          </p:nvPr>
        </p:nvSpPr>
        <p:spPr/>
        <p:txBody>
          <a:bodyPr/>
          <a:lstStyle/>
          <a:p>
            <a:r>
              <a:rPr altLang="en-US" dirty="0" lang="en-US"/>
              <a:t>Capillary Exchange: Bulk flow</a:t>
            </a:r>
          </a:p>
        </p:txBody>
      </p:sp>
      <p:sp>
        <p:nvSpPr>
          <p:cNvPr id="458755" name="Rectangle 3"/>
          <p:cNvSpPr>
            <a:spLocks noChangeArrowheads="1" noGrp="1"/>
          </p:cNvSpPr>
          <p:nvPr>
            <p:ph idx="1" type="body"/>
          </p:nvPr>
        </p:nvSpPr>
        <p:spPr>
          <a:xfrm>
            <a:off x="298450" y="977900"/>
            <a:ext cx="8270875" cy="5803900"/>
          </a:xfrm>
        </p:spPr>
        <p:txBody>
          <a:bodyPr/>
          <a:lstStyle/>
          <a:p>
            <a:pPr>
              <a:lnSpc>
                <a:spcPct val="90000"/>
              </a:lnSpc>
            </a:pPr>
            <a:r>
              <a:rPr altLang="en-US" lang="en-US"/>
              <a:t>Direction and amount of fluid flow depends upon the difference between:</a:t>
            </a:r>
          </a:p>
          <a:p>
            <a:pPr lvl="1">
              <a:lnSpc>
                <a:spcPct val="90000"/>
              </a:lnSpc>
            </a:pPr>
            <a:r>
              <a:rPr altLang="en-US" lang="en-US"/>
              <a:t>Capillary hydrostatic pressure (HP</a:t>
            </a:r>
            <a:r>
              <a:rPr altLang="en-US" baseline="-25000" lang="en-US"/>
              <a:t>c</a:t>
            </a:r>
            <a:r>
              <a:rPr altLang="en-US" lang="en-US"/>
              <a:t>)</a:t>
            </a:r>
          </a:p>
          <a:p>
            <a:pPr lvl="1">
              <a:lnSpc>
                <a:spcPct val="90000"/>
              </a:lnSpc>
            </a:pPr>
            <a:r>
              <a:rPr altLang="en-US" lang="en-US"/>
              <a:t>Capillary colloid osmotic pressure (OP</a:t>
            </a:r>
            <a:r>
              <a:rPr altLang="en-US" baseline="-25000" lang="en-US"/>
              <a:t>c</a:t>
            </a:r>
            <a:r>
              <a:rPr altLang="en-US" lang="en-US"/>
              <a:t>)  </a:t>
            </a:r>
          </a:p>
          <a:p>
            <a:pPr>
              <a:lnSpc>
                <a:spcPct val="90000"/>
              </a:lnSpc>
            </a:pPr>
            <a:r>
              <a:rPr altLang="en-US" lang="en-US"/>
              <a:t>HP</a:t>
            </a:r>
            <a:r>
              <a:rPr altLang="en-US" baseline="-25000" lang="en-US"/>
              <a:t>c</a:t>
            </a:r>
            <a:r>
              <a:rPr altLang="en-US" lang="en-US"/>
              <a:t> – pressure of blood against the capillary walls:</a:t>
            </a:r>
          </a:p>
          <a:p>
            <a:pPr lvl="1">
              <a:lnSpc>
                <a:spcPct val="90000"/>
              </a:lnSpc>
            </a:pPr>
            <a:r>
              <a:rPr altLang="en-US" lang="en-US"/>
              <a:t>Tends to force fluids through the capillary walls </a:t>
            </a:r>
          </a:p>
          <a:p>
            <a:pPr lvl="1">
              <a:lnSpc>
                <a:spcPct val="90000"/>
              </a:lnSpc>
            </a:pPr>
            <a:r>
              <a:rPr altLang="en-US" lang="en-US"/>
              <a:t>Is greater at the arterial end of a bed than at the venule end</a:t>
            </a:r>
          </a:p>
          <a:p>
            <a:pPr>
              <a:lnSpc>
                <a:spcPct val="90000"/>
              </a:lnSpc>
            </a:pPr>
            <a:r>
              <a:rPr altLang="en-US" lang="en-US"/>
              <a:t>OP</a:t>
            </a:r>
            <a:r>
              <a:rPr altLang="en-US" baseline="-25000" lang="en-US"/>
              <a:t>c</a:t>
            </a:r>
            <a:r>
              <a:rPr altLang="en-US" lang="en-US"/>
              <a:t>– created by nondiffusible plasma proteins, which draw water toward themselves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458755">
                                            <p:txEl>
                                              <p:pRg end="0" st="0"/>
                                            </p:txEl>
                                          </p:spTgt>
                                        </p:tgtEl>
                                        <p:attrNameLst>
                                          <p:attrName>style.visibility</p:attrName>
                                        </p:attrNameLst>
                                      </p:cBhvr>
                                      <p:to>
                                        <p:strVal val="visible"/>
                                      </p:to>
                                    </p:set>
                                    <p:anim calcmode="discrete" valueType="clr">
                                      <p:cBhvr override="childStyle">
                                        <p:cTn dur="80" id="7"/>
                                        <p:tgtEl>
                                          <p:spTgt spid="458755">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458755">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458755">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458755">
                                            <p:txEl>
                                              <p:pRg end="1" st="1"/>
                                            </p:txEl>
                                          </p:spTgt>
                                        </p:tgtEl>
                                        <p:attrNameLst>
                                          <p:attrName>style.visibility</p:attrName>
                                        </p:attrNameLst>
                                      </p:cBhvr>
                                      <p:to>
                                        <p:strVal val="visible"/>
                                      </p:to>
                                    </p:set>
                                    <p:anim calcmode="discrete" valueType="clr">
                                      <p:cBhvr override="childStyle">
                                        <p:cTn dur="80" id="14"/>
                                        <p:tgtEl>
                                          <p:spTgt spid="458755">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458755">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458755">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458755">
                                            <p:txEl>
                                              <p:pRg end="2" st="2"/>
                                            </p:txEl>
                                          </p:spTgt>
                                        </p:tgtEl>
                                        <p:attrNameLst>
                                          <p:attrName>style.visibility</p:attrName>
                                        </p:attrNameLst>
                                      </p:cBhvr>
                                      <p:to>
                                        <p:strVal val="visible"/>
                                      </p:to>
                                    </p:set>
                                    <p:anim calcmode="discrete" valueType="clr">
                                      <p:cBhvr override="childStyle">
                                        <p:cTn dur="80" id="21"/>
                                        <p:tgtEl>
                                          <p:spTgt spid="458755">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458755">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458755">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458755">
                                            <p:txEl>
                                              <p:pRg end="3" st="3"/>
                                            </p:txEl>
                                          </p:spTgt>
                                        </p:tgtEl>
                                        <p:attrNameLst>
                                          <p:attrName>style.visibility</p:attrName>
                                        </p:attrNameLst>
                                      </p:cBhvr>
                                      <p:to>
                                        <p:strVal val="visible"/>
                                      </p:to>
                                    </p:set>
                                    <p:anim calcmode="discrete" valueType="clr">
                                      <p:cBhvr override="childStyle">
                                        <p:cTn dur="80" id="28"/>
                                        <p:tgtEl>
                                          <p:spTgt spid="458755">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458755">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458755">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458755">
                                            <p:txEl>
                                              <p:pRg end="4" st="4"/>
                                            </p:txEl>
                                          </p:spTgt>
                                        </p:tgtEl>
                                        <p:attrNameLst>
                                          <p:attrName>style.visibility</p:attrName>
                                        </p:attrNameLst>
                                      </p:cBhvr>
                                      <p:to>
                                        <p:strVal val="visible"/>
                                      </p:to>
                                    </p:set>
                                    <p:anim calcmode="discrete" valueType="clr">
                                      <p:cBhvr override="childStyle">
                                        <p:cTn dur="80" id="35"/>
                                        <p:tgtEl>
                                          <p:spTgt spid="458755">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458755">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458755">
                                            <p:txEl>
                                              <p:pRg end="4" st="4"/>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458755">
                                            <p:txEl>
                                              <p:pRg end="5" st="5"/>
                                            </p:txEl>
                                          </p:spTgt>
                                        </p:tgtEl>
                                        <p:attrNameLst>
                                          <p:attrName>style.visibility</p:attrName>
                                        </p:attrNameLst>
                                      </p:cBhvr>
                                      <p:to>
                                        <p:strVal val="visible"/>
                                      </p:to>
                                    </p:set>
                                    <p:anim calcmode="discrete" valueType="clr">
                                      <p:cBhvr override="childStyle">
                                        <p:cTn dur="80" id="42"/>
                                        <p:tgtEl>
                                          <p:spTgt spid="458755">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458755">
                                            <p:txEl>
                                              <p:pRg end="5" st="5"/>
                                            </p:txEl>
                                          </p:spTgt>
                                        </p:tgtEl>
                                        <p:attrNameLst>
                                          <p:attrName>fillcolor</p:attrName>
                                        </p:attrNameLst>
                                      </p:cBhvr>
                                      <p:tavLst>
                                        <p:tav tm="0">
                                          <p:val>
                                            <p:clrVal>
                                              <a:schemeClr val="accent2"/>
                                            </p:clrVal>
                                          </p:val>
                                        </p:tav>
                                        <p:tav tm="50000">
                                          <p:val>
                                            <p:clrVal>
                                              <a:schemeClr val="hlink"/>
                                            </p:clrVal>
                                          </p:val>
                                        </p:tav>
                                      </p:tavLst>
                                    </p:anim>
                                    <p:set>
                                      <p:cBhvr>
                                        <p:cTn dur="80" id="44"/>
                                        <p:tgtEl>
                                          <p:spTgt spid="458755">
                                            <p:txEl>
                                              <p:pRg end="5" st="5"/>
                                            </p:txEl>
                                          </p:spTgt>
                                        </p:tgtEl>
                                        <p:attrNameLst>
                                          <p:attrName>fill.type</p:attrName>
                                        </p:attrNameLst>
                                      </p:cBhvr>
                                      <p:to>
                                        <p:strVal val="solid"/>
                                      </p:to>
                                    </p:set>
                                  </p:childTnLst>
                                </p:cTn>
                              </p:par>
                            </p:childTnLst>
                          </p:cTn>
                        </p:par>
                      </p:childTnLst>
                    </p:cTn>
                  </p:par>
                  <p:par>
                    <p:cTn fill="hold" id="45" nodeType="clickPar">
                      <p:stCondLst>
                        <p:cond delay="indefinite"/>
                      </p:stCondLst>
                      <p:childTnLst>
                        <p:par>
                          <p:cTn fill="hold" id="46" nodeType="withGroup">
                            <p:stCondLst>
                              <p:cond delay="0"/>
                            </p:stCondLst>
                            <p:childTnLst>
                              <p:par>
                                <p:cTn fill="hold" id="47" nodeType="clickEffect" presetClass="entr" presetID="27" presetSubtype="0">
                                  <p:stCondLst>
                                    <p:cond delay="0"/>
                                  </p:stCondLst>
                                  <p:iterate type="lt">
                                    <p:tmPct val="50000"/>
                                  </p:iterate>
                                  <p:childTnLst>
                                    <p:set>
                                      <p:cBhvr>
                                        <p:cTn dur="1" fill="hold" id="48">
                                          <p:stCondLst>
                                            <p:cond delay="0"/>
                                          </p:stCondLst>
                                        </p:cTn>
                                        <p:tgtEl>
                                          <p:spTgt spid="458755">
                                            <p:txEl>
                                              <p:pRg end="6" st="6"/>
                                            </p:txEl>
                                          </p:spTgt>
                                        </p:tgtEl>
                                        <p:attrNameLst>
                                          <p:attrName>style.visibility</p:attrName>
                                        </p:attrNameLst>
                                      </p:cBhvr>
                                      <p:to>
                                        <p:strVal val="visible"/>
                                      </p:to>
                                    </p:set>
                                    <p:anim calcmode="discrete" valueType="clr">
                                      <p:cBhvr override="childStyle">
                                        <p:cTn dur="80" id="49"/>
                                        <p:tgtEl>
                                          <p:spTgt spid="458755">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50"/>
                                        <p:tgtEl>
                                          <p:spTgt spid="458755">
                                            <p:txEl>
                                              <p:pRg end="6" st="6"/>
                                            </p:txEl>
                                          </p:spTgt>
                                        </p:tgtEl>
                                        <p:attrNameLst>
                                          <p:attrName>fillcolor</p:attrName>
                                        </p:attrNameLst>
                                      </p:cBhvr>
                                      <p:tavLst>
                                        <p:tav tm="0">
                                          <p:val>
                                            <p:clrVal>
                                              <a:schemeClr val="accent2"/>
                                            </p:clrVal>
                                          </p:val>
                                        </p:tav>
                                        <p:tav tm="50000">
                                          <p:val>
                                            <p:clrVal>
                                              <a:schemeClr val="hlink"/>
                                            </p:clrVal>
                                          </p:val>
                                        </p:tav>
                                      </p:tavLst>
                                    </p:anim>
                                    <p:set>
                                      <p:cBhvr>
                                        <p:cTn dur="80" id="51"/>
                                        <p:tgtEl>
                                          <p:spTgt spid="458755">
                                            <p:txEl>
                                              <p:pRg end="6" st="6"/>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9778" name="Rectangle 2"/>
          <p:cNvSpPr>
            <a:spLocks noChangeArrowheads="1" noGrp="1"/>
          </p:cNvSpPr>
          <p:nvPr>
            <p:ph type="title"/>
          </p:nvPr>
        </p:nvSpPr>
        <p:spPr/>
        <p:txBody>
          <a:bodyPr/>
          <a:lstStyle/>
          <a:p>
            <a:r>
              <a:rPr altLang="en-US" lang="en-US"/>
              <a:t>Net Filtration Pressure (NFP)</a:t>
            </a:r>
          </a:p>
        </p:txBody>
      </p:sp>
      <p:sp>
        <p:nvSpPr>
          <p:cNvPr id="459779" name="Rectangle 3"/>
          <p:cNvSpPr>
            <a:spLocks noChangeArrowheads="1" noGrp="1"/>
          </p:cNvSpPr>
          <p:nvPr>
            <p:ph idx="1" type="body"/>
          </p:nvPr>
        </p:nvSpPr>
        <p:spPr/>
        <p:txBody>
          <a:bodyPr/>
          <a:lstStyle/>
          <a:p>
            <a:r>
              <a:rPr altLang="en-US" lang="en-US"/>
              <a:t>NFP – all the forces acting on a capillary bed</a:t>
            </a:r>
          </a:p>
          <a:p>
            <a:r>
              <a:rPr altLang="en-US" lang="en-US"/>
              <a:t>NFP = (HP</a:t>
            </a:r>
            <a:r>
              <a:rPr altLang="en-US" baseline="-25000" lang="en-US"/>
              <a:t>c</a:t>
            </a:r>
            <a:r>
              <a:rPr altLang="en-US" lang="en-US"/>
              <a:t> – HP</a:t>
            </a:r>
            <a:r>
              <a:rPr altLang="en-US" baseline="-25000" lang="en-US"/>
              <a:t>if</a:t>
            </a:r>
            <a:r>
              <a:rPr altLang="en-US" lang="en-US"/>
              <a:t>) – (OP</a:t>
            </a:r>
            <a:r>
              <a:rPr altLang="en-US" baseline="-25000" lang="en-US"/>
              <a:t>c</a:t>
            </a:r>
            <a:r>
              <a:rPr altLang="en-US" lang="en-US"/>
              <a:t> – OP</a:t>
            </a:r>
            <a:r>
              <a:rPr altLang="en-US" baseline="-25000" lang="en-US"/>
              <a:t>if</a:t>
            </a:r>
            <a:r>
              <a:rPr altLang="en-US" lang="en-US"/>
              <a:t>)</a:t>
            </a:r>
          </a:p>
          <a:p>
            <a:r>
              <a:rPr altLang="en-US" lang="en-US"/>
              <a:t>At the arterial end of a bed, hydrostatic forces dominate (fluids flow out)</a:t>
            </a:r>
          </a:p>
        </p:txBody>
      </p:sp>
    </p:spTree>
  </p:cSld>
  <p:clrMapOvr>
    <a:masterClrMapping/>
  </p:clrMapOvr>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61826" name="Rectangle 2"/>
          <p:cNvSpPr>
            <a:spLocks noChangeArrowheads="1" noGrp="1"/>
          </p:cNvSpPr>
          <p:nvPr>
            <p:ph type="title"/>
          </p:nvPr>
        </p:nvSpPr>
        <p:spPr>
          <a:noFill/>
          <a:ln/>
          <a:extLst>
            <a:ext uri="{909E8E84-426E-40DD-AFC4-6F175D3DCCD1}">
              <a14:hiddenFill xmlns:a14="http://schemas.microsoft.com/office/drawing/2010/main">
                <a:solidFill>
                  <a:schemeClr val="accent1"/>
                </a:solidFill>
              </a14:hiddenFill>
            </a:ext>
          </a:extLst>
        </p:spPr>
        <p:txBody>
          <a:bodyPr/>
          <a:lstStyle/>
          <a:p>
            <a:r>
              <a:rPr altLang="en-US" dirty="0" lang="en-US"/>
              <a:t>Bulk flow: graphic</a:t>
            </a:r>
          </a:p>
        </p:txBody>
      </p:sp>
      <p:sp>
        <p:nvSpPr>
          <p:cNvPr id="461827" name="Text Box 3"/>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lang="en-US" sz="1200">
                <a:solidFill>
                  <a:schemeClr val="accent2"/>
                </a:solidFill>
                <a:latin charset="0" panose="020B0604020202020204" pitchFamily="34" typeface="Arial"/>
              </a:rPr>
              <a:t>Figure 19.16</a:t>
            </a:r>
          </a:p>
        </p:txBody>
      </p:sp>
      <p:pic>
        <p:nvPicPr>
          <p:cNvPr descr="Diagram of bulk flow and the pressures that cause it in capillaries" id="461828" name="Picture 4"/>
          <p:cNvPicPr>
            <a:picLocks noChangeArrowheads="1" noChangeAspect="1"/>
          </p:cNvPicPr>
          <p:nvPr/>
        </p:nvPicPr>
        <p:blipFill>
          <a:blip r:embed="rId2">
            <a:extLst>
              <a:ext uri="{28A0092B-C50C-407E-A947-70E740481C1C}">
                <a14:useLocalDpi xmlns:a14="http://schemas.microsoft.com/office/drawing/2010/main" val="0"/>
              </a:ext>
            </a:extLst>
          </a:blip>
          <a:srcRect b="7292" l="2321" r="1152" t="2588"/>
          <a:stretch>
            <a:fillRect/>
          </a:stretch>
        </p:blipFill>
        <p:spPr bwMode="auto">
          <a:xfrm>
            <a:off x="446088" y="1300163"/>
            <a:ext cx="8251825" cy="4257675"/>
          </a:xfrm>
          <a:prstGeom prst="rect">
            <a:avLst/>
          </a:prstGeom>
          <a:noFill/>
          <a:extLst>
            <a:ext uri="{909E8E84-426E-40DD-AFC4-6F175D3DCCD1}">
              <a14:hiddenFill xmlns:a14="http://schemas.microsoft.com/office/drawing/2010/main">
                <a:solidFill>
                  <a:srgbClr val="FFFFFF"/>
                </a:solidFill>
              </a14:hiddenFill>
            </a:ext>
          </a:extLst>
        </p:spPr>
      </p:pic>
      <p:sp>
        <p:nvSpPr>
          <p:cNvPr id="461829" name="Oval 5">
            <a:extLst>
              <a:ext uri="{C183D7F6-B498-43B3-948B-1728B52AA6E4}">
                <adec:decorative xmlns:adec="http://schemas.microsoft.com/office/drawing/2017/decorative" val="1"/>
              </a:ext>
            </a:extLst>
          </p:cNvPr>
          <p:cNvSpPr>
            <a:spLocks noChangeArrowheads="1"/>
          </p:cNvSpPr>
          <p:nvPr/>
        </p:nvSpPr>
        <p:spPr bwMode="auto">
          <a:xfrm>
            <a:off x="2495550" y="3309938"/>
            <a:ext cx="1727200" cy="150971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p>
            <a:endParaRPr lang="en-US"/>
          </a:p>
        </p:txBody>
      </p:sp>
      <p:sp>
        <p:nvSpPr>
          <p:cNvPr id="461830" name="Oval 6">
            <a:extLst>
              <a:ext uri="{C183D7F6-B498-43B3-948B-1728B52AA6E4}">
                <adec:decorative xmlns:adec="http://schemas.microsoft.com/office/drawing/2017/decorative" val="1"/>
              </a:ext>
            </a:extLst>
          </p:cNvPr>
          <p:cNvSpPr>
            <a:spLocks noChangeArrowheads="1"/>
          </p:cNvSpPr>
          <p:nvPr/>
        </p:nvSpPr>
        <p:spPr bwMode="auto">
          <a:xfrm>
            <a:off x="4691063" y="3462338"/>
            <a:ext cx="1727200" cy="150971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p>
            <a:endParaRPr lang="en-US"/>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6" presetSubtype="0">
                                  <p:stCondLst>
                                    <p:cond delay="0"/>
                                  </p:stCondLst>
                                  <p:childTnLst>
                                    <p:set>
                                      <p:cBhvr>
                                        <p:cTn dur="1" fill="hold" id="6">
                                          <p:stCondLst>
                                            <p:cond delay="0"/>
                                          </p:stCondLst>
                                        </p:cTn>
                                        <p:tgtEl>
                                          <p:spTgt spid="461829"/>
                                        </p:tgtEl>
                                        <p:attrNameLst>
                                          <p:attrName>style.visibility</p:attrName>
                                        </p:attrNameLst>
                                      </p:cBhvr>
                                      <p:to>
                                        <p:strVal val="visible"/>
                                      </p:to>
                                    </p:set>
                                    <p:animEffect filter="wipe(down)" transition="in">
                                      <p:cBhvr>
                                        <p:cTn dur="580" id="7">
                                          <p:stCondLst>
                                            <p:cond delay="0"/>
                                          </p:stCondLst>
                                        </p:cTn>
                                        <p:tgtEl>
                                          <p:spTgt spid="461829"/>
                                        </p:tgtEl>
                                      </p:cBhvr>
                                    </p:animEffect>
                                    <p:anim calcmode="lin" valueType="num">
                                      <p:cBhvr>
                                        <p:cTn dur="1822" id="8" tmFilter="0,0; 0.14,0.36; 0.43,0.73; 0.71,0.91; 1.0,1.0">
                                          <p:stCondLst>
                                            <p:cond delay="0"/>
                                          </p:stCondLst>
                                        </p:cTn>
                                        <p:tgtEl>
                                          <p:spTgt spid="461829"/>
                                        </p:tgtEl>
                                        <p:attrNameLst>
                                          <p:attrName>ppt_x</p:attrName>
                                        </p:attrNameLst>
                                      </p:cBhvr>
                                      <p:tavLst>
                                        <p:tav tm="0">
                                          <p:val>
                                            <p:strVal val="#ppt_x-0.25"/>
                                          </p:val>
                                        </p:tav>
                                        <p:tav tm="100000">
                                          <p:val>
                                            <p:strVal val="#ppt_x"/>
                                          </p:val>
                                        </p:tav>
                                      </p:tavLst>
                                    </p:anim>
                                    <p:anim calcmode="lin" valueType="num">
                                      <p:cBhvr>
                                        <p:cTn dur="664" id="9" tmFilter="0.0,0.0; 0.25,0.07; 0.50,0.2; 0.75,0.467; 1.0,1.0">
                                          <p:stCondLst>
                                            <p:cond delay="0"/>
                                          </p:stCondLst>
                                        </p:cTn>
                                        <p:tgtEl>
                                          <p:spTgt spid="461829"/>
                                        </p:tgtEl>
                                        <p:attrNameLst>
                                          <p:attrName>ppt_y</p:attrName>
                                        </p:attrNameLst>
                                      </p:cBhvr>
                                      <p:tavLst>
                                        <p:tav fmla="#ppt_y-sin(pi*$)/3" tm="0">
                                          <p:val>
                                            <p:fltVal val="0.5"/>
                                          </p:val>
                                        </p:tav>
                                        <p:tav tm="100000">
                                          <p:val>
                                            <p:fltVal val="1"/>
                                          </p:val>
                                        </p:tav>
                                      </p:tavLst>
                                    </p:anim>
                                    <p:anim calcmode="lin" valueType="num">
                                      <p:cBhvr>
                                        <p:cTn dur="664" id="10" tmFilter="0, 0; 0.125,0.2665; 0.25,0.4; 0.375,0.465; 0.5,0.5;  0.625,0.535; 0.75,0.6; 0.875,0.7335; 1,1">
                                          <p:stCondLst>
                                            <p:cond delay="664"/>
                                          </p:stCondLst>
                                        </p:cTn>
                                        <p:tgtEl>
                                          <p:spTgt spid="461829"/>
                                        </p:tgtEl>
                                        <p:attrNameLst>
                                          <p:attrName>ppt_y</p:attrName>
                                        </p:attrNameLst>
                                      </p:cBhvr>
                                      <p:tavLst>
                                        <p:tav fmla="#ppt_y-sin(pi*$)/9" tm="0">
                                          <p:val>
                                            <p:fltVal val="0"/>
                                          </p:val>
                                        </p:tav>
                                        <p:tav tm="100000">
                                          <p:val>
                                            <p:fltVal val="1"/>
                                          </p:val>
                                        </p:tav>
                                      </p:tavLst>
                                    </p:anim>
                                    <p:anim calcmode="lin" valueType="num">
                                      <p:cBhvr>
                                        <p:cTn dur="332" id="11" tmFilter="0, 0; 0.125,0.2665; 0.25,0.4; 0.375,0.465; 0.5,0.5;  0.625,0.535; 0.75,0.6; 0.875,0.7335; 1,1">
                                          <p:stCondLst>
                                            <p:cond delay="1324"/>
                                          </p:stCondLst>
                                        </p:cTn>
                                        <p:tgtEl>
                                          <p:spTgt spid="461829"/>
                                        </p:tgtEl>
                                        <p:attrNameLst>
                                          <p:attrName>ppt_y</p:attrName>
                                        </p:attrNameLst>
                                      </p:cBhvr>
                                      <p:tavLst>
                                        <p:tav fmla="#ppt_y-sin(pi*$)/27" tm="0">
                                          <p:val>
                                            <p:fltVal val="0"/>
                                          </p:val>
                                        </p:tav>
                                        <p:tav tm="100000">
                                          <p:val>
                                            <p:fltVal val="1"/>
                                          </p:val>
                                        </p:tav>
                                      </p:tavLst>
                                    </p:anim>
                                    <p:anim calcmode="lin" valueType="num">
                                      <p:cBhvr>
                                        <p:cTn dur="164" id="12" tmFilter="0, 0; 0.125,0.2665; 0.25,0.4; 0.375,0.465; 0.5,0.5;  0.625,0.535; 0.75,0.6; 0.875,0.7335; 1,1">
                                          <p:stCondLst>
                                            <p:cond delay="1656"/>
                                          </p:stCondLst>
                                        </p:cTn>
                                        <p:tgtEl>
                                          <p:spTgt spid="461829"/>
                                        </p:tgtEl>
                                        <p:attrNameLst>
                                          <p:attrName>ppt_y</p:attrName>
                                        </p:attrNameLst>
                                      </p:cBhvr>
                                      <p:tavLst>
                                        <p:tav fmla="#ppt_y-sin(pi*$)/81" tm="0">
                                          <p:val>
                                            <p:fltVal val="0"/>
                                          </p:val>
                                        </p:tav>
                                        <p:tav tm="100000">
                                          <p:val>
                                            <p:fltVal val="1"/>
                                          </p:val>
                                        </p:tav>
                                      </p:tavLst>
                                    </p:anim>
                                    <p:animScale>
                                      <p:cBhvr>
                                        <p:cTn dur="26" id="13">
                                          <p:stCondLst>
                                            <p:cond delay="650"/>
                                          </p:stCondLst>
                                        </p:cTn>
                                        <p:tgtEl>
                                          <p:spTgt spid="461829"/>
                                        </p:tgtEl>
                                      </p:cBhvr>
                                      <p:to x="100000" y="60000"/>
                                    </p:animScale>
                                    <p:animScale>
                                      <p:cBhvr>
                                        <p:cTn decel="50000" dur="166" id="14">
                                          <p:stCondLst>
                                            <p:cond delay="676"/>
                                          </p:stCondLst>
                                        </p:cTn>
                                        <p:tgtEl>
                                          <p:spTgt spid="461829"/>
                                        </p:tgtEl>
                                      </p:cBhvr>
                                      <p:to x="100000" y="100000"/>
                                    </p:animScale>
                                    <p:animScale>
                                      <p:cBhvr>
                                        <p:cTn dur="26" id="15">
                                          <p:stCondLst>
                                            <p:cond delay="1312"/>
                                          </p:stCondLst>
                                        </p:cTn>
                                        <p:tgtEl>
                                          <p:spTgt spid="461829"/>
                                        </p:tgtEl>
                                      </p:cBhvr>
                                      <p:to x="100000" y="80000"/>
                                    </p:animScale>
                                    <p:animScale>
                                      <p:cBhvr>
                                        <p:cTn decel="50000" dur="166" id="16">
                                          <p:stCondLst>
                                            <p:cond delay="1338"/>
                                          </p:stCondLst>
                                        </p:cTn>
                                        <p:tgtEl>
                                          <p:spTgt spid="461829"/>
                                        </p:tgtEl>
                                      </p:cBhvr>
                                      <p:to x="100000" y="100000"/>
                                    </p:animScale>
                                    <p:animScale>
                                      <p:cBhvr>
                                        <p:cTn dur="26" id="17">
                                          <p:stCondLst>
                                            <p:cond delay="1642"/>
                                          </p:stCondLst>
                                        </p:cTn>
                                        <p:tgtEl>
                                          <p:spTgt spid="461829"/>
                                        </p:tgtEl>
                                      </p:cBhvr>
                                      <p:to x="100000" y="90000"/>
                                    </p:animScale>
                                    <p:animScale>
                                      <p:cBhvr>
                                        <p:cTn decel="50000" dur="166" id="18">
                                          <p:stCondLst>
                                            <p:cond delay="1668"/>
                                          </p:stCondLst>
                                        </p:cTn>
                                        <p:tgtEl>
                                          <p:spTgt spid="461829"/>
                                        </p:tgtEl>
                                      </p:cBhvr>
                                      <p:to x="100000" y="100000"/>
                                    </p:animScale>
                                    <p:animScale>
                                      <p:cBhvr>
                                        <p:cTn dur="26" id="19">
                                          <p:stCondLst>
                                            <p:cond delay="1808"/>
                                          </p:stCondLst>
                                        </p:cTn>
                                        <p:tgtEl>
                                          <p:spTgt spid="461829"/>
                                        </p:tgtEl>
                                      </p:cBhvr>
                                      <p:to x="100000" y="95000"/>
                                    </p:animScale>
                                    <p:animScale>
                                      <p:cBhvr>
                                        <p:cTn decel="50000" dur="166" id="20">
                                          <p:stCondLst>
                                            <p:cond delay="1834"/>
                                          </p:stCondLst>
                                        </p:cTn>
                                        <p:tgtEl>
                                          <p:spTgt spid="461829"/>
                                        </p:tgtEl>
                                      </p:cBhvr>
                                      <p:to x="100000" y="100000"/>
                                    </p:animScale>
                                  </p:childTnLst>
                                </p:cTn>
                              </p:par>
                            </p:childTnLst>
                          </p:cTn>
                        </p:par>
                      </p:childTnLst>
                    </p:cTn>
                  </p:par>
                  <p:par>
                    <p:cTn fill="hold" id="21" nodeType="clickPar">
                      <p:stCondLst>
                        <p:cond delay="indefinite"/>
                      </p:stCondLst>
                      <p:childTnLst>
                        <p:par>
                          <p:cTn fill="hold" id="22" nodeType="withGroup">
                            <p:stCondLst>
                              <p:cond delay="0"/>
                            </p:stCondLst>
                            <p:childTnLst>
                              <p:par>
                                <p:cTn fill="hold" grpId="1" id="23" nodeType="clickEffect" presetClass="exit" presetID="2" presetSubtype="4">
                                  <p:stCondLst>
                                    <p:cond delay="0"/>
                                  </p:stCondLst>
                                  <p:childTnLst>
                                    <p:anim calcmode="lin" valueType="num">
                                      <p:cBhvr additive="base">
                                        <p:cTn dur="500" id="24"/>
                                        <p:tgtEl>
                                          <p:spTgt spid="461829"/>
                                        </p:tgtEl>
                                        <p:attrNameLst>
                                          <p:attrName>ppt_x</p:attrName>
                                        </p:attrNameLst>
                                      </p:cBhvr>
                                      <p:tavLst>
                                        <p:tav tm="0">
                                          <p:val>
                                            <p:strVal val="ppt_x"/>
                                          </p:val>
                                        </p:tav>
                                        <p:tav tm="100000">
                                          <p:val>
                                            <p:strVal val="ppt_x"/>
                                          </p:val>
                                        </p:tav>
                                      </p:tavLst>
                                    </p:anim>
                                    <p:anim calcmode="lin" valueType="num">
                                      <p:cBhvr additive="base">
                                        <p:cTn dur="500" id="25"/>
                                        <p:tgtEl>
                                          <p:spTgt spid="461829"/>
                                        </p:tgtEl>
                                        <p:attrNameLst>
                                          <p:attrName>ppt_y</p:attrName>
                                        </p:attrNameLst>
                                      </p:cBhvr>
                                      <p:tavLst>
                                        <p:tav tm="0">
                                          <p:val>
                                            <p:strVal val="ppt_y"/>
                                          </p:val>
                                        </p:tav>
                                        <p:tav tm="100000">
                                          <p:val>
                                            <p:strVal val="1+ppt_h/2"/>
                                          </p:val>
                                        </p:tav>
                                      </p:tavLst>
                                    </p:anim>
                                    <p:set>
                                      <p:cBhvr>
                                        <p:cTn dur="1" fill="hold" id="26">
                                          <p:stCondLst>
                                            <p:cond delay="499"/>
                                          </p:stCondLst>
                                        </p:cTn>
                                        <p:tgtEl>
                                          <p:spTgt spid="461829"/>
                                        </p:tgtEl>
                                        <p:attrNameLst>
                                          <p:attrName>style.visibility</p:attrName>
                                        </p:attrNameLst>
                                      </p:cBhvr>
                                      <p:to>
                                        <p:strVal val="hidden"/>
                                      </p:to>
                                    </p:set>
                                  </p:childTnLst>
                                </p:cTn>
                              </p:par>
                            </p:childTnLst>
                          </p:cTn>
                        </p:par>
                      </p:childTnLst>
                    </p:cTn>
                  </p:par>
                  <p:par>
                    <p:cTn fill="hold" id="27" nodeType="clickPar">
                      <p:stCondLst>
                        <p:cond delay="indefinite"/>
                      </p:stCondLst>
                      <p:childTnLst>
                        <p:par>
                          <p:cTn fill="hold" id="28" nodeType="withGroup">
                            <p:stCondLst>
                              <p:cond delay="0"/>
                            </p:stCondLst>
                            <p:childTnLst>
                              <p:par>
                                <p:cTn fill="hold" grpId="0" id="29" nodeType="clickEffect" presetClass="entr" presetID="23" presetSubtype="16">
                                  <p:stCondLst>
                                    <p:cond delay="0"/>
                                  </p:stCondLst>
                                  <p:childTnLst>
                                    <p:set>
                                      <p:cBhvr>
                                        <p:cTn dur="1" fill="hold" id="30">
                                          <p:stCondLst>
                                            <p:cond delay="0"/>
                                          </p:stCondLst>
                                        </p:cTn>
                                        <p:tgtEl>
                                          <p:spTgt spid="461830"/>
                                        </p:tgtEl>
                                        <p:attrNameLst>
                                          <p:attrName>style.visibility</p:attrName>
                                        </p:attrNameLst>
                                      </p:cBhvr>
                                      <p:to>
                                        <p:strVal val="visible"/>
                                      </p:to>
                                    </p:set>
                                    <p:anim calcmode="lin" valueType="num">
                                      <p:cBhvr>
                                        <p:cTn dur="500" fill="hold" id="31"/>
                                        <p:tgtEl>
                                          <p:spTgt spid="461830"/>
                                        </p:tgtEl>
                                        <p:attrNameLst>
                                          <p:attrName>ppt_w</p:attrName>
                                        </p:attrNameLst>
                                      </p:cBhvr>
                                      <p:tavLst>
                                        <p:tav tm="0">
                                          <p:val>
                                            <p:fltVal val="0"/>
                                          </p:val>
                                        </p:tav>
                                        <p:tav tm="100000">
                                          <p:val>
                                            <p:strVal val="#ppt_w"/>
                                          </p:val>
                                        </p:tav>
                                      </p:tavLst>
                                    </p:anim>
                                    <p:anim calcmode="lin" valueType="num">
                                      <p:cBhvr>
                                        <p:cTn dur="500" fill="hold" id="32"/>
                                        <p:tgtEl>
                                          <p:spTgt spid="461830"/>
                                        </p:tgtEl>
                                        <p:attrNameLst>
                                          <p:attrName>ppt_h</p:attrName>
                                        </p:attrNameLst>
                                      </p:cBhvr>
                                      <p:tavLst>
                                        <p:tav tm="0">
                                          <p:val>
                                            <p:fltVal val="0"/>
                                          </p:val>
                                        </p:tav>
                                        <p:tav tm="100000">
                                          <p:val>
                                            <p:strVal val="#ppt_h"/>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461829"/>
      <p:bldP animBg="1" grpId="1" spid="461829"/>
      <p:bldP animBg="1" grpId="0" spid="461830"/>
    </p:bld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62850" name="Rectangle 2"/>
          <p:cNvSpPr>
            <a:spLocks noChangeArrowheads="1" noGrp="1"/>
          </p:cNvSpPr>
          <p:nvPr>
            <p:ph type="title"/>
          </p:nvPr>
        </p:nvSpPr>
        <p:spPr/>
        <p:txBody>
          <a:bodyPr/>
          <a:lstStyle/>
          <a:p>
            <a:r>
              <a:rPr altLang="en-US" lang="en-US"/>
              <a:t>Circulatory Shock</a:t>
            </a:r>
          </a:p>
        </p:txBody>
      </p:sp>
      <p:sp>
        <p:nvSpPr>
          <p:cNvPr id="462851" name="Rectangle 3"/>
          <p:cNvSpPr>
            <a:spLocks noChangeArrowheads="1" noGrp="1"/>
          </p:cNvSpPr>
          <p:nvPr>
            <p:ph idx="1" type="body"/>
          </p:nvPr>
        </p:nvSpPr>
        <p:spPr/>
        <p:txBody>
          <a:bodyPr/>
          <a:lstStyle/>
          <a:p>
            <a:r>
              <a:rPr altLang="en-US" b="1" lang="en-US"/>
              <a:t>Circulatory shock</a:t>
            </a:r>
            <a:r>
              <a:rPr altLang="en-US" lang="en-US"/>
              <a:t> – any condition in which blood vessels are inadequately filled and blood cannot circulate normally </a:t>
            </a:r>
          </a:p>
          <a:p>
            <a:r>
              <a:rPr altLang="en-US" lang="en-US"/>
              <a:t>Results in inadequate blood flow to meet tissue needs</a:t>
            </a:r>
          </a:p>
        </p:txBody>
      </p:sp>
    </p:spTree>
  </p:cSld>
  <p:clrMapOvr>
    <a:masterClrMapping/>
  </p:clrMapOvr>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63874" name="Rectangle 2"/>
          <p:cNvSpPr>
            <a:spLocks noChangeArrowheads="1" noGrp="1"/>
          </p:cNvSpPr>
          <p:nvPr>
            <p:ph type="title"/>
          </p:nvPr>
        </p:nvSpPr>
        <p:spPr/>
        <p:txBody>
          <a:bodyPr/>
          <a:lstStyle/>
          <a:p>
            <a:r>
              <a:rPr altLang="en-US" dirty="0" lang="en-US"/>
              <a:t>Circulatory Shock: types</a:t>
            </a:r>
          </a:p>
        </p:txBody>
      </p:sp>
      <p:sp>
        <p:nvSpPr>
          <p:cNvPr id="463875" name="Rectangle 3"/>
          <p:cNvSpPr>
            <a:spLocks noChangeArrowheads="1" noGrp="1"/>
          </p:cNvSpPr>
          <p:nvPr>
            <p:ph idx="1" type="body"/>
          </p:nvPr>
        </p:nvSpPr>
        <p:spPr/>
        <p:txBody>
          <a:bodyPr/>
          <a:lstStyle/>
          <a:p>
            <a:r>
              <a:rPr altLang="en-US" dirty="0" lang="en-US"/>
              <a:t>Three types include:</a:t>
            </a:r>
          </a:p>
          <a:p>
            <a:pPr lvl="1"/>
            <a:r>
              <a:rPr altLang="en-US" b="1" dirty="0" lang="en-US"/>
              <a:t>Hypovolemic</a:t>
            </a:r>
            <a:r>
              <a:rPr altLang="en-US" dirty="0" lang="en-US"/>
              <a:t> shock – results from large-scale blood loss </a:t>
            </a:r>
          </a:p>
          <a:p>
            <a:pPr lvl="1"/>
            <a:r>
              <a:rPr altLang="en-US" b="1" dirty="0" lang="en-US"/>
              <a:t>Vascular</a:t>
            </a:r>
            <a:r>
              <a:rPr altLang="en-US" dirty="0" lang="en-US"/>
              <a:t> shock – poor circulation resulting from extreme vasodilation</a:t>
            </a:r>
          </a:p>
          <a:p>
            <a:pPr lvl="1"/>
            <a:r>
              <a:rPr altLang="en-US" b="1" dirty="0" lang="en-US"/>
              <a:t>Cardiogenic</a:t>
            </a:r>
            <a:r>
              <a:rPr altLang="en-US" dirty="0" lang="en-US"/>
              <a:t> shock – the heart cannot sustain adequate circulation</a:t>
            </a:r>
          </a:p>
        </p:txBody>
      </p:sp>
    </p:spTree>
  </p:cSld>
  <p:clrMapOvr>
    <a:masterClrMapping/>
  </p:clrMapOvr>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65922" name="Rectangle 2"/>
          <p:cNvSpPr>
            <a:spLocks noChangeArrowheads="1" noGrp="1"/>
          </p:cNvSpPr>
          <p:nvPr>
            <p:ph type="title"/>
          </p:nvPr>
        </p:nvSpPr>
        <p:spPr/>
        <p:txBody>
          <a:bodyPr/>
          <a:lstStyle/>
          <a:p>
            <a:r>
              <a:rPr altLang="en-US" lang="en-US"/>
              <a:t>Circulatory Pathways</a:t>
            </a:r>
          </a:p>
        </p:txBody>
      </p:sp>
      <p:sp>
        <p:nvSpPr>
          <p:cNvPr id="465923" name="Rectangle 3"/>
          <p:cNvSpPr>
            <a:spLocks noChangeArrowheads="1" noGrp="1"/>
          </p:cNvSpPr>
          <p:nvPr>
            <p:ph idx="1" type="body"/>
          </p:nvPr>
        </p:nvSpPr>
        <p:spPr/>
        <p:txBody>
          <a:bodyPr/>
          <a:lstStyle/>
          <a:p>
            <a:r>
              <a:rPr altLang="en-US" lang="en-US"/>
              <a:t>The vascular system has two distinct circulations</a:t>
            </a:r>
          </a:p>
          <a:p>
            <a:pPr lvl="1"/>
            <a:r>
              <a:rPr altLang="en-US" b="1" lang="en-US"/>
              <a:t>Pulmonary</a:t>
            </a:r>
            <a:r>
              <a:rPr altLang="en-US" lang="en-US"/>
              <a:t> circulation – short loop that runs from the heart to the lungs and back to the heart</a:t>
            </a:r>
          </a:p>
          <a:p>
            <a:pPr lvl="1"/>
            <a:r>
              <a:rPr altLang="en-US" b="1" lang="en-US"/>
              <a:t>Systemic</a:t>
            </a:r>
            <a:r>
              <a:rPr altLang="en-US" lang="en-US"/>
              <a:t> circulation –  routes blood through a long loop to all parts of the body and returns to the heart</a:t>
            </a:r>
          </a:p>
        </p:txBody>
      </p:sp>
    </p:spTree>
  </p:cSld>
  <p:clrMapOvr>
    <a:masterClrMapping/>
  </p:clrMapOvr>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70018" name="Rectangle 2"/>
          <p:cNvSpPr>
            <a:spLocks noChangeArrowheads="1" noGrp="1"/>
          </p:cNvSpPr>
          <p:nvPr>
            <p:ph type="title"/>
          </p:nvPr>
        </p:nvSpPr>
        <p:spPr>
          <a:noFill/>
          <a:ln/>
          <a:extLst>
            <a:ext uri="{909E8E84-426E-40DD-AFC4-6F175D3DCCD1}">
              <a14:hiddenFill xmlns:a14="http://schemas.microsoft.com/office/drawing/2010/main">
                <a:solidFill>
                  <a:schemeClr val="accent1"/>
                </a:solidFill>
              </a14:hiddenFill>
            </a:ext>
          </a:extLst>
        </p:spPr>
        <p:txBody>
          <a:bodyPr/>
          <a:lstStyle/>
          <a:p>
            <a:r>
              <a:rPr altLang="en-US" lang="en-US"/>
              <a:t>Pulmonary Circulation</a:t>
            </a:r>
          </a:p>
        </p:txBody>
      </p:sp>
      <p:pic>
        <p:nvPicPr>
          <p:cNvPr descr="- Part (b) is an illustration of the pulmonary arterial system shown in blue to indicate that the  blood it carries is oxygen-poor.  The pulmonary venous drainage is shown in red to indicate  that the blood it transports is oxygen-rich.  Labels include left pulmonary artery, aortic arch,  pulmonary trunk, right pulmonary artery, three lobar arteries to right lung, pulmonary veins,  right atrium, right ventricle, two lobar arteries to left lunch, left atrium and left ventricle.   - Part (b) also includes an inset that is an enlarged view of a section of lobe showing air-    filled alveolus of lung, and depicts gas exchange occurring between alveoli and     pulmonary capillary with arrows indicating oxygen entering capillary from alveoli     and carbon dioxide exiting from capillary into alveoli. " id="2" name="Picture 1">
            <a:extLst>
              <a:ext uri="{FF2B5EF4-FFF2-40B4-BE49-F238E27FC236}">
                <a16:creationId xmlns:a16="http://schemas.microsoft.com/office/drawing/2014/main" id="{BAADAD30-70EB-8CE3-C713-0771A386B2DD}"/>
              </a:ext>
            </a:extLst>
          </p:cNvPr>
          <p:cNvPicPr>
            <a:picLocks noChangeAspect="1"/>
          </p:cNvPicPr>
          <p:nvPr/>
        </p:nvPicPr>
        <p:blipFill rotWithShape="1">
          <a:blip r:embed="rId2">
            <a:extLst>
              <a:ext uri="{28A0092B-C50C-407E-A947-70E740481C1C}">
                <a14:useLocalDpi xmlns:a14="http://schemas.microsoft.com/office/drawing/2010/main" val="0"/>
              </a:ext>
            </a:extLst>
          </a:blip>
          <a:srcRect b="2877"/>
          <a:stretch/>
        </p:blipFill>
        <p:spPr>
          <a:xfrm>
            <a:off x="742254" y="1295400"/>
            <a:ext cx="7869271" cy="4861560"/>
          </a:xfrm>
          <a:prstGeom prst="rect">
            <a:avLst/>
          </a:prstGeom>
        </p:spPr>
      </p:pic>
    </p:spTree>
  </p:cSld>
  <p:clrMapOvr>
    <a:masterClrMapping/>
  </p:clrMapOvr>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71042" name="Rectangle 2"/>
          <p:cNvSpPr>
            <a:spLocks noChangeArrowheads="1" noGrp="1"/>
          </p:cNvSpPr>
          <p:nvPr>
            <p:ph type="title"/>
          </p:nvPr>
        </p:nvSpPr>
        <p:spPr>
          <a:noFill/>
          <a:ln/>
          <a:extLst>
            <a:ext uri="{909E8E84-426E-40DD-AFC4-6F175D3DCCD1}">
              <a14:hiddenFill xmlns:a14="http://schemas.microsoft.com/office/drawing/2010/main">
                <a:solidFill>
                  <a:schemeClr val="accent1"/>
                </a:solidFill>
              </a14:hiddenFill>
            </a:ext>
          </a:extLst>
        </p:spPr>
        <p:txBody>
          <a:bodyPr/>
          <a:lstStyle/>
          <a:p>
            <a:r>
              <a:rPr altLang="en-US" lang="en-US"/>
              <a:t>Systemic Circulation</a:t>
            </a:r>
          </a:p>
        </p:txBody>
      </p:sp>
      <p:pic>
        <p:nvPicPr>
          <p:cNvPr descr="This figure is a schematic diagram that summarizes blood flow in the systemic circulation, starting with the aorta, and ending with the inferior and superior vena cava.   - Freshly oxygenated blood returns from the pulmonary circulation, entering the left atrium    of the heart. From there it flows into the left ventricle and into the aorta. The aortic arch    branches upward from the heart.     - The common carotid arteries supply the head and the subclavian arteries supply      the upper limbs. The common carotid arteries eventually connect with the      capillary beds of the head and upper limbs. From these capillary beds,       deoxygenated blood flows through the superior vena cava to the right atrium of     the heart, then into the right ventricle, and then into the pulmonary circulation.    - The thoracic aorta – located above the diaphragm – sends arterial blood into the      capillary beds of mediastinal structures and thorax walls. From these capillary      beds, venous drainage drains blood into the azygos system, which returns      deoxygenated blood to the right atrium, then the right ventricle, and then into      the pulmonary circulation.     - Below the diaphragm, the abdominal aorta conveys arterial blood into the       capillary beds of the digestive viscera, spleen, pancreas, and kidneys.       Deoxygenated blood from these capillary beds travels into the inferior vena      cava. Other arterial blood is conveyed into the capillary beds of the gonads,      pelvis, and lower limbs. Deoxygenated blood from these capillary beds also      travels into the inferior vena cava. Blood in the inferior vena cava eventually      returns to the right atrium of the heart, then the right ventricle, and then      enters the pulmonary circulation. " id="2" name="Picture 2">
            <a:extLst>
              <a:ext uri="{FF2B5EF4-FFF2-40B4-BE49-F238E27FC236}">
                <a16:creationId xmlns:a16="http://schemas.microsoft.com/office/drawing/2014/main" id="{9A1BFA61-59FD-E586-B8B3-61ECC4AB5E3B}"/>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868"/>
          <a:stretch/>
        </p:blipFill>
        <p:spPr bwMode="auto">
          <a:xfrm>
            <a:off x="4693920" y="395032"/>
            <a:ext cx="2651760" cy="6067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p:cNvSpPr>
            <a:spLocks noGrp="1"/>
          </p:cNvSpPr>
          <p:nvPr>
            <p:ph type="title"/>
          </p:nvPr>
        </p:nvSpPr>
        <p:spPr>
          <a:xfrm>
            <a:off x="457581" y="342900"/>
            <a:ext cx="8229219" cy="430887"/>
          </a:xfrm>
        </p:spPr>
        <p:txBody>
          <a:bodyPr wrap="square">
            <a:spAutoFit/>
          </a:bodyPr>
          <a:lstStyle/>
          <a:p>
            <a:r>
              <a:rPr dirty="0" lang="en-US" sz="2800">
                <a:latin typeface="Times New Roman"/>
              </a:rPr>
              <a:t>Major Arteries of the Systemic Circulation </a:t>
            </a:r>
            <a:r>
              <a:rPr dirty="0" lang="en-US" sz="2200">
                <a:latin typeface="Times New Roman"/>
              </a:rPr>
              <a:t>(1 of 2)</a:t>
            </a:r>
          </a:p>
        </p:txBody>
      </p:sp>
      <p:pic>
        <p:nvPicPr>
          <p:cNvPr descr="- Part (a) is a schematic flowchart showing the major arteries of the systemic circulation." id="2" name="Picture 1"/>
          <p:cNvPicPr>
            <a:picLocks noChangeAspect="1"/>
          </p:cNvPicPr>
          <p:nvPr/>
        </p:nvPicPr>
        <p:blipFill rotWithShape="1">
          <a:blip r:embed="rId3">
            <a:extLst>
              <a:ext uri="{28A0092B-C50C-407E-A947-70E740481C1C}">
                <a14:useLocalDpi xmlns:a14="http://schemas.microsoft.com/office/drawing/2010/main" val="0"/>
              </a:ext>
            </a:extLst>
          </a:blip>
          <a:srcRect b="1703"/>
          <a:stretch/>
        </p:blipFill>
        <p:spPr>
          <a:xfrm>
            <a:off x="1984576" y="922130"/>
            <a:ext cx="5406823" cy="5087341"/>
          </a:xfrm>
          <a:prstGeom prst="rect">
            <a:avLst/>
          </a:prstGeom>
        </p:spPr>
      </p:pic>
      <p:sp>
        <p:nvSpPr>
          <p:cNvPr id="4" name="Content Placeholder 3"/>
          <p:cNvSpPr>
            <a:spLocks noGrp="1"/>
          </p:cNvSpPr>
          <p:nvPr>
            <p:ph idx="13" sz="quarter"/>
          </p:nvPr>
        </p:nvSpPr>
        <p:spPr>
          <a:xfrm>
            <a:off x="457200" y="6088962"/>
            <a:ext cx="8686800" cy="230832"/>
          </a:xfrm>
        </p:spPr>
        <p:txBody>
          <a:bodyPr/>
          <a:lstStyle/>
          <a:p>
            <a:r>
              <a:rPr b="1" dirty="0" lang="en-US" sz="1500">
                <a:solidFill>
                  <a:srgbClr val="007FA3"/>
                </a:solidFill>
              </a:rPr>
              <a:t>Figure 19.23a </a:t>
            </a:r>
            <a:r>
              <a:rPr dirty="0" lang="en-US" sz="1500"/>
              <a:t>Major arteries of the systemic circulation.</a:t>
            </a:r>
          </a:p>
        </p:txBody>
      </p:sp>
    </p:spTree>
    <p:extLst>
      <p:ext uri="{BB962C8B-B14F-4D97-AF65-F5344CB8AC3E}">
        <p14:creationId xmlns:p14="http://schemas.microsoft.com/office/powerpoint/2010/main" val="6101942"/>
      </p:ext>
    </p:extLst>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3DC090-C109-682A-8F15-CE25F8F69DA6}"/>
              </a:ext>
            </a:extLst>
          </p:cNvPr>
          <p:cNvSpPr>
            <a:spLocks noGrp="1"/>
          </p:cNvSpPr>
          <p:nvPr>
            <p:ph type="title"/>
          </p:nvPr>
        </p:nvSpPr>
        <p:spPr>
          <a:xfrm>
            <a:off x="0" y="92023"/>
            <a:ext cx="3352419" cy="1384995"/>
          </a:xfrm>
        </p:spPr>
        <p:txBody>
          <a:bodyPr wrap="square">
            <a:spAutoFit/>
          </a:bodyPr>
          <a:lstStyle/>
          <a:p>
            <a:r>
              <a:rPr dirty="0" lang="en-US" sz="2800">
                <a:latin typeface="Times New Roman"/>
              </a:rPr>
              <a:t>Major Arteries of the Systemic Circulation</a:t>
            </a:r>
            <a:endParaRPr dirty="0" lang="en-US" sz="2200">
              <a:latin typeface="Times New Roman"/>
            </a:endParaRPr>
          </a:p>
        </p:txBody>
      </p:sp>
      <p:pic>
        <p:nvPicPr>
          <p:cNvPr descr="- Part (b) is an illustration of a man in anatomical position, anterior view with major arteries labeled, which include:    - Arteries of the head and trunk:  internal and external carotid, common carotid, vertebral, subclavian, brachiocephalic trunk, aortic arch, ascending aorta, coronary artery, celiac trunk, abdominal aorta, superior and inferior mesenteric, renal, gonadal, common iliac and internal iliac.  - Arteries that supply the upper limb:  subclavian, axillary, brachial, radial, ulnar, deep and superficial palmar arch, and digital   - Arteries that supply the lower limb:  external iliac, femoral, popliteal, anterior and posterior tibial, and arcuate." id="2" name="Picture 2">
            <a:extLst>
              <a:ext uri="{FF2B5EF4-FFF2-40B4-BE49-F238E27FC236}">
                <a16:creationId xmlns:a16="http://schemas.microsoft.com/office/drawing/2014/main" id="{2B2E2343-487D-B8D3-6D72-7BF5E3A41DDB}"/>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876"/>
          <a:stretch/>
        </p:blipFill>
        <p:spPr bwMode="auto">
          <a:xfrm>
            <a:off x="3352419" y="457200"/>
            <a:ext cx="5334381" cy="6389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p:cNvSpPr>
            <a:spLocks noGrp="1"/>
          </p:cNvSpPr>
          <p:nvPr>
            <p:ph type="title"/>
          </p:nvPr>
        </p:nvSpPr>
        <p:spPr>
          <a:xfrm>
            <a:off x="457580" y="294132"/>
            <a:ext cx="8229219" cy="492443"/>
          </a:xfrm>
        </p:spPr>
        <p:txBody>
          <a:bodyPr wrap="square">
            <a:spAutoFit/>
          </a:bodyPr>
          <a:lstStyle/>
          <a:p>
            <a:r>
              <a:rPr dirty="0" lang="en-US" sz="3200">
                <a:latin typeface="Times New Roman"/>
              </a:rPr>
              <a:t>Major Veins of the Systemic Circulation </a:t>
            </a:r>
            <a:r>
              <a:rPr dirty="0" lang="en-US" sz="2600">
                <a:latin typeface="Times New Roman"/>
              </a:rPr>
              <a:t>(1 of 2)</a:t>
            </a:r>
          </a:p>
        </p:txBody>
      </p:sp>
      <p:pic>
        <p:nvPicPr>
          <p:cNvPr descr="- Part (a) is a schematic flowchart of major veins of the systemic circulation." id="2" name="Picture 1"/>
          <p:cNvPicPr>
            <a:picLocks noChangeAspect="1"/>
          </p:cNvPicPr>
          <p:nvPr/>
        </p:nvPicPr>
        <p:blipFill rotWithShape="1">
          <a:blip r:embed="rId3">
            <a:extLst>
              <a:ext uri="{28A0092B-C50C-407E-A947-70E740481C1C}">
                <a14:useLocalDpi xmlns:a14="http://schemas.microsoft.com/office/drawing/2010/main" val="0"/>
              </a:ext>
            </a:extLst>
          </a:blip>
          <a:srcRect b="2394"/>
          <a:stretch/>
        </p:blipFill>
        <p:spPr>
          <a:xfrm>
            <a:off x="2278975" y="1023190"/>
            <a:ext cx="4586051" cy="4916323"/>
          </a:xfrm>
          <a:prstGeom prst="rect">
            <a:avLst/>
          </a:prstGeom>
        </p:spPr>
      </p:pic>
    </p:spTree>
    <p:extLst>
      <p:ext uri="{BB962C8B-B14F-4D97-AF65-F5344CB8AC3E}">
        <p14:creationId xmlns:p14="http://schemas.microsoft.com/office/powerpoint/2010/main" val="1528970307"/>
      </p:ext>
    </p:extLst>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4BCFAD6-D276-7A8C-5235-E1D3EFB97D6D}"/>
              </a:ext>
            </a:extLst>
          </p:cNvPr>
          <p:cNvSpPr>
            <a:spLocks noGrp="1"/>
          </p:cNvSpPr>
          <p:nvPr>
            <p:ph type="title"/>
          </p:nvPr>
        </p:nvSpPr>
        <p:spPr>
          <a:xfrm>
            <a:off x="457582" y="251103"/>
            <a:ext cx="3847722" cy="1415772"/>
          </a:xfrm>
        </p:spPr>
        <p:txBody>
          <a:bodyPr wrap="square">
            <a:spAutoFit/>
          </a:bodyPr>
          <a:lstStyle/>
          <a:p>
            <a:r>
              <a:rPr dirty="0" lang="en-US" sz="3200">
                <a:latin typeface="Times New Roman"/>
              </a:rPr>
              <a:t>Major Veins of the Systemic Circulation </a:t>
            </a:r>
            <a:r>
              <a:rPr dirty="0" lang="en-US" sz="2600">
                <a:latin typeface="Times New Roman"/>
              </a:rPr>
              <a:t>(2 of 2)</a:t>
            </a:r>
          </a:p>
        </p:txBody>
      </p:sp>
      <p:pic>
        <p:nvPicPr>
          <p:cNvPr descr="- Part (b) is an illustration of an anterior view in anatomical position showing major veins of body which include:  - Veins of the head and trunk:  dural venous sinuses, external and internal jugular, vertebral,    right and left brachiocephalic, superior vena cava, great cardiac, hepatic, splenic, hepatic portal, renal, superior and inferior mesenteric, inferior vena cava, and common and internal iliac.  - Veins that drain upper limb:  subclavian, axillary, cephalic, brachial, basilic, medial cubital, ulnar, radial and digital.  - Veins that drain the lower limb:  external iliac, femoral, great saphenous, popliteal, posterior and anterior tibial, small saphenous, doral venous arch, and dorsal metatarsal. " id="3" name="Picture 2">
            <a:extLst>
              <a:ext uri="{FF2B5EF4-FFF2-40B4-BE49-F238E27FC236}">
                <a16:creationId xmlns:a16="http://schemas.microsoft.com/office/drawing/2014/main" id="{674AFF3A-7AE5-D353-D058-698032792201}"/>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804"/>
          <a:stretch/>
        </p:blipFill>
        <p:spPr bwMode="auto">
          <a:xfrm>
            <a:off x="4305303" y="447674"/>
            <a:ext cx="4381497" cy="5648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descr="Title: big topic - fetal circulation" id="496642" name="Rectangle 2"/>
          <p:cNvSpPr>
            <a:spLocks noChangeArrowheads="1" noGrp="1"/>
          </p:cNvSpPr>
          <p:nvPr>
            <p:ph type="title"/>
          </p:nvPr>
        </p:nvSpPr>
        <p:spPr>
          <a:xfrm>
            <a:off x="0" y="309563"/>
            <a:ext cx="9144000" cy="833437"/>
          </a:xfrm>
        </p:spPr>
        <p:txBody>
          <a:bodyPr/>
          <a:lstStyle/>
          <a:p>
            <a:r>
              <a:rPr altLang="en-US" dirty="0" lang="en-US"/>
              <a:t>BIG TOPIC: Fetal Circulation</a:t>
            </a:r>
          </a:p>
        </p:txBody>
      </p:sp>
      <p:pic>
        <p:nvPicPr>
          <p:cNvPr descr="Comparison of adult and fetal circulation diagram also showing which vessels have oxygenated, deoxygenated or mixed blood in them" id="496644" name="Picture 4"/>
          <p:cNvPicPr>
            <a:picLocks noChangeArrowheads="1" noChangeAspect="1"/>
          </p:cNvPicPr>
          <p:nvPr/>
        </p:nvPicPr>
        <p:blipFill>
          <a:blip r:embed="rId2">
            <a:lum bright="-22000" contrast="38000"/>
            <a:extLst>
              <a:ext uri="{28A0092B-C50C-407E-A947-70E740481C1C}">
                <a14:useLocalDpi xmlns:a14="http://schemas.microsoft.com/office/drawing/2010/main" val="0"/>
              </a:ext>
            </a:extLst>
          </a:blip>
          <a:srcRect/>
          <a:stretch>
            <a:fillRect/>
          </a:stretch>
        </p:blipFill>
        <p:spPr bwMode="auto">
          <a:xfrm>
            <a:off x="12700" y="914400"/>
            <a:ext cx="5691188" cy="5943600"/>
          </a:xfrm>
          <a:prstGeom prst="rect">
            <a:avLst/>
          </a:prstGeom>
          <a:noFill/>
          <a:extLst>
            <a:ext uri="{909E8E84-426E-40DD-AFC4-6F175D3DCCD1}">
              <a14:hiddenFill xmlns:a14="http://schemas.microsoft.com/office/drawing/2010/main">
                <a:solidFill>
                  <a:srgbClr val="FFFFFF"/>
                </a:solidFill>
              </a14:hiddenFill>
            </a:ext>
          </a:extLst>
        </p:spPr>
      </p:pic>
      <p:sp>
        <p:nvSpPr>
          <p:cNvPr id="496643" name="Rectangle 3"/>
          <p:cNvSpPr>
            <a:spLocks noChangeArrowheads="1" noGrp="1"/>
          </p:cNvSpPr>
          <p:nvPr>
            <p:ph idx="2" sz="half" type="body"/>
          </p:nvPr>
        </p:nvSpPr>
        <p:spPr>
          <a:xfrm>
            <a:off x="5867400" y="990600"/>
            <a:ext cx="3276600" cy="4724400"/>
          </a:xfrm>
        </p:spPr>
        <p:txBody>
          <a:bodyPr/>
          <a:lstStyle/>
          <a:p>
            <a:r>
              <a:rPr altLang="en-US" dirty="0" lang="en-US" sz="2600"/>
              <a:t>Oxygen from placenta reaches heart via fetal veins in umbilical cord.</a:t>
            </a:r>
          </a:p>
          <a:p>
            <a:pPr lvl="1"/>
            <a:r>
              <a:rPr altLang="en-US" dirty="0" lang="en-US" sz="2400"/>
              <a:t>bypasses liver</a:t>
            </a:r>
          </a:p>
          <a:p>
            <a:endParaRPr altLang="en-US" dirty="0" lang="en-US" sz="2600"/>
          </a:p>
          <a:p>
            <a:r>
              <a:rPr altLang="en-US" dirty="0" lang="en-US" sz="2600"/>
              <a:t>Umbilical aa. Branch off iliac aa. to return blood to placenta.</a:t>
            </a:r>
          </a:p>
        </p:txBody>
      </p:sp>
    </p:spTree>
  </p:cSld>
  <p:clrMapOvr>
    <a:masterClrMapping/>
  </p:clrMapOvr>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C02A3B-4381-6B07-A4A3-BB8A3A37E40A}"/>
              </a:ext>
            </a:extLst>
          </p:cNvPr>
          <p:cNvSpPr>
            <a:spLocks noGrp="1"/>
          </p:cNvSpPr>
          <p:nvPr>
            <p:ph idx="4294967295" type="title"/>
          </p:nvPr>
        </p:nvSpPr>
        <p:spPr>
          <a:xfrm>
            <a:off x="228600" y="566738"/>
            <a:ext cx="8610600" cy="609600"/>
          </a:xfrm>
        </p:spPr>
        <p:txBody>
          <a:bodyPr/>
          <a:lstStyle/>
          <a:p>
            <a:r>
              <a:rPr dirty="0" lang="en-US"/>
              <a:t>Fetal cardiovascular adaptations</a:t>
            </a:r>
          </a:p>
        </p:txBody>
      </p:sp>
      <p:sp>
        <p:nvSpPr>
          <p:cNvPr id="494595" name="Text Box 3"/>
          <p:cNvSpPr txBox="1">
            <a:spLocks noChangeArrowheads="1"/>
          </p:cNvSpPr>
          <p:nvPr/>
        </p:nvSpPr>
        <p:spPr bwMode="auto">
          <a:xfrm>
            <a:off x="0" y="1356360"/>
            <a:ext cx="9144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spcBef>
                <a:spcPct val="50000"/>
              </a:spcBef>
            </a:pPr>
            <a:r>
              <a:rPr altLang="en-US" dirty="0" lang="en-US">
                <a:latin charset="0" panose="020B0604020202020204" pitchFamily="34" typeface="Arial"/>
              </a:rPr>
              <a:t>Ductus arteriosus- </a:t>
            </a:r>
            <a:r>
              <a:rPr altLang="en-US" b="0" dirty="0" lang="en-US">
                <a:latin charset="0" panose="020B0604020202020204" pitchFamily="34" typeface="Arial"/>
              </a:rPr>
              <a:t>a short vessel that connects the aorta and the pulmonary trunk to allow blood to enter systemic circulation (becomes the ligamentum arteriosum)</a:t>
            </a:r>
          </a:p>
          <a:p>
            <a:pPr>
              <a:spcBef>
                <a:spcPct val="50000"/>
              </a:spcBef>
            </a:pPr>
            <a:r>
              <a:rPr altLang="en-US" dirty="0" lang="en-US">
                <a:latin charset="0" panose="020B0604020202020204" pitchFamily="34" typeface="Arial"/>
              </a:rPr>
              <a:t>Ductus venosus- </a:t>
            </a:r>
            <a:r>
              <a:rPr altLang="en-US" b="0" dirty="0" lang="en-US">
                <a:latin charset="0" panose="020B0604020202020204" pitchFamily="34" typeface="Arial"/>
              </a:rPr>
              <a:t>bypasses the liver</a:t>
            </a:r>
          </a:p>
          <a:p>
            <a:pPr>
              <a:spcBef>
                <a:spcPct val="50000"/>
              </a:spcBef>
            </a:pPr>
            <a:r>
              <a:rPr altLang="en-US" dirty="0" lang="en-US">
                <a:latin charset="0" panose="020B0604020202020204" pitchFamily="34" typeface="Arial"/>
              </a:rPr>
              <a:t>Foramen </a:t>
            </a:r>
            <a:r>
              <a:rPr altLang="en-US" dirty="0" err="1" lang="en-US">
                <a:latin charset="0" panose="020B0604020202020204" pitchFamily="34" typeface="Arial"/>
              </a:rPr>
              <a:t>ovale</a:t>
            </a:r>
            <a:r>
              <a:rPr altLang="en-US" dirty="0" lang="en-US">
                <a:latin charset="0" panose="020B0604020202020204" pitchFamily="34" typeface="Arial"/>
              </a:rPr>
              <a:t>- </a:t>
            </a:r>
            <a:r>
              <a:rPr altLang="en-US" b="0" dirty="0" lang="en-US">
                <a:latin charset="0" panose="020B0604020202020204" pitchFamily="34" typeface="Arial"/>
              </a:rPr>
              <a:t>an opening that allows blood to be shunted directly from the right atrium to the left atrium, bypassing the lungs </a:t>
            </a:r>
          </a:p>
          <a:p>
            <a:pPr>
              <a:spcBef>
                <a:spcPct val="50000"/>
              </a:spcBef>
            </a:pPr>
            <a:r>
              <a:rPr altLang="en-US" dirty="0" lang="en-US">
                <a:latin charset="0" panose="020B0604020202020204" pitchFamily="34" typeface="Arial"/>
              </a:rPr>
              <a:t>Umbilical veins- </a:t>
            </a:r>
            <a:r>
              <a:rPr altLang="en-US" b="0" dirty="0" lang="en-US">
                <a:latin charset="0" panose="020B0604020202020204" pitchFamily="34" typeface="Arial"/>
              </a:rPr>
              <a:t>brings oxygenated blood to the fetus through the umbilical cord</a:t>
            </a:r>
          </a:p>
          <a:p>
            <a:pPr>
              <a:spcBef>
                <a:spcPct val="50000"/>
              </a:spcBef>
            </a:pPr>
            <a:r>
              <a:rPr altLang="en-US" dirty="0" lang="en-US">
                <a:latin charset="0" panose="020B0604020202020204" pitchFamily="34" typeface="Arial"/>
              </a:rPr>
              <a:t>Umbilical arteries- </a:t>
            </a:r>
            <a:r>
              <a:rPr altLang="en-US" b="0" dirty="0" lang="en-US">
                <a:latin charset="0" panose="020B0604020202020204" pitchFamily="34" typeface="Arial"/>
              </a:rPr>
              <a:t>brings blood away from the fetus through the umbilical cord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97673" name="Rectangle 9"/>
          <p:cNvSpPr>
            <a:spLocks noChangeArrowheads="1" noGrp="1"/>
          </p:cNvSpPr>
          <p:nvPr>
            <p:ph type="title"/>
          </p:nvPr>
        </p:nvSpPr>
        <p:spPr>
          <a:xfrm>
            <a:off x="0" y="498475"/>
            <a:ext cx="9144000" cy="720725"/>
          </a:xfrm>
        </p:spPr>
        <p:txBody>
          <a:bodyPr/>
          <a:lstStyle/>
          <a:p>
            <a:r>
              <a:rPr altLang="en-US" lang="en-US"/>
              <a:t>Lung Bypasses in Fetal Circulation</a:t>
            </a:r>
          </a:p>
        </p:txBody>
      </p:sp>
      <p:pic>
        <p:nvPicPr>
          <p:cNvPr descr="diagram of fetal blood flow and the 2 passageways that bypass the pulmonary circulation" id="497666" name="Picture 2"/>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828800"/>
            <a:ext cx="5181600" cy="3600450"/>
          </a:xfrm>
          <a:prstGeom prst="rect">
            <a:avLst/>
          </a:prstGeom>
          <a:noFill/>
          <a:extLst>
            <a:ext uri="{909E8E84-426E-40DD-AFC4-6F175D3DCCD1}">
              <a14:hiddenFill xmlns:a14="http://schemas.microsoft.com/office/drawing/2010/main">
                <a:solidFill>
                  <a:srgbClr val="FFFFFF"/>
                </a:solidFill>
              </a14:hiddenFill>
            </a:ext>
          </a:extLst>
        </p:spPr>
      </p:pic>
      <p:sp>
        <p:nvSpPr>
          <p:cNvPr id="497667" name="Oval 3">
            <a:extLst>
              <a:ext uri="{C183D7F6-B498-43B3-948B-1728B52AA6E4}">
                <adec:decorative xmlns:adec="http://schemas.microsoft.com/office/drawing/2017/decorative" val="1"/>
              </a:ext>
            </a:extLst>
          </p:cNvPr>
          <p:cNvSpPr>
            <a:spLocks noChangeArrowheads="1"/>
          </p:cNvSpPr>
          <p:nvPr/>
        </p:nvSpPr>
        <p:spPr bwMode="auto">
          <a:xfrm>
            <a:off x="4343400" y="1963738"/>
            <a:ext cx="990600" cy="990600"/>
          </a:xfrm>
          <a:prstGeom prst="ellipse">
            <a:avLst/>
          </a:prstGeom>
          <a:noFill/>
          <a:ln w="76200">
            <a:solidFill>
              <a:srgbClr val="FF0000"/>
            </a:solidFill>
            <a:round/>
            <a:headEnd/>
            <a:tailEnd/>
          </a:ln>
          <a:effectLst>
            <a:outerShdw algn="ctr" dir="2700000" dist="35921" rotWithShape="0">
              <a:schemeClr val="tx1"/>
            </a:outerShdw>
          </a:effectLst>
          <a:extLst>
            <a:ext uri="{909E8E84-426E-40DD-AFC4-6F175D3DCCD1}">
              <a14:hiddenFill xmlns:a14="http://schemas.microsoft.com/office/drawing/2010/main">
                <a:solidFill>
                  <a:schemeClr val="accent1"/>
                </a:solidFill>
              </a14:hiddenFill>
            </a:ext>
          </a:extLst>
        </p:spPr>
        <p:txBody>
          <a:bodyPr anchor="ctr" wrap="none"/>
          <a:lstStyle/>
          <a:p>
            <a:endParaRPr lang="en-US"/>
          </a:p>
        </p:txBody>
      </p:sp>
      <p:sp>
        <p:nvSpPr>
          <p:cNvPr id="497668" name="Text Box 4"/>
          <p:cNvSpPr txBox="1">
            <a:spLocks noChangeArrowheads="1"/>
          </p:cNvSpPr>
          <p:nvPr/>
        </p:nvSpPr>
        <p:spPr bwMode="auto">
          <a:xfrm>
            <a:off x="5867400" y="1887538"/>
            <a:ext cx="3352800"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spcBef>
                <a:spcPct val="50000"/>
              </a:spcBef>
            </a:pPr>
            <a:r>
              <a:rPr altLang="en-US" b="0" lang="en-US" sz="2800"/>
              <a:t>Ductus arteriosus is shortcut from pulmonary trunk to aorta bypassing the lungs.</a:t>
            </a:r>
            <a:endParaRPr altLang="en-US" b="0" lang="en-US"/>
          </a:p>
        </p:txBody>
      </p:sp>
      <p:sp>
        <p:nvSpPr>
          <p:cNvPr id="497669" name="Rectangle 5">
            <a:extLst>
              <a:ext uri="{C183D7F6-B498-43B3-948B-1728B52AA6E4}">
                <adec:decorative xmlns:adec="http://schemas.microsoft.com/office/drawing/2017/decorative" val="1"/>
              </a:ext>
            </a:extLst>
          </p:cNvPr>
          <p:cNvSpPr>
            <a:spLocks noChangeArrowheads="1"/>
          </p:cNvSpPr>
          <p:nvPr/>
        </p:nvSpPr>
        <p:spPr bwMode="auto">
          <a:xfrm>
            <a:off x="5791200" y="1811338"/>
            <a:ext cx="3124200" cy="2286000"/>
          </a:xfrm>
          <a:prstGeom prst="rect">
            <a:avLst/>
          </a:prstGeom>
          <a:noFill/>
          <a:ln w="57150">
            <a:solidFill>
              <a:srgbClr val="FF0000"/>
            </a:solidFill>
            <a:miter lim="800000"/>
            <a:headEnd/>
            <a:tailEnd/>
          </a:ln>
          <a:effectLst>
            <a:outerShdw algn="ctr" dir="2700000" dist="35921" rotWithShape="0">
              <a:schemeClr val="tx1"/>
            </a:outerShdw>
          </a:effectLst>
          <a:extLst>
            <a:ext uri="{909E8E84-426E-40DD-AFC4-6F175D3DCCD1}">
              <a14:hiddenFill xmlns:a14="http://schemas.microsoft.com/office/drawing/2010/main">
                <a:solidFill>
                  <a:schemeClr val="accent1"/>
                </a:solidFill>
              </a14:hiddenFill>
            </a:ext>
          </a:extLst>
        </p:spPr>
        <p:txBody>
          <a:bodyPr anchor="ctr" wrap="none"/>
          <a:lstStyle/>
          <a:p>
            <a:endParaRPr lang="en-US"/>
          </a:p>
        </p:txBody>
      </p:sp>
      <p:sp>
        <p:nvSpPr>
          <p:cNvPr id="497670" name="Line 6">
            <a:extLst>
              <a:ext uri="{C183D7F6-B498-43B3-948B-1728B52AA6E4}">
                <adec:decorative xmlns:adec="http://schemas.microsoft.com/office/drawing/2017/decorative" val="1"/>
              </a:ext>
            </a:extLst>
          </p:cNvPr>
          <p:cNvSpPr>
            <a:spLocks noChangeShapeType="1"/>
          </p:cNvSpPr>
          <p:nvPr/>
        </p:nvSpPr>
        <p:spPr bwMode="auto">
          <a:xfrm>
            <a:off x="5257800" y="2667000"/>
            <a:ext cx="533400" cy="381000"/>
          </a:xfrm>
          <a:prstGeom prst="line">
            <a:avLst/>
          </a:prstGeom>
          <a:noFill/>
          <a:ln w="57150">
            <a:solidFill>
              <a:srgbClr val="FF0000"/>
            </a:solidFill>
            <a:round/>
            <a:headEnd/>
            <a:tailEnd/>
          </a:ln>
          <a:effectLst>
            <a:outerShdw algn="ctr" dir="2700000" dist="35921" rotWithShape="0">
              <a:schemeClr val="tx1"/>
            </a:outerShdw>
          </a:effectLst>
          <a:extLst>
            <a:ext uri="{909E8E84-426E-40DD-AFC4-6F175D3DCCD1}">
              <a14:hiddenFill xmlns:a14="http://schemas.microsoft.com/office/drawing/2010/main">
                <a:noFill/>
              </a14:hiddenFill>
            </a:ext>
          </a:extLst>
        </p:spPr>
        <p:txBody>
          <a:bodyPr anchor="ctr" wrap="none"/>
          <a:lstStyle/>
          <a:p>
            <a:endParaRPr lang="en-US"/>
          </a:p>
        </p:txBody>
      </p:sp>
      <p:sp>
        <p:nvSpPr>
          <p:cNvPr id="497671" name="Oval 7">
            <a:extLst>
              <a:ext uri="{C183D7F6-B498-43B3-948B-1728B52AA6E4}">
                <adec:decorative xmlns:adec="http://schemas.microsoft.com/office/drawing/2017/decorative" val="1"/>
              </a:ext>
            </a:extLst>
          </p:cNvPr>
          <p:cNvSpPr>
            <a:spLocks noChangeArrowheads="1"/>
          </p:cNvSpPr>
          <p:nvPr/>
        </p:nvSpPr>
        <p:spPr bwMode="auto">
          <a:xfrm>
            <a:off x="1219200" y="2573338"/>
            <a:ext cx="990600" cy="990600"/>
          </a:xfrm>
          <a:prstGeom prst="ellipse">
            <a:avLst/>
          </a:prstGeom>
          <a:noFill/>
          <a:ln w="76200">
            <a:solidFill>
              <a:srgbClr val="FF0000"/>
            </a:solidFill>
            <a:round/>
            <a:headEnd/>
            <a:tailEnd/>
          </a:ln>
          <a:effectLst>
            <a:outerShdw algn="ctr" dir="2700000" dist="35921" rotWithShape="0">
              <a:schemeClr val="tx1"/>
            </a:outerShdw>
          </a:effectLst>
          <a:extLst>
            <a:ext uri="{909E8E84-426E-40DD-AFC4-6F175D3DCCD1}">
              <a14:hiddenFill xmlns:a14="http://schemas.microsoft.com/office/drawing/2010/main">
                <a:solidFill>
                  <a:schemeClr val="accent1"/>
                </a:solidFill>
              </a14:hiddenFill>
            </a:ext>
          </a:extLst>
        </p:spPr>
        <p:txBody>
          <a:bodyPr anchor="ctr" wrap="none"/>
          <a:lstStyle/>
          <a:p>
            <a:endParaRPr lang="en-US"/>
          </a:p>
        </p:txBody>
      </p:sp>
      <p:sp>
        <p:nvSpPr>
          <p:cNvPr id="497672" name="Line 8">
            <a:extLst>
              <a:ext uri="{C183D7F6-B498-43B3-948B-1728B52AA6E4}">
                <adec:decorative xmlns:adec="http://schemas.microsoft.com/office/drawing/2017/decorative" val="1"/>
              </a:ext>
            </a:extLst>
          </p:cNvPr>
          <p:cNvSpPr>
            <a:spLocks noChangeShapeType="1"/>
          </p:cNvSpPr>
          <p:nvPr/>
        </p:nvSpPr>
        <p:spPr bwMode="auto">
          <a:xfrm>
            <a:off x="2209800" y="3276600"/>
            <a:ext cx="3276600" cy="1981200"/>
          </a:xfrm>
          <a:prstGeom prst="line">
            <a:avLst/>
          </a:prstGeom>
          <a:noFill/>
          <a:ln w="76200">
            <a:solidFill>
              <a:srgbClr val="FF0000"/>
            </a:solidFill>
            <a:round/>
            <a:headEnd/>
            <a:tailEnd/>
          </a:ln>
          <a:effectLst>
            <a:outerShdw algn="ctr" dir="2700000" dist="35921" rotWithShape="0">
              <a:schemeClr val="tx1"/>
            </a:outerShdw>
          </a:effectLst>
          <a:extLst>
            <a:ext uri="{909E8E84-426E-40DD-AFC4-6F175D3DCCD1}">
              <a14:hiddenFill xmlns:a14="http://schemas.microsoft.com/office/drawing/2010/main">
                <a:noFill/>
              </a14:hiddenFill>
            </a:ext>
          </a:extLst>
        </p:spPr>
        <p:txBody>
          <a:bodyPr anchor="ctr" wrap="none"/>
          <a:lstStyle/>
          <a:p>
            <a:endParaRPr lang="en-US"/>
          </a:p>
        </p:txBody>
      </p:sp>
      <p:sp>
        <p:nvSpPr>
          <p:cNvPr id="497674" name="Text Box 10"/>
          <p:cNvSpPr txBox="1">
            <a:spLocks noChangeArrowheads="1"/>
          </p:cNvSpPr>
          <p:nvPr/>
        </p:nvSpPr>
        <p:spPr bwMode="auto">
          <a:xfrm>
            <a:off x="5486400" y="5410200"/>
            <a:ext cx="34448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r>
              <a:rPr altLang="en-US" b="0" lang="en-US"/>
              <a:t>Foramen ovale is shortcut from right atria to left atria bypassing the lungs.</a:t>
            </a:r>
          </a:p>
        </p:txBody>
      </p:sp>
      <p:sp>
        <p:nvSpPr>
          <p:cNvPr id="497675" name="Rectangle 11">
            <a:extLst>
              <a:ext uri="{C183D7F6-B498-43B3-948B-1728B52AA6E4}">
                <adec:decorative xmlns:adec="http://schemas.microsoft.com/office/drawing/2017/decorative" val="1"/>
              </a:ext>
            </a:extLst>
          </p:cNvPr>
          <p:cNvSpPr>
            <a:spLocks noChangeArrowheads="1"/>
          </p:cNvSpPr>
          <p:nvPr/>
        </p:nvSpPr>
        <p:spPr bwMode="auto">
          <a:xfrm>
            <a:off x="5486400" y="5257800"/>
            <a:ext cx="3352800" cy="1524000"/>
          </a:xfrm>
          <a:prstGeom prst="rect">
            <a:avLst/>
          </a:prstGeom>
          <a:noFill/>
          <a:ln w="57150">
            <a:solidFill>
              <a:srgbClr val="FF0000"/>
            </a:solidFill>
            <a:miter lim="800000"/>
            <a:headEnd/>
            <a:tailEnd/>
          </a:ln>
          <a:effectLst>
            <a:outerShdw algn="ctr" dir="2700000" dist="35921" rotWithShape="0">
              <a:schemeClr val="tx1"/>
            </a:outerShdw>
          </a:effectLst>
          <a:extLst>
            <a:ext uri="{909E8E84-426E-40DD-AFC4-6F175D3DCCD1}">
              <a14:hiddenFill xmlns:a14="http://schemas.microsoft.com/office/drawing/2010/main">
                <a:solidFill>
                  <a:schemeClr val="accent1"/>
                </a:solidFill>
              </a14:hiddenFill>
            </a:ext>
          </a:extLst>
        </p:spPr>
        <p:txBody>
          <a:bodyPr anchor="ctr" wrap="none"/>
          <a:lstStyle/>
          <a:p>
            <a:endParaRPr lang="en-US"/>
          </a:p>
        </p:txBody>
      </p:sp>
    </p:spTree>
  </p:cSld>
  <p:clrMapOvr>
    <a:masterClrMapping/>
  </p:clrMapOvr>
  <p:transition/>
</p:sld>
</file>

<file path=ppt/theme/theme1.xml><?xml version="1.0" encoding="utf-8"?>
<a:theme xmlns:a="http://schemas.openxmlformats.org/drawingml/2006/main" name="HAP7">
  <a:themeElements>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AP7">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AP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AP7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AP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AP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AP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AP7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AP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AP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AP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AP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AP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HD:Users:kym:Left Coast Work:HAP7:HAP7.pot</Template>
  <TotalTime>5135</TotalTime>
  <Words>2805</Words>
  <Application>Microsoft Office PowerPoint</Application>
  <PresentationFormat>On-screen Show (4:3)</PresentationFormat>
  <Paragraphs>343</Paragraphs>
  <Slides>78</Slides>
  <Notes>14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Symbol</vt:lpstr>
      <vt:lpstr>Times New Roman</vt:lpstr>
      <vt:lpstr>Wingdings</vt:lpstr>
      <vt:lpstr>HAP7</vt:lpstr>
      <vt:lpstr>Blood vessels</vt:lpstr>
      <vt:lpstr>Blood Vessels </vt:lpstr>
      <vt:lpstr>The relationship of blood vessels to each other and to lymphatic vessels.</vt:lpstr>
      <vt:lpstr>Generalized Structure of Blood Vessels</vt:lpstr>
      <vt:lpstr>Tunics</vt:lpstr>
      <vt:lpstr>Tunics (3rd layer)</vt:lpstr>
      <vt:lpstr>Blood Vessel Types</vt:lpstr>
      <vt:lpstr>Elastic (Conducting) Arteries</vt:lpstr>
      <vt:lpstr>Muscular (Distributing) Arteries and Arterioles</vt:lpstr>
      <vt:lpstr>Summary of Blood Vessel Anatomy</vt:lpstr>
      <vt:lpstr>Capillaries</vt:lpstr>
      <vt:lpstr>Types of Capillaries</vt:lpstr>
      <vt:lpstr>Capillary Beds</vt:lpstr>
      <vt:lpstr>Arterioles</vt:lpstr>
      <vt:lpstr>Venules</vt:lpstr>
      <vt:lpstr>Veins</vt:lpstr>
      <vt:lpstr> Relative proportion of blood volume throughout the cardiovascular system.</vt:lpstr>
      <vt:lpstr>Venous System: Veins</vt:lpstr>
      <vt:lpstr>Summary of Blood Vessel Anatomy (capillaries, venules and veins)</vt:lpstr>
      <vt:lpstr>Differences Between Arteries and Veins</vt:lpstr>
      <vt:lpstr>Vascular Anastomoses</vt:lpstr>
      <vt:lpstr>Part 2  Physiology of Circulation</vt:lpstr>
      <vt:lpstr>Blood Pressure (BP)</vt:lpstr>
      <vt:lpstr>Resistance</vt:lpstr>
      <vt:lpstr>Resistance Factors: Viscosity and Vessel Length</vt:lpstr>
      <vt:lpstr>Resistance Factors: Blood Vessel Diameter</vt:lpstr>
      <vt:lpstr>Resistance Factors: Blood Vessel Diameter </vt:lpstr>
      <vt:lpstr>Blood Flow, Blood Pressure, and Resistance</vt:lpstr>
      <vt:lpstr>Systemic Blood Pressure</vt:lpstr>
      <vt:lpstr>Systemic Blood Pressure: graphic</vt:lpstr>
      <vt:lpstr>Arterial Blood Pressure</vt:lpstr>
      <vt:lpstr>Arterial Blood Pressure (cont.)</vt:lpstr>
      <vt:lpstr>Body sites where the pulse is most easily palpated.</vt:lpstr>
      <vt:lpstr>Factors Aiding Venous Return</vt:lpstr>
      <vt:lpstr>Maintaining Blood Pressure</vt:lpstr>
      <vt:lpstr>Controls of Blood Pressure</vt:lpstr>
      <vt:lpstr>19.8  Regulation of Blood Pressure</vt:lpstr>
      <vt:lpstr>Short-Term Mechanisms: Vasomotor Center</vt:lpstr>
      <vt:lpstr>Short-Term Mechanisms: Vasomotor Activity</vt:lpstr>
      <vt:lpstr>Baroreceptor Reflexes that Help Maintain Blood Pressure Homeostasis </vt:lpstr>
      <vt:lpstr>Short-Term Mechanisms: Chemical Controls</vt:lpstr>
      <vt:lpstr>Chemicals that Increase Blood Pressure</vt:lpstr>
      <vt:lpstr>Chemicals that Decrease Blood Pressure</vt:lpstr>
      <vt:lpstr>Long-Term Mechanisms: Renal Regulation</vt:lpstr>
      <vt:lpstr>Long-Term Mechanisms: Renal Regulation (cont.)</vt:lpstr>
      <vt:lpstr>Long-Term Mechanisms: Renal Regulation pt 3</vt:lpstr>
      <vt:lpstr>Measuring Blood Pressure</vt:lpstr>
      <vt:lpstr>Evaluating Circulation</vt:lpstr>
      <vt:lpstr>Alterations in Blood Pressure</vt:lpstr>
      <vt:lpstr>Hypotension</vt:lpstr>
      <vt:lpstr>Hypertension</vt:lpstr>
      <vt:lpstr>Blood Flow Through Tissues</vt:lpstr>
      <vt:lpstr>Velocity of Blood Flow</vt:lpstr>
      <vt:lpstr>Velocity of Blood Flow: graphic</vt:lpstr>
      <vt:lpstr>BIG TOPIC: control of blood pressure</vt:lpstr>
      <vt:lpstr>Autoregulation: Local Regulation of Blood Flow</vt:lpstr>
      <vt:lpstr>Control of Arteriolar Smooth Muscle</vt:lpstr>
      <vt:lpstr>Control of arteriolar diameter</vt:lpstr>
      <vt:lpstr>Active hyperemia</vt:lpstr>
      <vt:lpstr>A Quick Summary of Intrinsic Versus Extrinsic Control Mechanisms</vt:lpstr>
      <vt:lpstr>BIG TOPIC: Capillary Exchange</vt:lpstr>
      <vt:lpstr>Capillary Blood Pressure</vt:lpstr>
      <vt:lpstr>Capillary Exchange of Respiratory Gases and Nutrients</vt:lpstr>
      <vt:lpstr>Capillary Exchange: Bulk flow</vt:lpstr>
      <vt:lpstr>Net Filtration Pressure (NFP)</vt:lpstr>
      <vt:lpstr>Bulk flow: graphic</vt:lpstr>
      <vt:lpstr>Circulatory Shock</vt:lpstr>
      <vt:lpstr>Circulatory Shock: types</vt:lpstr>
      <vt:lpstr>Circulatory Pathways</vt:lpstr>
      <vt:lpstr>Pulmonary Circulation</vt:lpstr>
      <vt:lpstr>Systemic Circulation</vt:lpstr>
      <vt:lpstr>Major Arteries of the Systemic Circulation (1 of 2)</vt:lpstr>
      <vt:lpstr>Major Arteries of the Systemic Circulation</vt:lpstr>
      <vt:lpstr>Major Veins of the Systemic Circulation (1 of 2)</vt:lpstr>
      <vt:lpstr>Major Veins of the Systemic Circulation (2 of 2)</vt:lpstr>
      <vt:lpstr>BIG TOPIC: Fetal Circulation</vt:lpstr>
      <vt:lpstr>Fetal cardiovascular adaptations</vt:lpstr>
      <vt:lpstr>Lung Bypasses in Fetal Circulation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2002-11-19T06:42:31Z</dcterms:created>
  <dc:creator>gtk</dc:creator>
  <cp:lastModifiedBy>Dr. Alexander Cheroske</cp:lastModifiedBy>
  <dcterms:modified xsi:type="dcterms:W3CDTF">2026-01-13T05:59:40Z</dcterms:modified>
  <cp:revision>183</cp:revision>
  <dc:title>29</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ReadingOrderVerifiedPages">
    <vt:lpwstr>4,10,16,19,22,30,33,40,48,57,66</vt:lpwstr>
  </property>
</Properties>
</file>