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70"/>
  </p:notesMasterIdLst>
  <p:sldIdLst>
    <p:sldId id="397" r:id="rId2"/>
    <p:sldId id="398" r:id="rId3"/>
    <p:sldId id="400" r:id="rId4"/>
    <p:sldId id="264" r:id="rId5"/>
    <p:sldId id="265" r:id="rId6"/>
    <p:sldId id="266" r:id="rId7"/>
    <p:sldId id="267" r:id="rId8"/>
    <p:sldId id="268" r:id="rId9"/>
    <p:sldId id="269" r:id="rId10"/>
    <p:sldId id="270" r:id="rId11"/>
    <p:sldId id="271" r:id="rId12"/>
    <p:sldId id="272" r:id="rId13"/>
    <p:sldId id="345" r:id="rId14"/>
    <p:sldId id="273" r:id="rId15"/>
    <p:sldId id="275" r:id="rId16"/>
    <p:sldId id="276" r:id="rId17"/>
    <p:sldId id="277" r:id="rId18"/>
    <p:sldId id="279" r:id="rId19"/>
    <p:sldId id="280" r:id="rId20"/>
    <p:sldId id="414" r:id="rId21"/>
    <p:sldId id="401" r:id="rId22"/>
    <p:sldId id="281" r:id="rId23"/>
    <p:sldId id="284" r:id="rId24"/>
    <p:sldId id="364" r:id="rId25"/>
    <p:sldId id="372" r:id="rId26"/>
    <p:sldId id="287" r:id="rId27"/>
    <p:sldId id="288" r:id="rId28"/>
    <p:sldId id="289" r:id="rId29"/>
    <p:sldId id="410" r:id="rId30"/>
    <p:sldId id="411" r:id="rId31"/>
    <p:sldId id="413" r:id="rId32"/>
    <p:sldId id="292" r:id="rId33"/>
    <p:sldId id="346" r:id="rId34"/>
    <p:sldId id="347" r:id="rId35"/>
    <p:sldId id="293" r:id="rId36"/>
    <p:sldId id="297" r:id="rId37"/>
    <p:sldId id="405" r:id="rId38"/>
    <p:sldId id="301" r:id="rId39"/>
    <p:sldId id="302" r:id="rId40"/>
    <p:sldId id="303" r:id="rId41"/>
    <p:sldId id="374" r:id="rId42"/>
    <p:sldId id="307" r:id="rId43"/>
    <p:sldId id="415" r:id="rId44"/>
    <p:sldId id="308" r:id="rId45"/>
    <p:sldId id="388" r:id="rId46"/>
    <p:sldId id="402" r:id="rId47"/>
    <p:sldId id="403" r:id="rId48"/>
    <p:sldId id="310" r:id="rId49"/>
    <p:sldId id="311" r:id="rId50"/>
    <p:sldId id="312" r:id="rId51"/>
    <p:sldId id="416" r:id="rId52"/>
    <p:sldId id="417" r:id="rId53"/>
    <p:sldId id="418" r:id="rId54"/>
    <p:sldId id="406" r:id="rId55"/>
    <p:sldId id="419" r:id="rId56"/>
    <p:sldId id="318" r:id="rId57"/>
    <p:sldId id="319" r:id="rId58"/>
    <p:sldId id="407" r:id="rId59"/>
    <p:sldId id="322" r:id="rId60"/>
    <p:sldId id="323" r:id="rId61"/>
    <p:sldId id="324" r:id="rId62"/>
    <p:sldId id="328" r:id="rId63"/>
    <p:sldId id="421" r:id="rId64"/>
    <p:sldId id="334" r:id="rId65"/>
    <p:sldId id="408" r:id="rId66"/>
    <p:sldId id="335" r:id="rId67"/>
    <p:sldId id="404" r:id="rId68"/>
    <p:sldId id="343" r:id="rId6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CC"/>
    <a:srgbClr val="FFCC00"/>
    <a:srgbClr val="99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27" autoAdjust="0"/>
  </p:normalViewPr>
  <p:slideViewPr>
    <p:cSldViewPr snapToGrid="0">
      <p:cViewPr varScale="1">
        <p:scale>
          <a:sx n="105" d="100"/>
          <a:sy n="105" d="100"/>
        </p:scale>
        <p:origin x="88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slides/slide45.xml" Type="http://schemas.openxmlformats.org/officeDocument/2006/relationships/slide"/><Relationship Id="rId47" Target="slides/slide46.xml" Type="http://schemas.openxmlformats.org/officeDocument/2006/relationships/slide"/><Relationship Id="rId48" Target="slides/slide47.xml" Type="http://schemas.openxmlformats.org/officeDocument/2006/relationships/slide"/><Relationship Id="rId49" Target="slides/slide48.xml" Type="http://schemas.openxmlformats.org/officeDocument/2006/relationships/slide"/><Relationship Id="rId5" Target="slides/slide4.xml" Type="http://schemas.openxmlformats.org/officeDocument/2006/relationships/slide"/><Relationship Id="rId50" Target="slides/slide49.xml" Type="http://schemas.openxmlformats.org/officeDocument/2006/relationships/slide"/><Relationship Id="rId51" Target="slides/slide50.xml" Type="http://schemas.openxmlformats.org/officeDocument/2006/relationships/slide"/><Relationship Id="rId52" Target="slides/slide51.xml" Type="http://schemas.openxmlformats.org/officeDocument/2006/relationships/slide"/><Relationship Id="rId53" Target="slides/slide52.xml" Type="http://schemas.openxmlformats.org/officeDocument/2006/relationships/slide"/><Relationship Id="rId54" Target="slides/slide53.xml" Type="http://schemas.openxmlformats.org/officeDocument/2006/relationships/slide"/><Relationship Id="rId55" Target="slides/slide54.xml" Type="http://schemas.openxmlformats.org/officeDocument/2006/relationships/slide"/><Relationship Id="rId56" Target="slides/slide55.xml" Type="http://schemas.openxmlformats.org/officeDocument/2006/relationships/slide"/><Relationship Id="rId57" Target="slides/slide56.xml" Type="http://schemas.openxmlformats.org/officeDocument/2006/relationships/slide"/><Relationship Id="rId58" Target="slides/slide57.xml" Type="http://schemas.openxmlformats.org/officeDocument/2006/relationships/slide"/><Relationship Id="rId59" Target="slides/slide58.xml" Type="http://schemas.openxmlformats.org/officeDocument/2006/relationships/slide"/><Relationship Id="rId6" Target="slides/slide5.xml" Type="http://schemas.openxmlformats.org/officeDocument/2006/relationships/slide"/><Relationship Id="rId60" Target="slides/slide59.xml" Type="http://schemas.openxmlformats.org/officeDocument/2006/relationships/slide"/><Relationship Id="rId61" Target="slides/slide60.xml" Type="http://schemas.openxmlformats.org/officeDocument/2006/relationships/slide"/><Relationship Id="rId62" Target="slides/slide61.xml" Type="http://schemas.openxmlformats.org/officeDocument/2006/relationships/slide"/><Relationship Id="rId63" Target="slides/slide62.xml" Type="http://schemas.openxmlformats.org/officeDocument/2006/relationships/slide"/><Relationship Id="rId64" Target="slides/slide63.xml" Type="http://schemas.openxmlformats.org/officeDocument/2006/relationships/slide"/><Relationship Id="rId65" Target="slides/slide64.xml" Type="http://schemas.openxmlformats.org/officeDocument/2006/relationships/slide"/><Relationship Id="rId66" Target="slides/slide65.xml" Type="http://schemas.openxmlformats.org/officeDocument/2006/relationships/slide"/><Relationship Id="rId67" Target="slides/slide66.xml" Type="http://schemas.openxmlformats.org/officeDocument/2006/relationships/slide"/><Relationship Id="rId68" Target="slides/slide67.xml" Type="http://schemas.openxmlformats.org/officeDocument/2006/relationships/slide"/><Relationship Id="rId69" Target="slides/slide68.xml" Type="http://schemas.openxmlformats.org/officeDocument/2006/relationships/slide"/><Relationship Id="rId7" Target="slides/slide6.xml" Type="http://schemas.openxmlformats.org/officeDocument/2006/relationships/slide"/><Relationship Id="rId70" Target="notesMasters/notesMaster1.xml" Type="http://schemas.openxmlformats.org/officeDocument/2006/relationships/notesMaster"/><Relationship Id="rId71" Target="presProps.xml" Type="http://schemas.openxmlformats.org/officeDocument/2006/relationships/presProps"/><Relationship Id="rId72" Target="viewProps.xml" Type="http://schemas.openxmlformats.org/officeDocument/2006/relationships/viewProps"/><Relationship Id="rId73" Target="theme/theme1.xml" Type="http://schemas.openxmlformats.org/officeDocument/2006/relationships/theme"/><Relationship Id="rId74" Target="tableStyles.xml" Type="http://schemas.openxmlformats.org/officeDocument/2006/relationships/tableStyles"/><Relationship Id="rId8" Target="slides/slide7.xml" Type="http://schemas.openxmlformats.org/officeDocument/2006/relationships/slide"/><Relationship Id="rId9" Target="slides/slide8.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DEB197-782B-4BB0-8AAE-30F3BB0FDB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79B3A12A-DF71-425F-859A-2A1C01C833BF}"/>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99382F00-05CB-40AA-8729-7134DB3551B7}" type="datetimeFigureOut">
              <a:rPr lang="en-US"/>
              <a:pPr>
                <a:defRPr/>
              </a:pPr>
              <a:t>1/12/2026</a:t>
            </a:fld>
            <a:endParaRPr lang="en-US"/>
          </a:p>
        </p:txBody>
      </p:sp>
      <p:sp>
        <p:nvSpPr>
          <p:cNvPr id="4" name="Slide Image Placeholder 3">
            <a:extLst>
              <a:ext uri="{FF2B5EF4-FFF2-40B4-BE49-F238E27FC236}">
                <a16:creationId xmlns:a16="http://schemas.microsoft.com/office/drawing/2014/main" id="{57E12F94-5A18-4C9C-9F6D-34356CD04336}"/>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20AD212-FFEA-47AC-B310-AB5966BD433B}"/>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5F0736B-B347-45CA-9588-A4677773F13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E469E611-7465-4DE4-869A-450B116A4C6B}"/>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2AA9D0E6-05DC-465C-A8BD-8C30254A49A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89062A76-10B6-4C50-88B4-830B51D0FA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B9C0655A-C865-4732-9B78-A2963A51D6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
        <p:nvSpPr>
          <p:cNvPr id="26628" name="Slide Number Placeholder 3">
            <a:extLst>
              <a:ext uri="{FF2B5EF4-FFF2-40B4-BE49-F238E27FC236}">
                <a16:creationId xmlns:a16="http://schemas.microsoft.com/office/drawing/2014/main" id="{C2E73E11-803C-4783-8376-242A2B9E9E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C63466E-B5C0-4083-A68B-8C7CA8F71826}" type="slidenum">
              <a:rPr lang="en-US" altLang="en-US" sz="1200" smtClean="0">
                <a:latin typeface="Times" panose="02020603050405020304" pitchFamily="18" charset="0"/>
                <a:ea typeface="MS PGothic" panose="020B0600070205080204" pitchFamily="34" charset="-128"/>
              </a:rPr>
              <a:pPr/>
              <a:t>20</a:t>
            </a:fld>
            <a:endParaRPr lang="en-US" altLang="en-US" sz="1200">
              <a:latin typeface="Times" panose="02020603050405020304" pitchFamily="18"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0D0B6326-69F0-4624-BE9D-D37DB18688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7FA03D1F-6618-4EE0-8044-61433474F9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
        <p:nvSpPr>
          <p:cNvPr id="51204" name="Slide Number Placeholder 3">
            <a:extLst>
              <a:ext uri="{FF2B5EF4-FFF2-40B4-BE49-F238E27FC236}">
                <a16:creationId xmlns:a16="http://schemas.microsoft.com/office/drawing/2014/main" id="{12B49715-8C70-404A-BFFC-3CA2687DD2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A2BE1B6-5F18-45FC-A1F1-298DC636D8E2}" type="slidenum">
              <a:rPr lang="en-US" altLang="en-US" sz="1200" smtClean="0">
                <a:latin typeface="Times" panose="02020603050405020304" pitchFamily="18" charset="0"/>
                <a:ea typeface="MS PGothic" panose="020B0600070205080204" pitchFamily="34" charset="-128"/>
              </a:rPr>
              <a:pPr/>
              <a:t>29</a:t>
            </a:fld>
            <a:endParaRPr lang="en-US" altLang="en-US" sz="1200">
              <a:latin typeface="Times" panose="02020603050405020304" pitchFamily="18"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965648A0-70E3-4D34-8E64-749E30BB65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AA2C857F-E82A-47DD-99D8-046C62F79B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
        <p:nvSpPr>
          <p:cNvPr id="53252" name="Slide Number Placeholder 3">
            <a:extLst>
              <a:ext uri="{FF2B5EF4-FFF2-40B4-BE49-F238E27FC236}">
                <a16:creationId xmlns:a16="http://schemas.microsoft.com/office/drawing/2014/main" id="{F0851734-4181-4F62-8D58-0E7FB89E17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4762217-FA3A-4468-9932-F9EB6D2E6048}" type="slidenum">
              <a:rPr lang="en-US" altLang="en-US" sz="1200" smtClean="0">
                <a:latin typeface="Times" panose="02020603050405020304" pitchFamily="18" charset="0"/>
                <a:ea typeface="MS PGothic" panose="020B0600070205080204" pitchFamily="34" charset="-128"/>
              </a:rPr>
              <a:pPr/>
              <a:t>30</a:t>
            </a:fld>
            <a:endParaRPr lang="en-US" altLang="en-US" sz="1200">
              <a:latin typeface="Times" panose="02020603050405020304" pitchFamily="18"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EC309923-1210-4DCF-B01C-033FEA77CE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EAEC3567-4D7A-4745-A899-57CA3835EE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7348" name="Slide Number Placeholder 3">
            <a:extLst>
              <a:ext uri="{FF2B5EF4-FFF2-40B4-BE49-F238E27FC236}">
                <a16:creationId xmlns:a16="http://schemas.microsoft.com/office/drawing/2014/main" id="{A188DFC5-687D-4BED-AC98-BC7F508000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E827CA5-E295-4549-91B6-50393BD9219C}" type="slidenum">
              <a:rPr lang="en-US" altLang="en-US" sz="1200" smtClean="0">
                <a:solidFill>
                  <a:srgbClr val="000000"/>
                </a:solidFill>
                <a:latin typeface="Calibri" panose="020F0502020204030204" pitchFamily="34" charset="0"/>
              </a:rPr>
              <a:pPr/>
              <a:t>31</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6FC8A2CD-5F35-465F-9138-1DC31EC4F1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FF7D4AB2-A88D-4E72-93EE-28DA1254B8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
        <p:nvSpPr>
          <p:cNvPr id="77828" name="Slide Number Placeholder 3">
            <a:extLst>
              <a:ext uri="{FF2B5EF4-FFF2-40B4-BE49-F238E27FC236}">
                <a16:creationId xmlns:a16="http://schemas.microsoft.com/office/drawing/2014/main" id="{0336944A-B93B-446F-AE6D-66DE918778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825FDE3-92B0-4E1A-AFB6-8091A13D8DEC}" type="slidenum">
              <a:rPr lang="en-US" altLang="en-US" sz="1200" smtClean="0">
                <a:latin typeface="Times" panose="02020603050405020304" pitchFamily="18" charset="0"/>
                <a:ea typeface="MS PGothic" panose="020B0600070205080204" pitchFamily="34" charset="-128"/>
              </a:rPr>
              <a:pPr/>
              <a:t>43</a:t>
            </a:fld>
            <a:endParaRPr lang="en-US" altLang="en-US" sz="1200">
              <a:latin typeface="Times" panose="02020603050405020304" pitchFamily="18"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05F2AE9C-662E-40F3-A8F6-CE8D63DA9B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a:extLst>
              <a:ext uri="{FF2B5EF4-FFF2-40B4-BE49-F238E27FC236}">
                <a16:creationId xmlns:a16="http://schemas.microsoft.com/office/drawing/2014/main" id="{AC260259-EC4E-4BB4-9132-D81D444F16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7044" name="Slide Number Placeholder 3">
            <a:extLst>
              <a:ext uri="{FF2B5EF4-FFF2-40B4-BE49-F238E27FC236}">
                <a16:creationId xmlns:a16="http://schemas.microsoft.com/office/drawing/2014/main" id="{D391DFA1-24E1-4871-BEB4-BC74169FEAD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08E6158-F6AB-4B5C-853D-3AE631C405BC}" type="slidenum">
              <a:rPr lang="en-US" altLang="en-US" sz="1200" smtClean="0">
                <a:solidFill>
                  <a:srgbClr val="000000"/>
                </a:solidFill>
                <a:latin typeface="Calibri" panose="020F0502020204030204" pitchFamily="34" charset="0"/>
              </a:rPr>
              <a:pPr/>
              <a:t>51</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C3AD0F9C-4154-427C-A08D-EF130E4B13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a:extLst>
              <a:ext uri="{FF2B5EF4-FFF2-40B4-BE49-F238E27FC236}">
                <a16:creationId xmlns:a16="http://schemas.microsoft.com/office/drawing/2014/main" id="{087ADF09-8D94-4788-88E4-08CA782413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9092" name="Slide Number Placeholder 3">
            <a:extLst>
              <a:ext uri="{FF2B5EF4-FFF2-40B4-BE49-F238E27FC236}">
                <a16:creationId xmlns:a16="http://schemas.microsoft.com/office/drawing/2014/main" id="{739A5C06-2DB3-4F9A-BBCC-24D49F569D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6BF3C6C-C60B-46FA-B02F-E23A8157879E}" type="slidenum">
              <a:rPr lang="en-US" altLang="en-US" sz="1200" smtClean="0">
                <a:solidFill>
                  <a:srgbClr val="000000"/>
                </a:solidFill>
                <a:latin typeface="Calibri" panose="020F0502020204030204" pitchFamily="34" charset="0"/>
              </a:rPr>
              <a:pPr/>
              <a:t>52</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9053F0EE-4F4F-4413-B09C-F075B5D523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a:extLst>
              <a:ext uri="{FF2B5EF4-FFF2-40B4-BE49-F238E27FC236}">
                <a16:creationId xmlns:a16="http://schemas.microsoft.com/office/drawing/2014/main" id="{5B8F2EC3-1ED4-4072-A70C-E952E7D387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91140" name="Slide Number Placeholder 3">
            <a:extLst>
              <a:ext uri="{FF2B5EF4-FFF2-40B4-BE49-F238E27FC236}">
                <a16:creationId xmlns:a16="http://schemas.microsoft.com/office/drawing/2014/main" id="{05C3416D-9264-4D45-B0F6-43EEEAB7E0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1F9FF3D-35D1-4FE9-B5A4-0953EAF9FF36}" type="slidenum">
              <a:rPr lang="en-US" altLang="en-US" sz="1200" smtClean="0">
                <a:solidFill>
                  <a:srgbClr val="000000"/>
                </a:solidFill>
                <a:latin typeface="Calibri" panose="020F0502020204030204" pitchFamily="34" charset="0"/>
              </a:rPr>
              <a:pPr/>
              <a:t>53</a:t>
            </a:fld>
            <a:endParaRPr lang="en-US" altLang="en-US" sz="1200">
              <a:solidFill>
                <a:srgbClr val="000000"/>
              </a:solidFill>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56E13D9F-A337-4750-9A2C-79DA11CF24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08CAEE07-6383-476F-AF7D-24401003C2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
        <p:nvSpPr>
          <p:cNvPr id="94212" name="Slide Number Placeholder 3">
            <a:extLst>
              <a:ext uri="{FF2B5EF4-FFF2-40B4-BE49-F238E27FC236}">
                <a16:creationId xmlns:a16="http://schemas.microsoft.com/office/drawing/2014/main" id="{2048F32A-4861-4EEF-A0CD-AF89E7FB3B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A31206F-D06A-4123-9CDF-0E5B3E3D089B}" type="slidenum">
              <a:rPr lang="en-US" altLang="en-US" sz="1200" smtClean="0">
                <a:latin typeface="Times" panose="02020603050405020304" pitchFamily="18" charset="0"/>
                <a:ea typeface="MS PGothic" panose="020B0600070205080204" pitchFamily="34" charset="-128"/>
              </a:rPr>
              <a:pPr/>
              <a:t>55</a:t>
            </a:fld>
            <a:endParaRPr lang="en-US" altLang="en-US" sz="1200">
              <a:latin typeface="Times" panose="02020603050405020304" pitchFamily="18" charset="0"/>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a:extLst>
              <a:ext uri="{FF2B5EF4-FFF2-40B4-BE49-F238E27FC236}">
                <a16:creationId xmlns:a16="http://schemas.microsoft.com/office/drawing/2014/main" id="{2540A7DF-95DD-43C0-983F-966AEBEC0C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a:extLst>
              <a:ext uri="{FF2B5EF4-FFF2-40B4-BE49-F238E27FC236}">
                <a16:creationId xmlns:a16="http://schemas.microsoft.com/office/drawing/2014/main" id="{294299ED-1EC5-41E1-B437-998586ECCE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
        <p:nvSpPr>
          <p:cNvPr id="105476" name="Slide Number Placeholder 3">
            <a:extLst>
              <a:ext uri="{FF2B5EF4-FFF2-40B4-BE49-F238E27FC236}">
                <a16:creationId xmlns:a16="http://schemas.microsoft.com/office/drawing/2014/main" id="{E40AFC13-AF8E-4B18-8E08-6F73ED283F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6E88F16-6AFE-4DD6-B796-CF65513BDE11}" type="slidenum">
              <a:rPr lang="en-US" altLang="en-US" sz="1200" smtClean="0">
                <a:latin typeface="Times" panose="02020603050405020304" pitchFamily="18" charset="0"/>
                <a:ea typeface="MS PGothic" panose="020B0600070205080204" pitchFamily="34" charset="-128"/>
              </a:rPr>
              <a:pPr/>
              <a:t>63</a:t>
            </a:fld>
            <a:endParaRPr lang="en-US" altLang="en-US" sz="1200">
              <a:latin typeface="Times" panose="02020603050405020304" pitchFamily="18" charset="0"/>
              <a:ea typeface="MS PGothic" panose="020B0600070205080204" pitchFamily="34" charset="-128"/>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jpe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35910Marieb7e_lores">
            <a:extLst>
              <a:ext uri="{FF2B5EF4-FFF2-40B4-BE49-F238E27FC236}">
                <a16:creationId xmlns:a16="http://schemas.microsoft.com/office/drawing/2014/main" id="{596452EA-63D1-4A8E-8DD2-2040B4D94C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260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3">
            <a:extLst>
              <a:ext uri="{FF2B5EF4-FFF2-40B4-BE49-F238E27FC236}">
                <a16:creationId xmlns:a16="http://schemas.microsoft.com/office/drawing/2014/main" id="{0BBEFAFA-6F0E-49A5-B5EC-3260F586D813}"/>
              </a:ext>
            </a:extLst>
          </p:cNvPr>
          <p:cNvSpPr>
            <a:spLocks noChangeArrowheads="1"/>
          </p:cNvSpPr>
          <p:nvPr/>
        </p:nvSpPr>
        <p:spPr bwMode="auto">
          <a:xfrm>
            <a:off x="5334000" y="0"/>
            <a:ext cx="3043238" cy="6858000"/>
          </a:xfrm>
          <a:prstGeom prst="flowChartDelay">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a:p>
        </p:txBody>
      </p:sp>
      <p:sp>
        <p:nvSpPr>
          <p:cNvPr id="6" name="Text Box 4">
            <a:extLst>
              <a:ext uri="{FF2B5EF4-FFF2-40B4-BE49-F238E27FC236}">
                <a16:creationId xmlns:a16="http://schemas.microsoft.com/office/drawing/2014/main" id="{6F9FD146-1D07-4A1A-B29B-DE4EA827A823}"/>
              </a:ext>
            </a:extLst>
          </p:cNvPr>
          <p:cNvSpPr txBox="1">
            <a:spLocks noChangeArrowheads="1"/>
          </p:cNvSpPr>
          <p:nvPr/>
        </p:nvSpPr>
        <p:spPr bwMode="auto">
          <a:xfrm>
            <a:off x="514350" y="6483350"/>
            <a:ext cx="4551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1000">
                <a:solidFill>
                  <a:srgbClr val="D9E30D"/>
                </a:solidFill>
                <a:latin typeface="Arial" panose="020B0604020202020204" pitchFamily="34" charset="0"/>
              </a:rPr>
              <a:t>Copyright © 2006 Pearson Education, Inc., publishing as Benjamin Cummings</a:t>
            </a:r>
          </a:p>
        </p:txBody>
      </p:sp>
      <p:sp>
        <p:nvSpPr>
          <p:cNvPr id="7" name="Text Box 5">
            <a:extLst>
              <a:ext uri="{FF2B5EF4-FFF2-40B4-BE49-F238E27FC236}">
                <a16:creationId xmlns:a16="http://schemas.microsoft.com/office/drawing/2014/main" id="{007D7FD2-1F01-4FEE-A136-D1099BEE86BE}"/>
              </a:ext>
            </a:extLst>
          </p:cNvPr>
          <p:cNvSpPr txBox="1">
            <a:spLocks noChangeArrowheads="1"/>
          </p:cNvSpPr>
          <p:nvPr/>
        </p:nvSpPr>
        <p:spPr bwMode="auto">
          <a:xfrm>
            <a:off x="2511425" y="4135438"/>
            <a:ext cx="2532063" cy="172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defRPr/>
            </a:pPr>
            <a:r>
              <a:rPr lang="en-US" altLang="en-US" sz="3200">
                <a:solidFill>
                  <a:schemeClr val="accent2"/>
                </a:solidFill>
                <a:latin typeface="Arial" panose="020B0604020202020204" pitchFamily="34" charset="0"/>
              </a:rPr>
              <a:t>Human </a:t>
            </a:r>
          </a:p>
          <a:p>
            <a:pPr>
              <a:lnSpc>
                <a:spcPct val="90000"/>
              </a:lnSpc>
              <a:defRPr/>
            </a:pPr>
            <a:r>
              <a:rPr lang="en-US" altLang="en-US" sz="3200">
                <a:solidFill>
                  <a:schemeClr val="accent2"/>
                </a:solidFill>
                <a:latin typeface="Arial" panose="020B0604020202020204" pitchFamily="34" charset="0"/>
              </a:rPr>
              <a:t>Anatomy </a:t>
            </a:r>
          </a:p>
          <a:p>
            <a:pPr>
              <a:lnSpc>
                <a:spcPct val="90000"/>
              </a:lnSpc>
              <a:defRPr/>
            </a:pPr>
            <a:r>
              <a:rPr lang="en-US" altLang="en-US" sz="3200">
                <a:solidFill>
                  <a:schemeClr val="accent2"/>
                </a:solidFill>
                <a:latin typeface="Arial" panose="020B0604020202020204" pitchFamily="34" charset="0"/>
              </a:rPr>
              <a:t>&amp; Physiology</a:t>
            </a:r>
          </a:p>
          <a:p>
            <a:pPr>
              <a:spcBef>
                <a:spcPct val="50000"/>
              </a:spcBef>
              <a:defRPr/>
            </a:pPr>
            <a:r>
              <a:rPr lang="en-US" altLang="en-US" sz="1400" b="1">
                <a:solidFill>
                  <a:srgbClr val="D9E30D"/>
                </a:solidFill>
                <a:latin typeface="Arial" panose="020B0604020202020204" pitchFamily="34" charset="0"/>
              </a:rPr>
              <a:t>SEVENTH EDITION</a:t>
            </a:r>
          </a:p>
        </p:txBody>
      </p:sp>
      <p:sp>
        <p:nvSpPr>
          <p:cNvPr id="8" name="Text Box 6">
            <a:extLst>
              <a:ext uri="{FF2B5EF4-FFF2-40B4-BE49-F238E27FC236}">
                <a16:creationId xmlns:a16="http://schemas.microsoft.com/office/drawing/2014/main" id="{6EA34D1C-1780-4F54-80EE-E3842F5C6DFE}"/>
              </a:ext>
            </a:extLst>
          </p:cNvPr>
          <p:cNvSpPr txBox="1">
            <a:spLocks noChangeArrowheads="1"/>
          </p:cNvSpPr>
          <p:nvPr/>
        </p:nvSpPr>
        <p:spPr bwMode="auto">
          <a:xfrm>
            <a:off x="42863" y="352425"/>
            <a:ext cx="22510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2200">
                <a:solidFill>
                  <a:schemeClr val="bg1"/>
                </a:solidFill>
                <a:latin typeface="Arial" panose="020B0604020202020204" pitchFamily="34" charset="0"/>
              </a:rPr>
              <a:t>Elaine N. Marieb</a:t>
            </a:r>
          </a:p>
          <a:p>
            <a:pPr>
              <a:defRPr/>
            </a:pPr>
            <a:r>
              <a:rPr lang="en-US" altLang="en-US" sz="2200">
                <a:solidFill>
                  <a:schemeClr val="bg1"/>
                </a:solidFill>
                <a:latin typeface="Arial" panose="020B0604020202020204" pitchFamily="34" charset="0"/>
              </a:rPr>
              <a:t>Katja Hoehn</a:t>
            </a:r>
          </a:p>
        </p:txBody>
      </p:sp>
      <p:sp>
        <p:nvSpPr>
          <p:cNvPr id="9" name="Rectangle 7">
            <a:extLst>
              <a:ext uri="{FF2B5EF4-FFF2-40B4-BE49-F238E27FC236}">
                <a16:creationId xmlns:a16="http://schemas.microsoft.com/office/drawing/2014/main" id="{BE34A4A9-C082-4D39-A019-2BC6E0E90687}"/>
              </a:ext>
            </a:extLst>
          </p:cNvPr>
          <p:cNvSpPr>
            <a:spLocks noChangeArrowheads="1"/>
          </p:cNvSpPr>
          <p:nvPr/>
        </p:nvSpPr>
        <p:spPr bwMode="auto">
          <a:xfrm>
            <a:off x="5308600" y="0"/>
            <a:ext cx="3835400" cy="6858000"/>
          </a:xfrm>
          <a:prstGeom prst="rect">
            <a:avLst/>
          </a:prstGeom>
          <a:solidFill>
            <a:srgbClr val="0989C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a:p>
        </p:txBody>
      </p:sp>
      <p:sp>
        <p:nvSpPr>
          <p:cNvPr id="10" name="Line 8">
            <a:extLst>
              <a:ext uri="{FF2B5EF4-FFF2-40B4-BE49-F238E27FC236}">
                <a16:creationId xmlns:a16="http://schemas.microsoft.com/office/drawing/2014/main" id="{7A61B340-20B4-49B9-8B8D-80B94EABFA2C}"/>
              </a:ext>
            </a:extLst>
          </p:cNvPr>
          <p:cNvSpPr>
            <a:spLocks noChangeShapeType="1"/>
          </p:cNvSpPr>
          <p:nvPr/>
        </p:nvSpPr>
        <p:spPr bwMode="auto">
          <a:xfrm>
            <a:off x="5530850" y="3268663"/>
            <a:ext cx="3613150" cy="0"/>
          </a:xfrm>
          <a:prstGeom prst="line">
            <a:avLst/>
          </a:prstGeom>
          <a:noFill/>
          <a:ln w="57150">
            <a:solidFill>
              <a:srgbClr val="D9E30D"/>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1" name="Text Box 11">
            <a:extLst>
              <a:ext uri="{FF2B5EF4-FFF2-40B4-BE49-F238E27FC236}">
                <a16:creationId xmlns:a16="http://schemas.microsoft.com/office/drawing/2014/main" id="{1505C16D-EAE3-4C11-A00D-4FD51D12B9EB}"/>
              </a:ext>
            </a:extLst>
          </p:cNvPr>
          <p:cNvSpPr txBox="1">
            <a:spLocks noChangeArrowheads="1"/>
          </p:cNvSpPr>
          <p:nvPr/>
        </p:nvSpPr>
        <p:spPr bwMode="auto">
          <a:xfrm>
            <a:off x="5741988" y="274638"/>
            <a:ext cx="330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2000">
                <a:solidFill>
                  <a:srgbClr val="D9E30D"/>
                </a:solidFill>
                <a:latin typeface="Arial" panose="020B0604020202020204" pitchFamily="34" charset="0"/>
              </a:rPr>
              <a:t>PowerPoint</a:t>
            </a:r>
            <a:r>
              <a:rPr lang="en-US" altLang="en-US" sz="2000" baseline="30000">
                <a:solidFill>
                  <a:srgbClr val="D9E30D"/>
                </a:solidFill>
                <a:latin typeface="Arial" panose="020B0604020202020204" pitchFamily="34" charset="0"/>
              </a:rPr>
              <a:t>®</a:t>
            </a:r>
            <a:r>
              <a:rPr lang="en-US" altLang="en-US" sz="2000">
                <a:solidFill>
                  <a:srgbClr val="D9E30D"/>
                </a:solidFill>
                <a:latin typeface="Arial" panose="020B0604020202020204" pitchFamily="34" charset="0"/>
              </a:rPr>
              <a:t> Lecture Slides</a:t>
            </a:r>
            <a:r>
              <a:rPr lang="en-US" altLang="en-US" sz="2000">
                <a:solidFill>
                  <a:srgbClr val="08A5CA"/>
                </a:solidFill>
                <a:latin typeface="Arial" panose="020B0604020202020204" pitchFamily="34" charset="0"/>
              </a:rPr>
              <a:t> </a:t>
            </a:r>
          </a:p>
          <a:p>
            <a:pPr>
              <a:defRPr/>
            </a:pPr>
            <a:r>
              <a:rPr lang="en-US" altLang="en-US" sz="2000">
                <a:solidFill>
                  <a:schemeClr val="bg1"/>
                </a:solidFill>
                <a:latin typeface="Arial" panose="020B0604020202020204" pitchFamily="34" charset="0"/>
              </a:rPr>
              <a:t>prepared by Vince Austin, </a:t>
            </a:r>
          </a:p>
          <a:p>
            <a:pPr>
              <a:defRPr/>
            </a:pPr>
            <a:r>
              <a:rPr lang="en-US" altLang="en-US" sz="2000">
                <a:solidFill>
                  <a:schemeClr val="bg1"/>
                </a:solidFill>
                <a:latin typeface="Arial" panose="020B0604020202020204" pitchFamily="34" charset="0"/>
              </a:rPr>
              <a:t>Bluegrass Technical </a:t>
            </a:r>
            <a:br>
              <a:rPr lang="en-US" altLang="en-US" sz="2000">
                <a:solidFill>
                  <a:schemeClr val="bg1"/>
                </a:solidFill>
                <a:latin typeface="Arial" panose="020B0604020202020204" pitchFamily="34" charset="0"/>
              </a:rPr>
            </a:br>
            <a:r>
              <a:rPr lang="en-US" altLang="en-US" sz="2000">
                <a:solidFill>
                  <a:schemeClr val="bg1"/>
                </a:solidFill>
                <a:latin typeface="Arial" panose="020B0604020202020204" pitchFamily="34" charset="0"/>
              </a:rPr>
              <a:t>and Community College</a:t>
            </a:r>
          </a:p>
        </p:txBody>
      </p:sp>
      <p:sp>
        <p:nvSpPr>
          <p:cNvPr id="12" name="Line 12">
            <a:extLst>
              <a:ext uri="{FF2B5EF4-FFF2-40B4-BE49-F238E27FC236}">
                <a16:creationId xmlns:a16="http://schemas.microsoft.com/office/drawing/2014/main" id="{DE7C858E-B0E9-4E4C-A473-0E9714BB3A5E}"/>
              </a:ext>
            </a:extLst>
          </p:cNvPr>
          <p:cNvSpPr>
            <a:spLocks noChangeShapeType="1"/>
          </p:cNvSpPr>
          <p:nvPr/>
        </p:nvSpPr>
        <p:spPr bwMode="auto">
          <a:xfrm>
            <a:off x="5307013" y="0"/>
            <a:ext cx="0" cy="6858000"/>
          </a:xfrm>
          <a:prstGeom prst="line">
            <a:avLst/>
          </a:prstGeom>
          <a:noFill/>
          <a:ln w="4572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Text Box 13">
            <a:extLst>
              <a:ext uri="{FF2B5EF4-FFF2-40B4-BE49-F238E27FC236}">
                <a16:creationId xmlns:a16="http://schemas.microsoft.com/office/drawing/2014/main" id="{2E6727C1-C09C-4858-AD12-40E37F592D40}"/>
              </a:ext>
            </a:extLst>
          </p:cNvPr>
          <p:cNvSpPr txBox="1">
            <a:spLocks noChangeArrowheads="1"/>
          </p:cNvSpPr>
          <p:nvPr/>
        </p:nvSpPr>
        <p:spPr bwMode="auto">
          <a:xfrm rot="16200000">
            <a:off x="4851401" y="2211387"/>
            <a:ext cx="16700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Aft>
                <a:spcPct val="50000"/>
              </a:spcAft>
              <a:buClr>
                <a:srgbClr val="669900"/>
              </a:buClr>
              <a:buFont typeface="Wingdings" panose="05000000000000000000" pitchFamily="2" charset="2"/>
              <a:buNone/>
              <a:defRPr/>
            </a:pPr>
            <a:r>
              <a:rPr lang="en-US" altLang="en-US" sz="1800" b="1">
                <a:solidFill>
                  <a:srgbClr val="D9E30D"/>
                </a:solidFill>
                <a:latin typeface="Arial" panose="020B0604020202020204" pitchFamily="34" charset="0"/>
              </a:rPr>
              <a:t>C H A P T E R</a:t>
            </a:r>
          </a:p>
        </p:txBody>
      </p:sp>
      <p:sp>
        <p:nvSpPr>
          <p:cNvPr id="332809" name="Rectangle 9"/>
          <p:cNvSpPr>
            <a:spLocks noGrp="1" noChangeArrowheads="1"/>
          </p:cNvSpPr>
          <p:nvPr>
            <p:ph type="ctrTitle"/>
          </p:nvPr>
        </p:nvSpPr>
        <p:spPr>
          <a:xfrm>
            <a:off x="5827713" y="2039938"/>
            <a:ext cx="3316287" cy="1414462"/>
          </a:xfrm>
          <a:extLst>
            <a:ext uri="{909E8E84-426E-40DD-AFC4-6F175D3DCCD1}">
              <a14:hiddenFill xmlns:a14="http://schemas.microsoft.com/office/drawing/2010/main">
                <a:solidFill>
                  <a:schemeClr val="accent1"/>
                </a:solidFill>
              </a14:hiddenFill>
            </a:ext>
          </a:extLst>
        </p:spPr>
        <p:txBody>
          <a:bodyPr anchor="ctr"/>
          <a:lstStyle>
            <a:lvl1pPr>
              <a:defRPr sz="20000" i="1">
                <a:solidFill>
                  <a:srgbClr val="4DC2E7"/>
                </a:solidFill>
              </a:defRPr>
            </a:lvl1pPr>
          </a:lstStyle>
          <a:p>
            <a:pPr lvl="0"/>
            <a:r>
              <a:rPr lang="en-US" altLang="en-US" noProof="0"/>
              <a:t>Click to edit Master title style</a:t>
            </a:r>
          </a:p>
        </p:txBody>
      </p:sp>
      <p:sp>
        <p:nvSpPr>
          <p:cNvPr id="332810" name="Rectangle 10"/>
          <p:cNvSpPr>
            <a:spLocks noGrp="1" noChangeArrowheads="1"/>
          </p:cNvSpPr>
          <p:nvPr>
            <p:ph type="subTitle" idx="1"/>
          </p:nvPr>
        </p:nvSpPr>
        <p:spPr>
          <a:xfrm>
            <a:off x="5756275" y="4086225"/>
            <a:ext cx="3113088" cy="2286000"/>
          </a:xfrm>
        </p:spPr>
        <p:txBody>
          <a:bodyPr/>
          <a:lstStyle>
            <a:lvl1pPr marL="0" indent="0">
              <a:lnSpc>
                <a:spcPct val="90000"/>
              </a:lnSpc>
              <a:buFont typeface="Wingdings" panose="05000000000000000000" pitchFamily="2" charset="2"/>
              <a:buNone/>
              <a:defRPr sz="3500">
                <a:solidFill>
                  <a:schemeClr val="bg1"/>
                </a:solidFill>
                <a:latin typeface="Arial" panose="020B0604020202020204" pitchFamily="34" charset="0"/>
              </a:defRPr>
            </a:lvl1pPr>
          </a:lstStyle>
          <a:p>
            <a:pPr lvl="0"/>
            <a:r>
              <a:rPr lang="en-US" altLang="en-US" noProof="0"/>
              <a:t>Click to edit Master subtitle style</a:t>
            </a:r>
          </a:p>
        </p:txBody>
      </p:sp>
    </p:spTree>
    <p:extLst>
      <p:ext uri="{BB962C8B-B14F-4D97-AF65-F5344CB8AC3E}">
        <p14:creationId xmlns:p14="http://schemas.microsoft.com/office/powerpoint/2010/main" val="3492402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6304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313162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98450" y="977900"/>
            <a:ext cx="4059238"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10088" y="977900"/>
            <a:ext cx="4059237"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1698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121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18107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72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62132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04915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7403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1163" y="261938"/>
            <a:ext cx="2154237" cy="57721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8450" y="261938"/>
            <a:ext cx="6310313" cy="57721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9536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304800" y="261938"/>
            <a:ext cx="8610600" cy="609600"/>
          </a:xfrm>
        </p:spPr>
        <p:txBody>
          <a:bodyPr/>
          <a:lstStyle/>
          <a:p>
            <a:r>
              <a:rPr lang="en-US"/>
              <a:t>Click to edit Master title style</a:t>
            </a:r>
          </a:p>
        </p:txBody>
      </p:sp>
      <p:sp>
        <p:nvSpPr>
          <p:cNvPr id="3" name="Text Placeholder 2"/>
          <p:cNvSpPr>
            <a:spLocks noGrp="1"/>
          </p:cNvSpPr>
          <p:nvPr>
            <p:ph type="body" sz="half" idx="1"/>
          </p:nvPr>
        </p:nvSpPr>
        <p:spPr>
          <a:xfrm>
            <a:off x="298450" y="977900"/>
            <a:ext cx="4059238"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nline Image Placeholder 3"/>
          <p:cNvSpPr>
            <a:spLocks noGrp="1"/>
          </p:cNvSpPr>
          <p:nvPr>
            <p:ph type="clipArt" sz="half" idx="2"/>
          </p:nvPr>
        </p:nvSpPr>
        <p:spPr>
          <a:xfrm>
            <a:off x="4510088" y="977900"/>
            <a:ext cx="4059237" cy="5056188"/>
          </a:xfrm>
        </p:spPr>
        <p:txBody>
          <a:bodyPr/>
          <a:lstStyle/>
          <a:p>
            <a:pPr lvl="0"/>
            <a:endParaRPr lang="en-US" noProof="0"/>
          </a:p>
        </p:txBody>
      </p:sp>
    </p:spTree>
    <p:extLst>
      <p:ext uri="{BB962C8B-B14F-4D97-AF65-F5344CB8AC3E}">
        <p14:creationId xmlns:p14="http://schemas.microsoft.com/office/powerpoint/2010/main" val="1317385610"/>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6DDBC32-C113-443E-A4BE-C13E4464AA9C}"/>
              </a:ext>
            </a:extLst>
          </p:cNvPr>
          <p:cNvSpPr>
            <a:spLocks noGrp="1" noChangeArrowheads="1"/>
          </p:cNvSpPr>
          <p:nvPr>
            <p:ph type="title"/>
          </p:nvPr>
        </p:nvSpPr>
        <p:spPr bwMode="auto">
          <a:xfrm>
            <a:off x="304800" y="261938"/>
            <a:ext cx="8610600" cy="6096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31450A3-326E-4A0A-A039-BEF5DFE19255}"/>
              </a:ext>
            </a:extLst>
          </p:cNvPr>
          <p:cNvSpPr>
            <a:spLocks noGrp="1" noChangeArrowheads="1"/>
          </p:cNvSpPr>
          <p:nvPr>
            <p:ph type="body" idx="1"/>
          </p:nvPr>
        </p:nvSpPr>
        <p:spPr bwMode="auto">
          <a:xfrm>
            <a:off x="298450" y="977900"/>
            <a:ext cx="8270875" cy="505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Text Box 4">
            <a:extLst>
              <a:ext uri="{FF2B5EF4-FFF2-40B4-BE49-F238E27FC236}">
                <a16:creationId xmlns:a16="http://schemas.microsoft.com/office/drawing/2014/main" id="{BE855BC2-56E7-4574-A4A3-0F7554336639}"/>
              </a:ext>
            </a:extLst>
          </p:cNvPr>
          <p:cNvSpPr txBox="1">
            <a:spLocks noChangeArrowheads="1"/>
          </p:cNvSpPr>
          <p:nvPr/>
        </p:nvSpPr>
        <p:spPr bwMode="auto">
          <a:xfrm>
            <a:off x="228600" y="6521450"/>
            <a:ext cx="4551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1000">
                <a:solidFill>
                  <a:srgbClr val="0989C9"/>
                </a:solidFill>
                <a:latin typeface="Arial" panose="020B0604020202020204" pitchFamily="34" charset="0"/>
              </a:rPr>
              <a:t>Copyright © 2006 Pearson Education, Inc., publishing as Benjamin Cummings</a:t>
            </a:r>
          </a:p>
        </p:txBody>
      </p:sp>
      <p:sp>
        <p:nvSpPr>
          <p:cNvPr id="1029" name="Line 5">
            <a:extLst>
              <a:ext uri="{FF2B5EF4-FFF2-40B4-BE49-F238E27FC236}">
                <a16:creationId xmlns:a16="http://schemas.microsoft.com/office/drawing/2014/main" id="{9AC71812-5F84-4B07-9683-91BBD5BFFA8F}"/>
              </a:ext>
            </a:extLst>
          </p:cNvPr>
          <p:cNvSpPr>
            <a:spLocks noChangeShapeType="1"/>
          </p:cNvSpPr>
          <p:nvPr/>
        </p:nvSpPr>
        <p:spPr bwMode="auto">
          <a:xfrm>
            <a:off x="298450" y="258763"/>
            <a:ext cx="8586788" cy="0"/>
          </a:xfrm>
          <a:prstGeom prst="line">
            <a:avLst/>
          </a:prstGeom>
          <a:noFill/>
          <a:ln w="381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030" name="Line 6">
            <a:extLst>
              <a:ext uri="{FF2B5EF4-FFF2-40B4-BE49-F238E27FC236}">
                <a16:creationId xmlns:a16="http://schemas.microsoft.com/office/drawing/2014/main" id="{3FB85584-DBD4-47DC-9E82-7A48A1AFF6E6}"/>
              </a:ext>
            </a:extLst>
          </p:cNvPr>
          <p:cNvSpPr>
            <a:spLocks noChangeShapeType="1"/>
          </p:cNvSpPr>
          <p:nvPr/>
        </p:nvSpPr>
        <p:spPr bwMode="auto">
          <a:xfrm>
            <a:off x="293688" y="225425"/>
            <a:ext cx="85867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cSld>
  <p:clrMap bg1="lt1" tx1="dk1" bg2="lt2" tx2="dk2" accent1="accent1" accent2="accent2" accent3="accent3" accent4="accent4" accent5="accent5" accent6="accent6" hlink="hlink" folHlink="folHlink"/>
  <p:sldLayoutIdLst>
    <p:sldLayoutId id="2147483701"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xStyles>
    <p:titleStyle>
      <a:lvl1pPr algn="l" rtl="0" eaLnBrk="0" fontAlgn="base" hangingPunct="0">
        <a:spcBef>
          <a:spcPct val="0"/>
        </a:spcBef>
        <a:spcAft>
          <a:spcPct val="0"/>
        </a:spcAft>
        <a:defRPr sz="3000" b="1" kern="1200">
          <a:solidFill>
            <a:srgbClr val="0989C9"/>
          </a:solidFill>
          <a:latin typeface="+mj-lt"/>
          <a:ea typeface="+mj-ea"/>
          <a:cs typeface="+mj-cs"/>
        </a:defRPr>
      </a:lvl1pPr>
      <a:lvl2pPr algn="l" rtl="0" eaLnBrk="0" fontAlgn="base" hangingPunct="0">
        <a:spcBef>
          <a:spcPct val="0"/>
        </a:spcBef>
        <a:spcAft>
          <a:spcPct val="0"/>
        </a:spcAft>
        <a:defRPr sz="3000" b="1">
          <a:solidFill>
            <a:srgbClr val="0989C9"/>
          </a:solidFill>
          <a:latin typeface="Arial" panose="020B0604020202020204" pitchFamily="34" charset="0"/>
        </a:defRPr>
      </a:lvl2pPr>
      <a:lvl3pPr algn="l" rtl="0" eaLnBrk="0" fontAlgn="base" hangingPunct="0">
        <a:spcBef>
          <a:spcPct val="0"/>
        </a:spcBef>
        <a:spcAft>
          <a:spcPct val="0"/>
        </a:spcAft>
        <a:defRPr sz="3000" b="1">
          <a:solidFill>
            <a:srgbClr val="0989C9"/>
          </a:solidFill>
          <a:latin typeface="Arial" panose="020B0604020202020204" pitchFamily="34" charset="0"/>
        </a:defRPr>
      </a:lvl3pPr>
      <a:lvl4pPr algn="l" rtl="0" eaLnBrk="0" fontAlgn="base" hangingPunct="0">
        <a:spcBef>
          <a:spcPct val="0"/>
        </a:spcBef>
        <a:spcAft>
          <a:spcPct val="0"/>
        </a:spcAft>
        <a:defRPr sz="3000" b="1">
          <a:solidFill>
            <a:srgbClr val="0989C9"/>
          </a:solidFill>
          <a:latin typeface="Arial" panose="020B0604020202020204" pitchFamily="34" charset="0"/>
        </a:defRPr>
      </a:lvl4pPr>
      <a:lvl5pPr algn="l" rtl="0" eaLnBrk="0" fontAlgn="base" hangingPunct="0">
        <a:spcBef>
          <a:spcPct val="0"/>
        </a:spcBef>
        <a:spcAft>
          <a:spcPct val="0"/>
        </a:spcAft>
        <a:defRPr sz="3000" b="1">
          <a:solidFill>
            <a:srgbClr val="0989C9"/>
          </a:solidFill>
          <a:latin typeface="Arial" panose="020B0604020202020204" pitchFamily="34" charset="0"/>
        </a:defRPr>
      </a:lvl5pPr>
      <a:lvl6pPr marL="457200" algn="l" rtl="0" fontAlgn="base">
        <a:spcBef>
          <a:spcPct val="0"/>
        </a:spcBef>
        <a:spcAft>
          <a:spcPct val="0"/>
        </a:spcAft>
        <a:defRPr sz="3000" b="1">
          <a:solidFill>
            <a:srgbClr val="0989C9"/>
          </a:solidFill>
          <a:latin typeface="Arial" panose="020B0604020202020204" pitchFamily="34" charset="0"/>
        </a:defRPr>
      </a:lvl6pPr>
      <a:lvl7pPr marL="914400" algn="l" rtl="0" fontAlgn="base">
        <a:spcBef>
          <a:spcPct val="0"/>
        </a:spcBef>
        <a:spcAft>
          <a:spcPct val="0"/>
        </a:spcAft>
        <a:defRPr sz="3000" b="1">
          <a:solidFill>
            <a:srgbClr val="0989C9"/>
          </a:solidFill>
          <a:latin typeface="Arial" panose="020B0604020202020204" pitchFamily="34" charset="0"/>
        </a:defRPr>
      </a:lvl7pPr>
      <a:lvl8pPr marL="1371600" algn="l" rtl="0" fontAlgn="base">
        <a:spcBef>
          <a:spcPct val="0"/>
        </a:spcBef>
        <a:spcAft>
          <a:spcPct val="0"/>
        </a:spcAft>
        <a:defRPr sz="3000" b="1">
          <a:solidFill>
            <a:srgbClr val="0989C9"/>
          </a:solidFill>
          <a:latin typeface="Arial" panose="020B0604020202020204" pitchFamily="34" charset="0"/>
        </a:defRPr>
      </a:lvl8pPr>
      <a:lvl9pPr marL="1828800" algn="l" rtl="0" fontAlgn="base">
        <a:spcBef>
          <a:spcPct val="0"/>
        </a:spcBef>
        <a:spcAft>
          <a:spcPct val="0"/>
        </a:spcAft>
        <a:defRPr sz="3000" b="1">
          <a:solidFill>
            <a:srgbClr val="0989C9"/>
          </a:solidFill>
          <a:latin typeface="Arial" panose="020B0604020202020204" pitchFamily="34" charset="0"/>
        </a:defRPr>
      </a:lvl9pPr>
    </p:titleStyle>
    <p:bodyStyle>
      <a:lvl1pPr marL="231775" indent="-231775" algn="l" rtl="0" eaLnBrk="0" fontAlgn="base" hangingPunct="0">
        <a:spcBef>
          <a:spcPct val="0"/>
        </a:spcBef>
        <a:spcAft>
          <a:spcPct val="50000"/>
        </a:spcAft>
        <a:buClr>
          <a:srgbClr val="0989C9"/>
        </a:buClr>
        <a:buSzPct val="60000"/>
        <a:buFont typeface="Wingdings" panose="05000000000000000000" pitchFamily="2" charset="2"/>
        <a:buChar char="§"/>
        <a:defRPr sz="3000" kern="1200">
          <a:solidFill>
            <a:schemeClr val="tx1"/>
          </a:solidFill>
          <a:latin typeface="+mn-lt"/>
          <a:ea typeface="+mn-ea"/>
          <a:cs typeface="+mn-cs"/>
        </a:defRPr>
      </a:lvl1pPr>
      <a:lvl2pPr marL="742950" indent="-285750" algn="l" rtl="0" eaLnBrk="0" fontAlgn="base" hangingPunct="0">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3pPr>
      <a:lvl4pPr marL="1600200" indent="-228600" algn="l" rtl="0" eaLnBrk="0" fontAlgn="base" hangingPunct="0">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4pPr>
      <a:lvl5pPr marL="2057400" indent="-228600" algn="l" rtl="0" eaLnBrk="0" fontAlgn="base" hangingPunct="0">
        <a:spcBef>
          <a:spcPct val="0"/>
        </a:spcBef>
        <a:spcAft>
          <a:spcPct val="50000"/>
        </a:spcAft>
        <a:buClr>
          <a:srgbClr val="0989C9"/>
        </a:buClr>
        <a:buSzPct val="60000"/>
        <a:buFont typeface="Wingdings" panose="05000000000000000000" pitchFamily="2" charset="2"/>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17_PPT_Lect/17PPTLect-anim/IP_Respiratory_FILES/9-System%20Suite/ipweb/systems/gastran_pg_03.html" TargetMode="External" Type="http://schemas.openxmlformats.org/officeDocument/2006/relationships/hyperlink"/></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2.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3.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xml" Type="http://schemas.openxmlformats.org/officeDocument/2006/relationships/notesSlide"/><Relationship Id="rId3" Target="../media/image1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5.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8.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5.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0.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21.jpe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6.xml" Type="http://schemas.openxmlformats.org/officeDocument/2006/relationships/notesSlide"/><Relationship Id="rId3" Target="../media/image22.jpe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7.xml" Type="http://schemas.openxmlformats.org/officeDocument/2006/relationships/notesSlide"/><Relationship Id="rId3" Target="../media/image23.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8.xml" Type="http://schemas.openxmlformats.org/officeDocument/2006/relationships/notesSlide"/><Relationship Id="rId3" Target="../media/image24.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jpe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s>
</file>

<file path=ppt/slides/_rels/slide5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3.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0.xml" Type="http://schemas.openxmlformats.org/officeDocument/2006/relationships/notesSlide"/></Relationships>
</file>

<file path=ppt/slides/_rels/slide6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6.jpe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7.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8.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993333"/>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3B426EB-9401-4C6D-8779-E65C238521FA}"/>
              </a:ext>
            </a:extLst>
          </p:cNvPr>
          <p:cNvSpPr>
            <a:spLocks noChangeArrowheads="1" noGrp="1"/>
          </p:cNvSpPr>
          <p:nvPr>
            <p:ph idx="4294967295" type="title"/>
          </p:nvPr>
        </p:nvSpPr>
        <p:spPr bwMode="auto">
          <a:xfrm>
            <a:off x="0" y="0"/>
            <a:ext cx="5943600" cy="2362200"/>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t" anchorCtr="0" bIns="45720" compatLnSpc="1" forceAA="0" fromWordArt="0" horzOverflow="overflow" lIns="91440" numCol="1" rIns="91440" rot="0" rtlCol="0" spcCol="0" spcFirstLastPara="0" tIns="45720" vert="horz" vertOverflow="overflow" wrap="square">
            <a:prstTxWarp prst="textNoShape">
              <a:avLst/>
            </a:prstTxWarp>
            <a:noAutofit/>
          </a:bodyPr>
          <a:lstStyle>
            <a:lvl1pPr indent="-342900" marL="34290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ctr" defTabSz="914400" eaLnBrk="1" fontAlgn="base" hangingPunct="1" indent="-342900" latinLnBrk="0" lvl="0" marL="342900" marR="0" rtl="0">
              <a:lnSpc>
                <a:spcPct val="100000"/>
              </a:lnSpc>
              <a:spcBef>
                <a:spcPct val="20000"/>
              </a:spcBef>
              <a:spcAft>
                <a:spcPct val="0"/>
              </a:spcAft>
              <a:buClrTx/>
              <a:buSzTx/>
              <a:buFontTx/>
              <a:buNone/>
              <a:tabLst/>
              <a:defRPr/>
            </a:pPr>
            <a:endParaRPr altLang="en-US" b="1" baseline="0" cap="none" dirty="0" i="0" kern="1200" kumimoji="0" lang="en-US" noProof="0" normalizeH="0" spc="0" strike="noStrike" sz="6000" u="none">
              <a:ln>
                <a:noFill/>
              </a:ln>
              <a:solidFill>
                <a:schemeClr val="bg1"/>
              </a:solidFill>
              <a:effectLst/>
              <a:uLnTx/>
              <a:uFillTx/>
              <a:latin charset="0" panose="02020603050405020304" pitchFamily="18" typeface="Times New Roman"/>
              <a:ea typeface="+mn-ea"/>
              <a:cs charset="0" panose="02020603050405020304" pitchFamily="18" typeface="Times New Roman"/>
            </a:endParaRPr>
          </a:p>
          <a:p>
            <a:pPr algn="ctr" defTabSz="914400" eaLnBrk="1" fontAlgn="base" hangingPunct="1" indent="-342900" latinLnBrk="0" lvl="0" marL="342900" marR="0" rtl="0">
              <a:lnSpc>
                <a:spcPct val="100000"/>
              </a:lnSpc>
              <a:spcBef>
                <a:spcPct val="20000"/>
              </a:spcBef>
              <a:spcAft>
                <a:spcPct val="0"/>
              </a:spcAft>
              <a:buClrTx/>
              <a:buSzTx/>
              <a:buFontTx/>
              <a:buNone/>
              <a:tabLst/>
              <a:defRPr/>
            </a:pPr>
            <a:r>
              <a:rPr altLang="en-US" b="1" baseline="0" cap="none" dirty="0" i="0" kern="1200" kumimoji="0" lang="en-US" noProof="0" normalizeH="0" spc="0" strike="noStrike" sz="8000" u="none">
                <a:ln>
                  <a:noFill/>
                </a:ln>
                <a:solidFill>
                  <a:schemeClr val="bg1"/>
                </a:solidFill>
                <a:effectLst/>
                <a:uLnTx/>
                <a:uFillTx/>
                <a:latin charset="0" panose="04020404031007020602" pitchFamily="82" typeface="Chiller"/>
                <a:ea typeface="+mn-ea"/>
                <a:cs charset="0" panose="02020603050405020304" pitchFamily="18" typeface="Times New Roman"/>
              </a:rPr>
              <a:t>Chapter 17 </a:t>
            </a:r>
          </a:p>
          <a:p>
            <a:pPr algn="ctr" defTabSz="914400" eaLnBrk="1" fontAlgn="base" hangingPunct="1" indent="-342900" latinLnBrk="0" lvl="0" marL="342900" marR="0" rtl="0">
              <a:lnSpc>
                <a:spcPct val="100000"/>
              </a:lnSpc>
              <a:spcBef>
                <a:spcPct val="20000"/>
              </a:spcBef>
              <a:spcAft>
                <a:spcPct val="0"/>
              </a:spcAft>
              <a:buClrTx/>
              <a:buSzTx/>
              <a:buFontTx/>
              <a:buNone/>
              <a:tabLst/>
              <a:defRPr/>
            </a:pPr>
            <a:r>
              <a:rPr altLang="en-US" b="1" baseline="0" cap="none" dirty="0" i="0" kern="1200" kumimoji="0" lang="en-US" noProof="0" normalizeH="0" spc="0" strike="noStrike" sz="8000" u="none">
                <a:ln>
                  <a:noFill/>
                </a:ln>
                <a:solidFill>
                  <a:schemeClr val="bg1"/>
                </a:solidFill>
                <a:effectLst/>
                <a:uLnTx/>
                <a:uFillTx/>
                <a:latin charset="0" panose="04020404031007020602" pitchFamily="82" typeface="Chiller"/>
                <a:ea typeface="+mn-ea"/>
                <a:cs charset="0" panose="02020603050405020304" pitchFamily="18" typeface="Times New Roman"/>
              </a:rPr>
              <a:t>Blood</a:t>
            </a:r>
            <a:r>
              <a:rPr altLang="en-US" b="0" baseline="0" cap="none" dirty="0" i="0" kern="1200" kumimoji="0" lang="en-US" noProof="0" normalizeH="0" spc="0" strike="noStrike" sz="5400" u="none">
                <a:ln>
                  <a:noFill/>
                </a:ln>
                <a:solidFill>
                  <a:schemeClr val="bg1"/>
                </a:solidFill>
                <a:effectLst/>
                <a:uLnTx/>
                <a:uFillTx/>
                <a:latin charset="0" panose="02020603050405020304" pitchFamily="18" typeface="Times New Roman"/>
                <a:ea typeface="+mn-ea"/>
                <a:cs charset="0" panose="02020603050405020304" pitchFamily="18" typeface="Times New Roman"/>
              </a:rPr>
              <a:t> </a:t>
            </a:r>
          </a:p>
        </p:txBody>
      </p:sp>
      <p:pic>
        <p:nvPicPr>
          <p:cNvPr id="387075" name="Picture 3">
            <a:extLst>
              <a:ext uri="{FF2B5EF4-FFF2-40B4-BE49-F238E27FC236}">
                <a16:creationId xmlns:a16="http://schemas.microsoft.com/office/drawing/2014/main" id="{AA9480AF-1C69-4B69-A05D-7C300AB7C09E}"/>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0"/>
            <a:ext cx="3355975"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
        <p:nvSpPr>
          <p:cNvPr id="387076" name="Text Box 4">
            <a:extLst>
              <a:ext uri="{FF2B5EF4-FFF2-40B4-BE49-F238E27FC236}">
                <a16:creationId xmlns:a16="http://schemas.microsoft.com/office/drawing/2014/main" id="{A52D1879-F9E0-4154-B89D-99ECF32FDBBF}"/>
              </a:ext>
            </a:extLst>
          </p:cNvPr>
          <p:cNvSpPr txBox="1">
            <a:spLocks noChangeArrowheads="1"/>
          </p:cNvSpPr>
          <p:nvPr/>
        </p:nvSpPr>
        <p:spPr bwMode="auto">
          <a:xfrm>
            <a:off x="4953000" y="5472113"/>
            <a:ext cx="419100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eaLnBrk="1" hangingPunct="1">
              <a:spcBef>
                <a:spcPct val="50000"/>
              </a:spcBef>
              <a:spcAft>
                <a:spcPct val="0"/>
              </a:spcAft>
              <a:buClrTx/>
              <a:buSzTx/>
              <a:buFontTx/>
              <a:buNone/>
            </a:pPr>
            <a:r>
              <a:rPr altLang="en-US" lang="en-US" sz="4400">
                <a:solidFill>
                  <a:schemeClr val="bg1"/>
                </a:solidFill>
                <a:latin charset="0" panose="04020404031007020602" pitchFamily="82" typeface="Chiller"/>
              </a:rPr>
              <a:t>“Oh yes.  </a:t>
            </a:r>
          </a:p>
          <a:p>
            <a:pPr eaLnBrk="1" hangingPunct="1">
              <a:spcBef>
                <a:spcPct val="50000"/>
              </a:spcBef>
              <a:spcAft>
                <a:spcPct val="0"/>
              </a:spcAft>
              <a:buClrTx/>
              <a:buSzTx/>
              <a:buFontTx/>
              <a:buNone/>
            </a:pPr>
            <a:r>
              <a:rPr altLang="en-US" lang="en-US" sz="4400">
                <a:solidFill>
                  <a:schemeClr val="bg1"/>
                </a:solidFill>
                <a:latin charset="0" panose="04020404031007020602" pitchFamily="82" typeface="Chiller"/>
              </a:rPr>
              <a:t>   There will be   </a:t>
            </a:r>
          </a:p>
          <a:p>
            <a:pPr eaLnBrk="1" hangingPunct="1">
              <a:spcBef>
                <a:spcPct val="50000"/>
              </a:spcBef>
              <a:spcAft>
                <a:spcPct val="0"/>
              </a:spcAft>
              <a:buClrTx/>
              <a:buSzTx/>
              <a:buFontTx/>
              <a:buNone/>
            </a:pPr>
            <a:r>
              <a:rPr altLang="en-US" lang="en-US" sz="4400">
                <a:solidFill>
                  <a:schemeClr val="bg1"/>
                </a:solidFill>
                <a:latin charset="0" panose="04020404031007020602" pitchFamily="82" typeface="Chiller"/>
              </a:rPr>
              <a:t>             blood. . .”</a:t>
            </a:r>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8" presetSubtype="0">
                                  <p:stCondLst>
                                    <p:cond delay="0"/>
                                  </p:stCondLst>
                                  <p:childTnLst>
                                    <p:set>
                                      <p:cBhvr>
                                        <p:cTn dur="1" fill="hold" id="6">
                                          <p:stCondLst>
                                            <p:cond delay="0"/>
                                          </p:stCondLst>
                                        </p:cTn>
                                        <p:tgtEl>
                                          <p:spTgt spid="387075"/>
                                        </p:tgtEl>
                                        <p:attrNameLst>
                                          <p:attrName>style.visibility</p:attrName>
                                        </p:attrNameLst>
                                      </p:cBhvr>
                                      <p:to>
                                        <p:strVal val="visible"/>
                                      </p:to>
                                    </p:set>
                                    <p:anim calcmode="lin" valueType="num">
                                      <p:cBhvr>
                                        <p:cTn dur="15000" fill="hold" id="7"/>
                                        <p:tgtEl>
                                          <p:spTgt spid="387075"/>
                                        </p:tgtEl>
                                        <p:attrNameLst>
                                          <p:attrName>ppt_x</p:attrName>
                                        </p:attrNameLst>
                                      </p:cBhvr>
                                      <p:tavLst>
                                        <p:tav tm="0">
                                          <p:val>
                                            <p:strVal val="#ppt_x"/>
                                          </p:val>
                                        </p:tav>
                                        <p:tav tm="100000">
                                          <p:val>
                                            <p:strVal val="#ppt_x"/>
                                          </p:val>
                                        </p:tav>
                                      </p:tavLst>
                                    </p:anim>
                                    <p:anim calcmode="lin" valueType="num">
                                      <p:cBhvr>
                                        <p:cTn dur="15000" fill="hold" id="8"/>
                                        <p:tgtEl>
                                          <p:spTgt spid="387075"/>
                                        </p:tgtEl>
                                        <p:attrNameLst>
                                          <p:attrName>ppt_y</p:attrName>
                                        </p:attrNameLst>
                                      </p:cBhvr>
                                      <p:tavLst>
                                        <p:tav tm="0">
                                          <p:val>
                                            <p:strVal val="#ppt_y+1"/>
                                          </p:val>
                                        </p:tav>
                                        <p:tav tm="100000">
                                          <p:val>
                                            <p:strVal val="#ppt_y-1"/>
                                          </p:val>
                                        </p:tav>
                                      </p:tavLst>
                                    </p:anim>
                                  </p:childTnLst>
                                </p:cTn>
                              </p:par>
                              <p:par>
                                <p:cTn fill="hold" grpId="0" id="9" nodeType="withEffect" presetClass="entr" presetID="28" presetSubtype="0">
                                  <p:stCondLst>
                                    <p:cond delay="0"/>
                                  </p:stCondLst>
                                  <p:childTnLst>
                                    <p:set>
                                      <p:cBhvr>
                                        <p:cTn dur="1" fill="hold" id="10">
                                          <p:stCondLst>
                                            <p:cond delay="0"/>
                                          </p:stCondLst>
                                        </p:cTn>
                                        <p:tgtEl>
                                          <p:spTgt spid="387076"/>
                                        </p:tgtEl>
                                        <p:attrNameLst>
                                          <p:attrName>style.visibility</p:attrName>
                                        </p:attrNameLst>
                                      </p:cBhvr>
                                      <p:to>
                                        <p:strVal val="visible"/>
                                      </p:to>
                                    </p:set>
                                    <p:anim calcmode="lin" valueType="num">
                                      <p:cBhvr>
                                        <p:cTn dur="15000" fill="hold" id="11"/>
                                        <p:tgtEl>
                                          <p:spTgt spid="387076"/>
                                        </p:tgtEl>
                                        <p:attrNameLst>
                                          <p:attrName>ppt_x</p:attrName>
                                        </p:attrNameLst>
                                      </p:cBhvr>
                                      <p:tavLst>
                                        <p:tav tm="0">
                                          <p:val>
                                            <p:strVal val="#ppt_x"/>
                                          </p:val>
                                        </p:tav>
                                        <p:tav tm="100000">
                                          <p:val>
                                            <p:strVal val="#ppt_x"/>
                                          </p:val>
                                        </p:tav>
                                      </p:tavLst>
                                    </p:anim>
                                    <p:anim calcmode="lin" valueType="num">
                                      <p:cBhvr>
                                        <p:cTn dur="15000" fill="hold" id="12"/>
                                        <p:tgtEl>
                                          <p:spTgt spid="387076"/>
                                        </p:tgtEl>
                                        <p:attrNameLst>
                                          <p:attrName>ppt_y</p:attrName>
                                        </p:attrNameLst>
                                      </p:cBhvr>
                                      <p:tavLst>
                                        <p:tav tm="0">
                                          <p:val>
                                            <p:strVal val="#ppt_y+1"/>
                                          </p:val>
                                        </p:tav>
                                        <p:tav tm="100000">
                                          <p:val>
                                            <p:strVal val="#ppt_y-1"/>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87076"/>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88098" name="Rectangle 2">
            <a:extLst>
              <a:ext uri="{FF2B5EF4-FFF2-40B4-BE49-F238E27FC236}">
                <a16:creationId xmlns:a16="http://schemas.microsoft.com/office/drawing/2014/main" id="{5EBB26D2-DF52-4298-A08B-65DFE2920BD2}"/>
              </a:ext>
            </a:extLst>
          </p:cNvPr>
          <p:cNvSpPr>
            <a:spLocks noChangeArrowheads="1"/>
          </p:cNvSpPr>
          <p:nvPr/>
        </p:nvSpPr>
        <p:spPr bwMode="auto">
          <a:xfrm>
            <a:off x="685800" y="990600"/>
            <a:ext cx="77724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lstStyle>
            <a:lvl1pPr indent="-342900" marL="34290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eaLnBrk="1" hangingPunct="1">
              <a:spcBef>
                <a:spcPct val="20000"/>
              </a:spcBef>
              <a:spcAft>
                <a:spcPct val="0"/>
              </a:spcAft>
              <a:buClrTx/>
              <a:buSzTx/>
              <a:buFontTx/>
              <a:buNone/>
            </a:pPr>
            <a:r>
              <a:rPr altLang="en-US" dirty="0" lang="en-US" sz="3200">
                <a:solidFill>
                  <a:srgbClr val="6666CC"/>
                </a:solidFill>
                <a:latin charset="0" panose="020B0604020202020204" pitchFamily="34" typeface="Arial"/>
                <a:cs charset="0" panose="02020603050405020304" pitchFamily="18" typeface="Times New Roman"/>
              </a:rPr>
              <a:t> </a:t>
            </a:r>
          </a:p>
          <a:p>
            <a:pPr algn="just" eaLnBrk="1" hangingPunct="1">
              <a:spcBef>
                <a:spcPct val="20000"/>
              </a:spcBef>
              <a:spcAft>
                <a:spcPct val="0"/>
              </a:spcAft>
              <a:buClrTx/>
              <a:buSzTx/>
              <a:buFontTx/>
              <a:buChar char="•"/>
            </a:pPr>
            <a:r>
              <a:rPr altLang="en-US" dirty="0" lang="en-US" sz="2800">
                <a:cs charset="0" panose="02020603050405020304" pitchFamily="18" typeface="Times New Roman"/>
              </a:rPr>
              <a:t>	Blood, a type of connective tissue, is a 	complex mixture of cells, chemicals and fluid.</a:t>
            </a:r>
          </a:p>
          <a:p>
            <a:pPr algn="just" eaLnBrk="1" hangingPunct="1">
              <a:spcBef>
                <a:spcPct val="20000"/>
              </a:spcBef>
              <a:spcAft>
                <a:spcPct val="0"/>
              </a:spcAft>
              <a:buClrTx/>
              <a:buSzTx/>
              <a:buFontTx/>
              <a:buNone/>
            </a:pPr>
            <a:r>
              <a:rPr altLang="en-US" dirty="0" lang="en-US" sz="2800">
                <a:cs charset="0" panose="02020603050405020304" pitchFamily="18" typeface="Times New Roman"/>
              </a:rPr>
              <a:t>		- red and white blood cells</a:t>
            </a:r>
          </a:p>
          <a:p>
            <a:pPr algn="just" eaLnBrk="1" hangingPunct="1">
              <a:spcBef>
                <a:spcPct val="20000"/>
              </a:spcBef>
              <a:spcAft>
                <a:spcPct val="0"/>
              </a:spcAft>
              <a:buClrTx/>
              <a:buSzTx/>
              <a:buFontTx/>
              <a:buNone/>
            </a:pPr>
            <a:r>
              <a:rPr altLang="en-US" dirty="0" lang="en-US" sz="2800">
                <a:cs charset="0" panose="02020603050405020304" pitchFamily="18" typeface="Times New Roman"/>
              </a:rPr>
              <a:t>		- platelets</a:t>
            </a:r>
          </a:p>
          <a:p>
            <a:pPr algn="just" eaLnBrk="1" hangingPunct="1">
              <a:spcBef>
                <a:spcPct val="20000"/>
              </a:spcBef>
              <a:spcAft>
                <a:spcPct val="0"/>
              </a:spcAft>
              <a:buClrTx/>
              <a:buSzTx/>
              <a:buFontTx/>
              <a:buNone/>
            </a:pPr>
            <a:r>
              <a:rPr altLang="en-US" dirty="0" lang="en-US" sz="2800">
                <a:cs charset="0" panose="02020603050405020304" pitchFamily="18" typeface="Times New Roman"/>
              </a:rPr>
              <a:t>		- plasma</a:t>
            </a:r>
            <a:endParaRPr altLang="en-US" dirty="0" lang="en-US" sz="2800">
              <a:latin charset="0" panose="02070309020205020404" pitchFamily="49" typeface="Courier New"/>
              <a:cs charset="0" panose="02070309020205020404" pitchFamily="49" typeface="Courier New"/>
            </a:endParaRPr>
          </a:p>
          <a:p>
            <a:pPr algn="just" eaLnBrk="1" hangingPunct="1">
              <a:spcBef>
                <a:spcPct val="20000"/>
              </a:spcBef>
              <a:spcAft>
                <a:spcPct val="0"/>
              </a:spcAft>
              <a:buClrTx/>
              <a:buSzTx/>
              <a:buFontTx/>
              <a:buChar char="•"/>
            </a:pPr>
            <a:r>
              <a:rPr altLang="en-US" dirty="0" lang="en-US" sz="2800">
                <a:latin charset="0" panose="02070309020205020404" pitchFamily="49" typeface="Courier New"/>
                <a:cs charset="0" panose="02070309020205020404" pitchFamily="49" typeface="Courier New"/>
              </a:rPr>
              <a:t>	</a:t>
            </a:r>
            <a:r>
              <a:rPr altLang="en-US" dirty="0" lang="en-US" sz="2800">
                <a:cs charset="0" panose="02020603050405020304" pitchFamily="18" typeface="Times New Roman"/>
              </a:rPr>
              <a:t>Blood transports substances throughout the 	body, and helps to maintain a stable internal 	environment. </a:t>
            </a:r>
          </a:p>
        </p:txBody>
      </p:sp>
      <p:sp>
        <p:nvSpPr>
          <p:cNvPr id="2" name="Title 1">
            <a:extLst>
              <a:ext uri="{FF2B5EF4-FFF2-40B4-BE49-F238E27FC236}">
                <a16:creationId xmlns:a16="http://schemas.microsoft.com/office/drawing/2014/main" id="{96710869-E3BA-818F-7731-3E6BD4FFD26D}"/>
              </a:ext>
            </a:extLst>
          </p:cNvPr>
          <p:cNvSpPr>
            <a:spLocks noGrp="1"/>
          </p:cNvSpPr>
          <p:nvPr>
            <p:ph type="title"/>
          </p:nvPr>
        </p:nvSpPr>
        <p:spPr/>
        <p:txBody>
          <a:bodyPr/>
          <a:lstStyle/>
          <a:p>
            <a:r>
              <a:rPr altLang="en-US" dirty="0" lang="en-US" sz="2800">
                <a:solidFill>
                  <a:srgbClr val="6666CC"/>
                </a:solidFill>
                <a:latin charset="0" panose="020B0604020202020204" pitchFamily="34" typeface="Arial"/>
                <a:cs charset="0" panose="02020603050405020304" pitchFamily="18" typeface="Times New Roman"/>
              </a:rPr>
              <a:t>Introduction</a:t>
            </a:r>
            <a:endParaRPr dirty="0" lang="en-US"/>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388098">
                                            <p:txEl>
                                              <p:pRg end="1" st="1"/>
                                            </p:txEl>
                                          </p:spTgt>
                                        </p:tgtEl>
                                        <p:attrNameLst>
                                          <p:attrName>style.visibility</p:attrName>
                                        </p:attrNameLst>
                                      </p:cBhvr>
                                      <p:to>
                                        <p:strVal val="visible"/>
                                      </p:to>
                                    </p:set>
                                    <p:anim calcmode="discrete" valueType="clr">
                                      <p:cBhvr override="childStyle">
                                        <p:cTn dur="80" id="7"/>
                                        <p:tgtEl>
                                          <p:spTgt spid="388098">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388098">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388098">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388098">
                                            <p:txEl>
                                              <p:pRg end="2" st="2"/>
                                            </p:txEl>
                                          </p:spTgt>
                                        </p:tgtEl>
                                        <p:attrNameLst>
                                          <p:attrName>style.visibility</p:attrName>
                                        </p:attrNameLst>
                                      </p:cBhvr>
                                      <p:to>
                                        <p:strVal val="visible"/>
                                      </p:to>
                                    </p:set>
                                    <p:anim calcmode="discrete" valueType="clr">
                                      <p:cBhvr override="childStyle">
                                        <p:cTn dur="80" id="14"/>
                                        <p:tgtEl>
                                          <p:spTgt spid="388098">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388098">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388098">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388098">
                                            <p:txEl>
                                              <p:pRg end="3" st="3"/>
                                            </p:txEl>
                                          </p:spTgt>
                                        </p:tgtEl>
                                        <p:attrNameLst>
                                          <p:attrName>style.visibility</p:attrName>
                                        </p:attrNameLst>
                                      </p:cBhvr>
                                      <p:to>
                                        <p:strVal val="visible"/>
                                      </p:to>
                                    </p:set>
                                    <p:anim calcmode="discrete" valueType="clr">
                                      <p:cBhvr override="childStyle">
                                        <p:cTn dur="80" id="21"/>
                                        <p:tgtEl>
                                          <p:spTgt spid="388098">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388098">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388098">
                                            <p:txEl>
                                              <p:pRg end="3" st="3"/>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388098">
                                            <p:txEl>
                                              <p:pRg end="4" st="4"/>
                                            </p:txEl>
                                          </p:spTgt>
                                        </p:tgtEl>
                                        <p:attrNameLst>
                                          <p:attrName>style.visibility</p:attrName>
                                        </p:attrNameLst>
                                      </p:cBhvr>
                                      <p:to>
                                        <p:strVal val="visible"/>
                                      </p:to>
                                    </p:set>
                                    <p:anim calcmode="discrete" valueType="clr">
                                      <p:cBhvr override="childStyle">
                                        <p:cTn dur="80" id="28"/>
                                        <p:tgtEl>
                                          <p:spTgt spid="388098">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388098">
                                            <p:txEl>
                                              <p:pRg end="4" st="4"/>
                                            </p:txEl>
                                          </p:spTgt>
                                        </p:tgtEl>
                                        <p:attrNameLst>
                                          <p:attrName>fillcolor</p:attrName>
                                        </p:attrNameLst>
                                      </p:cBhvr>
                                      <p:tavLst>
                                        <p:tav tm="0">
                                          <p:val>
                                            <p:clrVal>
                                              <a:schemeClr val="accent2"/>
                                            </p:clrVal>
                                          </p:val>
                                        </p:tav>
                                        <p:tav tm="50000">
                                          <p:val>
                                            <p:clrVal>
                                              <a:schemeClr val="hlink"/>
                                            </p:clrVal>
                                          </p:val>
                                        </p:tav>
                                      </p:tavLst>
                                    </p:anim>
                                    <p:set>
                                      <p:cBhvr>
                                        <p:cTn dur="80" id="30"/>
                                        <p:tgtEl>
                                          <p:spTgt spid="388098">
                                            <p:txEl>
                                              <p:pRg end="4" st="4"/>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388098">
                                            <p:txEl>
                                              <p:pRg end="5" st="5"/>
                                            </p:txEl>
                                          </p:spTgt>
                                        </p:tgtEl>
                                        <p:attrNameLst>
                                          <p:attrName>style.visibility</p:attrName>
                                        </p:attrNameLst>
                                      </p:cBhvr>
                                      <p:to>
                                        <p:strVal val="visible"/>
                                      </p:to>
                                    </p:set>
                                    <p:anim calcmode="discrete" valueType="clr">
                                      <p:cBhvr override="childStyle">
                                        <p:cTn dur="80" id="35"/>
                                        <p:tgtEl>
                                          <p:spTgt spid="388098">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388098">
                                            <p:txEl>
                                              <p:pRg end="5" st="5"/>
                                            </p:txEl>
                                          </p:spTgt>
                                        </p:tgtEl>
                                        <p:attrNameLst>
                                          <p:attrName>fillcolor</p:attrName>
                                        </p:attrNameLst>
                                      </p:cBhvr>
                                      <p:tavLst>
                                        <p:tav tm="0">
                                          <p:val>
                                            <p:clrVal>
                                              <a:schemeClr val="accent2"/>
                                            </p:clrVal>
                                          </p:val>
                                        </p:tav>
                                        <p:tav tm="50000">
                                          <p:val>
                                            <p:clrVal>
                                              <a:schemeClr val="hlink"/>
                                            </p:clrVal>
                                          </p:val>
                                        </p:tav>
                                      </p:tavLst>
                                    </p:anim>
                                    <p:set>
                                      <p:cBhvr>
                                        <p:cTn dur="80" id="37"/>
                                        <p:tgtEl>
                                          <p:spTgt spid="388098">
                                            <p:txEl>
                                              <p:pRg end="5" st="5"/>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Table of cellular and acellular components with blood as well as their functions" id="6146" name="Picture 2">
            <a:extLst>
              <a:ext uri="{FF2B5EF4-FFF2-40B4-BE49-F238E27FC236}">
                <a16:creationId xmlns:a16="http://schemas.microsoft.com/office/drawing/2014/main" id="{5BFEC110-31D8-4065-AE6E-8B3C6A276785}"/>
              </a:ext>
            </a:extLst>
          </p:cNvPr>
          <p:cNvPicPr>
            <a:picLocks noChangeArrowheads="1" noChangeAspect="1"/>
          </p:cNvPicPr>
          <p:nvPr/>
        </p:nvPicPr>
        <p:blipFill>
          <a:blip r:embed="rId2">
            <a:extLst>
              <a:ext uri="{28A0092B-C50C-407E-A947-70E740481C1C}">
                <a14:useLocalDpi xmlns:a14="http://schemas.microsoft.com/office/drawing/2010/main" val="0"/>
              </a:ext>
            </a:extLst>
          </a:blip>
          <a:srcRect b="3728"/>
          <a:stretch>
            <a:fillRect/>
          </a:stretch>
        </p:blipFill>
        <p:spPr bwMode="auto">
          <a:xfrm>
            <a:off x="0" y="796925"/>
            <a:ext cx="9144000"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D5574B2C-9543-E4B6-9627-0F07BD7D4405}"/>
              </a:ext>
            </a:extLst>
          </p:cNvPr>
          <p:cNvSpPr>
            <a:spLocks noGrp="1"/>
          </p:cNvSpPr>
          <p:nvPr>
            <p:ph type="title"/>
          </p:nvPr>
        </p:nvSpPr>
        <p:spPr/>
        <p:txBody>
          <a:bodyPr/>
          <a:lstStyle/>
          <a:p>
            <a:r>
              <a:rPr dirty="0" lang="en-US"/>
              <a:t>Summary of blood components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A05170A-658D-4563-B686-A7227F8690D8}"/>
              </a:ext>
            </a:extLst>
          </p:cNvPr>
          <p:cNvSpPr>
            <a:spLocks noChangeArrowheads="1" noGrp="1"/>
          </p:cNvSpPr>
          <p:nvPr>
            <p:ph type="title"/>
          </p:nvPr>
        </p:nvSpPr>
        <p:spPr/>
        <p:txBody>
          <a:bodyPr/>
          <a:lstStyle/>
          <a:p>
            <a:pPr eaLnBrk="1" hangingPunct="1"/>
            <a:r>
              <a:rPr altLang="en-US" lang="en-US"/>
              <a:t>Physical Characteristics and Volume</a:t>
            </a:r>
          </a:p>
        </p:txBody>
      </p:sp>
      <p:sp>
        <p:nvSpPr>
          <p:cNvPr id="248835" name="Rectangle 3">
            <a:extLst>
              <a:ext uri="{FF2B5EF4-FFF2-40B4-BE49-F238E27FC236}">
                <a16:creationId xmlns:a16="http://schemas.microsoft.com/office/drawing/2014/main" id="{B011628E-E229-4E46-A04A-B4152ACE3957}"/>
              </a:ext>
            </a:extLst>
          </p:cNvPr>
          <p:cNvSpPr>
            <a:spLocks noChangeArrowheads="1" noGrp="1"/>
          </p:cNvSpPr>
          <p:nvPr>
            <p:ph idx="1" type="body"/>
          </p:nvPr>
        </p:nvSpPr>
        <p:spPr/>
        <p:txBody>
          <a:bodyPr/>
          <a:lstStyle/>
          <a:p>
            <a:pPr eaLnBrk="1" hangingPunct="1">
              <a:lnSpc>
                <a:spcPct val="95000"/>
              </a:lnSpc>
            </a:pPr>
            <a:r>
              <a:rPr altLang="en-US" lang="en-US">
                <a:solidFill>
                  <a:srgbClr val="000000"/>
                </a:solidFill>
              </a:rPr>
              <a:t>Blood is a sticky, opaque fluid with a metallic taste</a:t>
            </a:r>
          </a:p>
          <a:p>
            <a:pPr eaLnBrk="1" hangingPunct="1">
              <a:lnSpc>
                <a:spcPct val="95000"/>
              </a:lnSpc>
            </a:pPr>
            <a:r>
              <a:rPr altLang="en-US" lang="en-US">
                <a:solidFill>
                  <a:srgbClr val="000000"/>
                </a:solidFill>
              </a:rPr>
              <a:t>Color varies from scarlet to dark red</a:t>
            </a:r>
          </a:p>
          <a:p>
            <a:pPr eaLnBrk="1" hangingPunct="1">
              <a:lnSpc>
                <a:spcPct val="95000"/>
              </a:lnSpc>
            </a:pPr>
            <a:r>
              <a:rPr altLang="en-US" lang="en-US">
                <a:solidFill>
                  <a:srgbClr val="000000"/>
                </a:solidFill>
              </a:rPr>
              <a:t>The pH of blood is 7.35–7.45</a:t>
            </a:r>
          </a:p>
          <a:p>
            <a:pPr eaLnBrk="1" hangingPunct="1">
              <a:lnSpc>
                <a:spcPct val="95000"/>
              </a:lnSpc>
            </a:pPr>
            <a:r>
              <a:rPr altLang="en-US" lang="en-US">
                <a:solidFill>
                  <a:srgbClr val="000000"/>
                </a:solidFill>
              </a:rPr>
              <a:t>Temperature is 38</a:t>
            </a:r>
            <a:r>
              <a:rPr altLang="en-US" lang="en-US">
                <a:solidFill>
                  <a:srgbClr val="000000"/>
                </a:solidFill>
                <a:sym charset="2" panose="05050102010706020507" pitchFamily="18" typeface="Symbol"/>
              </a:rPr>
              <a:t></a:t>
            </a:r>
            <a:r>
              <a:rPr altLang="en-US" lang="en-US">
                <a:solidFill>
                  <a:srgbClr val="000000"/>
                </a:solidFill>
              </a:rPr>
              <a:t>C</a:t>
            </a:r>
          </a:p>
          <a:p>
            <a:pPr eaLnBrk="1" hangingPunct="1">
              <a:lnSpc>
                <a:spcPct val="95000"/>
              </a:lnSpc>
            </a:pPr>
            <a:r>
              <a:rPr altLang="en-US" lang="en-US">
                <a:solidFill>
                  <a:srgbClr val="000000"/>
                </a:solidFill>
              </a:rPr>
              <a:t>Blood accounts for approximately 8% of body weight</a:t>
            </a:r>
          </a:p>
          <a:p>
            <a:pPr eaLnBrk="1" hangingPunct="1">
              <a:lnSpc>
                <a:spcPct val="95000"/>
              </a:lnSpc>
            </a:pPr>
            <a:r>
              <a:rPr altLang="en-US" lang="en-US"/>
              <a:t>Average volume: 5–6 L for males, and 4–5 L for females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48835">
                                            <p:txEl>
                                              <p:pRg end="0" st="0"/>
                                            </p:txEl>
                                          </p:spTgt>
                                        </p:tgtEl>
                                        <p:attrNameLst>
                                          <p:attrName>style.visibility</p:attrName>
                                        </p:attrNameLst>
                                      </p:cBhvr>
                                      <p:to>
                                        <p:strVal val="visible"/>
                                      </p:to>
                                    </p:set>
                                    <p:anim calcmode="discrete" valueType="clr">
                                      <p:cBhvr override="childStyle">
                                        <p:cTn dur="80" id="7"/>
                                        <p:tgtEl>
                                          <p:spTgt spid="248835">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48835">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48835">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48835">
                                            <p:txEl>
                                              <p:pRg end="1" st="1"/>
                                            </p:txEl>
                                          </p:spTgt>
                                        </p:tgtEl>
                                        <p:attrNameLst>
                                          <p:attrName>style.visibility</p:attrName>
                                        </p:attrNameLst>
                                      </p:cBhvr>
                                      <p:to>
                                        <p:strVal val="visible"/>
                                      </p:to>
                                    </p:set>
                                    <p:anim calcmode="discrete" valueType="clr">
                                      <p:cBhvr override="childStyle">
                                        <p:cTn dur="80" id="14"/>
                                        <p:tgtEl>
                                          <p:spTgt spid="248835">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48835">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48835">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48835">
                                            <p:txEl>
                                              <p:pRg end="2" st="2"/>
                                            </p:txEl>
                                          </p:spTgt>
                                        </p:tgtEl>
                                        <p:attrNameLst>
                                          <p:attrName>style.visibility</p:attrName>
                                        </p:attrNameLst>
                                      </p:cBhvr>
                                      <p:to>
                                        <p:strVal val="visible"/>
                                      </p:to>
                                    </p:set>
                                    <p:anim calcmode="discrete" valueType="clr">
                                      <p:cBhvr override="childStyle">
                                        <p:cTn dur="80" id="21"/>
                                        <p:tgtEl>
                                          <p:spTgt spid="248835">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48835">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48835">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48835">
                                            <p:txEl>
                                              <p:pRg end="3" st="3"/>
                                            </p:txEl>
                                          </p:spTgt>
                                        </p:tgtEl>
                                        <p:attrNameLst>
                                          <p:attrName>style.visibility</p:attrName>
                                        </p:attrNameLst>
                                      </p:cBhvr>
                                      <p:to>
                                        <p:strVal val="visible"/>
                                      </p:to>
                                    </p:set>
                                    <p:anim calcmode="discrete" valueType="clr">
                                      <p:cBhvr override="childStyle">
                                        <p:cTn dur="80" id="28"/>
                                        <p:tgtEl>
                                          <p:spTgt spid="248835">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48835">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48835">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48835">
                                            <p:txEl>
                                              <p:pRg end="4" st="4"/>
                                            </p:txEl>
                                          </p:spTgt>
                                        </p:tgtEl>
                                        <p:attrNameLst>
                                          <p:attrName>style.visibility</p:attrName>
                                        </p:attrNameLst>
                                      </p:cBhvr>
                                      <p:to>
                                        <p:strVal val="visible"/>
                                      </p:to>
                                    </p:set>
                                    <p:anim calcmode="discrete" valueType="clr">
                                      <p:cBhvr override="childStyle">
                                        <p:cTn dur="80" id="35"/>
                                        <p:tgtEl>
                                          <p:spTgt spid="248835">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48835">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48835">
                                            <p:txEl>
                                              <p:pRg end="4" st="4"/>
                                            </p:txEl>
                                          </p:spTgt>
                                        </p:tgtEl>
                                        <p:attrNameLst>
                                          <p:attrName>fill.type</p:attrName>
                                        </p:attrNameLst>
                                      </p:cBhvr>
                                      <p:to>
                                        <p:strVal val="solid"/>
                                      </p:to>
                                    </p:se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ntr" presetID="27" presetSubtype="0">
                                  <p:stCondLst>
                                    <p:cond delay="0"/>
                                  </p:stCondLst>
                                  <p:iterate type="lt">
                                    <p:tmPct val="50000"/>
                                  </p:iterate>
                                  <p:childTnLst>
                                    <p:set>
                                      <p:cBhvr>
                                        <p:cTn dur="1" fill="hold" id="41">
                                          <p:stCondLst>
                                            <p:cond delay="0"/>
                                          </p:stCondLst>
                                        </p:cTn>
                                        <p:tgtEl>
                                          <p:spTgt spid="248835">
                                            <p:txEl>
                                              <p:pRg end="5" st="5"/>
                                            </p:txEl>
                                          </p:spTgt>
                                        </p:tgtEl>
                                        <p:attrNameLst>
                                          <p:attrName>style.visibility</p:attrName>
                                        </p:attrNameLst>
                                      </p:cBhvr>
                                      <p:to>
                                        <p:strVal val="visible"/>
                                      </p:to>
                                    </p:set>
                                    <p:anim calcmode="discrete" valueType="clr">
                                      <p:cBhvr override="childStyle">
                                        <p:cTn dur="80" id="42"/>
                                        <p:tgtEl>
                                          <p:spTgt spid="248835">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43"/>
                                        <p:tgtEl>
                                          <p:spTgt spid="248835">
                                            <p:txEl>
                                              <p:pRg end="5" st="5"/>
                                            </p:txEl>
                                          </p:spTgt>
                                        </p:tgtEl>
                                        <p:attrNameLst>
                                          <p:attrName>fillcolor</p:attrName>
                                        </p:attrNameLst>
                                      </p:cBhvr>
                                      <p:tavLst>
                                        <p:tav tm="0">
                                          <p:val>
                                            <p:clrVal>
                                              <a:schemeClr val="accent2"/>
                                            </p:clrVal>
                                          </p:val>
                                        </p:tav>
                                        <p:tav tm="50000">
                                          <p:val>
                                            <p:clrVal>
                                              <a:schemeClr val="hlink"/>
                                            </p:clrVal>
                                          </p:val>
                                        </p:tav>
                                      </p:tavLst>
                                    </p:anim>
                                    <p:set>
                                      <p:cBhvr>
                                        <p:cTn dur="80" id="44"/>
                                        <p:tgtEl>
                                          <p:spTgt spid="248835">
                                            <p:txEl>
                                              <p:pRg end="5" st="5"/>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81FCFF5E-0342-45FB-84CC-467C44A91526}"/>
              </a:ext>
            </a:extLst>
          </p:cNvPr>
          <p:cNvSpPr>
            <a:spLocks noChangeArrowheads="1" noGrp="1"/>
          </p:cNvSpPr>
          <p:nvPr>
            <p:ph type="title"/>
          </p:nvPr>
        </p:nvSpPr>
        <p:spPr/>
        <p:txBody>
          <a:bodyPr/>
          <a:lstStyle/>
          <a:p>
            <a:pPr eaLnBrk="1" hangingPunct="1"/>
            <a:r>
              <a:rPr altLang="en-US" lang="en-US"/>
              <a:t>Functions of Blood</a:t>
            </a:r>
          </a:p>
        </p:txBody>
      </p:sp>
      <p:sp>
        <p:nvSpPr>
          <p:cNvPr id="249861" name="Rectangle 5">
            <a:extLst>
              <a:ext uri="{FF2B5EF4-FFF2-40B4-BE49-F238E27FC236}">
                <a16:creationId xmlns:a16="http://schemas.microsoft.com/office/drawing/2014/main" id="{AE6A5430-878C-4FB5-B620-6F6D0AB4FB88}"/>
              </a:ext>
            </a:extLst>
          </p:cNvPr>
          <p:cNvSpPr>
            <a:spLocks noChangeArrowheads="1" noGrp="1"/>
          </p:cNvSpPr>
          <p:nvPr>
            <p:ph idx="1" type="body"/>
          </p:nvPr>
        </p:nvSpPr>
        <p:spPr/>
        <p:txBody>
          <a:bodyPr/>
          <a:lstStyle/>
          <a:p>
            <a:pPr eaLnBrk="1" hangingPunct="1"/>
            <a:r>
              <a:rPr altLang="en-US" lang="en-US"/>
              <a:t>Blood performs a number of functions dealing with:</a:t>
            </a:r>
          </a:p>
          <a:p>
            <a:pPr eaLnBrk="1" hangingPunct="1" lvl="1"/>
            <a:r>
              <a:rPr altLang="en-US" lang="en-US"/>
              <a:t>Substance distribution</a:t>
            </a:r>
          </a:p>
          <a:p>
            <a:pPr eaLnBrk="1" hangingPunct="1" lvl="1"/>
            <a:r>
              <a:rPr altLang="en-US" lang="en-US"/>
              <a:t>Regulation of blood levels of particular substances</a:t>
            </a:r>
          </a:p>
          <a:p>
            <a:pPr eaLnBrk="1" hangingPunct="1" lvl="1"/>
            <a:r>
              <a:rPr altLang="en-US" lang="en-US"/>
              <a:t>Body protection</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49861">
                                            <p:txEl>
                                              <p:pRg end="0" st="0"/>
                                            </p:txEl>
                                          </p:spTgt>
                                        </p:tgtEl>
                                        <p:attrNameLst>
                                          <p:attrName>style.visibility</p:attrName>
                                        </p:attrNameLst>
                                      </p:cBhvr>
                                      <p:to>
                                        <p:strVal val="visible"/>
                                      </p:to>
                                    </p:set>
                                    <p:anim calcmode="discrete" valueType="clr">
                                      <p:cBhvr override="childStyle">
                                        <p:cTn dur="80" id="7"/>
                                        <p:tgtEl>
                                          <p:spTgt spid="249861">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49861">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49861">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49861">
                                            <p:txEl>
                                              <p:pRg end="1" st="1"/>
                                            </p:txEl>
                                          </p:spTgt>
                                        </p:tgtEl>
                                        <p:attrNameLst>
                                          <p:attrName>style.visibility</p:attrName>
                                        </p:attrNameLst>
                                      </p:cBhvr>
                                      <p:to>
                                        <p:strVal val="visible"/>
                                      </p:to>
                                    </p:set>
                                    <p:anim calcmode="discrete" valueType="clr">
                                      <p:cBhvr override="childStyle">
                                        <p:cTn dur="80" id="14"/>
                                        <p:tgtEl>
                                          <p:spTgt spid="249861">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49861">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49861">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49861">
                                            <p:txEl>
                                              <p:pRg end="2" st="2"/>
                                            </p:txEl>
                                          </p:spTgt>
                                        </p:tgtEl>
                                        <p:attrNameLst>
                                          <p:attrName>style.visibility</p:attrName>
                                        </p:attrNameLst>
                                      </p:cBhvr>
                                      <p:to>
                                        <p:strVal val="visible"/>
                                      </p:to>
                                    </p:set>
                                    <p:anim calcmode="discrete" valueType="clr">
                                      <p:cBhvr override="childStyle">
                                        <p:cTn dur="80" id="21"/>
                                        <p:tgtEl>
                                          <p:spTgt spid="24986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49861">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49861">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49861">
                                            <p:txEl>
                                              <p:pRg end="3" st="3"/>
                                            </p:txEl>
                                          </p:spTgt>
                                        </p:tgtEl>
                                        <p:attrNameLst>
                                          <p:attrName>style.visibility</p:attrName>
                                        </p:attrNameLst>
                                      </p:cBhvr>
                                      <p:to>
                                        <p:strVal val="visible"/>
                                      </p:to>
                                    </p:set>
                                    <p:anim calcmode="discrete" valueType="clr">
                                      <p:cBhvr override="childStyle">
                                        <p:cTn dur="80" id="28"/>
                                        <p:tgtEl>
                                          <p:spTgt spid="249861">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49861">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49861">
                                            <p:txEl>
                                              <p:pRg end="3" st="3"/>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9D0EE7C8-B8AC-4032-ACE3-8BFEF5E055C8}"/>
              </a:ext>
            </a:extLst>
          </p:cNvPr>
          <p:cNvSpPr>
            <a:spLocks noChangeArrowheads="1" noGrp="1"/>
          </p:cNvSpPr>
          <p:nvPr>
            <p:ph type="title"/>
          </p:nvPr>
        </p:nvSpPr>
        <p:spPr/>
        <p:txBody>
          <a:bodyPr/>
          <a:lstStyle/>
          <a:p>
            <a:pPr eaLnBrk="1" hangingPunct="1"/>
            <a:r>
              <a:rPr altLang="en-US" lang="en-US"/>
              <a:t>Distribution</a:t>
            </a:r>
          </a:p>
        </p:txBody>
      </p:sp>
      <p:sp>
        <p:nvSpPr>
          <p:cNvPr id="250885" name="Rectangle 5">
            <a:extLst>
              <a:ext uri="{FF2B5EF4-FFF2-40B4-BE49-F238E27FC236}">
                <a16:creationId xmlns:a16="http://schemas.microsoft.com/office/drawing/2014/main" id="{06A48223-2317-478B-A0B7-1135B490396D}"/>
              </a:ext>
            </a:extLst>
          </p:cNvPr>
          <p:cNvSpPr>
            <a:spLocks noChangeArrowheads="1" noGrp="1"/>
          </p:cNvSpPr>
          <p:nvPr>
            <p:ph idx="1" type="body"/>
          </p:nvPr>
        </p:nvSpPr>
        <p:spPr/>
        <p:txBody>
          <a:bodyPr/>
          <a:lstStyle/>
          <a:p>
            <a:pPr eaLnBrk="1" hangingPunct="1"/>
            <a:r>
              <a:rPr altLang="en-US" lang="en-US"/>
              <a:t>Blood transports:</a:t>
            </a:r>
          </a:p>
          <a:p>
            <a:pPr eaLnBrk="1" hangingPunct="1" lvl="1"/>
            <a:r>
              <a:rPr altLang="en-US" lang="en-US"/>
              <a:t>Oxygen from the lungs and nutrients from the digestive tract</a:t>
            </a:r>
          </a:p>
          <a:p>
            <a:pPr eaLnBrk="1" hangingPunct="1" lvl="1"/>
            <a:r>
              <a:rPr altLang="en-US" lang="en-US"/>
              <a:t>Metabolic wastes from cells to the lungs and kidneys for elimination</a:t>
            </a:r>
          </a:p>
          <a:p>
            <a:pPr eaLnBrk="1" hangingPunct="1" lvl="1"/>
            <a:r>
              <a:rPr altLang="en-US" lang="en-US"/>
              <a:t>Hormones from endocrine glands to target organs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50885">
                                            <p:txEl>
                                              <p:pRg end="1" st="1"/>
                                            </p:txEl>
                                          </p:spTgt>
                                        </p:tgtEl>
                                        <p:attrNameLst>
                                          <p:attrName>style.visibility</p:attrName>
                                        </p:attrNameLst>
                                      </p:cBhvr>
                                      <p:to>
                                        <p:strVal val="visible"/>
                                      </p:to>
                                    </p:set>
                                    <p:anim calcmode="discrete" valueType="clr">
                                      <p:cBhvr override="childStyle">
                                        <p:cTn dur="80" id="7"/>
                                        <p:tgtEl>
                                          <p:spTgt spid="250885">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50885">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50885">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50885">
                                            <p:txEl>
                                              <p:pRg end="2" st="2"/>
                                            </p:txEl>
                                          </p:spTgt>
                                        </p:tgtEl>
                                        <p:attrNameLst>
                                          <p:attrName>style.visibility</p:attrName>
                                        </p:attrNameLst>
                                      </p:cBhvr>
                                      <p:to>
                                        <p:strVal val="visible"/>
                                      </p:to>
                                    </p:set>
                                    <p:anim calcmode="discrete" valueType="clr">
                                      <p:cBhvr override="childStyle">
                                        <p:cTn dur="80" id="14"/>
                                        <p:tgtEl>
                                          <p:spTgt spid="250885">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50885">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50885">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50885">
                                            <p:txEl>
                                              <p:pRg end="3" st="3"/>
                                            </p:txEl>
                                          </p:spTgt>
                                        </p:tgtEl>
                                        <p:attrNameLst>
                                          <p:attrName>style.visibility</p:attrName>
                                        </p:attrNameLst>
                                      </p:cBhvr>
                                      <p:to>
                                        <p:strVal val="visible"/>
                                      </p:to>
                                    </p:set>
                                    <p:anim calcmode="discrete" valueType="clr">
                                      <p:cBhvr override="childStyle">
                                        <p:cTn dur="80" id="21"/>
                                        <p:tgtEl>
                                          <p:spTgt spid="250885">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50885">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250885">
                                            <p:txEl>
                                              <p:pRg end="3" st="3"/>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82DE3D94-B8E8-40E3-AE9A-19C3A998CA26}"/>
              </a:ext>
            </a:extLst>
          </p:cNvPr>
          <p:cNvSpPr>
            <a:spLocks noChangeArrowheads="1" noGrp="1"/>
          </p:cNvSpPr>
          <p:nvPr>
            <p:ph type="title"/>
          </p:nvPr>
        </p:nvSpPr>
        <p:spPr/>
        <p:txBody>
          <a:bodyPr/>
          <a:lstStyle/>
          <a:p>
            <a:pPr eaLnBrk="1" hangingPunct="1"/>
            <a:r>
              <a:rPr altLang="en-US" lang="en-US"/>
              <a:t>Regulation</a:t>
            </a:r>
          </a:p>
        </p:txBody>
      </p:sp>
      <p:sp>
        <p:nvSpPr>
          <p:cNvPr id="251909" name="Rectangle 5">
            <a:extLst>
              <a:ext uri="{FF2B5EF4-FFF2-40B4-BE49-F238E27FC236}">
                <a16:creationId xmlns:a16="http://schemas.microsoft.com/office/drawing/2014/main" id="{3E68199F-8DC0-441E-8649-B1A821039B63}"/>
              </a:ext>
            </a:extLst>
          </p:cNvPr>
          <p:cNvSpPr>
            <a:spLocks noChangeArrowheads="1" noGrp="1"/>
          </p:cNvSpPr>
          <p:nvPr>
            <p:ph idx="1" type="body"/>
          </p:nvPr>
        </p:nvSpPr>
        <p:spPr/>
        <p:txBody>
          <a:bodyPr/>
          <a:lstStyle/>
          <a:p>
            <a:pPr eaLnBrk="1" hangingPunct="1"/>
            <a:r>
              <a:rPr altLang="en-US" lang="en-US"/>
              <a:t>Blood maintains:</a:t>
            </a:r>
          </a:p>
          <a:p>
            <a:pPr eaLnBrk="1" hangingPunct="1" lvl="1"/>
            <a:r>
              <a:rPr altLang="en-US" lang="en-US"/>
              <a:t>Appropriate body temperature by absorbing and distributing heat</a:t>
            </a:r>
          </a:p>
          <a:p>
            <a:pPr eaLnBrk="1" hangingPunct="1" lvl="1"/>
            <a:r>
              <a:rPr altLang="en-US" lang="en-US"/>
              <a:t>Normal pH in body tissues using buffer systems</a:t>
            </a:r>
          </a:p>
          <a:p>
            <a:pPr eaLnBrk="1" hangingPunct="1" lvl="1"/>
            <a:r>
              <a:rPr altLang="en-US" lang="en-US"/>
              <a:t>Adequate fluid volume in the circulatory system</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51909">
                                            <p:txEl>
                                              <p:pRg end="1" st="1"/>
                                            </p:txEl>
                                          </p:spTgt>
                                        </p:tgtEl>
                                        <p:attrNameLst>
                                          <p:attrName>style.visibility</p:attrName>
                                        </p:attrNameLst>
                                      </p:cBhvr>
                                      <p:to>
                                        <p:strVal val="visible"/>
                                      </p:to>
                                    </p:set>
                                    <p:anim calcmode="discrete" valueType="clr">
                                      <p:cBhvr override="childStyle">
                                        <p:cTn dur="80" id="7"/>
                                        <p:tgtEl>
                                          <p:spTgt spid="251909">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51909">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51909">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51909">
                                            <p:txEl>
                                              <p:pRg end="2" st="2"/>
                                            </p:txEl>
                                          </p:spTgt>
                                        </p:tgtEl>
                                        <p:attrNameLst>
                                          <p:attrName>style.visibility</p:attrName>
                                        </p:attrNameLst>
                                      </p:cBhvr>
                                      <p:to>
                                        <p:strVal val="visible"/>
                                      </p:to>
                                    </p:set>
                                    <p:anim calcmode="discrete" valueType="clr">
                                      <p:cBhvr override="childStyle">
                                        <p:cTn dur="80" id="14"/>
                                        <p:tgtEl>
                                          <p:spTgt spid="251909">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51909">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51909">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51909">
                                            <p:txEl>
                                              <p:pRg end="3" st="3"/>
                                            </p:txEl>
                                          </p:spTgt>
                                        </p:tgtEl>
                                        <p:attrNameLst>
                                          <p:attrName>style.visibility</p:attrName>
                                        </p:attrNameLst>
                                      </p:cBhvr>
                                      <p:to>
                                        <p:strVal val="visible"/>
                                      </p:to>
                                    </p:set>
                                    <p:anim calcmode="discrete" valueType="clr">
                                      <p:cBhvr override="childStyle">
                                        <p:cTn dur="80" id="21"/>
                                        <p:tgtEl>
                                          <p:spTgt spid="251909">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51909">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251909">
                                            <p:txEl>
                                              <p:pRg end="3" st="3"/>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21711E4E-82B4-46E6-80E7-2739B08975B4}"/>
              </a:ext>
            </a:extLst>
          </p:cNvPr>
          <p:cNvSpPr>
            <a:spLocks noChangeArrowheads="1" noGrp="1"/>
          </p:cNvSpPr>
          <p:nvPr>
            <p:ph type="title"/>
          </p:nvPr>
        </p:nvSpPr>
        <p:spPr/>
        <p:txBody>
          <a:bodyPr/>
          <a:lstStyle/>
          <a:p>
            <a:pPr eaLnBrk="1" hangingPunct="1"/>
            <a:r>
              <a:rPr altLang="en-US" lang="en-US"/>
              <a:t>Protection</a:t>
            </a:r>
          </a:p>
        </p:txBody>
      </p:sp>
      <p:sp>
        <p:nvSpPr>
          <p:cNvPr id="252933" name="Rectangle 5">
            <a:extLst>
              <a:ext uri="{FF2B5EF4-FFF2-40B4-BE49-F238E27FC236}">
                <a16:creationId xmlns:a16="http://schemas.microsoft.com/office/drawing/2014/main" id="{092BDEA8-D154-4EDE-9425-4E2590F3D421}"/>
              </a:ext>
            </a:extLst>
          </p:cNvPr>
          <p:cNvSpPr>
            <a:spLocks noChangeArrowheads="1" noGrp="1"/>
          </p:cNvSpPr>
          <p:nvPr>
            <p:ph idx="1" type="body"/>
          </p:nvPr>
        </p:nvSpPr>
        <p:spPr/>
        <p:txBody>
          <a:bodyPr/>
          <a:lstStyle/>
          <a:p>
            <a:pPr eaLnBrk="1" hangingPunct="1">
              <a:lnSpc>
                <a:spcPct val="90000"/>
              </a:lnSpc>
            </a:pPr>
            <a:r>
              <a:rPr altLang="en-US" lang="en-US"/>
              <a:t>Blood prevents blood loss by:</a:t>
            </a:r>
          </a:p>
          <a:p>
            <a:pPr eaLnBrk="1" hangingPunct="1" lvl="1">
              <a:lnSpc>
                <a:spcPct val="90000"/>
              </a:lnSpc>
            </a:pPr>
            <a:r>
              <a:rPr altLang="en-US" lang="en-US"/>
              <a:t>Activating plasma proteins and platelets </a:t>
            </a:r>
          </a:p>
          <a:p>
            <a:pPr eaLnBrk="1" hangingPunct="1" lvl="1">
              <a:lnSpc>
                <a:spcPct val="90000"/>
              </a:lnSpc>
            </a:pPr>
            <a:r>
              <a:rPr altLang="en-US" lang="en-US"/>
              <a:t>Initiating clot formation when a vessel is broken</a:t>
            </a:r>
          </a:p>
          <a:p>
            <a:pPr eaLnBrk="1" hangingPunct="1">
              <a:lnSpc>
                <a:spcPct val="90000"/>
              </a:lnSpc>
            </a:pPr>
            <a:r>
              <a:rPr altLang="en-US" lang="en-US"/>
              <a:t>Blood prevents infection by: </a:t>
            </a:r>
          </a:p>
          <a:p>
            <a:pPr eaLnBrk="1" hangingPunct="1" lvl="1">
              <a:lnSpc>
                <a:spcPct val="90000"/>
              </a:lnSpc>
            </a:pPr>
            <a:r>
              <a:rPr altLang="en-US" lang="en-US"/>
              <a:t>Synthesizing and utilizing antibodies</a:t>
            </a:r>
          </a:p>
          <a:p>
            <a:pPr eaLnBrk="1" hangingPunct="1" lvl="1">
              <a:lnSpc>
                <a:spcPct val="90000"/>
              </a:lnSpc>
            </a:pPr>
            <a:r>
              <a:rPr altLang="en-US" lang="en-US"/>
              <a:t>Activating complement proteins</a:t>
            </a:r>
          </a:p>
          <a:p>
            <a:pPr eaLnBrk="1" hangingPunct="1" lvl="1">
              <a:lnSpc>
                <a:spcPct val="90000"/>
              </a:lnSpc>
            </a:pPr>
            <a:r>
              <a:rPr altLang="en-US" lang="en-US"/>
              <a:t>Activating WBCs to defend the body against foreign invaders </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52933">
                                            <p:txEl>
                                              <p:pRg end="1" st="1"/>
                                            </p:txEl>
                                          </p:spTgt>
                                        </p:tgtEl>
                                        <p:attrNameLst>
                                          <p:attrName>style.visibility</p:attrName>
                                        </p:attrNameLst>
                                      </p:cBhvr>
                                      <p:to>
                                        <p:strVal val="visible"/>
                                      </p:to>
                                    </p:set>
                                    <p:anim calcmode="discrete" valueType="clr">
                                      <p:cBhvr override="childStyle">
                                        <p:cTn dur="80" id="7"/>
                                        <p:tgtEl>
                                          <p:spTgt spid="252933">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52933">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52933">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52933">
                                            <p:txEl>
                                              <p:pRg end="2" st="2"/>
                                            </p:txEl>
                                          </p:spTgt>
                                        </p:tgtEl>
                                        <p:attrNameLst>
                                          <p:attrName>style.visibility</p:attrName>
                                        </p:attrNameLst>
                                      </p:cBhvr>
                                      <p:to>
                                        <p:strVal val="visible"/>
                                      </p:to>
                                    </p:set>
                                    <p:anim calcmode="discrete" valueType="clr">
                                      <p:cBhvr override="childStyle">
                                        <p:cTn dur="80" id="14"/>
                                        <p:tgtEl>
                                          <p:spTgt spid="252933">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52933">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52933">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52933">
                                            <p:txEl>
                                              <p:pRg end="3" st="3"/>
                                            </p:txEl>
                                          </p:spTgt>
                                        </p:tgtEl>
                                        <p:attrNameLst>
                                          <p:attrName>style.visibility</p:attrName>
                                        </p:attrNameLst>
                                      </p:cBhvr>
                                      <p:to>
                                        <p:strVal val="visible"/>
                                      </p:to>
                                    </p:set>
                                    <p:anim calcmode="discrete" valueType="clr">
                                      <p:cBhvr override="childStyle">
                                        <p:cTn dur="80" id="21"/>
                                        <p:tgtEl>
                                          <p:spTgt spid="252933">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52933">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252933">
                                            <p:txEl>
                                              <p:pRg end="3" st="3"/>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52933">
                                            <p:txEl>
                                              <p:pRg end="4" st="4"/>
                                            </p:txEl>
                                          </p:spTgt>
                                        </p:tgtEl>
                                        <p:attrNameLst>
                                          <p:attrName>style.visibility</p:attrName>
                                        </p:attrNameLst>
                                      </p:cBhvr>
                                      <p:to>
                                        <p:strVal val="visible"/>
                                      </p:to>
                                    </p:set>
                                    <p:anim calcmode="discrete" valueType="clr">
                                      <p:cBhvr override="childStyle">
                                        <p:cTn dur="80" id="28"/>
                                        <p:tgtEl>
                                          <p:spTgt spid="252933">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52933">
                                            <p:txEl>
                                              <p:pRg end="4" st="4"/>
                                            </p:txEl>
                                          </p:spTgt>
                                        </p:tgtEl>
                                        <p:attrNameLst>
                                          <p:attrName>fillcolor</p:attrName>
                                        </p:attrNameLst>
                                      </p:cBhvr>
                                      <p:tavLst>
                                        <p:tav tm="0">
                                          <p:val>
                                            <p:clrVal>
                                              <a:schemeClr val="accent2"/>
                                            </p:clrVal>
                                          </p:val>
                                        </p:tav>
                                        <p:tav tm="50000">
                                          <p:val>
                                            <p:clrVal>
                                              <a:schemeClr val="hlink"/>
                                            </p:clrVal>
                                          </p:val>
                                        </p:tav>
                                      </p:tavLst>
                                    </p:anim>
                                    <p:set>
                                      <p:cBhvr>
                                        <p:cTn dur="80" id="30"/>
                                        <p:tgtEl>
                                          <p:spTgt spid="252933">
                                            <p:txEl>
                                              <p:pRg end="4" st="4"/>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52933">
                                            <p:txEl>
                                              <p:pRg end="5" st="5"/>
                                            </p:txEl>
                                          </p:spTgt>
                                        </p:tgtEl>
                                        <p:attrNameLst>
                                          <p:attrName>style.visibility</p:attrName>
                                        </p:attrNameLst>
                                      </p:cBhvr>
                                      <p:to>
                                        <p:strVal val="visible"/>
                                      </p:to>
                                    </p:set>
                                    <p:anim calcmode="discrete" valueType="clr">
                                      <p:cBhvr override="childStyle">
                                        <p:cTn dur="80" id="35"/>
                                        <p:tgtEl>
                                          <p:spTgt spid="252933">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52933">
                                            <p:txEl>
                                              <p:pRg end="5" st="5"/>
                                            </p:txEl>
                                          </p:spTgt>
                                        </p:tgtEl>
                                        <p:attrNameLst>
                                          <p:attrName>fillcolor</p:attrName>
                                        </p:attrNameLst>
                                      </p:cBhvr>
                                      <p:tavLst>
                                        <p:tav tm="0">
                                          <p:val>
                                            <p:clrVal>
                                              <a:schemeClr val="accent2"/>
                                            </p:clrVal>
                                          </p:val>
                                        </p:tav>
                                        <p:tav tm="50000">
                                          <p:val>
                                            <p:clrVal>
                                              <a:schemeClr val="hlink"/>
                                            </p:clrVal>
                                          </p:val>
                                        </p:tav>
                                      </p:tavLst>
                                    </p:anim>
                                    <p:set>
                                      <p:cBhvr>
                                        <p:cTn dur="80" id="37"/>
                                        <p:tgtEl>
                                          <p:spTgt spid="252933">
                                            <p:txEl>
                                              <p:pRg end="5" st="5"/>
                                            </p:txEl>
                                          </p:spTgt>
                                        </p:tgtEl>
                                        <p:attrNameLst>
                                          <p:attrName>fill.type</p:attrName>
                                        </p:attrNameLst>
                                      </p:cBhvr>
                                      <p:to>
                                        <p:strVal val="solid"/>
                                      </p:to>
                                    </p:se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ntr" presetID="27" presetSubtype="0">
                                  <p:stCondLst>
                                    <p:cond delay="0"/>
                                  </p:stCondLst>
                                  <p:iterate type="lt">
                                    <p:tmPct val="50000"/>
                                  </p:iterate>
                                  <p:childTnLst>
                                    <p:set>
                                      <p:cBhvr>
                                        <p:cTn dur="1" fill="hold" id="41">
                                          <p:stCondLst>
                                            <p:cond delay="0"/>
                                          </p:stCondLst>
                                        </p:cTn>
                                        <p:tgtEl>
                                          <p:spTgt spid="252933">
                                            <p:txEl>
                                              <p:pRg end="6" st="6"/>
                                            </p:txEl>
                                          </p:spTgt>
                                        </p:tgtEl>
                                        <p:attrNameLst>
                                          <p:attrName>style.visibility</p:attrName>
                                        </p:attrNameLst>
                                      </p:cBhvr>
                                      <p:to>
                                        <p:strVal val="visible"/>
                                      </p:to>
                                    </p:set>
                                    <p:anim calcmode="discrete" valueType="clr">
                                      <p:cBhvr override="childStyle">
                                        <p:cTn dur="80" id="42"/>
                                        <p:tgtEl>
                                          <p:spTgt spid="252933">
                                            <p:txEl>
                                              <p:pRg end="6" st="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43"/>
                                        <p:tgtEl>
                                          <p:spTgt spid="252933">
                                            <p:txEl>
                                              <p:pRg end="6" st="6"/>
                                            </p:txEl>
                                          </p:spTgt>
                                        </p:tgtEl>
                                        <p:attrNameLst>
                                          <p:attrName>fillcolor</p:attrName>
                                        </p:attrNameLst>
                                      </p:cBhvr>
                                      <p:tavLst>
                                        <p:tav tm="0">
                                          <p:val>
                                            <p:clrVal>
                                              <a:schemeClr val="accent2"/>
                                            </p:clrVal>
                                          </p:val>
                                        </p:tav>
                                        <p:tav tm="50000">
                                          <p:val>
                                            <p:clrVal>
                                              <a:schemeClr val="hlink"/>
                                            </p:clrVal>
                                          </p:val>
                                        </p:tav>
                                      </p:tavLst>
                                    </p:anim>
                                    <p:set>
                                      <p:cBhvr>
                                        <p:cTn dur="80" id="44"/>
                                        <p:tgtEl>
                                          <p:spTgt spid="252933">
                                            <p:txEl>
                                              <p:pRg end="6" st="6"/>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EAB5D299-1455-4669-8AE9-EA44756453BA}"/>
              </a:ext>
            </a:extLst>
          </p:cNvPr>
          <p:cNvSpPr>
            <a:spLocks noChangeArrowheads="1" noGrp="1"/>
          </p:cNvSpPr>
          <p:nvPr>
            <p:ph type="title"/>
          </p:nvPr>
        </p:nvSpPr>
        <p:spPr/>
        <p:txBody>
          <a:bodyPr/>
          <a:lstStyle/>
          <a:p>
            <a:pPr eaLnBrk="1" hangingPunct="1"/>
            <a:r>
              <a:rPr altLang="en-US" lang="en-US"/>
              <a:t>Blood Plasma</a:t>
            </a:r>
          </a:p>
        </p:txBody>
      </p:sp>
      <p:sp>
        <p:nvSpPr>
          <p:cNvPr id="253957" name="Rectangle 5">
            <a:extLst>
              <a:ext uri="{FF2B5EF4-FFF2-40B4-BE49-F238E27FC236}">
                <a16:creationId xmlns:a16="http://schemas.microsoft.com/office/drawing/2014/main" id="{F7FE44F5-EBB0-4CDE-B2B8-F9F0C734EE44}"/>
              </a:ext>
            </a:extLst>
          </p:cNvPr>
          <p:cNvSpPr>
            <a:spLocks noChangeArrowheads="1" noGrp="1"/>
          </p:cNvSpPr>
          <p:nvPr>
            <p:ph idx="1" type="body"/>
          </p:nvPr>
        </p:nvSpPr>
        <p:spPr/>
        <p:txBody>
          <a:bodyPr/>
          <a:lstStyle/>
          <a:p>
            <a:pPr eaLnBrk="1" hangingPunct="1">
              <a:lnSpc>
                <a:spcPct val="90000"/>
              </a:lnSpc>
            </a:pPr>
            <a:r>
              <a:rPr altLang="en-US" dirty="0" lang="en-US"/>
              <a:t>Blood plasma contains over 100 solutes, including:</a:t>
            </a:r>
          </a:p>
          <a:p>
            <a:pPr eaLnBrk="1" hangingPunct="1" lvl="1">
              <a:lnSpc>
                <a:spcPct val="90000"/>
              </a:lnSpc>
            </a:pPr>
            <a:r>
              <a:rPr altLang="en-US" dirty="0" lang="en-US"/>
              <a:t>Proteins </a:t>
            </a:r>
          </a:p>
          <a:p>
            <a:pPr eaLnBrk="1" hangingPunct="1" lvl="2">
              <a:lnSpc>
                <a:spcPct val="90000"/>
              </a:lnSpc>
            </a:pPr>
            <a:r>
              <a:rPr altLang="en-US" dirty="0" lang="en-US"/>
              <a:t>Albumin – maintaining osmotic/H2O balance</a:t>
            </a:r>
          </a:p>
          <a:p>
            <a:pPr eaLnBrk="1" hangingPunct="1" lvl="2">
              <a:lnSpc>
                <a:spcPct val="90000"/>
              </a:lnSpc>
            </a:pPr>
            <a:r>
              <a:rPr altLang="en-US" dirty="0" lang="en-US"/>
              <a:t>Globulins – antibodies for bodily defense</a:t>
            </a:r>
          </a:p>
          <a:p>
            <a:pPr eaLnBrk="1" hangingPunct="1" lvl="2">
              <a:lnSpc>
                <a:spcPct val="90000"/>
              </a:lnSpc>
            </a:pPr>
            <a:r>
              <a:rPr altLang="en-US" dirty="0" lang="en-US"/>
              <a:t>clotting proteins (like fibrinogen)</a:t>
            </a:r>
          </a:p>
          <a:p>
            <a:pPr eaLnBrk="1" hangingPunct="1" lvl="1">
              <a:lnSpc>
                <a:spcPct val="90000"/>
              </a:lnSpc>
            </a:pPr>
            <a:r>
              <a:rPr altLang="en-US" dirty="0" lang="en-US"/>
              <a:t>Lactic acid, urea, creatinine</a:t>
            </a:r>
          </a:p>
          <a:p>
            <a:pPr eaLnBrk="1" hangingPunct="1" lvl="1">
              <a:lnSpc>
                <a:spcPct val="90000"/>
              </a:lnSpc>
            </a:pPr>
            <a:r>
              <a:rPr altLang="en-US" dirty="0" lang="en-US"/>
              <a:t>Organic nutrients – glucose, carbohydrates, amino acids</a:t>
            </a:r>
          </a:p>
          <a:p>
            <a:pPr eaLnBrk="1" hangingPunct="1" lvl="1">
              <a:lnSpc>
                <a:spcPct val="90000"/>
              </a:lnSpc>
            </a:pPr>
            <a:r>
              <a:rPr altLang="en-US" dirty="0" lang="en-US"/>
              <a:t>Electrolytes – Na, K, Ca, Cl, HCO3 </a:t>
            </a:r>
          </a:p>
          <a:p>
            <a:pPr eaLnBrk="1" hangingPunct="1" lvl="1">
              <a:lnSpc>
                <a:spcPct val="90000"/>
              </a:lnSpc>
            </a:pPr>
            <a:r>
              <a:rPr altLang="en-US" dirty="0" lang="en-US"/>
              <a:t>Respiratory gases – oxygen and carbon dioxide</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53957">
                                            <p:txEl>
                                              <p:pRg end="1" st="1"/>
                                            </p:txEl>
                                          </p:spTgt>
                                        </p:tgtEl>
                                        <p:attrNameLst>
                                          <p:attrName>style.visibility</p:attrName>
                                        </p:attrNameLst>
                                      </p:cBhvr>
                                      <p:to>
                                        <p:strVal val="visible"/>
                                      </p:to>
                                    </p:set>
                                    <p:anim calcmode="discrete" valueType="clr">
                                      <p:cBhvr override="childStyle">
                                        <p:cTn dur="80" id="7"/>
                                        <p:tgtEl>
                                          <p:spTgt spid="253957">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53957">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53957">
                                            <p:txEl>
                                              <p:pRg end="1" st="1"/>
                                            </p:txEl>
                                          </p:spTgt>
                                        </p:tgtEl>
                                        <p:attrNameLst>
                                          <p:attrName>fill.type</p:attrName>
                                        </p:attrNameLst>
                                      </p:cBhvr>
                                      <p:to>
                                        <p:strVal val="solid"/>
                                      </p:to>
                                    </p:set>
                                  </p:childTnLst>
                                </p:cTn>
                              </p:par>
                            </p:childTnLst>
                          </p:cTn>
                        </p:par>
                      </p:childTnLst>
                    </p:cTn>
                  </p:par>
                  <p:par>
                    <p:cTn fill="hold" id="10">
                      <p:stCondLst>
                        <p:cond delay="indefinite"/>
                      </p:stCondLst>
                      <p:childTnLst>
                        <p:par>
                          <p:cTn fill="hold" id="11">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53957">
                                            <p:txEl>
                                              <p:pRg end="2" st="2"/>
                                            </p:txEl>
                                          </p:spTgt>
                                        </p:tgtEl>
                                        <p:attrNameLst>
                                          <p:attrName>style.visibility</p:attrName>
                                        </p:attrNameLst>
                                      </p:cBhvr>
                                      <p:to>
                                        <p:strVal val="visible"/>
                                      </p:to>
                                    </p:set>
                                    <p:anim calcmode="discrete" valueType="clr">
                                      <p:cBhvr override="childStyle">
                                        <p:cTn dur="80" id="14"/>
                                        <p:tgtEl>
                                          <p:spTgt spid="253957">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53957">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53957">
                                            <p:txEl>
                                              <p:pRg end="2" st="2"/>
                                            </p:txEl>
                                          </p:spTgt>
                                        </p:tgtEl>
                                        <p:attrNameLst>
                                          <p:attrName>fill.type</p:attrName>
                                        </p:attrNameLst>
                                      </p:cBhvr>
                                      <p:to>
                                        <p:strVal val="solid"/>
                                      </p:to>
                                    </p:se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53957">
                                            <p:txEl>
                                              <p:pRg end="3" st="3"/>
                                            </p:txEl>
                                          </p:spTgt>
                                        </p:tgtEl>
                                        <p:attrNameLst>
                                          <p:attrName>style.visibility</p:attrName>
                                        </p:attrNameLst>
                                      </p:cBhvr>
                                      <p:to>
                                        <p:strVal val="visible"/>
                                      </p:to>
                                    </p:set>
                                    <p:anim calcmode="discrete" valueType="clr">
                                      <p:cBhvr override="childStyle">
                                        <p:cTn dur="80" id="21"/>
                                        <p:tgtEl>
                                          <p:spTgt spid="253957">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53957">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253957">
                                            <p:txEl>
                                              <p:pRg end="3" st="3"/>
                                            </p:txEl>
                                          </p:spTgt>
                                        </p:tgtEl>
                                        <p:attrNameLst>
                                          <p:attrName>fill.type</p:attrName>
                                        </p:attrNameLst>
                                      </p:cBhvr>
                                      <p:to>
                                        <p:strVal val="solid"/>
                                      </p:to>
                                    </p:set>
                                  </p:childTnLst>
                                </p:cTn>
                              </p:par>
                            </p:childTnLst>
                          </p:cTn>
                        </p:par>
                      </p:childTnLst>
                    </p:cTn>
                  </p:par>
                  <p:par>
                    <p:cTn fill="hold" id="24">
                      <p:stCondLst>
                        <p:cond delay="indefinite"/>
                      </p:stCondLst>
                      <p:childTnLst>
                        <p:par>
                          <p:cTn fill="hold" id="25">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53957">
                                            <p:txEl>
                                              <p:pRg end="4" st="4"/>
                                            </p:txEl>
                                          </p:spTgt>
                                        </p:tgtEl>
                                        <p:attrNameLst>
                                          <p:attrName>style.visibility</p:attrName>
                                        </p:attrNameLst>
                                      </p:cBhvr>
                                      <p:to>
                                        <p:strVal val="visible"/>
                                      </p:to>
                                    </p:set>
                                    <p:anim calcmode="discrete" valueType="clr">
                                      <p:cBhvr override="childStyle">
                                        <p:cTn dur="80" id="28"/>
                                        <p:tgtEl>
                                          <p:spTgt spid="253957">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53957">
                                            <p:txEl>
                                              <p:pRg end="4" st="4"/>
                                            </p:txEl>
                                          </p:spTgt>
                                        </p:tgtEl>
                                        <p:attrNameLst>
                                          <p:attrName>fillcolor</p:attrName>
                                        </p:attrNameLst>
                                      </p:cBhvr>
                                      <p:tavLst>
                                        <p:tav tm="0">
                                          <p:val>
                                            <p:clrVal>
                                              <a:schemeClr val="accent2"/>
                                            </p:clrVal>
                                          </p:val>
                                        </p:tav>
                                        <p:tav tm="50000">
                                          <p:val>
                                            <p:clrVal>
                                              <a:schemeClr val="hlink"/>
                                            </p:clrVal>
                                          </p:val>
                                        </p:tav>
                                      </p:tavLst>
                                    </p:anim>
                                    <p:set>
                                      <p:cBhvr>
                                        <p:cTn dur="80" id="30"/>
                                        <p:tgtEl>
                                          <p:spTgt spid="253957">
                                            <p:txEl>
                                              <p:pRg end="4" st="4"/>
                                            </p:txEl>
                                          </p:spTgt>
                                        </p:tgtEl>
                                        <p:attrNameLst>
                                          <p:attrName>fill.type</p:attrName>
                                        </p:attrNameLst>
                                      </p:cBhvr>
                                      <p:to>
                                        <p:strVal val="solid"/>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53957">
                                            <p:txEl>
                                              <p:pRg end="5" st="5"/>
                                            </p:txEl>
                                          </p:spTgt>
                                        </p:tgtEl>
                                        <p:attrNameLst>
                                          <p:attrName>style.visibility</p:attrName>
                                        </p:attrNameLst>
                                      </p:cBhvr>
                                      <p:to>
                                        <p:strVal val="visible"/>
                                      </p:to>
                                    </p:set>
                                    <p:anim calcmode="discrete" valueType="clr">
                                      <p:cBhvr override="childStyle">
                                        <p:cTn dur="80" id="35"/>
                                        <p:tgtEl>
                                          <p:spTgt spid="253957">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53957">
                                            <p:txEl>
                                              <p:pRg end="5" st="5"/>
                                            </p:txEl>
                                          </p:spTgt>
                                        </p:tgtEl>
                                        <p:attrNameLst>
                                          <p:attrName>fillcolor</p:attrName>
                                        </p:attrNameLst>
                                      </p:cBhvr>
                                      <p:tavLst>
                                        <p:tav tm="0">
                                          <p:val>
                                            <p:clrVal>
                                              <a:schemeClr val="accent2"/>
                                            </p:clrVal>
                                          </p:val>
                                        </p:tav>
                                        <p:tav tm="50000">
                                          <p:val>
                                            <p:clrVal>
                                              <a:schemeClr val="hlink"/>
                                            </p:clrVal>
                                          </p:val>
                                        </p:tav>
                                      </p:tavLst>
                                    </p:anim>
                                    <p:set>
                                      <p:cBhvr>
                                        <p:cTn dur="80" id="37"/>
                                        <p:tgtEl>
                                          <p:spTgt spid="253957">
                                            <p:txEl>
                                              <p:pRg end="5" st="5"/>
                                            </p:txEl>
                                          </p:spTgt>
                                        </p:tgtEl>
                                        <p:attrNameLst>
                                          <p:attrName>fill.type</p:attrName>
                                        </p:attrNameLst>
                                      </p:cBhvr>
                                      <p:to>
                                        <p:strVal val="solid"/>
                                      </p:to>
                                    </p:se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ntr" presetID="27" presetSubtype="0">
                                  <p:stCondLst>
                                    <p:cond delay="0"/>
                                  </p:stCondLst>
                                  <p:iterate type="lt">
                                    <p:tmPct val="50000"/>
                                  </p:iterate>
                                  <p:childTnLst>
                                    <p:set>
                                      <p:cBhvr>
                                        <p:cTn dur="1" fill="hold" id="41">
                                          <p:stCondLst>
                                            <p:cond delay="0"/>
                                          </p:stCondLst>
                                        </p:cTn>
                                        <p:tgtEl>
                                          <p:spTgt spid="253957">
                                            <p:txEl>
                                              <p:pRg end="6" st="6"/>
                                            </p:txEl>
                                          </p:spTgt>
                                        </p:tgtEl>
                                        <p:attrNameLst>
                                          <p:attrName>style.visibility</p:attrName>
                                        </p:attrNameLst>
                                      </p:cBhvr>
                                      <p:to>
                                        <p:strVal val="visible"/>
                                      </p:to>
                                    </p:set>
                                    <p:anim calcmode="discrete" valueType="clr">
                                      <p:cBhvr override="childStyle">
                                        <p:cTn dur="80" id="42"/>
                                        <p:tgtEl>
                                          <p:spTgt spid="253957">
                                            <p:txEl>
                                              <p:pRg end="6" st="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43"/>
                                        <p:tgtEl>
                                          <p:spTgt spid="253957">
                                            <p:txEl>
                                              <p:pRg end="6" st="6"/>
                                            </p:txEl>
                                          </p:spTgt>
                                        </p:tgtEl>
                                        <p:attrNameLst>
                                          <p:attrName>fillcolor</p:attrName>
                                        </p:attrNameLst>
                                      </p:cBhvr>
                                      <p:tavLst>
                                        <p:tav tm="0">
                                          <p:val>
                                            <p:clrVal>
                                              <a:schemeClr val="accent2"/>
                                            </p:clrVal>
                                          </p:val>
                                        </p:tav>
                                        <p:tav tm="50000">
                                          <p:val>
                                            <p:clrVal>
                                              <a:schemeClr val="hlink"/>
                                            </p:clrVal>
                                          </p:val>
                                        </p:tav>
                                      </p:tavLst>
                                    </p:anim>
                                    <p:set>
                                      <p:cBhvr>
                                        <p:cTn dur="80" id="44"/>
                                        <p:tgtEl>
                                          <p:spTgt spid="253957">
                                            <p:txEl>
                                              <p:pRg end="6" st="6"/>
                                            </p:txEl>
                                          </p:spTgt>
                                        </p:tgtEl>
                                        <p:attrNameLst>
                                          <p:attrName>fill.type</p:attrName>
                                        </p:attrNameLst>
                                      </p:cBhvr>
                                      <p:to>
                                        <p:strVal val="solid"/>
                                      </p:to>
                                    </p:set>
                                  </p:childTnLst>
                                </p:cTn>
                              </p:par>
                            </p:childTnLst>
                          </p:cTn>
                        </p:par>
                      </p:childTnLst>
                    </p:cTn>
                  </p:par>
                  <p:par>
                    <p:cTn fill="hold" id="45" nodeType="clickPar">
                      <p:stCondLst>
                        <p:cond delay="indefinite"/>
                      </p:stCondLst>
                      <p:childTnLst>
                        <p:par>
                          <p:cTn fill="hold" id="46" nodeType="withGroup">
                            <p:stCondLst>
                              <p:cond delay="0"/>
                            </p:stCondLst>
                            <p:childTnLst>
                              <p:par>
                                <p:cTn fill="hold" id="47" nodeType="clickEffect" presetClass="entr" presetID="27" presetSubtype="0">
                                  <p:stCondLst>
                                    <p:cond delay="0"/>
                                  </p:stCondLst>
                                  <p:iterate type="lt">
                                    <p:tmPct val="50000"/>
                                  </p:iterate>
                                  <p:childTnLst>
                                    <p:set>
                                      <p:cBhvr>
                                        <p:cTn dur="1" fill="hold" id="48">
                                          <p:stCondLst>
                                            <p:cond delay="0"/>
                                          </p:stCondLst>
                                        </p:cTn>
                                        <p:tgtEl>
                                          <p:spTgt spid="253957">
                                            <p:txEl>
                                              <p:pRg end="7" st="7"/>
                                            </p:txEl>
                                          </p:spTgt>
                                        </p:tgtEl>
                                        <p:attrNameLst>
                                          <p:attrName>style.visibility</p:attrName>
                                        </p:attrNameLst>
                                      </p:cBhvr>
                                      <p:to>
                                        <p:strVal val="visible"/>
                                      </p:to>
                                    </p:set>
                                    <p:anim calcmode="discrete" valueType="clr">
                                      <p:cBhvr override="childStyle">
                                        <p:cTn dur="80" id="49"/>
                                        <p:tgtEl>
                                          <p:spTgt spid="253957">
                                            <p:txEl>
                                              <p:pRg end="7" st="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50"/>
                                        <p:tgtEl>
                                          <p:spTgt spid="253957">
                                            <p:txEl>
                                              <p:pRg end="7" st="7"/>
                                            </p:txEl>
                                          </p:spTgt>
                                        </p:tgtEl>
                                        <p:attrNameLst>
                                          <p:attrName>fillcolor</p:attrName>
                                        </p:attrNameLst>
                                      </p:cBhvr>
                                      <p:tavLst>
                                        <p:tav tm="0">
                                          <p:val>
                                            <p:clrVal>
                                              <a:schemeClr val="accent2"/>
                                            </p:clrVal>
                                          </p:val>
                                        </p:tav>
                                        <p:tav tm="50000">
                                          <p:val>
                                            <p:clrVal>
                                              <a:schemeClr val="hlink"/>
                                            </p:clrVal>
                                          </p:val>
                                        </p:tav>
                                      </p:tavLst>
                                    </p:anim>
                                    <p:set>
                                      <p:cBhvr>
                                        <p:cTn dur="80" id="51"/>
                                        <p:tgtEl>
                                          <p:spTgt spid="253957">
                                            <p:txEl>
                                              <p:pRg end="7" st="7"/>
                                            </p:txEl>
                                          </p:spTgt>
                                        </p:tgtEl>
                                        <p:attrNameLst>
                                          <p:attrName>fill.type</p:attrName>
                                        </p:attrNameLst>
                                      </p:cBhvr>
                                      <p:to>
                                        <p:strVal val="solid"/>
                                      </p:to>
                                    </p:set>
                                  </p:childTnLst>
                                </p:cTn>
                              </p:par>
                            </p:childTnLst>
                          </p:cTn>
                        </p:par>
                      </p:childTnLst>
                    </p:cTn>
                  </p:par>
                  <p:par>
                    <p:cTn fill="hold" id="52" nodeType="clickPar">
                      <p:stCondLst>
                        <p:cond delay="indefinite"/>
                      </p:stCondLst>
                      <p:childTnLst>
                        <p:par>
                          <p:cTn fill="hold" id="53" nodeType="withGroup">
                            <p:stCondLst>
                              <p:cond delay="0"/>
                            </p:stCondLst>
                            <p:childTnLst>
                              <p:par>
                                <p:cTn fill="hold" id="54" nodeType="clickEffect" presetClass="entr" presetID="27" presetSubtype="0">
                                  <p:stCondLst>
                                    <p:cond delay="0"/>
                                  </p:stCondLst>
                                  <p:iterate type="lt">
                                    <p:tmPct val="50000"/>
                                  </p:iterate>
                                  <p:childTnLst>
                                    <p:set>
                                      <p:cBhvr>
                                        <p:cTn dur="1" fill="hold" id="55">
                                          <p:stCondLst>
                                            <p:cond delay="0"/>
                                          </p:stCondLst>
                                        </p:cTn>
                                        <p:tgtEl>
                                          <p:spTgt spid="253957">
                                            <p:txEl>
                                              <p:pRg end="8" st="8"/>
                                            </p:txEl>
                                          </p:spTgt>
                                        </p:tgtEl>
                                        <p:attrNameLst>
                                          <p:attrName>style.visibility</p:attrName>
                                        </p:attrNameLst>
                                      </p:cBhvr>
                                      <p:to>
                                        <p:strVal val="visible"/>
                                      </p:to>
                                    </p:set>
                                    <p:anim calcmode="discrete" valueType="clr">
                                      <p:cBhvr override="childStyle">
                                        <p:cTn dur="80" id="56"/>
                                        <p:tgtEl>
                                          <p:spTgt spid="253957">
                                            <p:txEl>
                                              <p:pRg end="8" st="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57"/>
                                        <p:tgtEl>
                                          <p:spTgt spid="253957">
                                            <p:txEl>
                                              <p:pRg end="8" st="8"/>
                                            </p:txEl>
                                          </p:spTgt>
                                        </p:tgtEl>
                                        <p:attrNameLst>
                                          <p:attrName>fillcolor</p:attrName>
                                        </p:attrNameLst>
                                      </p:cBhvr>
                                      <p:tavLst>
                                        <p:tav tm="0">
                                          <p:val>
                                            <p:clrVal>
                                              <a:schemeClr val="accent2"/>
                                            </p:clrVal>
                                          </p:val>
                                        </p:tav>
                                        <p:tav tm="50000">
                                          <p:val>
                                            <p:clrVal>
                                              <a:schemeClr val="hlink"/>
                                            </p:clrVal>
                                          </p:val>
                                        </p:tav>
                                      </p:tavLst>
                                    </p:anim>
                                    <p:set>
                                      <p:cBhvr>
                                        <p:cTn dur="80" id="58"/>
                                        <p:tgtEl>
                                          <p:spTgt spid="253957">
                                            <p:txEl>
                                              <p:pRg end="8" st="8"/>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FCC2CC19-6AE9-4009-9115-76920749660D}"/>
              </a:ext>
            </a:extLst>
          </p:cNvPr>
          <p:cNvSpPr>
            <a:spLocks noChangeArrowheads="1" noGrp="1"/>
          </p:cNvSpPr>
          <p:nvPr>
            <p:ph type="title"/>
          </p:nvPr>
        </p:nvSpPr>
        <p:spPr/>
        <p:txBody>
          <a:bodyPr/>
          <a:lstStyle/>
          <a:p>
            <a:pPr eaLnBrk="1" hangingPunct="1"/>
            <a:r>
              <a:rPr altLang="en-US" lang="en-US"/>
              <a:t>Formed Elements</a:t>
            </a:r>
          </a:p>
        </p:txBody>
      </p:sp>
      <p:sp>
        <p:nvSpPr>
          <p:cNvPr id="254981" name="Rectangle 5">
            <a:extLst>
              <a:ext uri="{FF2B5EF4-FFF2-40B4-BE49-F238E27FC236}">
                <a16:creationId xmlns:a16="http://schemas.microsoft.com/office/drawing/2014/main" id="{5DF83499-C805-4064-B54F-2C4A12D9E3B0}"/>
              </a:ext>
            </a:extLst>
          </p:cNvPr>
          <p:cNvSpPr>
            <a:spLocks noChangeArrowheads="1" noGrp="1"/>
          </p:cNvSpPr>
          <p:nvPr>
            <p:ph idx="1" type="body"/>
          </p:nvPr>
        </p:nvSpPr>
        <p:spPr/>
        <p:txBody>
          <a:bodyPr/>
          <a:lstStyle/>
          <a:p>
            <a:pPr eaLnBrk="1" hangingPunct="1">
              <a:lnSpc>
                <a:spcPct val="90000"/>
              </a:lnSpc>
            </a:pPr>
            <a:r>
              <a:rPr altLang="en-US" lang="en-US"/>
              <a:t>Erythrocytes, leukocytes, and platelets make up the formed elements</a:t>
            </a:r>
          </a:p>
          <a:p>
            <a:pPr eaLnBrk="1" hangingPunct="1" lvl="1">
              <a:lnSpc>
                <a:spcPct val="90000"/>
              </a:lnSpc>
            </a:pPr>
            <a:r>
              <a:rPr altLang="en-US" lang="en-US"/>
              <a:t>Only WBCs are complete cells</a:t>
            </a:r>
          </a:p>
          <a:p>
            <a:pPr eaLnBrk="1" hangingPunct="1" lvl="1">
              <a:lnSpc>
                <a:spcPct val="90000"/>
              </a:lnSpc>
            </a:pPr>
            <a:r>
              <a:rPr altLang="en-US" lang="en-US"/>
              <a:t>RBCs have no nuclei or organelles, and platelets are just cell fragments</a:t>
            </a:r>
          </a:p>
          <a:p>
            <a:pPr eaLnBrk="1" hangingPunct="1">
              <a:lnSpc>
                <a:spcPct val="90000"/>
              </a:lnSpc>
            </a:pPr>
            <a:r>
              <a:rPr altLang="en-US" lang="en-US"/>
              <a:t>Most formed elements survive in the bloodstream for only a few days</a:t>
            </a:r>
          </a:p>
          <a:p>
            <a:pPr eaLnBrk="1" hangingPunct="1">
              <a:lnSpc>
                <a:spcPct val="90000"/>
              </a:lnSpc>
            </a:pPr>
            <a:r>
              <a:rPr altLang="en-US" lang="en-US"/>
              <a:t>Most blood cells do not divide but are renewed by cells in bone marrow</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54981">
                                            <p:txEl>
                                              <p:pRg end="0" st="0"/>
                                            </p:txEl>
                                          </p:spTgt>
                                        </p:tgtEl>
                                        <p:attrNameLst>
                                          <p:attrName>style.visibility</p:attrName>
                                        </p:attrNameLst>
                                      </p:cBhvr>
                                      <p:to>
                                        <p:strVal val="visible"/>
                                      </p:to>
                                    </p:set>
                                    <p:anim calcmode="discrete" valueType="clr">
                                      <p:cBhvr override="childStyle">
                                        <p:cTn dur="80" id="7"/>
                                        <p:tgtEl>
                                          <p:spTgt spid="254981">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54981">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54981">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54981">
                                            <p:txEl>
                                              <p:pRg end="1" st="1"/>
                                            </p:txEl>
                                          </p:spTgt>
                                        </p:tgtEl>
                                        <p:attrNameLst>
                                          <p:attrName>style.visibility</p:attrName>
                                        </p:attrNameLst>
                                      </p:cBhvr>
                                      <p:to>
                                        <p:strVal val="visible"/>
                                      </p:to>
                                    </p:set>
                                    <p:anim calcmode="discrete" valueType="clr">
                                      <p:cBhvr override="childStyle">
                                        <p:cTn dur="80" id="14"/>
                                        <p:tgtEl>
                                          <p:spTgt spid="254981">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54981">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54981">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54981">
                                            <p:txEl>
                                              <p:pRg end="2" st="2"/>
                                            </p:txEl>
                                          </p:spTgt>
                                        </p:tgtEl>
                                        <p:attrNameLst>
                                          <p:attrName>style.visibility</p:attrName>
                                        </p:attrNameLst>
                                      </p:cBhvr>
                                      <p:to>
                                        <p:strVal val="visible"/>
                                      </p:to>
                                    </p:set>
                                    <p:anim calcmode="discrete" valueType="clr">
                                      <p:cBhvr override="childStyle">
                                        <p:cTn dur="80" id="21"/>
                                        <p:tgtEl>
                                          <p:spTgt spid="25498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54981">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54981">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54981">
                                            <p:txEl>
                                              <p:pRg end="3" st="3"/>
                                            </p:txEl>
                                          </p:spTgt>
                                        </p:tgtEl>
                                        <p:attrNameLst>
                                          <p:attrName>style.visibility</p:attrName>
                                        </p:attrNameLst>
                                      </p:cBhvr>
                                      <p:to>
                                        <p:strVal val="visible"/>
                                      </p:to>
                                    </p:set>
                                    <p:anim calcmode="discrete" valueType="clr">
                                      <p:cBhvr override="childStyle">
                                        <p:cTn dur="80" id="28"/>
                                        <p:tgtEl>
                                          <p:spTgt spid="254981">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54981">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54981">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54981">
                                            <p:txEl>
                                              <p:pRg end="4" st="4"/>
                                            </p:txEl>
                                          </p:spTgt>
                                        </p:tgtEl>
                                        <p:attrNameLst>
                                          <p:attrName>style.visibility</p:attrName>
                                        </p:attrNameLst>
                                      </p:cBhvr>
                                      <p:to>
                                        <p:strVal val="visible"/>
                                      </p:to>
                                    </p:set>
                                    <p:anim calcmode="discrete" valueType="clr">
                                      <p:cBhvr override="childStyle">
                                        <p:cTn dur="80" id="35"/>
                                        <p:tgtEl>
                                          <p:spTgt spid="254981">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54981">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54981">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B437A180-E609-4692-9525-5E9DC2B1BBB7}"/>
              </a:ext>
            </a:extLst>
          </p:cNvPr>
          <p:cNvSpPr>
            <a:spLocks noChangeArrowheads="1" noGrp="1"/>
          </p:cNvSpPr>
          <p:nvPr>
            <p:ph type="title"/>
          </p:nvPr>
        </p:nvSpPr>
        <p:spPr/>
        <p:txBody>
          <a:bodyPr/>
          <a:lstStyle/>
          <a:p>
            <a:pPr eaLnBrk="1" hangingPunct="1"/>
            <a:r>
              <a:rPr altLang="en-US" lang="en-US"/>
              <a:t>Erythrocytes (RBCs)</a:t>
            </a:r>
          </a:p>
        </p:txBody>
      </p:sp>
      <p:sp>
        <p:nvSpPr>
          <p:cNvPr id="256005" name="Rectangle 5">
            <a:extLst>
              <a:ext uri="{FF2B5EF4-FFF2-40B4-BE49-F238E27FC236}">
                <a16:creationId xmlns:a16="http://schemas.microsoft.com/office/drawing/2014/main" id="{71208CF1-9C34-48EB-B624-C2B625D79BBB}"/>
              </a:ext>
            </a:extLst>
          </p:cNvPr>
          <p:cNvSpPr>
            <a:spLocks noChangeArrowheads="1" noGrp="1"/>
          </p:cNvSpPr>
          <p:nvPr>
            <p:ph idx="1" type="body"/>
          </p:nvPr>
        </p:nvSpPr>
        <p:spPr/>
        <p:txBody>
          <a:bodyPr/>
          <a:lstStyle/>
          <a:p>
            <a:pPr eaLnBrk="1" hangingPunct="1"/>
            <a:r>
              <a:rPr altLang="en-US" lang="en-US"/>
              <a:t>Biconcave discs, anucleate, essentially no organelles</a:t>
            </a:r>
          </a:p>
          <a:p>
            <a:pPr eaLnBrk="1" hangingPunct="1"/>
            <a:r>
              <a:rPr altLang="en-US" lang="en-US"/>
              <a:t>Filled with hemoglobin (Hb), a protein that functions in gas transport</a:t>
            </a:r>
          </a:p>
          <a:p>
            <a:pPr eaLnBrk="1" hangingPunct="1"/>
            <a:r>
              <a:rPr altLang="en-US" lang="en-US"/>
              <a:t>Contain the plasma membrane protein </a:t>
            </a:r>
            <a:r>
              <a:rPr altLang="en-US" b="1" lang="en-US"/>
              <a:t>spectrin</a:t>
            </a:r>
            <a:r>
              <a:rPr altLang="en-US" lang="en-US"/>
              <a:t> and other proteins that:</a:t>
            </a:r>
          </a:p>
          <a:p>
            <a:pPr eaLnBrk="1" hangingPunct="1" lvl="1"/>
            <a:r>
              <a:rPr altLang="en-US" lang="en-US"/>
              <a:t>Give erythrocytes their flexibility</a:t>
            </a:r>
          </a:p>
          <a:p>
            <a:pPr eaLnBrk="1" hangingPunct="1" lvl="1"/>
            <a:r>
              <a:rPr altLang="en-US" lang="en-US"/>
              <a:t>Allow them to change shape as necessary</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56005">
                                            <p:txEl>
                                              <p:pRg end="0" st="0"/>
                                            </p:txEl>
                                          </p:spTgt>
                                        </p:tgtEl>
                                        <p:attrNameLst>
                                          <p:attrName>style.visibility</p:attrName>
                                        </p:attrNameLst>
                                      </p:cBhvr>
                                      <p:to>
                                        <p:strVal val="visible"/>
                                      </p:to>
                                    </p:set>
                                    <p:anim calcmode="discrete" valueType="clr">
                                      <p:cBhvr override="childStyle">
                                        <p:cTn dur="80" id="7"/>
                                        <p:tgtEl>
                                          <p:spTgt spid="256005">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56005">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56005">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56005">
                                            <p:txEl>
                                              <p:pRg end="1" st="1"/>
                                            </p:txEl>
                                          </p:spTgt>
                                        </p:tgtEl>
                                        <p:attrNameLst>
                                          <p:attrName>style.visibility</p:attrName>
                                        </p:attrNameLst>
                                      </p:cBhvr>
                                      <p:to>
                                        <p:strVal val="visible"/>
                                      </p:to>
                                    </p:set>
                                    <p:anim calcmode="discrete" valueType="clr">
                                      <p:cBhvr override="childStyle">
                                        <p:cTn dur="80" id="14"/>
                                        <p:tgtEl>
                                          <p:spTgt spid="256005">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56005">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56005">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56005">
                                            <p:txEl>
                                              <p:pRg end="2" st="2"/>
                                            </p:txEl>
                                          </p:spTgt>
                                        </p:tgtEl>
                                        <p:attrNameLst>
                                          <p:attrName>style.visibility</p:attrName>
                                        </p:attrNameLst>
                                      </p:cBhvr>
                                      <p:to>
                                        <p:strVal val="visible"/>
                                      </p:to>
                                    </p:set>
                                    <p:anim calcmode="discrete" valueType="clr">
                                      <p:cBhvr override="childStyle">
                                        <p:cTn dur="80" id="21"/>
                                        <p:tgtEl>
                                          <p:spTgt spid="256005">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56005">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56005">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56005">
                                            <p:txEl>
                                              <p:pRg end="3" st="3"/>
                                            </p:txEl>
                                          </p:spTgt>
                                        </p:tgtEl>
                                        <p:attrNameLst>
                                          <p:attrName>style.visibility</p:attrName>
                                        </p:attrNameLst>
                                      </p:cBhvr>
                                      <p:to>
                                        <p:strVal val="visible"/>
                                      </p:to>
                                    </p:set>
                                    <p:anim calcmode="discrete" valueType="clr">
                                      <p:cBhvr override="childStyle">
                                        <p:cTn dur="80" id="28"/>
                                        <p:tgtEl>
                                          <p:spTgt spid="256005">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56005">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56005">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56005">
                                            <p:txEl>
                                              <p:pRg end="4" st="4"/>
                                            </p:txEl>
                                          </p:spTgt>
                                        </p:tgtEl>
                                        <p:attrNameLst>
                                          <p:attrName>style.visibility</p:attrName>
                                        </p:attrNameLst>
                                      </p:cBhvr>
                                      <p:to>
                                        <p:strVal val="visible"/>
                                      </p:to>
                                    </p:set>
                                    <p:anim calcmode="discrete" valueType="clr">
                                      <p:cBhvr override="childStyle">
                                        <p:cTn dur="80" id="35"/>
                                        <p:tgtEl>
                                          <p:spTgt spid="256005">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56005">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56005">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B5CB999-A5D8-4892-8C0C-22AB6E008332}"/>
              </a:ext>
            </a:extLst>
          </p:cNvPr>
          <p:cNvSpPr>
            <a:spLocks noChangeArrowheads="1" noGrp="1"/>
          </p:cNvSpPr>
          <p:nvPr>
            <p:ph type="title"/>
          </p:nvPr>
        </p:nvSpPr>
        <p:spPr/>
        <p:txBody>
          <a:bodyPr/>
          <a:lstStyle/>
          <a:p>
            <a:pPr eaLnBrk="1" hangingPunct="1"/>
            <a:r>
              <a:rPr altLang="en-US" dirty="0" lang="en-US"/>
              <a:t>Erythrocytes (RBC)</a:t>
            </a:r>
          </a:p>
        </p:txBody>
      </p:sp>
      <p:sp>
        <p:nvSpPr>
          <p:cNvPr id="15363" name="Text Box 5">
            <a:extLst>
              <a:ext uri="{FF2B5EF4-FFF2-40B4-BE49-F238E27FC236}">
                <a16:creationId xmlns:a16="http://schemas.microsoft.com/office/drawing/2014/main" id="{367C1DB8-F8BF-49DB-8EC8-6890F85BF380}"/>
              </a:ext>
            </a:extLst>
          </p:cNvPr>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r">
              <a:spcAft>
                <a:spcPct val="0"/>
              </a:spcAft>
              <a:buClrTx/>
              <a:buSzTx/>
              <a:buFontTx/>
              <a:buNone/>
            </a:pPr>
            <a:r>
              <a:rPr altLang="en-US" b="1" lang="en-US" sz="1200">
                <a:solidFill>
                  <a:schemeClr val="accent2"/>
                </a:solidFill>
                <a:latin charset="0" panose="020B0604020202020204" pitchFamily="34" typeface="Arial"/>
              </a:rPr>
              <a:t>Figure 17.3</a:t>
            </a:r>
          </a:p>
        </p:txBody>
      </p:sp>
      <p:pic>
        <p:nvPicPr>
          <p:cNvPr descr="12_02" id="15364" name="Picture 7">
            <a:extLst>
              <a:ext uri="{FF2B5EF4-FFF2-40B4-BE49-F238E27FC236}">
                <a16:creationId xmlns:a16="http://schemas.microsoft.com/office/drawing/2014/main" id="{8ABC566B-190D-406E-B1FA-8391A63A14A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2263" y="766763"/>
            <a:ext cx="8128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0516D8E-36E8-48F7-896E-C2713EFB88FA}"/>
              </a:ext>
            </a:extLst>
          </p:cNvPr>
          <p:cNvSpPr>
            <a:spLocks noChangeArrowheads="1" noGrp="1"/>
          </p:cNvSpPr>
          <p:nvPr>
            <p:ph type="title"/>
          </p:nvPr>
        </p:nvSpPr>
        <p:spPr/>
        <p:txBody>
          <a:bodyPr/>
          <a:lstStyle/>
          <a:p>
            <a:pPr eaLnBrk="1" hangingPunct="1"/>
            <a:r>
              <a:rPr altLang="en-US" lang="en-US"/>
              <a:t>Components of Whole Blood</a:t>
            </a:r>
          </a:p>
        </p:txBody>
      </p:sp>
      <p:sp>
        <p:nvSpPr>
          <p:cNvPr id="16387" name="Text Box 4">
            <a:extLst>
              <a:ext uri="{FF2B5EF4-FFF2-40B4-BE49-F238E27FC236}">
                <a16:creationId xmlns:a16="http://schemas.microsoft.com/office/drawing/2014/main" id="{789DF794-4CD8-4F42-9445-085B7A37CDFF}"/>
              </a:ext>
              <a:ext uri="{C183D7F6-B498-43B3-948B-1728B52AA6E4}">
                <adec:decorative xmlns:adec="http://schemas.microsoft.com/office/drawing/2017/decorative" val="1"/>
              </a:ext>
            </a:extLst>
          </p:cNvPr>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r">
              <a:spcAft>
                <a:spcPct val="0"/>
              </a:spcAft>
              <a:buClrTx/>
              <a:buSzTx/>
              <a:buFontTx/>
              <a:buNone/>
            </a:pPr>
            <a:r>
              <a:rPr altLang="en-US" b="1" lang="en-US" sz="1200">
                <a:solidFill>
                  <a:schemeClr val="accent2"/>
                </a:solidFill>
                <a:latin charset="0" panose="020B0604020202020204" pitchFamily="34" typeface="Arial"/>
              </a:rPr>
              <a:t>Figure 17.2</a:t>
            </a:r>
          </a:p>
        </p:txBody>
      </p:sp>
      <p:pic>
        <p:nvPicPr>
          <p:cNvPr descr="light microscope image of blood" id="16388" name="Picture 6">
            <a:extLst>
              <a:ext uri="{FF2B5EF4-FFF2-40B4-BE49-F238E27FC236}">
                <a16:creationId xmlns:a16="http://schemas.microsoft.com/office/drawing/2014/main" id="{2D981A40-76A0-48D1-B254-9548A355DCEC}"/>
              </a:ext>
            </a:extLst>
          </p:cNvPr>
          <p:cNvPicPr>
            <a:picLocks noChangeArrowheads="1" noChangeAspect="1"/>
          </p:cNvPicPr>
          <p:nvPr/>
        </p:nvPicPr>
        <p:blipFill>
          <a:blip r:embed="rId2">
            <a:extLst>
              <a:ext uri="{28A0092B-C50C-407E-A947-70E740481C1C}">
                <a14:useLocalDpi xmlns:a14="http://schemas.microsoft.com/office/drawing/2010/main" val="0"/>
              </a:ext>
            </a:extLst>
          </a:blip>
          <a:srcRect b="8183" l="2545" r="2176" t="2925"/>
          <a:stretch>
            <a:fillRect/>
          </a:stretch>
        </p:blipFill>
        <p:spPr bwMode="auto">
          <a:xfrm>
            <a:off x="0" y="801688"/>
            <a:ext cx="6535738" cy="569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descr="scanning electron micrograph of blood cells in a blood vessel" id="16389" name="Picture 7">
            <a:extLst>
              <a:ext uri="{FF2B5EF4-FFF2-40B4-BE49-F238E27FC236}">
                <a16:creationId xmlns:a16="http://schemas.microsoft.com/office/drawing/2014/main" id="{FC862CAF-A202-44BF-9969-94751380A9DF}"/>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30850" y="3709988"/>
            <a:ext cx="3613150" cy="314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3A9EFAD-FB59-4381-A248-B0EACBBEC8C2}"/>
              </a:ext>
            </a:extLst>
          </p:cNvPr>
          <p:cNvSpPr>
            <a:spLocks noChangeArrowheads="1" noGrp="1"/>
          </p:cNvSpPr>
          <p:nvPr>
            <p:ph type="title"/>
          </p:nvPr>
        </p:nvSpPr>
        <p:spPr/>
        <p:txBody>
          <a:bodyPr/>
          <a:lstStyle/>
          <a:p>
            <a:pPr eaLnBrk="1" hangingPunct="1"/>
            <a:r>
              <a:rPr altLang="en-US" dirty="0" lang="en-US"/>
              <a:t>Erythrocytes (RBCs) - descriptions</a:t>
            </a:r>
          </a:p>
        </p:txBody>
      </p:sp>
      <p:sp>
        <p:nvSpPr>
          <p:cNvPr id="258051" name="Rectangle 3">
            <a:extLst>
              <a:ext uri="{FF2B5EF4-FFF2-40B4-BE49-F238E27FC236}">
                <a16:creationId xmlns:a16="http://schemas.microsoft.com/office/drawing/2014/main" id="{3275F0F5-F716-4BEE-BDD3-55B8AC839D20}"/>
              </a:ext>
            </a:extLst>
          </p:cNvPr>
          <p:cNvSpPr>
            <a:spLocks noChangeArrowheads="1" noGrp="1"/>
          </p:cNvSpPr>
          <p:nvPr>
            <p:ph idx="1" type="body"/>
          </p:nvPr>
        </p:nvSpPr>
        <p:spPr/>
        <p:txBody>
          <a:bodyPr/>
          <a:lstStyle/>
          <a:p>
            <a:pPr eaLnBrk="1" hangingPunct="1">
              <a:lnSpc>
                <a:spcPct val="90000"/>
              </a:lnSpc>
            </a:pPr>
            <a:r>
              <a:rPr altLang="en-US" lang="en-US">
                <a:solidFill>
                  <a:srgbClr val="000000"/>
                </a:solidFill>
              </a:rPr>
              <a:t>Erythrocytes are an example of the complementarity of structure and function</a:t>
            </a:r>
          </a:p>
          <a:p>
            <a:pPr eaLnBrk="1" hangingPunct="1">
              <a:lnSpc>
                <a:spcPct val="90000"/>
              </a:lnSpc>
            </a:pPr>
            <a:r>
              <a:rPr altLang="en-US" lang="en-US">
                <a:solidFill>
                  <a:srgbClr val="000000"/>
                </a:solidFill>
              </a:rPr>
              <a:t>Structural characteristics contribute to its gas transport function</a:t>
            </a:r>
          </a:p>
          <a:p>
            <a:pPr eaLnBrk="1" hangingPunct="1" lvl="1">
              <a:lnSpc>
                <a:spcPct val="90000"/>
              </a:lnSpc>
            </a:pPr>
            <a:r>
              <a:rPr altLang="en-US" lang="en-US">
                <a:solidFill>
                  <a:srgbClr val="000000"/>
                </a:solidFill>
              </a:rPr>
              <a:t>Biconcave shape has a huge surface area relative to volume</a:t>
            </a:r>
          </a:p>
          <a:p>
            <a:pPr eaLnBrk="1" hangingPunct="1" lvl="1">
              <a:lnSpc>
                <a:spcPct val="90000"/>
              </a:lnSpc>
            </a:pPr>
            <a:r>
              <a:rPr altLang="en-US" lang="en-US">
                <a:solidFill>
                  <a:srgbClr val="000000"/>
                </a:solidFill>
              </a:rPr>
              <a:t>Erythrocytes are more than 97% hemoglobin</a:t>
            </a:r>
          </a:p>
          <a:p>
            <a:pPr eaLnBrk="1" hangingPunct="1" lvl="1">
              <a:lnSpc>
                <a:spcPct val="90000"/>
              </a:lnSpc>
            </a:pPr>
            <a:r>
              <a:rPr altLang="en-US" lang="en-US"/>
              <a:t>ATP is generated anaerobically, so the erythrocytes do not consume the oxygen</a:t>
            </a:r>
            <a:r>
              <a:rPr altLang="en-US" baseline="-25000" lang="en-US"/>
              <a:t> </a:t>
            </a:r>
            <a:r>
              <a:rPr altLang="en-US" lang="en-US"/>
              <a:t>they transport</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58051">
                                            <p:txEl>
                                              <p:pRg end="0" st="0"/>
                                            </p:txEl>
                                          </p:spTgt>
                                        </p:tgtEl>
                                        <p:attrNameLst>
                                          <p:attrName>style.visibility</p:attrName>
                                        </p:attrNameLst>
                                      </p:cBhvr>
                                      <p:to>
                                        <p:strVal val="visible"/>
                                      </p:to>
                                    </p:set>
                                    <p:anim calcmode="discrete" valueType="clr">
                                      <p:cBhvr override="childStyle">
                                        <p:cTn dur="80" id="7"/>
                                        <p:tgtEl>
                                          <p:spTgt spid="258051">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58051">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58051">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58051">
                                            <p:txEl>
                                              <p:pRg end="1" st="1"/>
                                            </p:txEl>
                                          </p:spTgt>
                                        </p:tgtEl>
                                        <p:attrNameLst>
                                          <p:attrName>style.visibility</p:attrName>
                                        </p:attrNameLst>
                                      </p:cBhvr>
                                      <p:to>
                                        <p:strVal val="visible"/>
                                      </p:to>
                                    </p:set>
                                    <p:anim calcmode="discrete" valueType="clr">
                                      <p:cBhvr override="childStyle">
                                        <p:cTn dur="80" id="14"/>
                                        <p:tgtEl>
                                          <p:spTgt spid="258051">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58051">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58051">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58051">
                                            <p:txEl>
                                              <p:pRg end="2" st="2"/>
                                            </p:txEl>
                                          </p:spTgt>
                                        </p:tgtEl>
                                        <p:attrNameLst>
                                          <p:attrName>style.visibility</p:attrName>
                                        </p:attrNameLst>
                                      </p:cBhvr>
                                      <p:to>
                                        <p:strVal val="visible"/>
                                      </p:to>
                                    </p:set>
                                    <p:anim calcmode="discrete" valueType="clr">
                                      <p:cBhvr override="childStyle">
                                        <p:cTn dur="80" id="21"/>
                                        <p:tgtEl>
                                          <p:spTgt spid="25805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58051">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58051">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58051">
                                            <p:txEl>
                                              <p:pRg end="3" st="3"/>
                                            </p:txEl>
                                          </p:spTgt>
                                        </p:tgtEl>
                                        <p:attrNameLst>
                                          <p:attrName>style.visibility</p:attrName>
                                        </p:attrNameLst>
                                      </p:cBhvr>
                                      <p:to>
                                        <p:strVal val="visible"/>
                                      </p:to>
                                    </p:set>
                                    <p:anim calcmode="discrete" valueType="clr">
                                      <p:cBhvr override="childStyle">
                                        <p:cTn dur="80" id="28"/>
                                        <p:tgtEl>
                                          <p:spTgt spid="258051">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58051">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58051">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58051">
                                            <p:txEl>
                                              <p:pRg end="4" st="4"/>
                                            </p:txEl>
                                          </p:spTgt>
                                        </p:tgtEl>
                                        <p:attrNameLst>
                                          <p:attrName>style.visibility</p:attrName>
                                        </p:attrNameLst>
                                      </p:cBhvr>
                                      <p:to>
                                        <p:strVal val="visible"/>
                                      </p:to>
                                    </p:set>
                                    <p:anim calcmode="discrete" valueType="clr">
                                      <p:cBhvr override="childStyle">
                                        <p:cTn dur="80" id="35"/>
                                        <p:tgtEl>
                                          <p:spTgt spid="258051">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58051">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58051">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E9E44CB-D7CC-436B-AB8C-5CDFBBE9FC0F}"/>
              </a:ext>
            </a:extLst>
          </p:cNvPr>
          <p:cNvSpPr>
            <a:spLocks noChangeArrowheads="1" noGrp="1"/>
          </p:cNvSpPr>
          <p:nvPr>
            <p:ph type="title"/>
          </p:nvPr>
        </p:nvSpPr>
        <p:spPr/>
        <p:txBody>
          <a:bodyPr/>
          <a:lstStyle/>
          <a:p>
            <a:pPr eaLnBrk="1" hangingPunct="1"/>
            <a:r>
              <a:rPr altLang="en-US" lang="en-US"/>
              <a:t>Structure of Hemoglobin</a:t>
            </a:r>
          </a:p>
        </p:txBody>
      </p:sp>
      <p:sp>
        <p:nvSpPr>
          <p:cNvPr id="19459" name="Text Box 5">
            <a:extLst>
              <a:ext uri="{FF2B5EF4-FFF2-40B4-BE49-F238E27FC236}">
                <a16:creationId xmlns:a16="http://schemas.microsoft.com/office/drawing/2014/main" id="{5FF7FC10-13D8-4FB0-89A3-1B021099806B}"/>
              </a:ext>
            </a:extLst>
          </p:cNvPr>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r">
              <a:spcAft>
                <a:spcPct val="0"/>
              </a:spcAft>
              <a:buClrTx/>
              <a:buSzTx/>
              <a:buFontTx/>
              <a:buNone/>
            </a:pPr>
            <a:r>
              <a:rPr altLang="en-US" b="1" lang="en-US" sz="1200">
                <a:solidFill>
                  <a:schemeClr val="accent2"/>
                </a:solidFill>
                <a:latin charset="0" panose="020B0604020202020204" pitchFamily="34" typeface="Arial"/>
              </a:rPr>
              <a:t>Figure 17.4</a:t>
            </a:r>
          </a:p>
        </p:txBody>
      </p:sp>
      <p:pic>
        <p:nvPicPr>
          <p:cNvPr descr="graphic of hemoglobin molecule showing 4 parts with heme group containing iron" id="19460" name="Picture 6">
            <a:extLst>
              <a:ext uri="{FF2B5EF4-FFF2-40B4-BE49-F238E27FC236}">
                <a16:creationId xmlns:a16="http://schemas.microsoft.com/office/drawing/2014/main" id="{CA044E34-8872-441D-8BFA-7BDDB4DF4104}"/>
              </a:ext>
            </a:extLst>
          </p:cNvPr>
          <p:cNvPicPr>
            <a:picLocks noChangeArrowheads="1" noChangeAspect="1"/>
          </p:cNvPicPr>
          <p:nvPr/>
        </p:nvPicPr>
        <p:blipFill>
          <a:blip r:embed="rId2">
            <a:extLst>
              <a:ext uri="{28A0092B-C50C-407E-A947-70E740481C1C}">
                <a14:useLocalDpi xmlns:a14="http://schemas.microsoft.com/office/drawing/2010/main" val="0"/>
              </a:ext>
            </a:extLst>
          </a:blip>
          <a:srcRect b="6366" l="1025" r="1175" t="1299"/>
          <a:stretch>
            <a:fillRect/>
          </a:stretch>
        </p:blipFill>
        <p:spPr bwMode="auto">
          <a:xfrm>
            <a:off x="407988" y="1171575"/>
            <a:ext cx="8326437"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EB086C7-D9F1-494E-9F6B-BF24B59DC1CF}"/>
              </a:ext>
            </a:extLst>
          </p:cNvPr>
          <p:cNvSpPr>
            <a:spLocks noChangeArrowheads="1" noGrp="1"/>
          </p:cNvSpPr>
          <p:nvPr>
            <p:ph type="title"/>
          </p:nvPr>
        </p:nvSpPr>
        <p:spPr/>
        <p:txBody>
          <a:bodyPr/>
          <a:lstStyle/>
          <a:p>
            <a:pPr eaLnBrk="1" hangingPunct="1"/>
            <a:r>
              <a:rPr altLang="en-US" lang="en-US"/>
              <a:t>Hemoglobin (Hb)</a:t>
            </a:r>
          </a:p>
        </p:txBody>
      </p:sp>
      <p:sp>
        <p:nvSpPr>
          <p:cNvPr id="261123" name="Rectangle 3">
            <a:extLst>
              <a:ext uri="{FF2B5EF4-FFF2-40B4-BE49-F238E27FC236}">
                <a16:creationId xmlns:a16="http://schemas.microsoft.com/office/drawing/2014/main" id="{9FFC4C58-CD57-42A8-BF5F-22DD94A9EA28}"/>
              </a:ext>
            </a:extLst>
          </p:cNvPr>
          <p:cNvSpPr>
            <a:spLocks noChangeArrowheads="1" noGrp="1"/>
          </p:cNvSpPr>
          <p:nvPr>
            <p:ph idx="1" type="body"/>
          </p:nvPr>
        </p:nvSpPr>
        <p:spPr>
          <a:xfrm>
            <a:off x="298450" y="977900"/>
            <a:ext cx="8270875" cy="4324350"/>
          </a:xfrm>
        </p:spPr>
        <p:txBody>
          <a:bodyPr/>
          <a:lstStyle/>
          <a:p>
            <a:pPr eaLnBrk="1" hangingPunct="1">
              <a:lnSpc>
                <a:spcPct val="90000"/>
              </a:lnSpc>
            </a:pPr>
            <a:r>
              <a:rPr altLang="en-US" b="1" lang="en-US">
                <a:solidFill>
                  <a:srgbClr val="000000"/>
                </a:solidFill>
              </a:rPr>
              <a:t>Oxyhemoglobin</a:t>
            </a:r>
            <a:r>
              <a:rPr altLang="en-US" lang="en-US">
                <a:solidFill>
                  <a:srgbClr val="000000"/>
                </a:solidFill>
              </a:rPr>
              <a:t> – Hb bound to oxygen</a:t>
            </a:r>
          </a:p>
          <a:p>
            <a:pPr eaLnBrk="1" hangingPunct="1" lvl="1">
              <a:lnSpc>
                <a:spcPct val="90000"/>
              </a:lnSpc>
            </a:pPr>
            <a:r>
              <a:rPr altLang="en-US" lang="en-US">
                <a:solidFill>
                  <a:srgbClr val="000000"/>
                </a:solidFill>
              </a:rPr>
              <a:t>Oxygen loading takes place in the lungs</a:t>
            </a:r>
          </a:p>
          <a:p>
            <a:pPr eaLnBrk="1" hangingPunct="1">
              <a:lnSpc>
                <a:spcPct val="90000"/>
              </a:lnSpc>
            </a:pPr>
            <a:r>
              <a:rPr altLang="en-US" b="1" lang="en-US">
                <a:solidFill>
                  <a:srgbClr val="000000"/>
                </a:solidFill>
              </a:rPr>
              <a:t>Deoxyhemoglobin</a:t>
            </a:r>
            <a:r>
              <a:rPr altLang="en-US" lang="en-US">
                <a:solidFill>
                  <a:srgbClr val="000000"/>
                </a:solidFill>
              </a:rPr>
              <a:t> – Hb after oxygen diffuses into tissues (reduced Hb) </a:t>
            </a:r>
          </a:p>
          <a:p>
            <a:pPr eaLnBrk="1" hangingPunct="1">
              <a:lnSpc>
                <a:spcPct val="90000"/>
              </a:lnSpc>
            </a:pPr>
            <a:r>
              <a:rPr altLang="en-US" b="1" lang="en-US">
                <a:solidFill>
                  <a:srgbClr val="000000"/>
                </a:solidFill>
              </a:rPr>
              <a:t>Carbaminohemoglobin</a:t>
            </a:r>
            <a:r>
              <a:rPr altLang="en-US" lang="en-US">
                <a:solidFill>
                  <a:srgbClr val="000000"/>
                </a:solidFill>
              </a:rPr>
              <a:t> – Hb bound to carbon dioxide</a:t>
            </a:r>
            <a:r>
              <a:rPr altLang="en-US" baseline="-25000" lang="en-US">
                <a:solidFill>
                  <a:srgbClr val="000000"/>
                </a:solidFill>
              </a:rPr>
              <a:t> </a:t>
            </a:r>
            <a:endParaRPr altLang="en-US" lang="en-US">
              <a:solidFill>
                <a:srgbClr val="000000"/>
              </a:solidFill>
            </a:endParaRPr>
          </a:p>
          <a:p>
            <a:pPr eaLnBrk="1" hangingPunct="1" lvl="1">
              <a:lnSpc>
                <a:spcPct val="90000"/>
              </a:lnSpc>
            </a:pPr>
            <a:r>
              <a:rPr altLang="en-US" lang="en-US"/>
              <a:t>Carbon dioxide loading takes place in the tissues </a:t>
            </a:r>
          </a:p>
        </p:txBody>
      </p:sp>
      <p:sp>
        <p:nvSpPr>
          <p:cNvPr id="261126" name="Oval 6">
            <a:hlinkClick r:id="rId2"/>
            <a:extLst>
              <a:ext uri="{FF2B5EF4-FFF2-40B4-BE49-F238E27FC236}">
                <a16:creationId xmlns:a16="http://schemas.microsoft.com/office/drawing/2014/main" id="{5C64E23F-E5A9-410B-B008-5A3E0BE2A8B0}"/>
              </a:ext>
            </a:extLst>
          </p:cNvPr>
          <p:cNvSpPr>
            <a:spLocks noChangeArrowheads="1"/>
          </p:cNvSpPr>
          <p:nvPr/>
        </p:nvSpPr>
        <p:spPr bwMode="auto">
          <a:xfrm>
            <a:off x="314325" y="5581650"/>
            <a:ext cx="762000" cy="457200"/>
          </a:xfrm>
          <a:prstGeom prst="ellipse">
            <a:avLst/>
          </a:prstGeom>
          <a:gradFill rotWithShape="0">
            <a:gsLst>
              <a:gs pos="0">
                <a:schemeClr val="folHlink"/>
              </a:gs>
              <a:gs pos="100000">
                <a:srgbClr val="4DC2E7"/>
              </a:gs>
            </a:gsLst>
            <a:lin ang="5400000" scaled="1"/>
          </a:gradFill>
          <a:ln>
            <a:noFill/>
          </a:ln>
          <a:effectLst>
            <a:prstShdw dir="2700000" dist="17961" prst="shdw17">
              <a:schemeClr val="folHlink">
                <a:gamma/>
                <a:shade val="60000"/>
                <a:invGamma/>
              </a:schemeClr>
            </a:prstShdw>
          </a:effectLst>
          <a:extLst>
            <a:ext uri="{91240B29-F687-4F45-9708-019B960494DF}">
              <a14:hiddenLine xmlns:a14="http://schemas.microsoft.com/office/drawing/2010/main" w="9525">
                <a:solidFill>
                  <a:schemeClr val="tx1"/>
                </a:solidFill>
                <a:round/>
                <a:headEnd/>
                <a:tailEnd/>
              </a14:hiddenLine>
            </a:ext>
          </a:extLst>
        </p:spPr>
        <p:txBody>
          <a:bodyPr anchor="ctr" wrap="none"/>
          <a:lstStyle/>
          <a:p>
            <a:pPr algn="ctr">
              <a:defRPr/>
            </a:pPr>
            <a:r>
              <a:rPr altLang="en-US" b="1" lang="en-US" sz="1600">
                <a:latin charset="0" panose="020B0604020202020204" pitchFamily="34" typeface="Arial"/>
              </a:rPr>
              <a:t>PLAY</a:t>
            </a:r>
          </a:p>
        </p:txBody>
      </p:sp>
      <p:sp>
        <p:nvSpPr>
          <p:cNvPr id="20485" name="Text Box 7">
            <a:extLst>
              <a:ext uri="{FF2B5EF4-FFF2-40B4-BE49-F238E27FC236}">
                <a16:creationId xmlns:a16="http://schemas.microsoft.com/office/drawing/2014/main" id="{AE9D1279-F757-4B57-AB82-3D94C7ED0B3D}"/>
              </a:ext>
            </a:extLst>
          </p:cNvPr>
          <p:cNvSpPr txBox="1">
            <a:spLocks noChangeArrowheads="1"/>
          </p:cNvSpPr>
          <p:nvPr/>
        </p:nvSpPr>
        <p:spPr bwMode="auto">
          <a:xfrm>
            <a:off x="1228725" y="5597525"/>
            <a:ext cx="42227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none">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b="1" i="1" lang="en-US" sz="1400">
                <a:latin charset="0" panose="020B0604020202020204" pitchFamily="34" typeface="Arial"/>
              </a:rPr>
              <a:t>InterActive Physiology ®:</a:t>
            </a:r>
            <a:r>
              <a:rPr altLang="en-US" b="1" i="1" lang="en-US" sz="1400">
                <a:solidFill>
                  <a:srgbClr val="0989C9"/>
                </a:solidFill>
                <a:latin charset="0" panose="020B0604020202020204" pitchFamily="34" typeface="Arial"/>
              </a:rPr>
              <a:t> </a:t>
            </a:r>
            <a:endParaRPr altLang="en-US" b="1" lang="en-US" sz="1400">
              <a:solidFill>
                <a:srgbClr val="0989C9"/>
              </a:solidFill>
              <a:latin charset="0" panose="020B0604020202020204" pitchFamily="34" typeface="Arial"/>
            </a:endParaRPr>
          </a:p>
          <a:p>
            <a:pPr>
              <a:spcAft>
                <a:spcPct val="0"/>
              </a:spcAft>
              <a:buClrTx/>
              <a:buSzTx/>
              <a:buFontTx/>
              <a:buNone/>
            </a:pPr>
            <a:r>
              <a:rPr altLang="en-US" b="1" lang="en-US" sz="1400">
                <a:latin charset="0" panose="020B0604020202020204" pitchFamily="34" typeface="Arial"/>
              </a:rPr>
              <a:t>Respiratory System: Gas Transport, pages 3–13</a:t>
            </a:r>
            <a:endParaRPr altLang="en-US" lang="en-US" sz="2800">
              <a:latin charset="0" panose="020B0604020202020204" pitchFamily="34" typeface="Arial"/>
            </a:endParaRP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61123">
                                            <p:txEl>
                                              <p:pRg end="0" st="0"/>
                                            </p:txEl>
                                          </p:spTgt>
                                        </p:tgtEl>
                                        <p:attrNameLst>
                                          <p:attrName>style.visibility</p:attrName>
                                        </p:attrNameLst>
                                      </p:cBhvr>
                                      <p:to>
                                        <p:strVal val="visible"/>
                                      </p:to>
                                    </p:set>
                                    <p:anim calcmode="discrete" valueType="clr">
                                      <p:cBhvr override="childStyle">
                                        <p:cTn dur="80" id="7"/>
                                        <p:tgtEl>
                                          <p:spTgt spid="261123">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61123">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61123">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61123">
                                            <p:txEl>
                                              <p:pRg end="1" st="1"/>
                                            </p:txEl>
                                          </p:spTgt>
                                        </p:tgtEl>
                                        <p:attrNameLst>
                                          <p:attrName>style.visibility</p:attrName>
                                        </p:attrNameLst>
                                      </p:cBhvr>
                                      <p:to>
                                        <p:strVal val="visible"/>
                                      </p:to>
                                    </p:set>
                                    <p:anim calcmode="discrete" valueType="clr">
                                      <p:cBhvr override="childStyle">
                                        <p:cTn dur="80" id="14"/>
                                        <p:tgtEl>
                                          <p:spTgt spid="261123">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61123">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61123">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61123">
                                            <p:txEl>
                                              <p:pRg end="2" st="2"/>
                                            </p:txEl>
                                          </p:spTgt>
                                        </p:tgtEl>
                                        <p:attrNameLst>
                                          <p:attrName>style.visibility</p:attrName>
                                        </p:attrNameLst>
                                      </p:cBhvr>
                                      <p:to>
                                        <p:strVal val="visible"/>
                                      </p:to>
                                    </p:set>
                                    <p:anim calcmode="discrete" valueType="clr">
                                      <p:cBhvr override="childStyle">
                                        <p:cTn dur="80" id="21"/>
                                        <p:tgtEl>
                                          <p:spTgt spid="261123">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61123">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61123">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61123">
                                            <p:txEl>
                                              <p:pRg end="3" st="3"/>
                                            </p:txEl>
                                          </p:spTgt>
                                        </p:tgtEl>
                                        <p:attrNameLst>
                                          <p:attrName>style.visibility</p:attrName>
                                        </p:attrNameLst>
                                      </p:cBhvr>
                                      <p:to>
                                        <p:strVal val="visible"/>
                                      </p:to>
                                    </p:set>
                                    <p:anim calcmode="discrete" valueType="clr">
                                      <p:cBhvr override="childStyle">
                                        <p:cTn dur="80" id="28"/>
                                        <p:tgtEl>
                                          <p:spTgt spid="261123">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61123">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61123">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61123">
                                            <p:txEl>
                                              <p:pRg end="4" st="4"/>
                                            </p:txEl>
                                          </p:spTgt>
                                        </p:tgtEl>
                                        <p:attrNameLst>
                                          <p:attrName>style.visibility</p:attrName>
                                        </p:attrNameLst>
                                      </p:cBhvr>
                                      <p:to>
                                        <p:strVal val="visible"/>
                                      </p:to>
                                    </p:set>
                                    <p:anim calcmode="discrete" valueType="clr">
                                      <p:cBhvr override="childStyle">
                                        <p:cTn dur="80" id="35"/>
                                        <p:tgtEl>
                                          <p:spTgt spid="261123">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61123">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61123">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E96D9A2-3841-4319-B49A-416B5C8FD23A}"/>
              </a:ext>
            </a:extLst>
          </p:cNvPr>
          <p:cNvSpPr>
            <a:spLocks noChangeArrowheads="1" noGrp="1"/>
          </p:cNvSpPr>
          <p:nvPr>
            <p:ph type="title"/>
          </p:nvPr>
        </p:nvSpPr>
        <p:spPr/>
        <p:txBody>
          <a:bodyPr/>
          <a:lstStyle/>
          <a:p>
            <a:pPr eaLnBrk="1" hangingPunct="1"/>
            <a:r>
              <a:rPr altLang="en-US" lang="en-US"/>
              <a:t>Production of Erythrocytes</a:t>
            </a:r>
          </a:p>
        </p:txBody>
      </p:sp>
      <p:sp>
        <p:nvSpPr>
          <p:cNvPr id="21507" name="Rectangle 3">
            <a:extLst>
              <a:ext uri="{FF2B5EF4-FFF2-40B4-BE49-F238E27FC236}">
                <a16:creationId xmlns:a16="http://schemas.microsoft.com/office/drawing/2014/main" id="{B4C56975-6BC7-46A1-91F9-44BA80077A0C}"/>
              </a:ext>
            </a:extLst>
          </p:cNvPr>
          <p:cNvSpPr>
            <a:spLocks noChangeArrowheads="1" noGrp="1"/>
          </p:cNvSpPr>
          <p:nvPr>
            <p:ph idx="1" type="body"/>
          </p:nvPr>
        </p:nvSpPr>
        <p:spPr/>
        <p:txBody>
          <a:bodyPr/>
          <a:lstStyle/>
          <a:p>
            <a:pPr eaLnBrk="1" hangingPunct="1"/>
            <a:r>
              <a:rPr altLang="en-US" b="1" lang="en-US">
                <a:solidFill>
                  <a:srgbClr val="000000"/>
                </a:solidFill>
              </a:rPr>
              <a:t>Hematopoiesis</a:t>
            </a:r>
            <a:r>
              <a:rPr altLang="en-US" lang="en-US">
                <a:solidFill>
                  <a:srgbClr val="000000"/>
                </a:solidFill>
              </a:rPr>
              <a:t> – blood cell formation</a:t>
            </a:r>
          </a:p>
          <a:p>
            <a:pPr eaLnBrk="1" hangingPunct="1"/>
            <a:r>
              <a:rPr altLang="en-US" lang="en-US">
                <a:solidFill>
                  <a:srgbClr val="000000"/>
                </a:solidFill>
              </a:rPr>
              <a:t>Hematopoiesis occurs in the red bone marrow of the:</a:t>
            </a:r>
          </a:p>
          <a:p>
            <a:pPr eaLnBrk="1" hangingPunct="1" lvl="1"/>
            <a:r>
              <a:rPr altLang="en-US" lang="en-US">
                <a:solidFill>
                  <a:srgbClr val="000000"/>
                </a:solidFill>
              </a:rPr>
              <a:t>Axial skeleton and girdles</a:t>
            </a:r>
          </a:p>
          <a:p>
            <a:pPr eaLnBrk="1" hangingPunct="1" lvl="1"/>
            <a:r>
              <a:rPr altLang="en-US" lang="en-US">
                <a:solidFill>
                  <a:srgbClr val="000000"/>
                </a:solidFill>
              </a:rPr>
              <a:t>Epiphyses of the humerus and femur</a:t>
            </a:r>
          </a:p>
          <a:p>
            <a:pPr eaLnBrk="1" hangingPunct="1"/>
            <a:r>
              <a:rPr altLang="en-US" lang="en-US"/>
              <a:t>Hemocytoblasts give rise to all formed elements</a:t>
            </a:r>
          </a:p>
          <a:p>
            <a:pPr eaLnBrk="1" hangingPunct="1"/>
            <a:r>
              <a:rPr altLang="en-US" lang="en-US"/>
              <a:t>Process takes about 15 days </a:t>
            </a:r>
          </a:p>
        </p:txBody>
      </p:sp>
    </p:spTree>
  </p:cSld>
  <p:clrMapOvr>
    <a:masterClrMapping/>
  </p:clrMapOvr>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50AA339-AF7F-45EB-801F-696D6D581117}"/>
              </a:ext>
            </a:extLst>
          </p:cNvPr>
          <p:cNvSpPr>
            <a:spLocks noChangeArrowheads="1" noGrp="1"/>
          </p:cNvSpPr>
          <p:nvPr>
            <p:ph type="title"/>
          </p:nvPr>
        </p:nvSpPr>
        <p:spPr/>
        <p:txBody>
          <a:bodyPr/>
          <a:lstStyle/>
          <a:p>
            <a:pPr eaLnBrk="1" hangingPunct="1"/>
            <a:r>
              <a:rPr altLang="en-US" lang="en-US"/>
              <a:t>Production of Erythrocytes: Erythropoiesis</a:t>
            </a:r>
          </a:p>
        </p:txBody>
      </p:sp>
      <p:sp>
        <p:nvSpPr>
          <p:cNvPr id="23555" name="Text Box 5">
            <a:extLst>
              <a:ext uri="{FF2B5EF4-FFF2-40B4-BE49-F238E27FC236}">
                <a16:creationId xmlns:a16="http://schemas.microsoft.com/office/drawing/2014/main" id="{8763982D-8A80-42F1-9C0F-DAE9A0492CDC}"/>
              </a:ext>
            </a:extLst>
          </p:cNvPr>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r">
              <a:spcAft>
                <a:spcPct val="0"/>
              </a:spcAft>
              <a:buClrTx/>
              <a:buSzTx/>
              <a:buFontTx/>
              <a:buNone/>
            </a:pPr>
            <a:r>
              <a:rPr altLang="en-US" b="1" lang="en-US" sz="1200">
                <a:solidFill>
                  <a:schemeClr val="accent2"/>
                </a:solidFill>
                <a:latin charset="0" panose="020B0604020202020204" pitchFamily="34" typeface="Arial"/>
              </a:rPr>
              <a:t>Figure 17.5</a:t>
            </a:r>
          </a:p>
        </p:txBody>
      </p:sp>
      <p:pic>
        <p:nvPicPr>
          <p:cNvPr descr="figure showing developmental stages of blood cells starting with hemocytoblast and ending with reticulocytes then finally becoming a mature erythrocyte" id="23556" name="Picture 6">
            <a:extLst>
              <a:ext uri="{FF2B5EF4-FFF2-40B4-BE49-F238E27FC236}">
                <a16:creationId xmlns:a16="http://schemas.microsoft.com/office/drawing/2014/main" id="{0380C515-AF87-474C-B547-DA35BBFED169}"/>
              </a:ext>
            </a:extLst>
          </p:cNvPr>
          <p:cNvPicPr>
            <a:picLocks noChangeArrowheads="1" noChangeAspect="1"/>
          </p:cNvPicPr>
          <p:nvPr/>
        </p:nvPicPr>
        <p:blipFill>
          <a:blip r:embed="rId2">
            <a:extLst>
              <a:ext uri="{28A0092B-C50C-407E-A947-70E740481C1C}">
                <a14:useLocalDpi xmlns:a14="http://schemas.microsoft.com/office/drawing/2010/main" val="0"/>
              </a:ext>
            </a:extLst>
          </a:blip>
          <a:srcRect b="13258" l="1025" r="1025" t="4440"/>
          <a:stretch>
            <a:fillRect/>
          </a:stretch>
        </p:blipFill>
        <p:spPr bwMode="auto">
          <a:xfrm>
            <a:off x="303213" y="2359025"/>
            <a:ext cx="8535987" cy="213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4579" name="Rectangle 6">
            <a:extLst>
              <a:ext uri="{FF2B5EF4-FFF2-40B4-BE49-F238E27FC236}">
                <a16:creationId xmlns:a16="http://schemas.microsoft.com/office/drawing/2014/main" id="{C740C628-611D-4AFF-92E3-DA546CD31962}"/>
              </a:ext>
            </a:extLst>
          </p:cNvPr>
          <p:cNvSpPr>
            <a:spLocks noChangeArrowheads="1" noGrp="1"/>
          </p:cNvSpPr>
          <p:nvPr>
            <p:ph type="title"/>
          </p:nvPr>
        </p:nvSpPr>
        <p:spPr/>
        <p:txBody>
          <a:bodyPr/>
          <a:lstStyle/>
          <a:p>
            <a:pPr eaLnBrk="1" hangingPunct="1"/>
            <a:r>
              <a:rPr altLang="en-US" lang="en-US"/>
              <a:t>Regulation and Requirements for Erythropoiesis</a:t>
            </a:r>
          </a:p>
        </p:txBody>
      </p:sp>
      <p:sp>
        <p:nvSpPr>
          <p:cNvPr id="265223" name="Rectangle 7">
            <a:extLst>
              <a:ext uri="{FF2B5EF4-FFF2-40B4-BE49-F238E27FC236}">
                <a16:creationId xmlns:a16="http://schemas.microsoft.com/office/drawing/2014/main" id="{F28AC623-0EE7-4C94-AE4F-5366D2C2D682}"/>
              </a:ext>
            </a:extLst>
          </p:cNvPr>
          <p:cNvSpPr>
            <a:spLocks noChangeArrowheads="1" noGrp="1"/>
          </p:cNvSpPr>
          <p:nvPr>
            <p:ph idx="1" type="body"/>
          </p:nvPr>
        </p:nvSpPr>
        <p:spPr>
          <a:xfrm>
            <a:off x="298450" y="1308100"/>
            <a:ext cx="8270875" cy="5056188"/>
          </a:xfrm>
        </p:spPr>
        <p:txBody>
          <a:bodyPr/>
          <a:lstStyle/>
          <a:p>
            <a:pPr eaLnBrk="1" hangingPunct="1"/>
            <a:r>
              <a:rPr altLang="en-US" lang="en-US"/>
              <a:t>Circulating erythrocytes – the number remains constant and reflects a balance between RBC production and destruction</a:t>
            </a:r>
          </a:p>
          <a:p>
            <a:pPr eaLnBrk="1" hangingPunct="1" lvl="1"/>
            <a:r>
              <a:rPr altLang="en-US" lang="en-US"/>
              <a:t>Too few RBCs leads to tissue </a:t>
            </a:r>
            <a:r>
              <a:rPr altLang="en-US" b="1" lang="en-US"/>
              <a:t>hypoxia/anemia</a:t>
            </a:r>
          </a:p>
          <a:p>
            <a:pPr eaLnBrk="1" hangingPunct="1" lvl="1"/>
            <a:r>
              <a:rPr altLang="en-US" lang="en-US"/>
              <a:t>Too many RBCs causes undesirable blood viscosity (</a:t>
            </a:r>
            <a:r>
              <a:rPr altLang="en-US" b="1" lang="en-US"/>
              <a:t>polycythemia)</a:t>
            </a:r>
            <a:endParaRPr altLang="en-US" lang="en-US"/>
          </a:p>
          <a:p>
            <a:pPr eaLnBrk="1" hangingPunct="1"/>
            <a:r>
              <a:rPr altLang="en-US" lang="en-US"/>
              <a:t>Erythropoiesis is hormonally controlled and depends on adequate supplies of iron, amino acids, and B vitamins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65223">
                                            <p:txEl>
                                              <p:pRg end="1" st="1"/>
                                            </p:txEl>
                                          </p:spTgt>
                                        </p:tgtEl>
                                        <p:attrNameLst>
                                          <p:attrName>style.visibility</p:attrName>
                                        </p:attrNameLst>
                                      </p:cBhvr>
                                      <p:to>
                                        <p:strVal val="visible"/>
                                      </p:to>
                                    </p:set>
                                    <p:anim calcmode="discrete" valueType="clr">
                                      <p:cBhvr override="childStyle">
                                        <p:cTn dur="80" id="7"/>
                                        <p:tgtEl>
                                          <p:spTgt spid="265223">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65223">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265223">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65223">
                                            <p:txEl>
                                              <p:pRg end="2" st="2"/>
                                            </p:txEl>
                                          </p:spTgt>
                                        </p:tgtEl>
                                        <p:attrNameLst>
                                          <p:attrName>style.visibility</p:attrName>
                                        </p:attrNameLst>
                                      </p:cBhvr>
                                      <p:to>
                                        <p:strVal val="visible"/>
                                      </p:to>
                                    </p:set>
                                    <p:anim calcmode="discrete" valueType="clr">
                                      <p:cBhvr override="childStyle">
                                        <p:cTn dur="80" id="14"/>
                                        <p:tgtEl>
                                          <p:spTgt spid="265223">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65223">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265223">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65223">
                                            <p:txEl>
                                              <p:pRg end="3" st="3"/>
                                            </p:txEl>
                                          </p:spTgt>
                                        </p:tgtEl>
                                        <p:attrNameLst>
                                          <p:attrName>style.visibility</p:attrName>
                                        </p:attrNameLst>
                                      </p:cBhvr>
                                      <p:to>
                                        <p:strVal val="visible"/>
                                      </p:to>
                                    </p:set>
                                    <p:anim calcmode="discrete" valueType="clr">
                                      <p:cBhvr override="childStyle">
                                        <p:cTn dur="80" id="21"/>
                                        <p:tgtEl>
                                          <p:spTgt spid="265223">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65223">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265223">
                                            <p:txEl>
                                              <p:pRg end="3" st="3"/>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602" name="Rectangle 5">
            <a:extLst>
              <a:ext uri="{FF2B5EF4-FFF2-40B4-BE49-F238E27FC236}">
                <a16:creationId xmlns:a16="http://schemas.microsoft.com/office/drawing/2014/main" id="{4F0E0974-3162-408D-834E-5561D804823B}"/>
              </a:ext>
            </a:extLst>
          </p:cNvPr>
          <p:cNvSpPr>
            <a:spLocks noChangeArrowheads="1" noGrp="1"/>
          </p:cNvSpPr>
          <p:nvPr>
            <p:ph type="title"/>
          </p:nvPr>
        </p:nvSpPr>
        <p:spPr/>
        <p:txBody>
          <a:bodyPr/>
          <a:lstStyle/>
          <a:p>
            <a:pPr eaLnBrk="1" hangingPunct="1"/>
            <a:r>
              <a:rPr altLang="en-US" lang="en-US"/>
              <a:t>Erythrocyte Disorders</a:t>
            </a:r>
          </a:p>
        </p:txBody>
      </p:sp>
      <p:sp>
        <p:nvSpPr>
          <p:cNvPr id="25603" name="Rectangle 6">
            <a:extLst>
              <a:ext uri="{FF2B5EF4-FFF2-40B4-BE49-F238E27FC236}">
                <a16:creationId xmlns:a16="http://schemas.microsoft.com/office/drawing/2014/main" id="{61A2ECD8-A79E-4ECE-90D9-9D40CAF05AD0}"/>
              </a:ext>
            </a:extLst>
          </p:cNvPr>
          <p:cNvSpPr>
            <a:spLocks noChangeArrowheads="1" noGrp="1"/>
          </p:cNvSpPr>
          <p:nvPr>
            <p:ph idx="1"/>
          </p:nvPr>
        </p:nvSpPr>
        <p:spPr/>
        <p:txBody>
          <a:bodyPr/>
          <a:lstStyle/>
          <a:p>
            <a:pPr eaLnBrk="1" hangingPunct="1"/>
            <a:r>
              <a:rPr altLang="en-US" b="1" lang="en-US"/>
              <a:t>Polycythemia</a:t>
            </a:r>
          </a:p>
          <a:p>
            <a:pPr eaLnBrk="1" hangingPunct="1" lvl="1"/>
            <a:r>
              <a:rPr altLang="en-US" lang="en-US"/>
              <a:t>Abnormal excess of RBCs; increases blood viscosity, causing sluggish blood flow</a:t>
            </a:r>
          </a:p>
          <a:p>
            <a:pPr eaLnBrk="1" hangingPunct="1" lvl="1"/>
            <a:r>
              <a:rPr altLang="en-US" i="1" lang="en-US"/>
              <a:t>Polycythemia vera</a:t>
            </a:r>
            <a:r>
              <a:rPr altLang="en-US" lang="en-US"/>
              <a:t>: Bone marrow cancer leading to</a:t>
            </a:r>
            <a:r>
              <a:rPr altLang="en-US" lang="en-US">
                <a:sym charset="2" panose="05000000000000000000" pitchFamily="2" typeface="Wingdings"/>
              </a:rPr>
              <a:t> e</a:t>
            </a:r>
            <a:r>
              <a:rPr altLang="en-US" lang="en-US"/>
              <a:t>xcess RBCs</a:t>
            </a:r>
          </a:p>
          <a:p>
            <a:pPr eaLnBrk="1" hangingPunct="1" lvl="2"/>
            <a:r>
              <a:rPr altLang="en-US" lang="en-US"/>
              <a:t>Hematocrit may go as high as 80%</a:t>
            </a:r>
          </a:p>
          <a:p>
            <a:pPr eaLnBrk="1" hangingPunct="1" lvl="2"/>
            <a:r>
              <a:rPr altLang="en-US" lang="en-US"/>
              <a:t>Treatment: therapeutic phlebotomy</a:t>
            </a:r>
          </a:p>
          <a:p>
            <a:pPr eaLnBrk="1" hangingPunct="1" lvl="1"/>
            <a:r>
              <a:rPr altLang="en-US" i="1" lang="en-US"/>
              <a:t>Secondary polycythemia</a:t>
            </a:r>
            <a:r>
              <a:rPr altLang="en-US" lang="en-US"/>
              <a:t>: caused by low O</a:t>
            </a:r>
            <a:r>
              <a:rPr altLang="en-US" baseline="-25000" lang="en-US"/>
              <a:t>2</a:t>
            </a:r>
            <a:r>
              <a:rPr altLang="en-US" lang="en-US"/>
              <a:t> levels (example: high altitude) or increased</a:t>
            </a:r>
            <a:br>
              <a:rPr altLang="en-US" lang="en-US"/>
            </a:br>
            <a:r>
              <a:rPr altLang="en-US" lang="en-US"/>
              <a:t>EPO production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55FE0DE-684B-4ACE-B56D-7E56963687AA}"/>
              </a:ext>
            </a:extLst>
          </p:cNvPr>
          <p:cNvSpPr>
            <a:spLocks noChangeArrowheads="1" noGrp="1"/>
          </p:cNvSpPr>
          <p:nvPr>
            <p:ph type="title"/>
          </p:nvPr>
        </p:nvSpPr>
        <p:spPr/>
        <p:txBody>
          <a:bodyPr/>
          <a:lstStyle/>
          <a:p>
            <a:pPr eaLnBrk="1" hangingPunct="1"/>
            <a:r>
              <a:rPr altLang="en-US" lang="en-US"/>
              <a:t>Blood Doping</a:t>
            </a:r>
          </a:p>
        </p:txBody>
      </p:sp>
      <p:sp>
        <p:nvSpPr>
          <p:cNvPr id="27651" name="Rectangle 3">
            <a:extLst>
              <a:ext uri="{FF2B5EF4-FFF2-40B4-BE49-F238E27FC236}">
                <a16:creationId xmlns:a16="http://schemas.microsoft.com/office/drawing/2014/main" id="{66F344FF-8BB6-45D8-987D-3847E82513E1}"/>
              </a:ext>
            </a:extLst>
          </p:cNvPr>
          <p:cNvSpPr>
            <a:spLocks noChangeArrowheads="1" noGrp="1"/>
          </p:cNvSpPr>
          <p:nvPr>
            <p:ph idx="1" sz="half" type="body"/>
          </p:nvPr>
        </p:nvSpPr>
        <p:spPr>
          <a:xfrm>
            <a:off x="457200" y="873125"/>
            <a:ext cx="7826375" cy="5527675"/>
          </a:xfrm>
        </p:spPr>
        <p:txBody>
          <a:bodyPr/>
          <a:lstStyle/>
          <a:p>
            <a:pPr eaLnBrk="1" hangingPunct="1"/>
            <a:r>
              <a:rPr altLang="en-US" lang="en-US"/>
              <a:t>Injecting previously stored RBC’s or hormones (e.g. EPO) before an athletic event</a:t>
            </a:r>
          </a:p>
          <a:p>
            <a:pPr eaLnBrk="1" hangingPunct="1" lvl="1"/>
            <a:r>
              <a:rPr altLang="en-US" lang="en-US"/>
              <a:t>more cells available to deliver oxygen to tissues</a:t>
            </a:r>
          </a:p>
          <a:p>
            <a:pPr eaLnBrk="1" hangingPunct="1"/>
            <a:r>
              <a:rPr altLang="en-US" lang="en-US"/>
              <a:t>Dangerous </a:t>
            </a:r>
          </a:p>
          <a:p>
            <a:pPr eaLnBrk="1" hangingPunct="1" lvl="1"/>
            <a:r>
              <a:rPr altLang="en-US" lang="en-US"/>
              <a:t>increases blood viscosity</a:t>
            </a:r>
          </a:p>
          <a:p>
            <a:pPr eaLnBrk="1" hangingPunct="1" lvl="1"/>
            <a:r>
              <a:rPr altLang="en-US" lang="en-US"/>
              <a:t>forces heart to work harder</a:t>
            </a:r>
          </a:p>
          <a:p>
            <a:pPr eaLnBrk="1" hangingPunct="1"/>
            <a:r>
              <a:rPr altLang="en-US" lang="en-US"/>
              <a:t>Banned by Olympic committee </a:t>
            </a:r>
          </a:p>
          <a:p>
            <a:pPr eaLnBrk="1" hangingPunct="1">
              <a:buFont charset="2" panose="05000000000000000000" pitchFamily="2" typeface="Wingdings"/>
              <a:buNone/>
            </a:pPr>
            <a:r>
              <a:rPr altLang="en-US" lang="en-US"/>
              <a:t>		and Tour de France</a:t>
            </a:r>
          </a:p>
        </p:txBody>
      </p:sp>
      <p:pic>
        <p:nvPicPr>
          <p:cNvPr id="392198" name="Picture 6">
            <a:extLst>
              <a:ext uri="{FF2B5EF4-FFF2-40B4-BE49-F238E27FC236}">
                <a16:creationId xmlns:a16="http://schemas.microsoft.com/office/drawing/2014/main" id="{E4ECAC19-D4F5-4622-B927-BA1C7F0A7834}"/>
              </a:ext>
              <a:ext uri="{C183D7F6-B498-43B3-948B-1728B52AA6E4}">
                <adec:decorative xmlns:adec="http://schemas.microsoft.com/office/drawing/2017/decorative" val="1"/>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00575" y="5192713"/>
            <a:ext cx="1260475" cy="166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
        <p:nvSpPr>
          <p:cNvPr id="392199" name="Rectangle 7">
            <a:extLst>
              <a:ext uri="{FF2B5EF4-FFF2-40B4-BE49-F238E27FC236}">
                <a16:creationId xmlns:a16="http://schemas.microsoft.com/office/drawing/2014/main" id="{F18B561B-08EC-48FD-9039-375E1B5C3F94}"/>
              </a:ext>
            </a:extLst>
          </p:cNvPr>
          <p:cNvSpPr>
            <a:spLocks noChangeArrowheads="1"/>
          </p:cNvSpPr>
          <p:nvPr/>
        </p:nvSpPr>
        <p:spPr bwMode="auto">
          <a:xfrm>
            <a:off x="5995988" y="4549775"/>
            <a:ext cx="3148012" cy="240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b="1" lang="en-US" sz="1800"/>
              <a:t>A 'mistake,' Riccardo Riccò says of doping during </a:t>
            </a:r>
          </a:p>
          <a:p>
            <a:pPr>
              <a:spcAft>
                <a:spcPct val="0"/>
              </a:spcAft>
              <a:buClrTx/>
              <a:buSzTx/>
              <a:buFontTx/>
              <a:buNone/>
            </a:pPr>
            <a:r>
              <a:rPr altLang="en-US" b="1" lang="en-US" sz="1800"/>
              <a:t>Tour de France</a:t>
            </a:r>
          </a:p>
          <a:p>
            <a:pPr>
              <a:spcAft>
                <a:spcPct val="0"/>
              </a:spcAft>
              <a:buClrTx/>
              <a:buSzTx/>
              <a:buFontTx/>
              <a:buNone/>
            </a:pPr>
            <a:r>
              <a:rPr altLang="en-US" b="1" lang="en-US" sz="1400"/>
              <a:t>July 30, 2008</a:t>
            </a:r>
          </a:p>
          <a:p>
            <a:pPr>
              <a:spcAft>
                <a:spcPct val="0"/>
              </a:spcAft>
              <a:buClrTx/>
              <a:buSzTx/>
              <a:buFontTx/>
              <a:buNone/>
            </a:pPr>
            <a:r>
              <a:rPr altLang="en-US" b="1" lang="en-US" sz="1400"/>
              <a:t>He tested positive for CERA, or continuous erythropoietin receptor activator, an advanced version of the blood booster EPO.</a:t>
            </a:r>
            <a:r>
              <a:rPr altLang="en-US" lang="en-US" sz="2400"/>
              <a:t> </a:t>
            </a:r>
            <a:endParaRPr altLang="en-US" b="1" lang="en-US" sz="1400"/>
          </a:p>
          <a:p>
            <a:pPr>
              <a:spcAft>
                <a:spcPct val="0"/>
              </a:spcAft>
              <a:buClrTx/>
              <a:buSzTx/>
              <a:buFontTx/>
              <a:buNone/>
            </a:pPr>
            <a:endParaRPr altLang="en-US" lang="en-US" sz="1800"/>
          </a:p>
        </p:txBody>
      </p:sp>
      <p:grpSp>
        <p:nvGrpSpPr>
          <p:cNvPr id="8" name="Group 7">
            <a:extLst>
              <a:ext uri="{FF2B5EF4-FFF2-40B4-BE49-F238E27FC236}">
                <a16:creationId xmlns:a16="http://schemas.microsoft.com/office/drawing/2014/main" id="{425766F9-5DDB-40AB-8C94-988E8809F4D6}"/>
              </a:ext>
              <a:ext uri="{C183D7F6-B498-43B3-948B-1728B52AA6E4}">
                <adec:decorative xmlns:adec="http://schemas.microsoft.com/office/drawing/2017/decorative" val="1"/>
              </a:ext>
            </a:extLst>
          </p:cNvPr>
          <p:cNvGrpSpPr>
            <a:grpSpLocks/>
          </p:cNvGrpSpPr>
          <p:nvPr/>
        </p:nvGrpSpPr>
        <p:grpSpPr bwMode="auto">
          <a:xfrm>
            <a:off x="5562600" y="2640013"/>
            <a:ext cx="3505200" cy="1974850"/>
            <a:chOff x="5562600" y="2640805"/>
            <a:chExt cx="3505200" cy="1973891"/>
          </a:xfrm>
        </p:grpSpPr>
        <p:sp>
          <p:nvSpPr>
            <p:cNvPr id="27655" name="Text Box 5">
              <a:extLst>
                <a:ext uri="{FF2B5EF4-FFF2-40B4-BE49-F238E27FC236}">
                  <a16:creationId xmlns:a16="http://schemas.microsoft.com/office/drawing/2014/main" id="{7E4F95B0-F7B6-4931-9C45-4D24516005B9}"/>
                </a:ext>
              </a:extLst>
            </p:cNvPr>
            <p:cNvSpPr txBox="1">
              <a:spLocks noChangeArrowheads="1"/>
            </p:cNvSpPr>
            <p:nvPr/>
          </p:nvSpPr>
          <p:spPr bwMode="auto">
            <a:xfrm>
              <a:off x="7467600" y="4247983"/>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Bef>
                  <a:spcPct val="50000"/>
                </a:spcBef>
                <a:spcAft>
                  <a:spcPct val="0"/>
                </a:spcAft>
                <a:buClrTx/>
                <a:buSzTx/>
                <a:buFontTx/>
                <a:buNone/>
              </a:pPr>
              <a:r>
                <a:rPr altLang="en-US" lang="en-US" sz="1800">
                  <a:latin charset="0" panose="020B0604030504040204" pitchFamily="34" typeface="Tahoma"/>
                </a:rPr>
                <a:t>Yulia Efimova</a:t>
              </a:r>
            </a:p>
          </p:txBody>
        </p:sp>
        <p:pic>
          <p:nvPicPr>
            <p:cNvPr descr="Image result for russian swimmer yulia efimova" id="27656" name="Picture 11">
              <a:extLst>
                <a:ext uri="{FF2B5EF4-FFF2-40B4-BE49-F238E27FC236}">
                  <a16:creationId xmlns:a16="http://schemas.microsoft.com/office/drawing/2014/main" id="{59CF8E79-2426-4766-916B-F33B8FF6D475}"/>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640805"/>
              <a:ext cx="2705100" cy="168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1" presetSubtype="4">
                                  <p:stCondLst>
                                    <p:cond delay="0"/>
                                  </p:stCondLst>
                                  <p:childTnLst>
                                    <p:set>
                                      <p:cBhvr>
                                        <p:cTn dur="1" fill="hold" id="6">
                                          <p:stCondLst>
                                            <p:cond delay="0"/>
                                          </p:stCondLst>
                                        </p:cTn>
                                        <p:tgtEl>
                                          <p:spTgt spid="392198"/>
                                        </p:tgtEl>
                                        <p:attrNameLst>
                                          <p:attrName>style.visibility</p:attrName>
                                        </p:attrNameLst>
                                      </p:cBhvr>
                                      <p:to>
                                        <p:strVal val="visible"/>
                                      </p:to>
                                    </p:set>
                                    <p:animEffect filter="wheel(4)" transition="in">
                                      <p:cBhvr>
                                        <p:cTn dur="2000" id="7"/>
                                        <p:tgtEl>
                                          <p:spTgt spid="392198"/>
                                        </p:tgtEl>
                                      </p:cBhvr>
                                    </p:animEffect>
                                  </p:childTnLst>
                                </p:cTn>
                              </p:par>
                              <p:par>
                                <p:cTn fill="hold" grpId="0" id="8" nodeType="withEffect" presetClass="entr" presetID="21" presetSubtype="4">
                                  <p:stCondLst>
                                    <p:cond delay="0"/>
                                  </p:stCondLst>
                                  <p:childTnLst>
                                    <p:set>
                                      <p:cBhvr>
                                        <p:cTn dur="1" fill="hold" id="9">
                                          <p:stCondLst>
                                            <p:cond delay="0"/>
                                          </p:stCondLst>
                                        </p:cTn>
                                        <p:tgtEl>
                                          <p:spTgt spid="392199"/>
                                        </p:tgtEl>
                                        <p:attrNameLst>
                                          <p:attrName>style.visibility</p:attrName>
                                        </p:attrNameLst>
                                      </p:cBhvr>
                                      <p:to>
                                        <p:strVal val="visible"/>
                                      </p:to>
                                    </p:set>
                                    <p:animEffect filter="wheel(4)" transition="in">
                                      <p:cBhvr>
                                        <p:cTn dur="2000" id="10"/>
                                        <p:tgtEl>
                                          <p:spTgt spid="392199"/>
                                        </p:tgtEl>
                                      </p:cBhvr>
                                    </p:animEffect>
                                  </p:childTnLst>
                                </p:cTn>
                              </p:par>
                            </p:childTnLst>
                          </p:cTn>
                        </p:par>
                        <p:par>
                          <p:cTn fill="hold" id="11" nodeType="afterGroup">
                            <p:stCondLst>
                              <p:cond delay="2000"/>
                            </p:stCondLst>
                            <p:childTnLst>
                              <p:par>
                                <p:cTn fill="hold" id="12" nodeType="afterEffect" presetClass="entr" presetID="16" presetSubtype="21">
                                  <p:stCondLst>
                                    <p:cond delay="0"/>
                                  </p:stCondLst>
                                  <p:childTnLst>
                                    <p:set>
                                      <p:cBhvr>
                                        <p:cTn dur="1" fill="hold" id="13">
                                          <p:stCondLst>
                                            <p:cond delay="0"/>
                                          </p:stCondLst>
                                        </p:cTn>
                                        <p:tgtEl>
                                          <p:spTgt spid="8"/>
                                        </p:tgtEl>
                                        <p:attrNameLst>
                                          <p:attrName>style.visibility</p:attrName>
                                        </p:attrNameLst>
                                      </p:cBhvr>
                                      <p:to>
                                        <p:strVal val="visible"/>
                                      </p:to>
                                    </p:set>
                                    <p:animEffect filter="barn(inVertical)" transition="in">
                                      <p:cBhvr>
                                        <p:cTn dur="500" id="14"/>
                                        <p:tgtEl>
                                          <p:spTgt spid="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92199"/>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CDB934C-CC41-49EB-9E21-97958E059851}"/>
              </a:ext>
            </a:extLst>
          </p:cNvPr>
          <p:cNvSpPr>
            <a:spLocks noChangeArrowheads="1" noGrp="1"/>
          </p:cNvSpPr>
          <p:nvPr>
            <p:ph type="title"/>
          </p:nvPr>
        </p:nvSpPr>
        <p:spPr/>
        <p:txBody>
          <a:bodyPr/>
          <a:lstStyle/>
          <a:p>
            <a:pPr eaLnBrk="1" hangingPunct="1"/>
            <a:r>
              <a:rPr altLang="en-US" lang="en-US"/>
              <a:t>Hormonal Control of Erythropoiesis</a:t>
            </a:r>
          </a:p>
        </p:txBody>
      </p:sp>
      <p:sp>
        <p:nvSpPr>
          <p:cNvPr id="28675" name="Rectangle 3">
            <a:extLst>
              <a:ext uri="{FF2B5EF4-FFF2-40B4-BE49-F238E27FC236}">
                <a16:creationId xmlns:a16="http://schemas.microsoft.com/office/drawing/2014/main" id="{0C7312EA-6794-420E-AC2B-BBD6FCE002A8}"/>
              </a:ext>
            </a:extLst>
          </p:cNvPr>
          <p:cNvSpPr>
            <a:spLocks noChangeArrowheads="1" noGrp="1"/>
          </p:cNvSpPr>
          <p:nvPr>
            <p:ph idx="1" type="body"/>
          </p:nvPr>
        </p:nvSpPr>
        <p:spPr/>
        <p:txBody>
          <a:bodyPr/>
          <a:lstStyle/>
          <a:p>
            <a:pPr eaLnBrk="1" hangingPunct="1">
              <a:lnSpc>
                <a:spcPct val="90000"/>
              </a:lnSpc>
            </a:pPr>
            <a:r>
              <a:rPr altLang="en-US" b="1" lang="en-US">
                <a:solidFill>
                  <a:srgbClr val="000000"/>
                </a:solidFill>
              </a:rPr>
              <a:t>Erythropoietin (EPO)</a:t>
            </a:r>
            <a:r>
              <a:rPr altLang="en-US" lang="en-US">
                <a:solidFill>
                  <a:srgbClr val="000000"/>
                </a:solidFill>
              </a:rPr>
              <a:t> release by the kidneys is triggered by:</a:t>
            </a:r>
          </a:p>
          <a:p>
            <a:pPr eaLnBrk="1" hangingPunct="1" lvl="1">
              <a:lnSpc>
                <a:spcPct val="90000"/>
              </a:lnSpc>
            </a:pPr>
            <a:r>
              <a:rPr altLang="en-US" lang="en-US">
                <a:solidFill>
                  <a:srgbClr val="000000"/>
                </a:solidFill>
              </a:rPr>
              <a:t>Hypoxia due to decreased RBCs</a:t>
            </a:r>
          </a:p>
          <a:p>
            <a:pPr eaLnBrk="1" hangingPunct="1" lvl="1">
              <a:lnSpc>
                <a:spcPct val="90000"/>
              </a:lnSpc>
            </a:pPr>
            <a:r>
              <a:rPr altLang="en-US" lang="en-US">
                <a:solidFill>
                  <a:srgbClr val="000000"/>
                </a:solidFill>
              </a:rPr>
              <a:t>Decreased oxygen availability</a:t>
            </a:r>
          </a:p>
          <a:p>
            <a:pPr eaLnBrk="1" hangingPunct="1" lvl="1">
              <a:lnSpc>
                <a:spcPct val="90000"/>
              </a:lnSpc>
            </a:pPr>
            <a:r>
              <a:rPr altLang="en-US" lang="en-US">
                <a:solidFill>
                  <a:srgbClr val="000000"/>
                </a:solidFill>
              </a:rPr>
              <a:t>Increased tissue demand for oxygen </a:t>
            </a:r>
          </a:p>
          <a:p>
            <a:pPr eaLnBrk="1" hangingPunct="1" lvl="1">
              <a:lnSpc>
                <a:spcPct val="90000"/>
              </a:lnSpc>
            </a:pPr>
            <a:r>
              <a:rPr altLang="en-US" lang="en-US">
                <a:solidFill>
                  <a:srgbClr val="000000"/>
                </a:solidFill>
              </a:rPr>
              <a:t>Is enhanced by testosterone</a:t>
            </a:r>
          </a:p>
          <a:p>
            <a:pPr eaLnBrk="1" hangingPunct="1">
              <a:lnSpc>
                <a:spcPct val="90000"/>
              </a:lnSpc>
            </a:pPr>
            <a:r>
              <a:rPr altLang="en-US" lang="en-US">
                <a:solidFill>
                  <a:srgbClr val="000000"/>
                </a:solidFill>
              </a:rPr>
              <a:t>Enhanced erythropoiesis increases the: </a:t>
            </a:r>
          </a:p>
          <a:p>
            <a:pPr eaLnBrk="1" hangingPunct="1" lvl="1">
              <a:lnSpc>
                <a:spcPct val="90000"/>
              </a:lnSpc>
            </a:pPr>
            <a:r>
              <a:rPr altLang="en-US" lang="en-US">
                <a:solidFill>
                  <a:srgbClr val="000000"/>
                </a:solidFill>
              </a:rPr>
              <a:t>RBC count in circulating blood</a:t>
            </a:r>
          </a:p>
          <a:p>
            <a:pPr eaLnBrk="1" hangingPunct="1" lvl="1">
              <a:lnSpc>
                <a:spcPct val="90000"/>
              </a:lnSpc>
            </a:pPr>
            <a:r>
              <a:rPr altLang="en-US" lang="en-US"/>
              <a:t>Oxygen carrying ability of the blood</a:t>
            </a:r>
          </a:p>
        </p:txBody>
      </p:sp>
    </p:spTree>
  </p:cSld>
  <p:clrMapOvr>
    <a:masterClrMapping/>
  </p:clrMapOvr>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CFA66077-B555-4DE4-9323-E81A5F6CD352}"/>
              </a:ext>
            </a:extLst>
          </p:cNvPr>
          <p:cNvSpPr>
            <a:spLocks noChangeArrowheads="1" noGrp="1"/>
          </p:cNvSpPr>
          <p:nvPr>
            <p:ph type="title"/>
          </p:nvPr>
        </p:nvSpPr>
        <p:spPr/>
        <p:txBody>
          <a:bodyPr/>
          <a:lstStyle/>
          <a:p>
            <a:pPr eaLnBrk="1" hangingPunct="1"/>
            <a:r>
              <a:rPr altLang="en-US" lang="en-US"/>
              <a:t>Fate and Destruction of Erythrocytes</a:t>
            </a:r>
          </a:p>
        </p:txBody>
      </p:sp>
      <p:sp>
        <p:nvSpPr>
          <p:cNvPr id="36867" name="Rectangle 5">
            <a:extLst>
              <a:ext uri="{FF2B5EF4-FFF2-40B4-BE49-F238E27FC236}">
                <a16:creationId xmlns:a16="http://schemas.microsoft.com/office/drawing/2014/main" id="{C28F31B8-8C39-491E-8C92-A552CD8D7F7C}"/>
              </a:ext>
            </a:extLst>
          </p:cNvPr>
          <p:cNvSpPr>
            <a:spLocks noChangeArrowheads="1" noGrp="1"/>
          </p:cNvSpPr>
          <p:nvPr>
            <p:ph idx="1" type="body"/>
          </p:nvPr>
        </p:nvSpPr>
        <p:spPr/>
        <p:txBody>
          <a:bodyPr/>
          <a:lstStyle/>
          <a:p>
            <a:pPr eaLnBrk="1" hangingPunct="1"/>
            <a:r>
              <a:rPr altLang="en-US" lang="en-US"/>
              <a:t>The life span of an erythrocyte is 100–120 days</a:t>
            </a:r>
          </a:p>
          <a:p>
            <a:pPr eaLnBrk="1" hangingPunct="1"/>
            <a:r>
              <a:rPr altLang="en-US" lang="en-US"/>
              <a:t>Old RBCs become rigid and fragile, and their Hb begins to degenerate</a:t>
            </a:r>
          </a:p>
          <a:p>
            <a:pPr eaLnBrk="1" hangingPunct="1" lvl="1"/>
            <a:r>
              <a:rPr altLang="en-US" lang="en-US"/>
              <a:t>RBCs are slightly larger than the capillaries that they move through which produces “wear &amp; tear”</a:t>
            </a:r>
          </a:p>
          <a:p>
            <a:pPr eaLnBrk="1" hangingPunct="1"/>
            <a:r>
              <a:rPr altLang="en-US" lang="en-US"/>
              <a:t>Dying RBCs are engulfed by macrophages</a:t>
            </a:r>
          </a:p>
          <a:p>
            <a:pPr eaLnBrk="1" hangingPunct="1"/>
            <a:r>
              <a:rPr altLang="en-US" lang="en-US"/>
              <a:t>Heme and globin are separated and the iron is salvaged for reuse</a:t>
            </a:r>
          </a:p>
        </p:txBody>
      </p:sp>
    </p:spTree>
  </p:cSld>
  <p:clrMapOvr>
    <a:masterClrMapping/>
  </p:clrMapOvr>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F5855-D3E0-D35E-135B-DE56E4A0BAA6}"/>
              </a:ext>
            </a:extLst>
          </p:cNvPr>
          <p:cNvSpPr>
            <a:spLocks noGrp="1"/>
          </p:cNvSpPr>
          <p:nvPr>
            <p:ph type="title"/>
          </p:nvPr>
        </p:nvSpPr>
        <p:spPr>
          <a:xfrm>
            <a:off x="304800" y="280226"/>
            <a:ext cx="8610600" cy="414338"/>
          </a:xfrm>
        </p:spPr>
        <p:txBody>
          <a:bodyPr/>
          <a:lstStyle/>
          <a:p>
            <a:r>
              <a:rPr dirty="0" lang="en-US"/>
              <a:t>Process of erythropoiesis</a:t>
            </a:r>
          </a:p>
        </p:txBody>
      </p:sp>
      <p:pic>
        <p:nvPicPr>
          <p:cNvPr descr="color drawing showing how erythropoisis occcurs beginning with kidneys sensing low oxygen then releasing EPO which travels to the bone marrow to stimulate production" id="37890" name="Picture 2">
            <a:extLst>
              <a:ext uri="{FF2B5EF4-FFF2-40B4-BE49-F238E27FC236}">
                <a16:creationId xmlns:a16="http://schemas.microsoft.com/office/drawing/2014/main" id="{EADD117E-57AA-4E97-A8DB-D8AFC89872CA}"/>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8912" y="859600"/>
            <a:ext cx="6226175" cy="555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Rectangle 10">
            <a:extLst>
              <a:ext uri="{FF2B5EF4-FFF2-40B4-BE49-F238E27FC236}">
                <a16:creationId xmlns:a16="http://schemas.microsoft.com/office/drawing/2014/main" id="{03EB3489-86BF-4BB9-BD07-2676C947EE5E}"/>
              </a:ext>
            </a:extLst>
          </p:cNvPr>
          <p:cNvSpPr>
            <a:spLocks noChangeArrowheads="1"/>
          </p:cNvSpPr>
          <p:nvPr/>
        </p:nvSpPr>
        <p:spPr bwMode="auto">
          <a:xfrm>
            <a:off x="3927475" y="1036638"/>
            <a:ext cx="337752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none">
            <a:spAutoFit/>
          </a:bodyPr>
          <a:lstStyle>
            <a:lvl1pPr defTabSz="80645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defTabSz="806450"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defTabSz="806450"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defTabSz="806450"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defTabSz="806450"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defTabSz="806450"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defTabSz="806450"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defTabSz="806450"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defTabSz="806450"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b="1" dirty="0" lang="en-US" sz="1600">
                <a:solidFill>
                  <a:srgbClr val="000000"/>
                </a:solidFill>
                <a:latin charset="0" panose="020B0604020202020204" pitchFamily="34" typeface="Arial"/>
              </a:rPr>
              <a:t>1. Low O</a:t>
            </a:r>
            <a:r>
              <a:rPr altLang="en-US" b="1" baseline="-25000" dirty="0" lang="en-US" sz="1600">
                <a:solidFill>
                  <a:srgbClr val="000000"/>
                </a:solidFill>
                <a:latin charset="0" panose="020B0604020202020204" pitchFamily="34" typeface="Arial"/>
              </a:rPr>
              <a:t>2</a:t>
            </a:r>
            <a:r>
              <a:rPr altLang="en-US" b="1" dirty="0" lang="en-US" sz="1600">
                <a:solidFill>
                  <a:srgbClr val="000000"/>
                </a:solidFill>
                <a:latin charset="0" panose="020B0604020202020204" pitchFamily="34" typeface="Arial"/>
              </a:rPr>
              <a:t> levels in blood stimulate</a:t>
            </a:r>
          </a:p>
          <a:p>
            <a:pPr>
              <a:spcAft>
                <a:spcPct val="0"/>
              </a:spcAft>
              <a:buClrTx/>
              <a:buSzTx/>
              <a:buFontTx/>
              <a:buNone/>
            </a:pPr>
            <a:r>
              <a:rPr altLang="en-US" b="1" dirty="0" lang="en-US" sz="1600">
                <a:solidFill>
                  <a:srgbClr val="000000"/>
                </a:solidFill>
                <a:latin charset="0" panose="020B0604020202020204" pitchFamily="34" typeface="Arial"/>
              </a:rPr>
              <a:t>kidneys to produce erythropoietin.</a:t>
            </a:r>
            <a:endParaRPr altLang="en-US" dirty="0" lang="en-US" sz="1600">
              <a:latin charset="0" panose="02020603050405020304" pitchFamily="18" typeface="Times"/>
            </a:endParaRPr>
          </a:p>
        </p:txBody>
      </p:sp>
      <p:sp>
        <p:nvSpPr>
          <p:cNvPr id="37893" name="Rectangle 7">
            <a:extLst>
              <a:ext uri="{FF2B5EF4-FFF2-40B4-BE49-F238E27FC236}">
                <a16:creationId xmlns:a16="http://schemas.microsoft.com/office/drawing/2014/main" id="{3E67ADC9-224D-4FD0-8D42-933C9D755345}"/>
              </a:ext>
            </a:extLst>
          </p:cNvPr>
          <p:cNvSpPr>
            <a:spLocks noChangeArrowheads="1"/>
          </p:cNvSpPr>
          <p:nvPr/>
        </p:nvSpPr>
        <p:spPr bwMode="auto">
          <a:xfrm>
            <a:off x="4168775" y="1885950"/>
            <a:ext cx="226023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none">
            <a:spAutoFit/>
          </a:bodyPr>
          <a:lstStyle>
            <a:lvl1pPr defTabSz="80645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defTabSz="806450"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defTabSz="806450"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defTabSz="806450"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defTabSz="806450"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defTabSz="806450"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defTabSz="806450"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defTabSz="806450"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defTabSz="806450"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b="1" dirty="0" lang="en-US" sz="1600">
                <a:solidFill>
                  <a:srgbClr val="000000"/>
                </a:solidFill>
                <a:latin charset="0" panose="020B0604020202020204" pitchFamily="34" typeface="Arial"/>
              </a:rPr>
              <a:t>2. Erythropoietin levels</a:t>
            </a:r>
          </a:p>
          <a:p>
            <a:pPr>
              <a:spcAft>
                <a:spcPct val="0"/>
              </a:spcAft>
              <a:buClrTx/>
              <a:buSzTx/>
              <a:buFontTx/>
              <a:buNone/>
            </a:pPr>
            <a:r>
              <a:rPr altLang="en-US" b="1" dirty="0" lang="en-US" sz="1600">
                <a:solidFill>
                  <a:srgbClr val="000000"/>
                </a:solidFill>
                <a:latin charset="0" panose="020B0604020202020204" pitchFamily="34" typeface="Arial"/>
              </a:rPr>
              <a:t>rise in blood.</a:t>
            </a:r>
            <a:endParaRPr altLang="en-US" dirty="0" lang="en-US" sz="2100">
              <a:latin charset="0" panose="02020603050405020304" pitchFamily="18" typeface="Times"/>
            </a:endParaRPr>
          </a:p>
        </p:txBody>
      </p:sp>
      <p:sp>
        <p:nvSpPr>
          <p:cNvPr id="37894" name="Rectangle 8">
            <a:extLst>
              <a:ext uri="{FF2B5EF4-FFF2-40B4-BE49-F238E27FC236}">
                <a16:creationId xmlns:a16="http://schemas.microsoft.com/office/drawing/2014/main" id="{09CFA079-26CC-4C60-80C5-C23460846A02}"/>
              </a:ext>
            </a:extLst>
          </p:cNvPr>
          <p:cNvSpPr>
            <a:spLocks noChangeArrowheads="1"/>
          </p:cNvSpPr>
          <p:nvPr/>
        </p:nvSpPr>
        <p:spPr bwMode="auto">
          <a:xfrm>
            <a:off x="4048125" y="2670175"/>
            <a:ext cx="340201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none">
            <a:spAutoFit/>
          </a:bodyPr>
          <a:lstStyle>
            <a:lvl1pPr defTabSz="80645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defTabSz="806450"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defTabSz="806450"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defTabSz="806450"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defTabSz="806450"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defTabSz="806450"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defTabSz="806450"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defTabSz="806450"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defTabSz="806450"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b="1" dirty="0" lang="en-US" sz="1600">
                <a:solidFill>
                  <a:srgbClr val="000000"/>
                </a:solidFill>
                <a:latin charset="0" panose="020B0604020202020204" pitchFamily="34" typeface="Arial"/>
              </a:rPr>
              <a:t>3. Erythropoietin and necessary</a:t>
            </a:r>
          </a:p>
          <a:p>
            <a:pPr>
              <a:spcAft>
                <a:spcPct val="0"/>
              </a:spcAft>
              <a:buClrTx/>
              <a:buSzTx/>
              <a:buFontTx/>
              <a:buNone/>
            </a:pPr>
            <a:r>
              <a:rPr altLang="en-US" b="1" dirty="0" lang="en-US" sz="1600">
                <a:solidFill>
                  <a:srgbClr val="000000"/>
                </a:solidFill>
                <a:latin charset="0" panose="020B0604020202020204" pitchFamily="34" typeface="Arial"/>
              </a:rPr>
              <a:t>raw materials in blood promote</a:t>
            </a:r>
          </a:p>
          <a:p>
            <a:pPr>
              <a:spcAft>
                <a:spcPct val="0"/>
              </a:spcAft>
              <a:buClrTx/>
              <a:buSzTx/>
              <a:buFontTx/>
              <a:buNone/>
            </a:pPr>
            <a:r>
              <a:rPr altLang="en-US" b="1" dirty="0" lang="en-US" sz="1600">
                <a:solidFill>
                  <a:srgbClr val="000000"/>
                </a:solidFill>
                <a:latin charset="0" panose="020B0604020202020204" pitchFamily="34" typeface="Arial"/>
              </a:rPr>
              <a:t>erythropoiesis in red bone marrow.</a:t>
            </a:r>
            <a:endParaRPr altLang="en-US" dirty="0" lang="en-US" sz="2100">
              <a:latin charset="0" panose="02020603050405020304" pitchFamily="18" typeface="Times"/>
            </a:endParaRPr>
          </a:p>
        </p:txBody>
      </p:sp>
      <p:sp>
        <p:nvSpPr>
          <p:cNvPr id="37901" name="Oval 15">
            <a:extLst>
              <a:ext uri="{FF2B5EF4-FFF2-40B4-BE49-F238E27FC236}">
                <a16:creationId xmlns:a16="http://schemas.microsoft.com/office/drawing/2014/main" id="{0338F4D2-29DF-4EF6-8F0E-6F086538DE1A}"/>
              </a:ext>
            </a:extLst>
          </p:cNvPr>
          <p:cNvSpPr>
            <a:spLocks noChangeArrowheads="1"/>
          </p:cNvSpPr>
          <p:nvPr/>
        </p:nvSpPr>
        <p:spPr bwMode="auto">
          <a:xfrm>
            <a:off x="5368925" y="3835400"/>
            <a:ext cx="215900" cy="2063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bIns="40348" lIns="80696" rIns="80696" tIns="40348" wrap="none"/>
          <a:lstStyle>
            <a:lvl1pPr defTabSz="80645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defTabSz="806450"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defTabSz="806450"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defTabSz="806450"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defTabSz="806450"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defTabSz="806450"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defTabSz="806450"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defTabSz="806450"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defTabSz="806450"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ctr">
              <a:spcAft>
                <a:spcPct val="0"/>
              </a:spcAft>
              <a:buClrTx/>
              <a:buSzTx/>
              <a:buFontTx/>
              <a:buNone/>
            </a:pPr>
            <a:r>
              <a:rPr altLang="en-US" b="1" dirty="0" lang="en-US" sz="1300">
                <a:latin charset="0" panose="020B0604020202020204" pitchFamily="34" typeface="Arial"/>
              </a:rPr>
              <a:t>4</a:t>
            </a:r>
          </a:p>
        </p:txBody>
      </p:sp>
      <p:sp>
        <p:nvSpPr>
          <p:cNvPr id="37895" name="Rectangle 9">
            <a:extLst>
              <a:ext uri="{FF2B5EF4-FFF2-40B4-BE49-F238E27FC236}">
                <a16:creationId xmlns:a16="http://schemas.microsoft.com/office/drawing/2014/main" id="{131C34E3-12EC-4E6C-9F24-5991CDD0723E}"/>
              </a:ext>
            </a:extLst>
          </p:cNvPr>
          <p:cNvSpPr>
            <a:spLocks noChangeArrowheads="1"/>
          </p:cNvSpPr>
          <p:nvPr/>
        </p:nvSpPr>
        <p:spPr bwMode="auto">
          <a:xfrm>
            <a:off x="5656263" y="3816350"/>
            <a:ext cx="1939634"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none">
            <a:spAutoFit/>
          </a:bodyPr>
          <a:lstStyle>
            <a:lvl1pPr defTabSz="80645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defTabSz="806450"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defTabSz="806450"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defTabSz="806450"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defTabSz="806450"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defTabSz="806450"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defTabSz="806450"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defTabSz="806450"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defTabSz="806450"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b="1" dirty="0" lang="en-US" sz="1600">
                <a:solidFill>
                  <a:srgbClr val="000000"/>
                </a:solidFill>
                <a:latin charset="0" panose="020B0604020202020204" pitchFamily="34" typeface="Arial"/>
              </a:rPr>
              <a:t>4. New erythrocytes</a:t>
            </a:r>
          </a:p>
          <a:p>
            <a:pPr>
              <a:spcAft>
                <a:spcPct val="0"/>
              </a:spcAft>
              <a:buClrTx/>
              <a:buSzTx/>
              <a:buFontTx/>
              <a:buNone/>
            </a:pPr>
            <a:r>
              <a:rPr altLang="en-US" b="1" dirty="0" lang="en-US" sz="1600">
                <a:solidFill>
                  <a:srgbClr val="000000"/>
                </a:solidFill>
                <a:latin charset="0" panose="020B0604020202020204" pitchFamily="34" typeface="Arial"/>
              </a:rPr>
              <a:t>enter bloodstream;</a:t>
            </a:r>
          </a:p>
          <a:p>
            <a:pPr>
              <a:spcAft>
                <a:spcPct val="0"/>
              </a:spcAft>
              <a:buClrTx/>
              <a:buSzTx/>
              <a:buFontTx/>
              <a:buNone/>
            </a:pPr>
            <a:r>
              <a:rPr altLang="en-US" b="1" dirty="0" lang="en-US" sz="1600">
                <a:solidFill>
                  <a:srgbClr val="000000"/>
                </a:solidFill>
                <a:latin charset="0" panose="020B0604020202020204" pitchFamily="34" typeface="Arial"/>
              </a:rPr>
              <a:t>function about</a:t>
            </a:r>
          </a:p>
          <a:p>
            <a:pPr>
              <a:spcAft>
                <a:spcPct val="0"/>
              </a:spcAft>
              <a:buClrTx/>
              <a:buSzTx/>
              <a:buFontTx/>
              <a:buNone/>
            </a:pPr>
            <a:r>
              <a:rPr altLang="en-US" b="1" dirty="0" lang="en-US" sz="1600">
                <a:solidFill>
                  <a:srgbClr val="000000"/>
                </a:solidFill>
                <a:latin charset="0" panose="020B0604020202020204" pitchFamily="34" typeface="Arial"/>
              </a:rPr>
              <a:t>120 days.</a:t>
            </a:r>
            <a:endParaRPr altLang="en-US" dirty="0" lang="en-US" sz="2100">
              <a:latin charset="0" panose="02020603050405020304" pitchFamily="18" typeface="Times"/>
            </a:endParaRPr>
          </a:p>
        </p:txBody>
      </p:sp>
      <p:sp>
        <p:nvSpPr>
          <p:cNvPr id="37897" name="Rectangle 11">
            <a:extLst>
              <a:ext uri="{FF2B5EF4-FFF2-40B4-BE49-F238E27FC236}">
                <a16:creationId xmlns:a16="http://schemas.microsoft.com/office/drawing/2014/main" id="{FA220B64-5FA9-48B2-B0E8-5B127C864B65}"/>
              </a:ext>
              <a:ext uri="{C183D7F6-B498-43B3-948B-1728B52AA6E4}">
                <adec:decorative xmlns:adec="http://schemas.microsoft.com/office/drawing/2017/decorative" val="0"/>
              </a:ext>
            </a:extLst>
          </p:cNvPr>
          <p:cNvSpPr>
            <a:spLocks noChangeArrowheads="1"/>
          </p:cNvSpPr>
          <p:nvPr/>
        </p:nvSpPr>
        <p:spPr bwMode="auto">
          <a:xfrm>
            <a:off x="1906588" y="4554538"/>
            <a:ext cx="3364704"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lIns="0" rIns="0" tIns="0" wrap="none">
            <a:spAutoFit/>
          </a:bodyPr>
          <a:lstStyle>
            <a:lvl1pPr defTabSz="80645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defTabSz="806450"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defTabSz="806450"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defTabSz="806450"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defTabSz="806450"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defTabSz="806450"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defTabSz="806450"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defTabSz="806450"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defTabSz="806450"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b="1" dirty="0" lang="en-US" sz="1600">
                <a:solidFill>
                  <a:srgbClr val="000000"/>
                </a:solidFill>
                <a:latin charset="0" panose="020B0604020202020204" pitchFamily="34" typeface="Arial"/>
              </a:rPr>
              <a:t>5. Aged and damaged red</a:t>
            </a:r>
          </a:p>
          <a:p>
            <a:pPr>
              <a:spcAft>
                <a:spcPct val="0"/>
              </a:spcAft>
              <a:buClrTx/>
              <a:buSzTx/>
              <a:buFontTx/>
              <a:buNone/>
            </a:pPr>
            <a:r>
              <a:rPr altLang="en-US" b="1" dirty="0" lang="en-US" sz="1600">
                <a:solidFill>
                  <a:srgbClr val="000000"/>
                </a:solidFill>
                <a:latin charset="0" panose="020B0604020202020204" pitchFamily="34" typeface="Arial"/>
              </a:rPr>
              <a:t>blood cells are engulfed by</a:t>
            </a:r>
          </a:p>
          <a:p>
            <a:pPr>
              <a:spcAft>
                <a:spcPct val="0"/>
              </a:spcAft>
              <a:buClrTx/>
              <a:buSzTx/>
              <a:buFontTx/>
              <a:buNone/>
            </a:pPr>
            <a:r>
              <a:rPr altLang="en-US" b="1" dirty="0" lang="en-US" sz="1600">
                <a:solidFill>
                  <a:srgbClr val="000000"/>
                </a:solidFill>
                <a:latin charset="0" panose="020B0604020202020204" pitchFamily="34" typeface="Arial"/>
              </a:rPr>
              <a:t>macrophages of liver, spleen,</a:t>
            </a:r>
          </a:p>
          <a:p>
            <a:pPr>
              <a:spcAft>
                <a:spcPct val="0"/>
              </a:spcAft>
              <a:buClrTx/>
              <a:buSzTx/>
              <a:buFontTx/>
              <a:buNone/>
            </a:pPr>
            <a:r>
              <a:rPr altLang="en-US" b="1" dirty="0" lang="en-US" sz="1600">
                <a:solidFill>
                  <a:srgbClr val="000000"/>
                </a:solidFill>
                <a:latin charset="0" panose="020B0604020202020204" pitchFamily="34" typeface="Arial"/>
              </a:rPr>
              <a:t>and bone marrow; the hemoglobin</a:t>
            </a:r>
          </a:p>
          <a:p>
            <a:pPr>
              <a:spcAft>
                <a:spcPct val="0"/>
              </a:spcAft>
              <a:buClrTx/>
              <a:buSzTx/>
              <a:buFontTx/>
              <a:buNone/>
            </a:pPr>
            <a:r>
              <a:rPr altLang="en-US" b="1" dirty="0" lang="en-US" sz="1600">
                <a:solidFill>
                  <a:srgbClr val="000000"/>
                </a:solidFill>
                <a:latin charset="0" panose="020B0604020202020204" pitchFamily="34" typeface="Arial"/>
              </a:rPr>
              <a:t>is broken down.</a:t>
            </a:r>
            <a:endParaRPr altLang="en-US" dirty="0" lang="en-US" sz="2100">
              <a:latin charset="0" panose="02020603050405020304" pitchFamily="18" typeface="Times"/>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7E3F-E49B-D637-D309-59C7A1A875A8}"/>
              </a:ext>
            </a:extLst>
          </p:cNvPr>
          <p:cNvSpPr>
            <a:spLocks noGrp="1"/>
          </p:cNvSpPr>
          <p:nvPr>
            <p:ph type="title"/>
          </p:nvPr>
        </p:nvSpPr>
        <p:spPr>
          <a:xfrm>
            <a:off x="367506" y="227542"/>
            <a:ext cx="8610600" cy="609600"/>
          </a:xfrm>
        </p:spPr>
        <p:txBody>
          <a:bodyPr/>
          <a:lstStyle/>
          <a:p>
            <a:r>
              <a:rPr dirty="0" lang="en-US"/>
              <a:t>How RBC’s are removed from circulation</a:t>
            </a:r>
          </a:p>
        </p:txBody>
      </p:sp>
      <p:pic>
        <p:nvPicPr>
          <p:cNvPr descr="graphic showing blood cells in a vessel and how the hemoglobin is broken down into heme and globin for processing by the body and possible recycling before being excreted" id="4" name="Picture 3">
            <a:extLst>
              <a:ext uri="{FF2B5EF4-FFF2-40B4-BE49-F238E27FC236}">
                <a16:creationId xmlns:a16="http://schemas.microsoft.com/office/drawing/2014/main" id="{029BADDA-3E58-26F7-0668-4680AB601CCF}"/>
              </a:ext>
            </a:extLst>
          </p:cNvPr>
          <p:cNvPicPr>
            <a:picLocks noChangeAspect="1"/>
          </p:cNvPicPr>
          <p:nvPr/>
        </p:nvPicPr>
        <p:blipFill>
          <a:blip r:embed="rId2"/>
          <a:stretch>
            <a:fillRect/>
          </a:stretch>
        </p:blipFill>
        <p:spPr>
          <a:xfrm>
            <a:off x="2423812" y="701796"/>
            <a:ext cx="4296375" cy="585869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07CB6AE5-F748-422C-800F-E7AA42ABA6AD}"/>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dirty="0" lang="en-US"/>
              <a:t>Erythrocyte Disorders - Anemia</a:t>
            </a:r>
          </a:p>
        </p:txBody>
      </p:sp>
      <p:sp>
        <p:nvSpPr>
          <p:cNvPr id="47106" name="Rectangle 2">
            <a:extLst>
              <a:ext uri="{FF2B5EF4-FFF2-40B4-BE49-F238E27FC236}">
                <a16:creationId xmlns:a16="http://schemas.microsoft.com/office/drawing/2014/main" id="{64E91112-46DE-4692-B7B4-2749F96F337F}"/>
              </a:ext>
            </a:extLst>
          </p:cNvPr>
          <p:cNvSpPr>
            <a:spLocks noChangeArrowheads="1" noGrp="1"/>
          </p:cNvSpPr>
          <p:nvPr>
            <p:ph idx="1" type="body"/>
          </p:nvPr>
        </p:nvSpPr>
        <p:spPr/>
        <p:txBody>
          <a:bodyPr/>
          <a:lstStyle/>
          <a:p>
            <a:pPr eaLnBrk="1" hangingPunct="1"/>
            <a:r>
              <a:rPr altLang="en-US" b="1" lang="en-US">
                <a:solidFill>
                  <a:srgbClr val="000000"/>
                </a:solidFill>
              </a:rPr>
              <a:t>Anemia</a:t>
            </a:r>
            <a:r>
              <a:rPr altLang="en-US" lang="en-US">
                <a:solidFill>
                  <a:srgbClr val="000000"/>
                </a:solidFill>
              </a:rPr>
              <a:t> – blood has abnormally low oxygen-carrying capacity</a:t>
            </a:r>
          </a:p>
          <a:p>
            <a:pPr eaLnBrk="1" hangingPunct="1" lvl="1"/>
            <a:r>
              <a:rPr altLang="en-US" lang="en-US">
                <a:solidFill>
                  <a:srgbClr val="000000"/>
                </a:solidFill>
              </a:rPr>
              <a:t>It is a symptom rather than a disease itself</a:t>
            </a:r>
          </a:p>
          <a:p>
            <a:pPr eaLnBrk="1" hangingPunct="1" lvl="1"/>
            <a:r>
              <a:rPr altLang="en-US" lang="en-US">
                <a:solidFill>
                  <a:srgbClr val="000000"/>
                </a:solidFill>
              </a:rPr>
              <a:t>Blood oxygen levels cannot support normal metabolism</a:t>
            </a:r>
          </a:p>
          <a:p>
            <a:pPr eaLnBrk="1" hangingPunct="1" lvl="1"/>
            <a:r>
              <a:rPr altLang="en-US" lang="en-US"/>
              <a:t>Signs/symptoms include fatigue, paleness, shortness of breath, and chills </a:t>
            </a:r>
          </a:p>
        </p:txBody>
      </p:sp>
    </p:spTree>
  </p:cSld>
  <p:clrMapOvr>
    <a:masterClrMapping/>
  </p:clrMapOvr>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6DF482FA-D2BD-4E77-97B7-96AADA60E08D}"/>
              </a:ext>
            </a:extLst>
          </p:cNvPr>
          <p:cNvSpPr>
            <a:spLocks noChangeArrowheads="1" noGrp="1"/>
          </p:cNvSpPr>
          <p:nvPr>
            <p:ph type="title"/>
          </p:nvPr>
        </p:nvSpPr>
        <p:spPr/>
        <p:txBody>
          <a:bodyPr/>
          <a:lstStyle/>
          <a:p>
            <a:pPr eaLnBrk="1" hangingPunct="1"/>
            <a:r>
              <a:rPr altLang="en-US" lang="en-US"/>
              <a:t>Anemia: Insufficient Erythrocytes</a:t>
            </a:r>
          </a:p>
        </p:txBody>
      </p:sp>
      <p:sp>
        <p:nvSpPr>
          <p:cNvPr id="48131" name="Rectangle 5">
            <a:extLst>
              <a:ext uri="{FF2B5EF4-FFF2-40B4-BE49-F238E27FC236}">
                <a16:creationId xmlns:a16="http://schemas.microsoft.com/office/drawing/2014/main" id="{CE07DB84-1D88-42A1-96C3-096F970EF733}"/>
              </a:ext>
            </a:extLst>
          </p:cNvPr>
          <p:cNvSpPr>
            <a:spLocks noChangeArrowheads="1" noGrp="1"/>
          </p:cNvSpPr>
          <p:nvPr>
            <p:ph idx="1" type="body"/>
          </p:nvPr>
        </p:nvSpPr>
        <p:spPr/>
        <p:txBody>
          <a:bodyPr/>
          <a:lstStyle/>
          <a:p>
            <a:pPr eaLnBrk="1" hangingPunct="1"/>
            <a:r>
              <a:rPr altLang="en-US" b="1" lang="en-US"/>
              <a:t>Hemorrhagic anemia</a:t>
            </a:r>
            <a:r>
              <a:rPr altLang="en-US" lang="en-US"/>
              <a:t> – result of acute or chronic loss of blood</a:t>
            </a:r>
          </a:p>
          <a:p>
            <a:pPr eaLnBrk="1" hangingPunct="1"/>
            <a:r>
              <a:rPr altLang="en-US" b="1" lang="en-US"/>
              <a:t>Hemolytic anemia</a:t>
            </a:r>
            <a:r>
              <a:rPr altLang="en-US" lang="en-US"/>
              <a:t> – prematurely ruptured RBCs</a:t>
            </a:r>
          </a:p>
          <a:p>
            <a:pPr eaLnBrk="1" hangingPunct="1"/>
            <a:r>
              <a:rPr altLang="en-US" b="1" lang="en-US"/>
              <a:t>Aplastic anemia</a:t>
            </a:r>
            <a:r>
              <a:rPr altLang="en-US" lang="en-US"/>
              <a:t> – destruction or inhibition of red bone marrow</a:t>
            </a:r>
          </a:p>
        </p:txBody>
      </p:sp>
    </p:spTree>
  </p:cSld>
  <p:clrMapOvr>
    <a:masterClrMapping/>
  </p:clrMapOvr>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5AADA25-322D-44FD-9588-3D1ACC7A8CA1}"/>
              </a:ext>
            </a:extLst>
          </p:cNvPr>
          <p:cNvSpPr>
            <a:spLocks noChangeArrowheads="1" noGrp="1"/>
          </p:cNvSpPr>
          <p:nvPr>
            <p:ph idx="1" type="body"/>
          </p:nvPr>
        </p:nvSpPr>
        <p:spPr>
          <a:xfrm>
            <a:off x="266700" y="804672"/>
            <a:ext cx="8610600" cy="5867400"/>
          </a:xfrm>
        </p:spPr>
        <p:txBody>
          <a:bodyPr/>
          <a:lstStyle/>
          <a:p>
            <a:pPr eaLnBrk="1" hangingPunct="1"/>
            <a:r>
              <a:rPr altLang="en-US" b="1" dirty="0" lang="en-US">
                <a:solidFill>
                  <a:srgbClr val="000000"/>
                </a:solidFill>
              </a:rPr>
              <a:t>Iron-deficiency anemia</a:t>
            </a:r>
            <a:r>
              <a:rPr altLang="en-US" dirty="0" lang="en-US">
                <a:solidFill>
                  <a:srgbClr val="000000"/>
                </a:solidFill>
              </a:rPr>
              <a:t> results from:</a:t>
            </a:r>
          </a:p>
          <a:p>
            <a:pPr eaLnBrk="1" hangingPunct="1" lvl="1"/>
            <a:r>
              <a:rPr altLang="en-US" dirty="0" lang="en-US">
                <a:solidFill>
                  <a:srgbClr val="000000"/>
                </a:solidFill>
              </a:rPr>
              <a:t>A secondary result of hemorrhagic anemia</a:t>
            </a:r>
          </a:p>
          <a:p>
            <a:pPr eaLnBrk="1" hangingPunct="1" lvl="1"/>
            <a:r>
              <a:rPr altLang="en-US" dirty="0" lang="en-US">
                <a:solidFill>
                  <a:srgbClr val="000000"/>
                </a:solidFill>
              </a:rPr>
              <a:t>Inadequate intake of iron-containing foods</a:t>
            </a:r>
          </a:p>
          <a:p>
            <a:pPr eaLnBrk="1" hangingPunct="1" lvl="1"/>
            <a:r>
              <a:rPr altLang="en-US" dirty="0" lang="en-US">
                <a:solidFill>
                  <a:srgbClr val="000000"/>
                </a:solidFill>
              </a:rPr>
              <a:t>Impaired iron absorption</a:t>
            </a:r>
          </a:p>
          <a:p>
            <a:pPr eaLnBrk="1" hangingPunct="1" lvl="1"/>
            <a:r>
              <a:rPr altLang="en-US" dirty="0" lang="en-US">
                <a:solidFill>
                  <a:srgbClr val="000000"/>
                </a:solidFill>
              </a:rPr>
              <a:t>Cells produced are small and pale (</a:t>
            </a:r>
            <a:r>
              <a:rPr altLang="en-US" b="1" dirty="0" lang="en-US">
                <a:solidFill>
                  <a:srgbClr val="000000"/>
                </a:solidFill>
              </a:rPr>
              <a:t>microcytes</a:t>
            </a:r>
            <a:r>
              <a:rPr altLang="en-US" dirty="0" lang="en-US">
                <a:solidFill>
                  <a:srgbClr val="000000"/>
                </a:solidFill>
              </a:rPr>
              <a:t>)</a:t>
            </a:r>
          </a:p>
          <a:p>
            <a:pPr eaLnBrk="1" hangingPunct="1"/>
            <a:r>
              <a:rPr altLang="en-US" b="1" dirty="0" lang="en-US">
                <a:solidFill>
                  <a:srgbClr val="000000"/>
                </a:solidFill>
              </a:rPr>
              <a:t>Pernicious anemia</a:t>
            </a:r>
            <a:r>
              <a:rPr altLang="en-US" dirty="0" lang="en-US">
                <a:solidFill>
                  <a:srgbClr val="000000"/>
                </a:solidFill>
              </a:rPr>
              <a:t> results from:</a:t>
            </a:r>
          </a:p>
          <a:p>
            <a:pPr eaLnBrk="1" hangingPunct="1" lvl="1"/>
            <a:r>
              <a:rPr altLang="en-US" dirty="0" lang="en-US">
                <a:solidFill>
                  <a:srgbClr val="000000"/>
                </a:solidFill>
              </a:rPr>
              <a:t>Deficiency of vitamin </a:t>
            </a:r>
            <a:r>
              <a:rPr altLang="en-US" dirty="0" lang="en-US"/>
              <a:t>of intrinsic factor or dietary</a:t>
            </a:r>
          </a:p>
          <a:p>
            <a:pPr eaLnBrk="1" hangingPunct="1" lvl="2"/>
            <a:r>
              <a:rPr altLang="en-US" dirty="0" lang="en-US">
                <a:solidFill>
                  <a:srgbClr val="000000"/>
                </a:solidFill>
              </a:rPr>
              <a:t>B</a:t>
            </a:r>
            <a:r>
              <a:rPr altLang="en-US" baseline="-25000" dirty="0" lang="en-US">
                <a:solidFill>
                  <a:srgbClr val="000000"/>
                </a:solidFill>
              </a:rPr>
              <a:t>12 </a:t>
            </a:r>
            <a:r>
              <a:rPr altLang="en-US" dirty="0" lang="en-US">
                <a:solidFill>
                  <a:srgbClr val="000000"/>
                </a:solidFill>
              </a:rPr>
              <a:t>helps in DNA synthesis and erythropoiesis</a:t>
            </a:r>
          </a:p>
          <a:p>
            <a:pPr eaLnBrk="1" hangingPunct="1" lvl="2"/>
            <a:r>
              <a:rPr altLang="en-US" dirty="0" lang="en-US"/>
              <a:t>Without B12 RBCs enlarge creating </a:t>
            </a:r>
            <a:r>
              <a:rPr altLang="en-US" b="1" dirty="0" lang="en-US"/>
              <a:t>macrocytes</a:t>
            </a:r>
            <a:endParaRPr altLang="en-US" dirty="0" lang="en-US"/>
          </a:p>
        </p:txBody>
      </p:sp>
      <p:sp>
        <p:nvSpPr>
          <p:cNvPr id="49155" name="Rectangle 3">
            <a:extLst>
              <a:ext uri="{FF2B5EF4-FFF2-40B4-BE49-F238E27FC236}">
                <a16:creationId xmlns:a16="http://schemas.microsoft.com/office/drawing/2014/main" id="{0A3E577D-FD44-4A3E-A2BA-6DD1E37C53C1}"/>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Anemia: Decreased Hemoglobin Content</a:t>
            </a:r>
          </a:p>
        </p:txBody>
      </p:sp>
    </p:spTree>
  </p:cSld>
  <p:clrMapOvr>
    <a:masterClrMapping/>
  </p:clrMapOvr>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0178" name="Title 4">
            <a:extLst>
              <a:ext uri="{FF2B5EF4-FFF2-40B4-BE49-F238E27FC236}">
                <a16:creationId xmlns:a16="http://schemas.microsoft.com/office/drawing/2014/main" id="{AB1CDB1F-058D-4DCE-B7EF-4B626D27BE8A}"/>
              </a:ext>
            </a:extLst>
          </p:cNvPr>
          <p:cNvSpPr>
            <a:spLocks noGrp="1"/>
          </p:cNvSpPr>
          <p:nvPr>
            <p:ph type="title"/>
          </p:nvPr>
        </p:nvSpPr>
        <p:spPr/>
        <p:txBody>
          <a:bodyPr/>
          <a:lstStyle/>
          <a:p>
            <a:pPr eaLnBrk="1" hangingPunct="1"/>
            <a:r>
              <a:rPr altLang="en-US" lang="en-US"/>
              <a:t>Erythrocyte Disorders (cont.)</a:t>
            </a:r>
          </a:p>
        </p:txBody>
      </p:sp>
      <p:sp>
        <p:nvSpPr>
          <p:cNvPr id="50179" name="Rectangle 6">
            <a:extLst>
              <a:ext uri="{FF2B5EF4-FFF2-40B4-BE49-F238E27FC236}">
                <a16:creationId xmlns:a16="http://schemas.microsoft.com/office/drawing/2014/main" id="{F7A036FF-923E-4423-90B6-EB40CADCF793}"/>
              </a:ext>
            </a:extLst>
          </p:cNvPr>
          <p:cNvSpPr>
            <a:spLocks noChangeArrowheads="1" noGrp="1"/>
          </p:cNvSpPr>
          <p:nvPr>
            <p:ph idx="1"/>
          </p:nvPr>
        </p:nvSpPr>
        <p:spPr/>
        <p:txBody>
          <a:bodyPr/>
          <a:lstStyle/>
          <a:p>
            <a:pPr eaLnBrk="1" hangingPunct="1"/>
            <a:r>
              <a:rPr altLang="en-US" b="1" lang="en-US"/>
              <a:t>Sickle-cell anemia</a:t>
            </a:r>
            <a:r>
              <a:rPr altLang="en-US" lang="en-US"/>
              <a:t>	</a:t>
            </a:r>
          </a:p>
          <a:p>
            <a:pPr eaLnBrk="1" hangingPunct="1" lvl="1"/>
            <a:r>
              <a:rPr altLang="en-US" i="1" lang="en-US"/>
              <a:t>Hemoglobin S</a:t>
            </a:r>
            <a:r>
              <a:rPr altLang="en-US" lang="en-US"/>
              <a:t>: mutated hemoglobin</a:t>
            </a:r>
          </a:p>
          <a:p>
            <a:pPr eaLnBrk="1" hangingPunct="1" lvl="2"/>
            <a:r>
              <a:rPr altLang="en-US" lang="en-US"/>
              <a:t>Only 1 amino acid is wrong in a globin beta chain of 146 amino acids</a:t>
            </a:r>
          </a:p>
          <a:p>
            <a:pPr eaLnBrk="1" hangingPunct="1" lvl="1"/>
            <a:r>
              <a:rPr altLang="en-US" lang="en-US"/>
              <a:t>RBCs become crescent shaped when O</a:t>
            </a:r>
            <a:r>
              <a:rPr altLang="en-US" baseline="-25000" lang="en-US"/>
              <a:t>2</a:t>
            </a:r>
            <a:r>
              <a:rPr altLang="en-US" lang="en-US"/>
              <a:t> low</a:t>
            </a:r>
          </a:p>
          <a:p>
            <a:pPr eaLnBrk="1" hangingPunct="1" lvl="2"/>
            <a:r>
              <a:rPr altLang="en-US" lang="en-US"/>
              <a:t>Example: during exercise </a:t>
            </a:r>
          </a:p>
          <a:p>
            <a:pPr eaLnBrk="1" hangingPunct="1" lvl="1"/>
            <a:r>
              <a:rPr altLang="en-US" lang="en-US"/>
              <a:t>Misshaped RBCs rupture easily and block small vessels</a:t>
            </a:r>
          </a:p>
          <a:p>
            <a:pPr eaLnBrk="1" hangingPunct="1" lvl="2"/>
            <a:r>
              <a:rPr altLang="en-US" lang="en-US"/>
              <a:t>Results in poor O</a:t>
            </a:r>
            <a:r>
              <a:rPr altLang="en-US" baseline="-25000" lang="en-US"/>
              <a:t>2</a:t>
            </a:r>
            <a:r>
              <a:rPr altLang="en-US" lang="en-US"/>
              <a:t> delivery and pain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2226" name="Title 4">
            <a:extLst>
              <a:ext uri="{FF2B5EF4-FFF2-40B4-BE49-F238E27FC236}">
                <a16:creationId xmlns:a16="http://schemas.microsoft.com/office/drawing/2014/main" id="{58E4C73A-F10B-4614-915D-C423C7A83861}"/>
              </a:ext>
            </a:extLst>
          </p:cNvPr>
          <p:cNvSpPr>
            <a:spLocks noGrp="1"/>
          </p:cNvSpPr>
          <p:nvPr>
            <p:ph type="title"/>
          </p:nvPr>
        </p:nvSpPr>
        <p:spPr/>
        <p:txBody>
          <a:bodyPr/>
          <a:lstStyle/>
          <a:p>
            <a:pPr eaLnBrk="1" hangingPunct="1"/>
            <a:r>
              <a:rPr altLang="en-US" dirty="0" lang="en-US"/>
              <a:t>Erythrocyte Disorders (continued)</a:t>
            </a:r>
          </a:p>
        </p:txBody>
      </p:sp>
      <p:sp>
        <p:nvSpPr>
          <p:cNvPr id="100354" name="Rectangle 6">
            <a:extLst>
              <a:ext uri="{FF2B5EF4-FFF2-40B4-BE49-F238E27FC236}">
                <a16:creationId xmlns:a16="http://schemas.microsoft.com/office/drawing/2014/main" id="{B63AD6AE-4D54-46D9-9ECE-B23D8EBF9B5D}"/>
              </a:ext>
            </a:extLst>
          </p:cNvPr>
          <p:cNvSpPr>
            <a:spLocks noChangeArrowheads="1" noGrp="1"/>
          </p:cNvSpPr>
          <p:nvPr>
            <p:ph idx="1"/>
          </p:nvPr>
        </p:nvSpPr>
        <p:spPr/>
        <p:txBody>
          <a:bodyPr/>
          <a:lstStyle/>
          <a:p>
            <a:pPr eaLnBrk="1" hangingPunct="1" lvl="1" marL="285750">
              <a:buFont typeface="Arial"/>
              <a:buChar char="•"/>
              <a:defRPr/>
            </a:pPr>
            <a:r>
              <a:rPr b="1" dirty="0" lang="en-US"/>
              <a:t>Sickle-cell anemia (cont.)</a:t>
            </a:r>
          </a:p>
          <a:p>
            <a:pPr eaLnBrk="1" hangingPunct="1" lvl="1">
              <a:defRPr/>
            </a:pPr>
            <a:r>
              <a:rPr dirty="0" lang="en-US"/>
              <a:t>Prevalent in black people of the African malarial belt and their descendants</a:t>
            </a:r>
          </a:p>
          <a:p>
            <a:pPr eaLnBrk="1" hangingPunct="1" lvl="1">
              <a:defRPr/>
            </a:pPr>
            <a:r>
              <a:rPr dirty="0" lang="en-US"/>
              <a:t>Possible benefit: people with sickle cell do not contract </a:t>
            </a:r>
            <a:r>
              <a:rPr b="1" dirty="0" lang="en-US"/>
              <a:t>malaria</a:t>
            </a:r>
          </a:p>
          <a:p>
            <a:pPr eaLnBrk="1" hangingPunct="1" lvl="2">
              <a:defRPr/>
            </a:pPr>
            <a:r>
              <a:rPr dirty="0" lang="en-US"/>
              <a:t>Kills 1 million each year</a:t>
            </a:r>
          </a:p>
          <a:p>
            <a:pPr eaLnBrk="1" hangingPunct="1" lvl="2">
              <a:defRPr/>
            </a:pPr>
            <a:r>
              <a:rPr dirty="0" lang="en-US"/>
              <a:t>Individuals with two copies </a:t>
            </a:r>
            <a:r>
              <a:rPr dirty="0" lang="en-US">
                <a:sym charset="0" typeface="Wingdings"/>
              </a:rPr>
              <a:t>of </a:t>
            </a:r>
            <a:r>
              <a:rPr dirty="0" err="1" lang="en-US">
                <a:sym charset="0" typeface="Wingdings"/>
              </a:rPr>
              <a:t>Hb</a:t>
            </a:r>
            <a:r>
              <a:rPr dirty="0" lang="en-US">
                <a:sym charset="0" typeface="Wingdings"/>
              </a:rPr>
              <a:t>-S can develop sickle-cell anemia</a:t>
            </a:r>
            <a:endParaRPr dirty="0" lang="en-US"/>
          </a:p>
          <a:p>
            <a:pPr eaLnBrk="1" hangingPunct="1" lvl="2">
              <a:defRPr/>
            </a:pPr>
            <a:r>
              <a:rPr dirty="0" lang="en-US"/>
              <a:t>Individuals with only one copy</a:t>
            </a:r>
            <a:r>
              <a:rPr dirty="0" lang="en-US">
                <a:sym charset="0" typeface="Wingdings"/>
              </a:rPr>
              <a:t> have milder disease and better chance of surviving malaria</a:t>
            </a:r>
            <a:endParaRPr dirty="0" lang="en-US"/>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6323" name="Title 3">
            <a:extLst>
              <a:ext uri="{FF2B5EF4-FFF2-40B4-BE49-F238E27FC236}">
                <a16:creationId xmlns:a16="http://schemas.microsoft.com/office/drawing/2014/main" id="{15C069DD-FDD8-43C3-B4BD-7AAC7841CB6C}"/>
              </a:ext>
            </a:extLst>
          </p:cNvPr>
          <p:cNvSpPr>
            <a:spLocks noGrp="1"/>
          </p:cNvSpPr>
          <p:nvPr>
            <p:ph type="title"/>
          </p:nvPr>
        </p:nvSpPr>
        <p:spPr/>
        <p:txBody>
          <a:bodyPr/>
          <a:lstStyle/>
          <a:p>
            <a:pPr eaLnBrk="1" hangingPunct="1"/>
            <a:r>
              <a:rPr altLang="en-US" lang="en-US">
                <a:cs charset="0" panose="020B0604020202020204" pitchFamily="34" typeface="Arial"/>
              </a:rPr>
              <a:t>Figure 17.8 </a:t>
            </a:r>
            <a:r>
              <a:rPr altLang="en-US" lang="en-US"/>
              <a:t>Sickle-cell anemia.</a:t>
            </a:r>
            <a:endParaRPr altLang="en-US" b="0" lang="en-US"/>
          </a:p>
        </p:txBody>
      </p:sp>
      <p:pic>
        <p:nvPicPr>
          <p:cNvPr descr="image showing a normal RBC with it's amino acid sequence compared to a sickle cell RBC with a valine substituted at place 6" id="4" name="Picture 3">
            <a:extLst>
              <a:ext uri="{FF2B5EF4-FFF2-40B4-BE49-F238E27FC236}">
                <a16:creationId xmlns:a16="http://schemas.microsoft.com/office/drawing/2014/main" id="{7F2B0BDF-3015-4EE6-C155-77DC01D9F646}"/>
              </a:ext>
            </a:extLst>
          </p:cNvPr>
          <p:cNvPicPr>
            <a:picLocks noChangeAspect="1"/>
          </p:cNvPicPr>
          <p:nvPr/>
        </p:nvPicPr>
        <p:blipFill>
          <a:blip r:embed="rId3"/>
          <a:stretch>
            <a:fillRect/>
          </a:stretch>
        </p:blipFill>
        <p:spPr>
          <a:xfrm>
            <a:off x="46993" y="918812"/>
            <a:ext cx="9050013" cy="502037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2135BEB-E621-4D83-A3FF-1A433B772412}"/>
              </a:ext>
            </a:extLst>
          </p:cNvPr>
          <p:cNvSpPr>
            <a:spLocks noChangeArrowheads="1" noGrp="1"/>
          </p:cNvSpPr>
          <p:nvPr>
            <p:ph type="title"/>
          </p:nvPr>
        </p:nvSpPr>
        <p:spPr/>
        <p:txBody>
          <a:bodyPr/>
          <a:lstStyle/>
          <a:p>
            <a:pPr eaLnBrk="1" hangingPunct="1"/>
            <a:r>
              <a:rPr altLang="en-US" lang="en-US"/>
              <a:t>Leukocytes (WBCs)</a:t>
            </a:r>
          </a:p>
        </p:txBody>
      </p:sp>
      <p:sp>
        <p:nvSpPr>
          <p:cNvPr id="277507" name="Rectangle 3">
            <a:extLst>
              <a:ext uri="{FF2B5EF4-FFF2-40B4-BE49-F238E27FC236}">
                <a16:creationId xmlns:a16="http://schemas.microsoft.com/office/drawing/2014/main" id="{EB49B7DA-B78C-48A5-AF7E-F1257AFA27A8}"/>
              </a:ext>
            </a:extLst>
          </p:cNvPr>
          <p:cNvSpPr>
            <a:spLocks noChangeArrowheads="1" noGrp="1"/>
          </p:cNvSpPr>
          <p:nvPr>
            <p:ph idx="1" type="body"/>
          </p:nvPr>
        </p:nvSpPr>
        <p:spPr/>
        <p:txBody>
          <a:bodyPr/>
          <a:lstStyle/>
          <a:p>
            <a:pPr eaLnBrk="1" hangingPunct="1">
              <a:lnSpc>
                <a:spcPct val="90000"/>
              </a:lnSpc>
            </a:pPr>
            <a:r>
              <a:rPr altLang="en-US" lang="en-US">
                <a:solidFill>
                  <a:srgbClr val="000000"/>
                </a:solidFill>
              </a:rPr>
              <a:t>Leukocytes, the only blood components that are complete cells:</a:t>
            </a:r>
          </a:p>
          <a:p>
            <a:pPr eaLnBrk="1" hangingPunct="1" lvl="1">
              <a:lnSpc>
                <a:spcPct val="90000"/>
              </a:lnSpc>
            </a:pPr>
            <a:r>
              <a:rPr altLang="en-US" lang="en-US">
                <a:solidFill>
                  <a:srgbClr val="000000"/>
                </a:solidFill>
              </a:rPr>
              <a:t>Are less numerous than RBCs</a:t>
            </a:r>
          </a:p>
          <a:p>
            <a:pPr eaLnBrk="1" hangingPunct="1" lvl="1">
              <a:lnSpc>
                <a:spcPct val="90000"/>
              </a:lnSpc>
            </a:pPr>
            <a:r>
              <a:rPr altLang="en-US" lang="en-US">
                <a:solidFill>
                  <a:srgbClr val="000000"/>
                </a:solidFill>
              </a:rPr>
              <a:t>Make up 1% of the total blood volume</a:t>
            </a:r>
          </a:p>
          <a:p>
            <a:pPr eaLnBrk="1" hangingPunct="1" lvl="1">
              <a:lnSpc>
                <a:spcPct val="90000"/>
              </a:lnSpc>
            </a:pPr>
            <a:r>
              <a:rPr altLang="en-US" lang="en-US">
                <a:solidFill>
                  <a:srgbClr val="000000"/>
                </a:solidFill>
              </a:rPr>
              <a:t>Can leave capillaries via </a:t>
            </a:r>
            <a:r>
              <a:rPr altLang="en-US" b="1" lang="en-US">
                <a:solidFill>
                  <a:srgbClr val="000000"/>
                </a:solidFill>
              </a:rPr>
              <a:t>diapedesis</a:t>
            </a:r>
          </a:p>
          <a:p>
            <a:pPr eaLnBrk="1" hangingPunct="1" lvl="1">
              <a:lnSpc>
                <a:spcPct val="90000"/>
              </a:lnSpc>
            </a:pPr>
            <a:r>
              <a:rPr altLang="en-US" lang="en-US">
                <a:solidFill>
                  <a:srgbClr val="000000"/>
                </a:solidFill>
              </a:rPr>
              <a:t>Move through tissue spaces</a:t>
            </a:r>
          </a:p>
          <a:p>
            <a:pPr eaLnBrk="1" hangingPunct="1">
              <a:lnSpc>
                <a:spcPct val="90000"/>
              </a:lnSpc>
            </a:pPr>
            <a:r>
              <a:rPr altLang="en-US" b="1" lang="en-US">
                <a:solidFill>
                  <a:srgbClr val="000000"/>
                </a:solidFill>
              </a:rPr>
              <a:t>Leukocytosis</a:t>
            </a:r>
            <a:r>
              <a:rPr altLang="en-US" lang="en-US">
                <a:solidFill>
                  <a:srgbClr val="000000"/>
                </a:solidFill>
              </a:rPr>
              <a:t> – WBC count over 11,000 / mm</a:t>
            </a:r>
            <a:r>
              <a:rPr altLang="en-US" baseline="30000" lang="en-US">
                <a:solidFill>
                  <a:srgbClr val="000000"/>
                </a:solidFill>
              </a:rPr>
              <a:t>3</a:t>
            </a:r>
            <a:endParaRPr altLang="en-US" lang="en-US">
              <a:solidFill>
                <a:srgbClr val="000000"/>
              </a:solidFill>
            </a:endParaRPr>
          </a:p>
          <a:p>
            <a:pPr eaLnBrk="1" hangingPunct="1" lvl="1">
              <a:lnSpc>
                <a:spcPct val="90000"/>
              </a:lnSpc>
            </a:pPr>
            <a:r>
              <a:rPr altLang="en-US" lang="en-US"/>
              <a:t>Normal response to bacterial or viral invasion</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77507">
                                            <p:txEl>
                                              <p:pRg end="0" st="0"/>
                                            </p:txEl>
                                          </p:spTgt>
                                        </p:tgtEl>
                                        <p:attrNameLst>
                                          <p:attrName>style.visibility</p:attrName>
                                        </p:attrNameLst>
                                      </p:cBhvr>
                                      <p:to>
                                        <p:strVal val="visible"/>
                                      </p:to>
                                    </p:set>
                                    <p:anim calcmode="discrete" valueType="clr">
                                      <p:cBhvr override="childStyle">
                                        <p:cTn dur="80" id="7"/>
                                        <p:tgtEl>
                                          <p:spTgt spid="277507">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77507">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277507">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77507">
                                            <p:txEl>
                                              <p:pRg end="1" st="1"/>
                                            </p:txEl>
                                          </p:spTgt>
                                        </p:tgtEl>
                                        <p:attrNameLst>
                                          <p:attrName>style.visibility</p:attrName>
                                        </p:attrNameLst>
                                      </p:cBhvr>
                                      <p:to>
                                        <p:strVal val="visible"/>
                                      </p:to>
                                    </p:set>
                                    <p:anim calcmode="discrete" valueType="clr">
                                      <p:cBhvr override="childStyle">
                                        <p:cTn dur="80" id="14"/>
                                        <p:tgtEl>
                                          <p:spTgt spid="277507">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77507">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277507">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77507">
                                            <p:txEl>
                                              <p:pRg end="2" st="2"/>
                                            </p:txEl>
                                          </p:spTgt>
                                        </p:tgtEl>
                                        <p:attrNameLst>
                                          <p:attrName>style.visibility</p:attrName>
                                        </p:attrNameLst>
                                      </p:cBhvr>
                                      <p:to>
                                        <p:strVal val="visible"/>
                                      </p:to>
                                    </p:set>
                                    <p:anim calcmode="discrete" valueType="clr">
                                      <p:cBhvr override="childStyle">
                                        <p:cTn dur="80" id="21"/>
                                        <p:tgtEl>
                                          <p:spTgt spid="277507">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77507">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277507">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277507">
                                            <p:txEl>
                                              <p:pRg end="3" st="3"/>
                                            </p:txEl>
                                          </p:spTgt>
                                        </p:tgtEl>
                                        <p:attrNameLst>
                                          <p:attrName>style.visibility</p:attrName>
                                        </p:attrNameLst>
                                      </p:cBhvr>
                                      <p:to>
                                        <p:strVal val="visible"/>
                                      </p:to>
                                    </p:set>
                                    <p:anim calcmode="discrete" valueType="clr">
                                      <p:cBhvr override="childStyle">
                                        <p:cTn dur="80" id="28"/>
                                        <p:tgtEl>
                                          <p:spTgt spid="277507">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277507">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277507">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277507">
                                            <p:txEl>
                                              <p:pRg end="4" st="4"/>
                                            </p:txEl>
                                          </p:spTgt>
                                        </p:tgtEl>
                                        <p:attrNameLst>
                                          <p:attrName>style.visibility</p:attrName>
                                        </p:attrNameLst>
                                      </p:cBhvr>
                                      <p:to>
                                        <p:strVal val="visible"/>
                                      </p:to>
                                    </p:set>
                                    <p:anim calcmode="discrete" valueType="clr">
                                      <p:cBhvr override="childStyle">
                                        <p:cTn dur="80" id="35"/>
                                        <p:tgtEl>
                                          <p:spTgt spid="277507">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277507">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277507">
                                            <p:txEl>
                                              <p:pRg end="4" st="4"/>
                                            </p:txEl>
                                          </p:spTgt>
                                        </p:tgtEl>
                                        <p:attrNameLst>
                                          <p:attrName>fill.type</p:attrName>
                                        </p:attrNameLst>
                                      </p:cBhvr>
                                      <p:to>
                                        <p:strVal val="solid"/>
                                      </p:to>
                                    </p:se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ntr" presetID="27" presetSubtype="0">
                                  <p:stCondLst>
                                    <p:cond delay="0"/>
                                  </p:stCondLst>
                                  <p:iterate type="lt">
                                    <p:tmPct val="50000"/>
                                  </p:iterate>
                                  <p:childTnLst>
                                    <p:set>
                                      <p:cBhvr>
                                        <p:cTn dur="1" fill="hold" id="41">
                                          <p:stCondLst>
                                            <p:cond delay="0"/>
                                          </p:stCondLst>
                                        </p:cTn>
                                        <p:tgtEl>
                                          <p:spTgt spid="277507">
                                            <p:txEl>
                                              <p:pRg end="5" st="5"/>
                                            </p:txEl>
                                          </p:spTgt>
                                        </p:tgtEl>
                                        <p:attrNameLst>
                                          <p:attrName>style.visibility</p:attrName>
                                        </p:attrNameLst>
                                      </p:cBhvr>
                                      <p:to>
                                        <p:strVal val="visible"/>
                                      </p:to>
                                    </p:set>
                                    <p:anim calcmode="discrete" valueType="clr">
                                      <p:cBhvr override="childStyle">
                                        <p:cTn dur="80" id="42"/>
                                        <p:tgtEl>
                                          <p:spTgt spid="277507">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43"/>
                                        <p:tgtEl>
                                          <p:spTgt spid="277507">
                                            <p:txEl>
                                              <p:pRg end="5" st="5"/>
                                            </p:txEl>
                                          </p:spTgt>
                                        </p:tgtEl>
                                        <p:attrNameLst>
                                          <p:attrName>fillcolor</p:attrName>
                                        </p:attrNameLst>
                                      </p:cBhvr>
                                      <p:tavLst>
                                        <p:tav tm="0">
                                          <p:val>
                                            <p:clrVal>
                                              <a:schemeClr val="accent2"/>
                                            </p:clrVal>
                                          </p:val>
                                        </p:tav>
                                        <p:tav tm="50000">
                                          <p:val>
                                            <p:clrVal>
                                              <a:schemeClr val="hlink"/>
                                            </p:clrVal>
                                          </p:val>
                                        </p:tav>
                                      </p:tavLst>
                                    </p:anim>
                                    <p:set>
                                      <p:cBhvr>
                                        <p:cTn dur="80" id="44"/>
                                        <p:tgtEl>
                                          <p:spTgt spid="277507">
                                            <p:txEl>
                                              <p:pRg end="5" st="5"/>
                                            </p:txEl>
                                          </p:spTgt>
                                        </p:tgtEl>
                                        <p:attrNameLst>
                                          <p:attrName>fill.type</p:attrName>
                                        </p:attrNameLst>
                                      </p:cBhvr>
                                      <p:to>
                                        <p:strVal val="solid"/>
                                      </p:to>
                                    </p:set>
                                  </p:childTnLst>
                                </p:cTn>
                              </p:par>
                            </p:childTnLst>
                          </p:cTn>
                        </p:par>
                      </p:childTnLst>
                    </p:cTn>
                  </p:par>
                  <p:par>
                    <p:cTn fill="hold" id="45" nodeType="clickPar">
                      <p:stCondLst>
                        <p:cond delay="indefinite"/>
                      </p:stCondLst>
                      <p:childTnLst>
                        <p:par>
                          <p:cTn fill="hold" id="46" nodeType="withGroup">
                            <p:stCondLst>
                              <p:cond delay="0"/>
                            </p:stCondLst>
                            <p:childTnLst>
                              <p:par>
                                <p:cTn fill="hold" id="47" nodeType="clickEffect" presetClass="entr" presetID="27" presetSubtype="0">
                                  <p:stCondLst>
                                    <p:cond delay="0"/>
                                  </p:stCondLst>
                                  <p:iterate type="lt">
                                    <p:tmPct val="50000"/>
                                  </p:iterate>
                                  <p:childTnLst>
                                    <p:set>
                                      <p:cBhvr>
                                        <p:cTn dur="1" fill="hold" id="48">
                                          <p:stCondLst>
                                            <p:cond delay="0"/>
                                          </p:stCondLst>
                                        </p:cTn>
                                        <p:tgtEl>
                                          <p:spTgt spid="277507">
                                            <p:txEl>
                                              <p:pRg end="6" st="6"/>
                                            </p:txEl>
                                          </p:spTgt>
                                        </p:tgtEl>
                                        <p:attrNameLst>
                                          <p:attrName>style.visibility</p:attrName>
                                        </p:attrNameLst>
                                      </p:cBhvr>
                                      <p:to>
                                        <p:strVal val="visible"/>
                                      </p:to>
                                    </p:set>
                                    <p:anim calcmode="discrete" valueType="clr">
                                      <p:cBhvr override="childStyle">
                                        <p:cTn dur="80" id="49"/>
                                        <p:tgtEl>
                                          <p:spTgt spid="277507">
                                            <p:txEl>
                                              <p:pRg end="6" st="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50"/>
                                        <p:tgtEl>
                                          <p:spTgt spid="277507">
                                            <p:txEl>
                                              <p:pRg end="6" st="6"/>
                                            </p:txEl>
                                          </p:spTgt>
                                        </p:tgtEl>
                                        <p:attrNameLst>
                                          <p:attrName>fillcolor</p:attrName>
                                        </p:attrNameLst>
                                      </p:cBhvr>
                                      <p:tavLst>
                                        <p:tav tm="0">
                                          <p:val>
                                            <p:clrVal>
                                              <a:schemeClr val="accent2"/>
                                            </p:clrVal>
                                          </p:val>
                                        </p:tav>
                                        <p:tav tm="50000">
                                          <p:val>
                                            <p:clrVal>
                                              <a:schemeClr val="hlink"/>
                                            </p:clrVal>
                                          </p:val>
                                        </p:tav>
                                      </p:tavLst>
                                    </p:anim>
                                    <p:set>
                                      <p:cBhvr>
                                        <p:cTn dur="80" id="51"/>
                                        <p:tgtEl>
                                          <p:spTgt spid="277507">
                                            <p:txEl>
                                              <p:pRg end="6" st="6"/>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C44C3D3D-77E2-4480-856A-70D36979D01F}"/>
              </a:ext>
            </a:extLst>
          </p:cNvPr>
          <p:cNvSpPr>
            <a:spLocks noChangeArrowheads="1" noGrp="1"/>
          </p:cNvSpPr>
          <p:nvPr>
            <p:ph type="title"/>
          </p:nvPr>
        </p:nvSpPr>
        <p:spPr/>
        <p:txBody>
          <a:bodyPr/>
          <a:lstStyle/>
          <a:p>
            <a:pPr eaLnBrk="1" hangingPunct="1"/>
            <a:r>
              <a:rPr altLang="en-US" lang="en-US"/>
              <a:t>Percentages of Leukocytes</a:t>
            </a:r>
          </a:p>
        </p:txBody>
      </p:sp>
      <p:pic>
        <p:nvPicPr>
          <p:cNvPr descr="chart showing the relative amount of the formed elements then a zoomed up view of the percentages of the 5 types of WBCs" id="59396" name="Picture 6">
            <a:extLst>
              <a:ext uri="{FF2B5EF4-FFF2-40B4-BE49-F238E27FC236}">
                <a16:creationId xmlns:a16="http://schemas.microsoft.com/office/drawing/2014/main" id="{F24C8E7F-ED8C-4EF6-AE2A-D26BC2F3F23F}"/>
              </a:ext>
            </a:extLst>
          </p:cNvPr>
          <p:cNvPicPr>
            <a:picLocks noChangeArrowheads="1" noChangeAspect="1"/>
          </p:cNvPicPr>
          <p:nvPr/>
        </p:nvPicPr>
        <p:blipFill>
          <a:blip r:embed="rId2">
            <a:extLst>
              <a:ext uri="{28A0092B-C50C-407E-A947-70E740481C1C}">
                <a14:useLocalDpi xmlns:a14="http://schemas.microsoft.com/office/drawing/2010/main" val="0"/>
              </a:ext>
            </a:extLst>
          </a:blip>
          <a:srcRect b="8580" l="2466" r="2644" t="3108"/>
          <a:stretch>
            <a:fillRect/>
          </a:stretch>
        </p:blipFill>
        <p:spPr bwMode="auto">
          <a:xfrm>
            <a:off x="1211263" y="850900"/>
            <a:ext cx="6721475"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B630069-B397-4248-B157-9C43A2F12F7D}"/>
              </a:ext>
            </a:extLst>
          </p:cNvPr>
          <p:cNvSpPr>
            <a:spLocks noChangeArrowheads="1" noGrp="1"/>
          </p:cNvSpPr>
          <p:nvPr>
            <p:ph type="title"/>
          </p:nvPr>
        </p:nvSpPr>
        <p:spPr/>
        <p:txBody>
          <a:bodyPr/>
          <a:lstStyle/>
          <a:p>
            <a:pPr eaLnBrk="1" hangingPunct="1"/>
            <a:r>
              <a:rPr altLang="en-US" lang="en-US"/>
              <a:t>Leukocytes</a:t>
            </a:r>
          </a:p>
        </p:txBody>
      </p:sp>
      <p:pic>
        <p:nvPicPr>
          <p:cNvPr descr="5 photos of the five types of white blood cells" id="60420" name="Picture 6">
            <a:extLst>
              <a:ext uri="{FF2B5EF4-FFF2-40B4-BE49-F238E27FC236}">
                <a16:creationId xmlns:a16="http://schemas.microsoft.com/office/drawing/2014/main" id="{AF3B5F39-AA07-482C-8673-0C9808984B4C}"/>
              </a:ext>
            </a:extLst>
          </p:cNvPr>
          <p:cNvPicPr>
            <a:picLocks noChangeArrowheads="1" noChangeAspect="1"/>
          </p:cNvPicPr>
          <p:nvPr/>
        </p:nvPicPr>
        <p:blipFill>
          <a:blip r:embed="rId2">
            <a:extLst>
              <a:ext uri="{28A0092B-C50C-407E-A947-70E740481C1C}">
                <a14:useLocalDpi xmlns:a14="http://schemas.microsoft.com/office/drawing/2010/main" val="0"/>
              </a:ext>
            </a:extLst>
          </a:blip>
          <a:srcRect b="6731" l="876" r="1157" t="2164"/>
          <a:stretch>
            <a:fillRect/>
          </a:stretch>
        </p:blipFill>
        <p:spPr bwMode="auto">
          <a:xfrm>
            <a:off x="401638" y="1322388"/>
            <a:ext cx="8340725"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Rectangle 1">
            <a:extLst>
              <a:ext uri="{FF2B5EF4-FFF2-40B4-BE49-F238E27FC236}">
                <a16:creationId xmlns:a16="http://schemas.microsoft.com/office/drawing/2014/main" id="{E7FDA614-4AB8-4BE0-9C1B-0D69EB919EC7}"/>
              </a:ext>
            </a:extLst>
          </p:cNvPr>
          <p:cNvSpPr>
            <a:spLocks noChangeArrowheads="1"/>
          </p:cNvSpPr>
          <p:nvPr/>
        </p:nvSpPr>
        <p:spPr bwMode="auto">
          <a:xfrm>
            <a:off x="304800" y="5534025"/>
            <a:ext cx="84375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Bef>
                <a:spcPts val="500"/>
              </a:spcBef>
              <a:spcAft>
                <a:spcPct val="0"/>
              </a:spcAft>
              <a:buClrTx/>
              <a:buSzTx/>
              <a:buFontTx/>
              <a:buNone/>
            </a:pPr>
            <a:r>
              <a:rPr altLang="en-US" lang="en-US" sz="2800"/>
              <a:t>Mnemonic to remember decreasing abundance in blood: </a:t>
            </a:r>
            <a:r>
              <a:rPr altLang="en-US" b="1" lang="en-US" sz="2800" u="sng"/>
              <a:t>N</a:t>
            </a:r>
            <a:r>
              <a:rPr altLang="en-US" b="1" lang="en-US" sz="2800"/>
              <a:t>ever </a:t>
            </a:r>
            <a:r>
              <a:rPr altLang="en-US" b="1" lang="en-US" sz="2800" u="sng"/>
              <a:t>l</a:t>
            </a:r>
            <a:r>
              <a:rPr altLang="en-US" b="1" lang="en-US" sz="2800"/>
              <a:t>et </a:t>
            </a:r>
            <a:r>
              <a:rPr altLang="en-US" b="1" lang="en-US" sz="2800" u="sng"/>
              <a:t>m</a:t>
            </a:r>
            <a:r>
              <a:rPr altLang="en-US" b="1" lang="en-US" sz="2800"/>
              <a:t>onkeys </a:t>
            </a:r>
            <a:r>
              <a:rPr altLang="en-US" b="1" lang="en-US" sz="2800" u="sng"/>
              <a:t>e</a:t>
            </a:r>
            <a:r>
              <a:rPr altLang="en-US" b="1" lang="en-US" sz="2800"/>
              <a:t>at </a:t>
            </a:r>
            <a:r>
              <a:rPr altLang="en-US" b="1" lang="en-US" sz="2800" u="sng"/>
              <a:t>b</a:t>
            </a:r>
            <a:r>
              <a:rPr altLang="en-US" b="1" lang="en-US" sz="2800"/>
              <a:t>ananas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1442" name="Rectangle 4">
            <a:extLst>
              <a:ext uri="{FF2B5EF4-FFF2-40B4-BE49-F238E27FC236}">
                <a16:creationId xmlns:a16="http://schemas.microsoft.com/office/drawing/2014/main" id="{F9F138AC-0AE6-4508-B974-B3ED9E22EB52}"/>
              </a:ext>
            </a:extLst>
          </p:cNvPr>
          <p:cNvSpPr>
            <a:spLocks noChangeArrowheads="1" noGrp="1"/>
          </p:cNvSpPr>
          <p:nvPr>
            <p:ph type="title"/>
          </p:nvPr>
        </p:nvSpPr>
        <p:spPr/>
        <p:txBody>
          <a:bodyPr/>
          <a:lstStyle/>
          <a:p>
            <a:pPr eaLnBrk="1" hangingPunct="1"/>
            <a:r>
              <a:rPr altLang="en-US" lang="en-US"/>
              <a:t>Granulocytes</a:t>
            </a:r>
          </a:p>
        </p:txBody>
      </p:sp>
      <p:sp>
        <p:nvSpPr>
          <p:cNvPr id="61443" name="Rectangle 5">
            <a:extLst>
              <a:ext uri="{FF2B5EF4-FFF2-40B4-BE49-F238E27FC236}">
                <a16:creationId xmlns:a16="http://schemas.microsoft.com/office/drawing/2014/main" id="{11783DBB-6E1F-4601-B6CB-B308E1510F26}"/>
              </a:ext>
            </a:extLst>
          </p:cNvPr>
          <p:cNvSpPr>
            <a:spLocks noChangeArrowheads="1" noGrp="1"/>
          </p:cNvSpPr>
          <p:nvPr>
            <p:ph idx="1" type="body"/>
          </p:nvPr>
        </p:nvSpPr>
        <p:spPr/>
        <p:txBody>
          <a:bodyPr/>
          <a:lstStyle/>
          <a:p>
            <a:pPr eaLnBrk="1" hangingPunct="1"/>
            <a:r>
              <a:rPr altLang="en-US" lang="en-US"/>
              <a:t>Granulocytes – neutrophils, eosinophils, and basophils</a:t>
            </a:r>
          </a:p>
          <a:p>
            <a:pPr eaLnBrk="1" hangingPunct="1" lvl="1"/>
            <a:r>
              <a:rPr altLang="en-US" lang="en-US"/>
              <a:t>Contain cytoplasmic granules that stain specifically (acidic, basic, or both) with Wright’s stain</a:t>
            </a:r>
          </a:p>
          <a:p>
            <a:pPr eaLnBrk="1" hangingPunct="1" lvl="1"/>
            <a:r>
              <a:rPr altLang="en-US" lang="en-US"/>
              <a:t>Are larger and usually shorter-lived than RBCs</a:t>
            </a:r>
          </a:p>
          <a:p>
            <a:pPr eaLnBrk="1" hangingPunct="1" lvl="1"/>
            <a:r>
              <a:rPr altLang="en-US" lang="en-US"/>
              <a:t>Have lobed nuclei</a:t>
            </a:r>
          </a:p>
          <a:p>
            <a:pPr eaLnBrk="1" hangingPunct="1" lvl="1"/>
            <a:r>
              <a:rPr altLang="en-US" lang="en-US"/>
              <a:t>Are all phagocytic cells</a:t>
            </a:r>
          </a:p>
        </p:txBody>
      </p:sp>
    </p:spTree>
  </p:cSld>
  <p:clrMapOvr>
    <a:masterClrMapping/>
  </p:clrMapOvr>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5539" name="Rectangle 3">
            <a:extLst>
              <a:ext uri="{FF2B5EF4-FFF2-40B4-BE49-F238E27FC236}">
                <a16:creationId xmlns:a16="http://schemas.microsoft.com/office/drawing/2014/main" id="{14CE1E22-E6DF-4CA4-B42B-FE4F4A254771}"/>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Agranulocytes</a:t>
            </a:r>
          </a:p>
        </p:txBody>
      </p:sp>
      <p:sp>
        <p:nvSpPr>
          <p:cNvPr id="65538" name="Rectangle 2">
            <a:extLst>
              <a:ext uri="{FF2B5EF4-FFF2-40B4-BE49-F238E27FC236}">
                <a16:creationId xmlns:a16="http://schemas.microsoft.com/office/drawing/2014/main" id="{439D6215-0ADF-4755-B18C-994E9E350E8D}"/>
              </a:ext>
            </a:extLst>
          </p:cNvPr>
          <p:cNvSpPr>
            <a:spLocks noChangeArrowheads="1" noGrp="1"/>
          </p:cNvSpPr>
          <p:nvPr>
            <p:ph idx="1" type="body"/>
          </p:nvPr>
        </p:nvSpPr>
        <p:spPr/>
        <p:txBody>
          <a:bodyPr/>
          <a:lstStyle/>
          <a:p>
            <a:pPr eaLnBrk="1" hangingPunct="1"/>
            <a:r>
              <a:rPr altLang="en-US" lang="en-US">
                <a:solidFill>
                  <a:srgbClr val="000000"/>
                </a:solidFill>
              </a:rPr>
              <a:t>Agranulocytes – lymphocytes and monocytes:</a:t>
            </a:r>
          </a:p>
          <a:p>
            <a:pPr eaLnBrk="1" hangingPunct="1" lvl="1"/>
            <a:r>
              <a:rPr altLang="en-US" lang="en-US">
                <a:solidFill>
                  <a:srgbClr val="000000"/>
                </a:solidFill>
              </a:rPr>
              <a:t>Lack visible cytoplasmic granules</a:t>
            </a:r>
          </a:p>
          <a:p>
            <a:pPr eaLnBrk="1" hangingPunct="1" lvl="1"/>
            <a:r>
              <a:rPr altLang="en-US" lang="en-US">
                <a:solidFill>
                  <a:srgbClr val="000000"/>
                </a:solidFill>
              </a:rPr>
              <a:t>Are similar structurally, but are functionally distinct and unrelated cell types</a:t>
            </a:r>
          </a:p>
          <a:p>
            <a:pPr eaLnBrk="1" hangingPunct="1" lvl="1"/>
            <a:r>
              <a:rPr altLang="en-US" lang="en-US"/>
              <a:t>Have spherical (lymphocytes) or kidney-shaped (monocytes) nuclei</a:t>
            </a:r>
          </a:p>
        </p:txBody>
      </p:sp>
    </p:spTree>
  </p:cSld>
  <p:clrMapOvr>
    <a:masterClrMapping/>
  </p:clrMapOvr>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A93BCE2-63FF-49E9-B566-F0311A576D00}"/>
              </a:ext>
            </a:extLst>
          </p:cNvPr>
          <p:cNvSpPr>
            <a:spLocks noChangeArrowheads="1" noGrp="1"/>
          </p:cNvSpPr>
          <p:nvPr>
            <p:ph type="title"/>
          </p:nvPr>
        </p:nvSpPr>
        <p:spPr>
          <a:xfrm>
            <a:off x="304800" y="292100"/>
            <a:ext cx="8578850" cy="1143000"/>
          </a:xfrm>
        </p:spPr>
        <p:txBody>
          <a:bodyPr/>
          <a:lstStyle/>
          <a:p>
            <a:pPr eaLnBrk="1" hangingPunct="1"/>
            <a:r>
              <a:rPr altLang="en-US" lang="en-US" sz="2900">
                <a:latin charset="0" panose="020B0604020202020204" pitchFamily="34" typeface="Helvetica"/>
              </a:rPr>
              <a:t>Inflammation responses are a series of events.</a:t>
            </a:r>
          </a:p>
        </p:txBody>
      </p:sp>
      <p:sp>
        <p:nvSpPr>
          <p:cNvPr id="69635" name="Rectangle 3">
            <a:extLst>
              <a:ext uri="{FF2B5EF4-FFF2-40B4-BE49-F238E27FC236}">
                <a16:creationId xmlns:a16="http://schemas.microsoft.com/office/drawing/2014/main" id="{4BE9128B-ADF0-4075-B166-0C51944CA548}"/>
              </a:ext>
            </a:extLst>
          </p:cNvPr>
          <p:cNvSpPr>
            <a:spLocks noChangeArrowheads="1" noGrp="1"/>
          </p:cNvSpPr>
          <p:nvPr>
            <p:ph idx="1" type="body"/>
          </p:nvPr>
        </p:nvSpPr>
        <p:spPr>
          <a:xfrm>
            <a:off x="0" y="1600200"/>
            <a:ext cx="5334000" cy="4114800"/>
          </a:xfrm>
        </p:spPr>
        <p:txBody>
          <a:bodyPr/>
          <a:lstStyle/>
          <a:p>
            <a:pPr eaLnBrk="1" hangingPunct="1"/>
            <a:r>
              <a:rPr altLang="en-US" lang="en-US" sz="2600">
                <a:latin charset="0" panose="020B0604020202020204" pitchFamily="34" typeface="Helvetica"/>
              </a:rPr>
              <a:t>Neutrophils or monocytes </a:t>
            </a:r>
            <a:r>
              <a:rPr altLang="en-US" b="1" lang="en-US" sz="2600">
                <a:latin charset="0" panose="020B0604020202020204" pitchFamily="34" typeface="Helvetica"/>
              </a:rPr>
              <a:t>emigrate</a:t>
            </a:r>
            <a:r>
              <a:rPr altLang="en-US" lang="en-US" sz="2600">
                <a:latin charset="0" panose="020B0604020202020204" pitchFamily="34" typeface="Helvetica"/>
              </a:rPr>
              <a:t> from the blood into the area.  </a:t>
            </a:r>
          </a:p>
          <a:p>
            <a:pPr eaLnBrk="1" hangingPunct="1"/>
            <a:r>
              <a:rPr altLang="en-US" lang="en-US" sz="2600">
                <a:latin charset="0" panose="020B0604020202020204" pitchFamily="34" typeface="Helvetica"/>
              </a:rPr>
              <a:t>They adhere to the inside surface of capillaries by </a:t>
            </a:r>
            <a:r>
              <a:rPr altLang="en-US" b="1" lang="en-US" sz="2600">
                <a:latin charset="0" panose="020B0604020202020204" pitchFamily="34" typeface="Helvetica"/>
              </a:rPr>
              <a:t>margination</a:t>
            </a:r>
            <a:r>
              <a:rPr altLang="en-US" lang="en-US" sz="2600">
                <a:latin charset="0" panose="020B0604020202020204" pitchFamily="34" typeface="Helvetica"/>
              </a:rPr>
              <a:t>.  </a:t>
            </a:r>
          </a:p>
          <a:p>
            <a:pPr eaLnBrk="1" hangingPunct="1"/>
            <a:r>
              <a:rPr altLang="en-US" lang="en-US" sz="2600">
                <a:latin charset="0" panose="020B0604020202020204" pitchFamily="34" typeface="Helvetica"/>
              </a:rPr>
              <a:t>They enter the interstitial spaces by </a:t>
            </a:r>
            <a:r>
              <a:rPr altLang="en-US" b="1" lang="en-US" sz="2600">
                <a:latin charset="0" panose="020B0604020202020204" pitchFamily="34" typeface="Helvetica"/>
              </a:rPr>
              <a:t>diapedesis</a:t>
            </a:r>
            <a:r>
              <a:rPr altLang="en-US" lang="en-US" sz="2600">
                <a:latin charset="0" panose="020B0604020202020204" pitchFamily="34" typeface="Helvetica"/>
              </a:rPr>
              <a:t> and are guided by </a:t>
            </a:r>
            <a:r>
              <a:rPr altLang="en-US" lang="en-US" sz="2600" u="sng">
                <a:latin charset="0" panose="020B0604020202020204" pitchFamily="34" typeface="Helvetica"/>
              </a:rPr>
              <a:t>positive chemotaxis</a:t>
            </a:r>
            <a:r>
              <a:rPr altLang="en-US" lang="en-US" sz="2600">
                <a:latin charset="0" panose="020B0604020202020204" pitchFamily="34" typeface="Helvetica"/>
              </a:rPr>
              <a:t>.</a:t>
            </a:r>
          </a:p>
        </p:txBody>
      </p:sp>
      <p:pic>
        <p:nvPicPr>
          <p:cNvPr descr="graphic showing the process of diapedisis" id="69636" name="Picture 4">
            <a:extLst>
              <a:ext uri="{FF2B5EF4-FFF2-40B4-BE49-F238E27FC236}">
                <a16:creationId xmlns:a16="http://schemas.microsoft.com/office/drawing/2014/main" id="{9A83FD94-E92A-461A-9CB2-94057BD759A7}"/>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2022475"/>
            <a:ext cx="3886200"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7979D50-D7CB-42F0-8D04-73AEC05E3632}"/>
              </a:ext>
            </a:extLst>
          </p:cNvPr>
          <p:cNvSpPr>
            <a:spLocks noChangeArrowheads="1" noGrp="1"/>
          </p:cNvSpPr>
          <p:nvPr>
            <p:ph type="title"/>
          </p:nvPr>
        </p:nvSpPr>
        <p:spPr/>
        <p:txBody>
          <a:bodyPr/>
          <a:lstStyle/>
          <a:p>
            <a:pPr eaLnBrk="1" hangingPunct="1"/>
            <a:r>
              <a:rPr altLang="en-US" lang="en-US"/>
              <a:t>Summary of Formed Elements</a:t>
            </a:r>
          </a:p>
        </p:txBody>
      </p:sp>
      <p:sp>
        <p:nvSpPr>
          <p:cNvPr id="70659" name="Text Box 5">
            <a:extLst>
              <a:ext uri="{FF2B5EF4-FFF2-40B4-BE49-F238E27FC236}">
                <a16:creationId xmlns:a16="http://schemas.microsoft.com/office/drawing/2014/main" id="{2F1765EA-F8D0-4E4E-8CF4-B5E79F1CA24A}"/>
              </a:ext>
            </a:extLst>
          </p:cNvPr>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r">
              <a:spcAft>
                <a:spcPct val="0"/>
              </a:spcAft>
              <a:buClrTx/>
              <a:buSzTx/>
              <a:buFontTx/>
              <a:buNone/>
            </a:pPr>
            <a:r>
              <a:rPr altLang="en-US" b="1" lang="en-US" sz="1200">
                <a:solidFill>
                  <a:schemeClr val="accent2"/>
                </a:solidFill>
                <a:latin charset="0" panose="020B0604020202020204" pitchFamily="34" typeface="Arial"/>
              </a:rPr>
              <a:t>Table 17.2.1</a:t>
            </a:r>
          </a:p>
        </p:txBody>
      </p:sp>
      <p:pic>
        <p:nvPicPr>
          <p:cNvPr descr="table showing the major blood cell types, their anatomy, relative abundance, duration and function" id="70660" name="Picture 4">
            <a:extLst>
              <a:ext uri="{FF2B5EF4-FFF2-40B4-BE49-F238E27FC236}">
                <a16:creationId xmlns:a16="http://schemas.microsoft.com/office/drawing/2014/main" id="{2B74870C-1781-4A0D-A0EB-660FA3B17C5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288" y="890588"/>
            <a:ext cx="9139237"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ACFB391-4866-4BEB-A00A-0B6B05D15225}"/>
              </a:ext>
            </a:extLst>
          </p:cNvPr>
          <p:cNvSpPr>
            <a:spLocks noChangeArrowheads="1" noGrp="1"/>
          </p:cNvSpPr>
          <p:nvPr>
            <p:ph type="title"/>
          </p:nvPr>
        </p:nvSpPr>
        <p:spPr/>
        <p:txBody>
          <a:bodyPr/>
          <a:lstStyle/>
          <a:p>
            <a:pPr eaLnBrk="1" hangingPunct="1"/>
            <a:r>
              <a:rPr altLang="en-US" dirty="0" lang="en-US"/>
              <a:t>Summary of Formed Elements (continued)</a:t>
            </a:r>
          </a:p>
        </p:txBody>
      </p:sp>
      <p:sp>
        <p:nvSpPr>
          <p:cNvPr id="71683" name="Text Box 5">
            <a:extLst>
              <a:ext uri="{FF2B5EF4-FFF2-40B4-BE49-F238E27FC236}">
                <a16:creationId xmlns:a16="http://schemas.microsoft.com/office/drawing/2014/main" id="{9FE9E35A-2095-4305-99ED-464B3D031AE5}"/>
              </a:ext>
            </a:extLst>
          </p:cNvPr>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r">
              <a:spcAft>
                <a:spcPct val="0"/>
              </a:spcAft>
              <a:buClrTx/>
              <a:buSzTx/>
              <a:buFontTx/>
              <a:buNone/>
            </a:pPr>
            <a:r>
              <a:rPr altLang="en-US" b="1" lang="en-US" sz="1200">
                <a:solidFill>
                  <a:schemeClr val="accent2"/>
                </a:solidFill>
                <a:latin charset="0" panose="020B0604020202020204" pitchFamily="34" typeface="Arial"/>
              </a:rPr>
              <a:t>Table 17.2.2</a:t>
            </a:r>
          </a:p>
        </p:txBody>
      </p:sp>
      <p:pic>
        <p:nvPicPr>
          <p:cNvPr descr="continued table from previous slide showing details of formed elements" id="71684" name="Picture 4">
            <a:extLst>
              <a:ext uri="{FF2B5EF4-FFF2-40B4-BE49-F238E27FC236}">
                <a16:creationId xmlns:a16="http://schemas.microsoft.com/office/drawing/2014/main" id="{30708A49-7811-461E-8D7A-FDE19D8C03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225" y="911225"/>
            <a:ext cx="9110663"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2707" name="Rectangle 3">
            <a:extLst>
              <a:ext uri="{FF2B5EF4-FFF2-40B4-BE49-F238E27FC236}">
                <a16:creationId xmlns:a16="http://schemas.microsoft.com/office/drawing/2014/main" id="{850274B0-0F4E-4B9B-B00D-5341B1D39F5B}"/>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Production of Leukocytes</a:t>
            </a:r>
          </a:p>
        </p:txBody>
      </p:sp>
      <p:sp>
        <p:nvSpPr>
          <p:cNvPr id="72706" name="Rectangle 2">
            <a:extLst>
              <a:ext uri="{FF2B5EF4-FFF2-40B4-BE49-F238E27FC236}">
                <a16:creationId xmlns:a16="http://schemas.microsoft.com/office/drawing/2014/main" id="{241E5C55-2DD8-4823-B0A5-1E456FE9F95F}"/>
              </a:ext>
            </a:extLst>
          </p:cNvPr>
          <p:cNvSpPr>
            <a:spLocks noChangeArrowheads="1" noGrp="1"/>
          </p:cNvSpPr>
          <p:nvPr>
            <p:ph idx="1" type="body"/>
          </p:nvPr>
        </p:nvSpPr>
        <p:spPr/>
        <p:txBody>
          <a:bodyPr/>
          <a:lstStyle/>
          <a:p>
            <a:pPr eaLnBrk="1" hangingPunct="1"/>
            <a:r>
              <a:rPr altLang="en-US" b="1" lang="en-US">
                <a:solidFill>
                  <a:srgbClr val="000000"/>
                </a:solidFill>
              </a:rPr>
              <a:t>Leukopoiesis</a:t>
            </a:r>
            <a:r>
              <a:rPr altLang="en-US" lang="en-US">
                <a:solidFill>
                  <a:srgbClr val="000000"/>
                </a:solidFill>
              </a:rPr>
              <a:t> is stimulated by interleukins and colony-stimulating factors (CSFs)</a:t>
            </a:r>
          </a:p>
        </p:txBody>
      </p:sp>
    </p:spTree>
  </p:cSld>
  <p:clrMapOvr>
    <a:masterClrMapping/>
  </p:clrMapOvr>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55F5B-A50C-AAED-B340-50BE53241AA1}"/>
              </a:ext>
            </a:extLst>
          </p:cNvPr>
          <p:cNvSpPr>
            <a:spLocks noGrp="1"/>
          </p:cNvSpPr>
          <p:nvPr>
            <p:ph type="title"/>
          </p:nvPr>
        </p:nvSpPr>
        <p:spPr/>
        <p:txBody>
          <a:bodyPr/>
          <a:lstStyle/>
          <a:p>
            <a:r>
              <a:rPr dirty="0" lang="en-US"/>
              <a:t>Blood cell developmental cell lines</a:t>
            </a:r>
          </a:p>
        </p:txBody>
      </p:sp>
      <p:pic>
        <p:nvPicPr>
          <p:cNvPr descr="figure showing hemocytoblast developing into myeloid or lymphoid stem cells which then give rise to the lymphocytes (lymphoid stem cells) or the other leukocyte types (myeloid stem cells)" id="5" name="Picture 4">
            <a:extLst>
              <a:ext uri="{FF2B5EF4-FFF2-40B4-BE49-F238E27FC236}">
                <a16:creationId xmlns:a16="http://schemas.microsoft.com/office/drawing/2014/main" id="{B56D31FB-2A0E-9EC9-CCF2-1933813D3006}"/>
              </a:ext>
            </a:extLst>
          </p:cNvPr>
          <p:cNvPicPr>
            <a:picLocks noChangeAspect="1"/>
          </p:cNvPicPr>
          <p:nvPr/>
        </p:nvPicPr>
        <p:blipFill>
          <a:blip r:embed="rId2"/>
          <a:stretch>
            <a:fillRect/>
          </a:stretch>
        </p:blipFill>
        <p:spPr>
          <a:xfrm>
            <a:off x="2583609" y="801833"/>
            <a:ext cx="4429839" cy="5794229"/>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5778" name="Rectangle 4">
            <a:extLst>
              <a:ext uri="{FF2B5EF4-FFF2-40B4-BE49-F238E27FC236}">
                <a16:creationId xmlns:a16="http://schemas.microsoft.com/office/drawing/2014/main" id="{C1E05455-3F77-405D-83E5-804FBD97491E}"/>
              </a:ext>
            </a:extLst>
          </p:cNvPr>
          <p:cNvSpPr>
            <a:spLocks noChangeArrowheads="1" noGrp="1"/>
          </p:cNvSpPr>
          <p:nvPr>
            <p:ph type="title"/>
          </p:nvPr>
        </p:nvSpPr>
        <p:spPr/>
        <p:txBody>
          <a:bodyPr/>
          <a:lstStyle/>
          <a:p>
            <a:pPr eaLnBrk="1" hangingPunct="1"/>
            <a:r>
              <a:rPr altLang="en-US" lang="en-US"/>
              <a:t>Leukemia</a:t>
            </a:r>
          </a:p>
        </p:txBody>
      </p:sp>
      <p:sp>
        <p:nvSpPr>
          <p:cNvPr id="75779" name="Rectangle 5">
            <a:extLst>
              <a:ext uri="{FF2B5EF4-FFF2-40B4-BE49-F238E27FC236}">
                <a16:creationId xmlns:a16="http://schemas.microsoft.com/office/drawing/2014/main" id="{75ACC1E0-5D73-41BA-BC12-29D69456BBE0}"/>
              </a:ext>
            </a:extLst>
          </p:cNvPr>
          <p:cNvSpPr>
            <a:spLocks noChangeArrowheads="1" noGrp="1"/>
          </p:cNvSpPr>
          <p:nvPr>
            <p:ph idx="1" type="body"/>
          </p:nvPr>
        </p:nvSpPr>
        <p:spPr/>
        <p:txBody>
          <a:bodyPr/>
          <a:lstStyle/>
          <a:p>
            <a:pPr eaLnBrk="1" hangingPunct="1"/>
            <a:r>
              <a:rPr altLang="en-US" lang="en-US" sz="2600"/>
              <a:t>Immature WBCs are found in the bloodstream in all leukemias</a:t>
            </a:r>
          </a:p>
          <a:p>
            <a:pPr eaLnBrk="1" hangingPunct="1"/>
            <a:r>
              <a:rPr altLang="en-US" lang="en-US" sz="2600"/>
              <a:t>Bone marrow becomes totally occupied with cancerous leukocytes</a:t>
            </a:r>
          </a:p>
          <a:p>
            <a:pPr eaLnBrk="1" hangingPunct="1"/>
            <a:r>
              <a:rPr altLang="en-US" lang="en-US" sz="2600"/>
              <a:t>The WBCs produced, though numerous, are not functional</a:t>
            </a:r>
          </a:p>
          <a:p>
            <a:pPr eaLnBrk="1" hangingPunct="1"/>
            <a:r>
              <a:rPr altLang="en-US" lang="en-US" sz="2600"/>
              <a:t>Death is caused by internal hemorrhage and overwhelming infections</a:t>
            </a:r>
          </a:p>
          <a:p>
            <a:pPr eaLnBrk="1" hangingPunct="1"/>
            <a:r>
              <a:rPr altLang="en-US" lang="en-US" sz="2600"/>
              <a:t>Treatments include irradiation, antileukemic drugs, and bone marrow transplants</a:t>
            </a:r>
          </a:p>
          <a:p>
            <a:pPr eaLnBrk="1" hangingPunct="1" lvl="1"/>
            <a:r>
              <a:rPr altLang="en-US" lang="en-US" sz="2400"/>
              <a:t>Without treatment, all leukemias are fatal</a:t>
            </a:r>
          </a:p>
          <a:p>
            <a:pPr eaLnBrk="1" hangingPunct="1" lvl="1"/>
            <a:endParaRPr altLang="en-US" lang="en-US" sz="2400"/>
          </a:p>
        </p:txBody>
      </p:sp>
    </p:spTree>
  </p:cSld>
  <p:clrMapOvr>
    <a:masterClrMapping/>
  </p:clrMapOvr>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6802" name="Title 4">
            <a:extLst>
              <a:ext uri="{FF2B5EF4-FFF2-40B4-BE49-F238E27FC236}">
                <a16:creationId xmlns:a16="http://schemas.microsoft.com/office/drawing/2014/main" id="{5712D31E-25AC-4957-A290-7ED79B34FFE9}"/>
              </a:ext>
            </a:extLst>
          </p:cNvPr>
          <p:cNvSpPr>
            <a:spLocks noGrp="1"/>
          </p:cNvSpPr>
          <p:nvPr>
            <p:ph type="title"/>
          </p:nvPr>
        </p:nvSpPr>
        <p:spPr/>
        <p:txBody>
          <a:bodyPr/>
          <a:lstStyle/>
          <a:p>
            <a:pPr eaLnBrk="1" hangingPunct="1"/>
            <a:r>
              <a:rPr altLang="en-US" lang="en-US"/>
              <a:t>Leukocyte Disorders (cont.)</a:t>
            </a:r>
          </a:p>
        </p:txBody>
      </p:sp>
      <p:sp>
        <p:nvSpPr>
          <p:cNvPr id="76803" name="Rectangle 6">
            <a:extLst>
              <a:ext uri="{FF2B5EF4-FFF2-40B4-BE49-F238E27FC236}">
                <a16:creationId xmlns:a16="http://schemas.microsoft.com/office/drawing/2014/main" id="{6AD1E5EB-909B-4C65-811F-633125F8DD42}"/>
              </a:ext>
            </a:extLst>
          </p:cNvPr>
          <p:cNvSpPr>
            <a:spLocks noChangeArrowheads="1" noGrp="1"/>
          </p:cNvSpPr>
          <p:nvPr>
            <p:ph idx="1"/>
          </p:nvPr>
        </p:nvSpPr>
        <p:spPr>
          <a:xfrm>
            <a:off x="187325" y="871538"/>
            <a:ext cx="8845550" cy="5351462"/>
          </a:xfrm>
        </p:spPr>
        <p:txBody>
          <a:bodyPr/>
          <a:lstStyle/>
          <a:p>
            <a:pPr eaLnBrk="1" hangingPunct="1"/>
            <a:r>
              <a:rPr altLang="en-US" b="1" lang="en-US"/>
              <a:t>Infectious mononucleosis</a:t>
            </a:r>
          </a:p>
          <a:p>
            <a:pPr eaLnBrk="1" hangingPunct="1" lvl="1"/>
            <a:r>
              <a:rPr altLang="en-US" lang="en-US"/>
              <a:t>Highly contagious viral disease (</a:t>
            </a:r>
            <a:r>
              <a:rPr altLang="ja-JP" lang="en-US">
                <a:ea charset="-128" panose="020B0600070205080204" pitchFamily="34" typeface="MS PGothic"/>
              </a:rPr>
              <a:t>“kissing disease”)</a:t>
            </a:r>
          </a:p>
          <a:p>
            <a:pPr eaLnBrk="1" hangingPunct="1" lvl="2"/>
            <a:r>
              <a:rPr altLang="en-US" lang="en-US"/>
              <a:t>Usually seen in young adults</a:t>
            </a:r>
          </a:p>
          <a:p>
            <a:pPr eaLnBrk="1" hangingPunct="1" lvl="1"/>
            <a:r>
              <a:rPr altLang="en-US" lang="en-US"/>
              <a:t>Caused by Epstein-Barr virus</a:t>
            </a:r>
          </a:p>
          <a:p>
            <a:pPr eaLnBrk="1" hangingPunct="1" lvl="1"/>
            <a:r>
              <a:rPr altLang="en-US" lang="en-US"/>
              <a:t>Results in high numbers of typical agranulocytes</a:t>
            </a:r>
          </a:p>
          <a:p>
            <a:pPr eaLnBrk="1" hangingPunct="1" lvl="2"/>
            <a:r>
              <a:rPr altLang="en-US" lang="en-US"/>
              <a:t>Involve lymphocytes that become enlarged</a:t>
            </a:r>
          </a:p>
          <a:p>
            <a:pPr eaLnBrk="1" hangingPunct="1" lvl="2"/>
            <a:r>
              <a:rPr altLang="en-US" lang="en-US"/>
              <a:t>Originally thought cells were monocytes, so disease named mononucleosis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8851" name="Rectangle 3">
            <a:extLst>
              <a:ext uri="{FF2B5EF4-FFF2-40B4-BE49-F238E27FC236}">
                <a16:creationId xmlns:a16="http://schemas.microsoft.com/office/drawing/2014/main" id="{32064113-F765-4F1D-A1CB-6B095B0668B8}"/>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Platelets</a:t>
            </a:r>
          </a:p>
        </p:txBody>
      </p:sp>
      <p:sp>
        <p:nvSpPr>
          <p:cNvPr id="78850" name="Rectangle 2">
            <a:extLst>
              <a:ext uri="{FF2B5EF4-FFF2-40B4-BE49-F238E27FC236}">
                <a16:creationId xmlns:a16="http://schemas.microsoft.com/office/drawing/2014/main" id="{2B88C44D-D5A3-40EC-9BAD-5CB54A089C65}"/>
              </a:ext>
            </a:extLst>
          </p:cNvPr>
          <p:cNvSpPr>
            <a:spLocks noChangeArrowheads="1" noGrp="1"/>
          </p:cNvSpPr>
          <p:nvPr>
            <p:ph idx="1" type="body"/>
          </p:nvPr>
        </p:nvSpPr>
        <p:spPr/>
        <p:txBody>
          <a:bodyPr/>
          <a:lstStyle/>
          <a:p>
            <a:pPr eaLnBrk="1" hangingPunct="1"/>
            <a:r>
              <a:rPr altLang="en-US" lang="en-US" sz="2800">
                <a:solidFill>
                  <a:srgbClr val="000000"/>
                </a:solidFill>
              </a:rPr>
              <a:t>Platelets are fragments of megakaryocytes with a blue-staining outer region and a purple granular center</a:t>
            </a:r>
          </a:p>
          <a:p>
            <a:pPr eaLnBrk="1" hangingPunct="1"/>
            <a:r>
              <a:rPr altLang="en-US" lang="en-US" sz="2800">
                <a:solidFill>
                  <a:srgbClr val="000000"/>
                </a:solidFill>
              </a:rPr>
              <a:t>Their granules contain serotonin, Ca</a:t>
            </a:r>
            <a:r>
              <a:rPr altLang="en-US" baseline="30000" lang="en-US" sz="2800">
                <a:solidFill>
                  <a:srgbClr val="000000"/>
                </a:solidFill>
              </a:rPr>
              <a:t>2+</a:t>
            </a:r>
            <a:r>
              <a:rPr altLang="en-US" lang="en-US" sz="2800">
                <a:solidFill>
                  <a:srgbClr val="000000"/>
                </a:solidFill>
              </a:rPr>
              <a:t>, enzymes, ADP, and platelet-derived growth factor (PDGF)</a:t>
            </a:r>
          </a:p>
          <a:p>
            <a:pPr eaLnBrk="1" hangingPunct="1"/>
            <a:r>
              <a:rPr altLang="en-US" lang="en-US" sz="2800">
                <a:solidFill>
                  <a:srgbClr val="000000"/>
                </a:solidFill>
              </a:rPr>
              <a:t>Platelets function in the clotting mechanism by forming a temporary plug that helps seal breaks in blood vessels</a:t>
            </a:r>
          </a:p>
          <a:p>
            <a:pPr eaLnBrk="1" hangingPunct="1"/>
            <a:r>
              <a:rPr altLang="en-US" lang="en-US" sz="2800"/>
              <a:t>Platelets not involved in clotting are kept inactive by NO and prostacyclin</a:t>
            </a:r>
            <a:endParaRPr altLang="en-US" baseline="-25000" lang="en-US" sz="2800"/>
          </a:p>
        </p:txBody>
      </p:sp>
    </p:spTree>
  </p:cSld>
  <p:clrMapOvr>
    <a:masterClrMapping/>
  </p:clrMapOvr>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9884" name="Rectangle 20">
            <a:extLst>
              <a:ext uri="{FF2B5EF4-FFF2-40B4-BE49-F238E27FC236}">
                <a16:creationId xmlns:a16="http://schemas.microsoft.com/office/drawing/2014/main" id="{F6E1EFBC-2F19-4EA8-A671-326BBC9D3B1B}"/>
              </a:ext>
            </a:extLst>
          </p:cNvPr>
          <p:cNvSpPr>
            <a:spLocks noChangeArrowheads="1" noGrp="1"/>
          </p:cNvSpPr>
          <p:nvPr>
            <p:ph type="title"/>
          </p:nvPr>
        </p:nvSpPr>
        <p:spPr>
          <a:noFill/>
        </p:spPr>
        <p:txBody>
          <a:bodyPr/>
          <a:lstStyle/>
          <a:p>
            <a:pPr eaLnBrk="1" hangingPunct="1"/>
            <a:r>
              <a:rPr altLang="en-US" lang="en-US"/>
              <a:t>Genesis of Platelets</a:t>
            </a:r>
          </a:p>
        </p:txBody>
      </p:sp>
      <p:pic>
        <p:nvPicPr>
          <p:cNvPr descr="figure showing developmental pathway of hemocytoblast into intermediates leading to the megakaryocyte and finally platelets" id="3" name="Picture 2">
            <a:extLst>
              <a:ext uri="{FF2B5EF4-FFF2-40B4-BE49-F238E27FC236}">
                <a16:creationId xmlns:a16="http://schemas.microsoft.com/office/drawing/2014/main" id="{94027624-0C1B-CB94-2D93-1CB8E8CF42B6}"/>
              </a:ext>
            </a:extLst>
          </p:cNvPr>
          <p:cNvPicPr>
            <a:picLocks noChangeAspect="1"/>
          </p:cNvPicPr>
          <p:nvPr/>
        </p:nvPicPr>
        <p:blipFill>
          <a:blip r:embed="rId2"/>
          <a:stretch>
            <a:fillRect/>
          </a:stretch>
        </p:blipFill>
        <p:spPr>
          <a:xfrm>
            <a:off x="56520" y="1671392"/>
            <a:ext cx="9030960" cy="3515216"/>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4E33FF7-E55F-4475-B899-57DE76D03F2F}"/>
              </a:ext>
            </a:extLst>
          </p:cNvPr>
          <p:cNvSpPr>
            <a:spLocks noChangeArrowheads="1" noGrp="1"/>
          </p:cNvSpPr>
          <p:nvPr>
            <p:ph type="title"/>
          </p:nvPr>
        </p:nvSpPr>
        <p:spPr>
          <a:xfrm>
            <a:off x="685800" y="185738"/>
            <a:ext cx="7772400" cy="685800"/>
          </a:xfrm>
        </p:spPr>
        <p:txBody>
          <a:bodyPr/>
          <a:lstStyle/>
          <a:p>
            <a:pPr eaLnBrk="1" hangingPunct="1"/>
            <a:r>
              <a:rPr altLang="en-US" lang="en-US" sz="2600"/>
              <a:t>Hematopoiesis</a:t>
            </a:r>
          </a:p>
        </p:txBody>
      </p:sp>
      <p:pic>
        <p:nvPicPr>
          <p:cNvPr descr="w0456-nc" id="80899" name="Picture 3">
            <a:extLst>
              <a:ext uri="{FF2B5EF4-FFF2-40B4-BE49-F238E27FC236}">
                <a16:creationId xmlns:a16="http://schemas.microsoft.com/office/drawing/2014/main" id="{B53E09FA-DDA3-40C2-8A84-3E60D1D63649}"/>
              </a:ext>
            </a:extLst>
          </p:cNvPr>
          <p:cNvPicPr>
            <a:picLocks noChangeArrowheads="1" noChangeAspect="1"/>
          </p:cNvPicPr>
          <p:nvPr/>
        </p:nvPicPr>
        <p:blipFill>
          <a:blip r:embed="rId2">
            <a:lum bright="-12000" contrast="40000"/>
            <a:extLst>
              <a:ext uri="{28A0092B-C50C-407E-A947-70E740481C1C}">
                <a14:useLocalDpi xmlns:a14="http://schemas.microsoft.com/office/drawing/2010/main" val="0"/>
              </a:ext>
            </a:extLst>
          </a:blip>
          <a:srcRect/>
          <a:stretch>
            <a:fillRect/>
          </a:stretch>
        </p:blipFill>
        <p:spPr bwMode="auto">
          <a:xfrm>
            <a:off x="1295400" y="685800"/>
            <a:ext cx="6537325" cy="610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Rectangle 4">
            <a:extLst>
              <a:ext uri="{FF2B5EF4-FFF2-40B4-BE49-F238E27FC236}">
                <a16:creationId xmlns:a16="http://schemas.microsoft.com/office/drawing/2014/main" id="{0B940E99-8EB8-4C59-A4FD-5B38AF0B8562}"/>
              </a:ext>
              <a:ext uri="{C183D7F6-B498-43B3-948B-1728B52AA6E4}">
                <adec:decorative xmlns:adec="http://schemas.microsoft.com/office/drawing/2017/decorative" val="1"/>
              </a:ext>
            </a:extLst>
          </p:cNvPr>
          <p:cNvSpPr>
            <a:spLocks noChangeArrowheads="1"/>
          </p:cNvSpPr>
          <p:nvPr/>
        </p:nvSpPr>
        <p:spPr bwMode="auto">
          <a:xfrm>
            <a:off x="4137025" y="1363663"/>
            <a:ext cx="1219200" cy="4794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80901" name="Text Box 5">
            <a:extLst>
              <a:ext uri="{FF2B5EF4-FFF2-40B4-BE49-F238E27FC236}">
                <a16:creationId xmlns:a16="http://schemas.microsoft.com/office/drawing/2014/main" id="{8007B3F4-EAF7-480A-AC4A-9940CF94D9A6}"/>
              </a:ext>
            </a:extLst>
          </p:cNvPr>
          <p:cNvSpPr txBox="1">
            <a:spLocks noChangeArrowheads="1"/>
          </p:cNvSpPr>
          <p:nvPr/>
        </p:nvSpPr>
        <p:spPr bwMode="auto">
          <a:xfrm>
            <a:off x="4060825" y="1512888"/>
            <a:ext cx="1373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none">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r>
              <a:rPr altLang="en-US" lang="en-US" sz="1600"/>
              <a:t>hemocytoblast</a:t>
            </a:r>
          </a:p>
        </p:txBody>
      </p:sp>
      <p:sp>
        <p:nvSpPr>
          <p:cNvPr id="80902" name="Rectangle 8">
            <a:extLst>
              <a:ext uri="{FF2B5EF4-FFF2-40B4-BE49-F238E27FC236}">
                <a16:creationId xmlns:a16="http://schemas.microsoft.com/office/drawing/2014/main" id="{88283E49-572F-4392-9AAE-2D582364916E}"/>
              </a:ext>
              <a:ext uri="{C183D7F6-B498-43B3-948B-1728B52AA6E4}">
                <adec:decorative xmlns:adec="http://schemas.microsoft.com/office/drawing/2017/decorative" val="1"/>
              </a:ext>
            </a:extLst>
          </p:cNvPr>
          <p:cNvSpPr>
            <a:spLocks noChangeArrowheads="1"/>
          </p:cNvSpPr>
          <p:nvPr/>
        </p:nvSpPr>
        <p:spPr bwMode="auto">
          <a:xfrm>
            <a:off x="3222625" y="1916113"/>
            <a:ext cx="1001713" cy="319087"/>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80903" name="Rectangle 9">
            <a:extLst>
              <a:ext uri="{FF2B5EF4-FFF2-40B4-BE49-F238E27FC236}">
                <a16:creationId xmlns:a16="http://schemas.microsoft.com/office/drawing/2014/main" id="{83FA0163-2E91-4202-9E41-BB84048AAA89}"/>
              </a:ext>
              <a:ext uri="{C183D7F6-B498-43B3-948B-1728B52AA6E4}">
                <adec:decorative xmlns:adec="http://schemas.microsoft.com/office/drawing/2017/decorative" val="1"/>
              </a:ext>
            </a:extLst>
          </p:cNvPr>
          <p:cNvSpPr>
            <a:spLocks noChangeArrowheads="1"/>
          </p:cNvSpPr>
          <p:nvPr/>
        </p:nvSpPr>
        <p:spPr bwMode="auto">
          <a:xfrm>
            <a:off x="6372225" y="2147888"/>
            <a:ext cx="1117600" cy="319087"/>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80904" name="Rectangle 10">
            <a:extLst>
              <a:ext uri="{FF2B5EF4-FFF2-40B4-BE49-F238E27FC236}">
                <a16:creationId xmlns:a16="http://schemas.microsoft.com/office/drawing/2014/main" id="{255F2C67-149D-4B2C-93DE-8E8B299ECEB3}"/>
              </a:ext>
              <a:ext uri="{C183D7F6-B498-43B3-948B-1728B52AA6E4}">
                <adec:decorative xmlns:adec="http://schemas.microsoft.com/office/drawing/2017/decorative" val="1"/>
              </a:ext>
            </a:extLst>
          </p:cNvPr>
          <p:cNvSpPr>
            <a:spLocks noChangeArrowheads="1"/>
          </p:cNvSpPr>
          <p:nvPr/>
        </p:nvSpPr>
        <p:spPr bwMode="auto">
          <a:xfrm>
            <a:off x="1292225" y="4064000"/>
            <a:ext cx="754063" cy="33337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80905" name="Rectangle 11">
            <a:extLst>
              <a:ext uri="{FF2B5EF4-FFF2-40B4-BE49-F238E27FC236}">
                <a16:creationId xmlns:a16="http://schemas.microsoft.com/office/drawing/2014/main" id="{6B365876-3E16-4C0E-A0ED-0D6B3456EF8E}"/>
              </a:ext>
              <a:ext uri="{C183D7F6-B498-43B3-948B-1728B52AA6E4}">
                <adec:decorative xmlns:adec="http://schemas.microsoft.com/office/drawing/2017/decorative" val="1"/>
              </a:ext>
            </a:extLst>
          </p:cNvPr>
          <p:cNvSpPr>
            <a:spLocks noChangeArrowheads="1"/>
          </p:cNvSpPr>
          <p:nvPr/>
        </p:nvSpPr>
        <p:spPr bwMode="auto">
          <a:xfrm>
            <a:off x="2249488" y="4092575"/>
            <a:ext cx="841375" cy="3048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80906" name="Rectangle 12">
            <a:extLst>
              <a:ext uri="{FF2B5EF4-FFF2-40B4-BE49-F238E27FC236}">
                <a16:creationId xmlns:a16="http://schemas.microsoft.com/office/drawing/2014/main" id="{FA48AF23-C1C2-46F6-AB8E-04BF31FAD4F2}"/>
              </a:ext>
              <a:ext uri="{C183D7F6-B498-43B3-948B-1728B52AA6E4}">
                <adec:decorative xmlns:adec="http://schemas.microsoft.com/office/drawing/2017/decorative" val="1"/>
              </a:ext>
            </a:extLst>
          </p:cNvPr>
          <p:cNvSpPr>
            <a:spLocks noChangeArrowheads="1"/>
          </p:cNvSpPr>
          <p:nvPr/>
        </p:nvSpPr>
        <p:spPr bwMode="auto">
          <a:xfrm>
            <a:off x="1262063" y="5326063"/>
            <a:ext cx="6502400" cy="3778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Tree>
  </p:cSld>
  <p:clrMapOvr>
    <a:masterClrMapping/>
  </p:clrMapOvr>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6DD74CEB-BA9E-42B8-8384-05BC5B2CC3C4}"/>
              </a:ext>
            </a:extLst>
          </p:cNvPr>
          <p:cNvSpPr>
            <a:spLocks noChangeArrowheads="1" noGrp="1"/>
          </p:cNvSpPr>
          <p:nvPr>
            <p:ph type="title"/>
          </p:nvPr>
        </p:nvSpPr>
        <p:spPr/>
        <p:txBody>
          <a:bodyPr/>
          <a:lstStyle/>
          <a:p>
            <a:pPr eaLnBrk="1" hangingPunct="1"/>
            <a:r>
              <a:rPr altLang="en-US" lang="en-US"/>
              <a:t>Hemopoietic Growth Factors</a:t>
            </a:r>
          </a:p>
        </p:txBody>
      </p:sp>
      <p:sp>
        <p:nvSpPr>
          <p:cNvPr id="81923" name="Rectangle 3">
            <a:extLst>
              <a:ext uri="{FF2B5EF4-FFF2-40B4-BE49-F238E27FC236}">
                <a16:creationId xmlns:a16="http://schemas.microsoft.com/office/drawing/2014/main" id="{A91D6805-0229-4D72-9FB2-4231698CCB32}"/>
              </a:ext>
            </a:extLst>
          </p:cNvPr>
          <p:cNvSpPr>
            <a:spLocks noChangeArrowheads="1" noGrp="1"/>
          </p:cNvSpPr>
          <p:nvPr>
            <p:ph idx="1" type="body"/>
          </p:nvPr>
        </p:nvSpPr>
        <p:spPr>
          <a:xfrm>
            <a:off x="457200" y="1219200"/>
            <a:ext cx="8458200" cy="4953000"/>
          </a:xfrm>
        </p:spPr>
        <p:txBody>
          <a:bodyPr/>
          <a:lstStyle/>
          <a:p>
            <a:pPr eaLnBrk="1" hangingPunct="1">
              <a:lnSpc>
                <a:spcPct val="90000"/>
              </a:lnSpc>
            </a:pPr>
            <a:r>
              <a:rPr altLang="en-US" lang="en-US"/>
              <a:t>Regulate differentiation &amp; proliferation</a:t>
            </a:r>
          </a:p>
          <a:p>
            <a:pPr eaLnBrk="1" hangingPunct="1">
              <a:lnSpc>
                <a:spcPct val="90000"/>
              </a:lnSpc>
            </a:pPr>
            <a:r>
              <a:rPr altLang="en-US" b="1" lang="en-US"/>
              <a:t>Erythropoietin</a:t>
            </a:r>
            <a:r>
              <a:rPr altLang="en-US" lang="en-US"/>
              <a:t> </a:t>
            </a:r>
            <a:r>
              <a:rPr altLang="en-US" b="1" lang="en-US"/>
              <a:t>(EPO)</a:t>
            </a:r>
          </a:p>
          <a:p>
            <a:pPr eaLnBrk="1" hangingPunct="1" lvl="1">
              <a:lnSpc>
                <a:spcPct val="90000"/>
              </a:lnSpc>
            </a:pPr>
            <a:r>
              <a:rPr altLang="en-US" lang="en-US"/>
              <a:t>produced by the kidneys increase RBC precursors</a:t>
            </a:r>
          </a:p>
          <a:p>
            <a:pPr eaLnBrk="1" hangingPunct="1">
              <a:lnSpc>
                <a:spcPct val="90000"/>
              </a:lnSpc>
            </a:pPr>
            <a:r>
              <a:rPr altLang="en-US" b="1" lang="en-US"/>
              <a:t>Cytokines</a:t>
            </a:r>
            <a:r>
              <a:rPr altLang="en-US" lang="en-US"/>
              <a:t> are local hormones of bone marrow</a:t>
            </a:r>
          </a:p>
          <a:p>
            <a:pPr eaLnBrk="1" hangingPunct="1" lvl="1">
              <a:lnSpc>
                <a:spcPct val="90000"/>
              </a:lnSpc>
            </a:pPr>
            <a:r>
              <a:rPr altLang="en-US" lang="en-US"/>
              <a:t>colony-stimulating factor (CSF) &amp; interleukin stimulate WBC production </a:t>
            </a:r>
          </a:p>
          <a:p>
            <a:pPr eaLnBrk="1" hangingPunct="1">
              <a:lnSpc>
                <a:spcPct val="90000"/>
              </a:lnSpc>
            </a:pPr>
            <a:r>
              <a:rPr altLang="en-US" b="1" lang="en-US"/>
              <a:t>Thrombopoietin (TPO)</a:t>
            </a:r>
          </a:p>
          <a:p>
            <a:pPr eaLnBrk="1" hangingPunct="1" lvl="1">
              <a:lnSpc>
                <a:spcPct val="90000"/>
              </a:lnSpc>
            </a:pPr>
            <a:r>
              <a:rPr altLang="en-US" lang="en-US"/>
              <a:t>hormone from liver stimulates platelet formation</a:t>
            </a:r>
          </a:p>
          <a:p>
            <a:pPr eaLnBrk="1" hangingPunct="1" lvl="1">
              <a:lnSpc>
                <a:spcPct val="90000"/>
              </a:lnSpc>
            </a:pPr>
            <a:endParaRPr altLang="en-US" lang="en-US"/>
          </a:p>
        </p:txBody>
      </p:sp>
    </p:spTree>
  </p:cSld>
  <p:clrMapOvr>
    <a:masterClrMapping/>
  </p:clrMapOvr>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2946" name="Rectangle 4">
            <a:extLst>
              <a:ext uri="{FF2B5EF4-FFF2-40B4-BE49-F238E27FC236}">
                <a16:creationId xmlns:a16="http://schemas.microsoft.com/office/drawing/2014/main" id="{6E6CEE6A-9F3F-4A44-9FD3-F6B57F14BE32}"/>
              </a:ext>
            </a:extLst>
          </p:cNvPr>
          <p:cNvSpPr>
            <a:spLocks noChangeArrowheads="1" noGrp="1"/>
          </p:cNvSpPr>
          <p:nvPr>
            <p:ph type="title"/>
          </p:nvPr>
        </p:nvSpPr>
        <p:spPr/>
        <p:txBody>
          <a:bodyPr/>
          <a:lstStyle/>
          <a:p>
            <a:pPr eaLnBrk="1" hangingPunct="1"/>
            <a:r>
              <a:rPr altLang="en-US" lang="en-US"/>
              <a:t>Hemostasis</a:t>
            </a:r>
          </a:p>
        </p:txBody>
      </p:sp>
      <p:sp>
        <p:nvSpPr>
          <p:cNvPr id="295941" name="Rectangle 5">
            <a:extLst>
              <a:ext uri="{FF2B5EF4-FFF2-40B4-BE49-F238E27FC236}">
                <a16:creationId xmlns:a16="http://schemas.microsoft.com/office/drawing/2014/main" id="{56039038-26CC-4B34-B118-E9923F323810}"/>
              </a:ext>
            </a:extLst>
          </p:cNvPr>
          <p:cNvSpPr>
            <a:spLocks noChangeArrowheads="1" noGrp="1"/>
          </p:cNvSpPr>
          <p:nvPr>
            <p:ph idx="1" type="body"/>
          </p:nvPr>
        </p:nvSpPr>
        <p:spPr/>
        <p:txBody>
          <a:bodyPr/>
          <a:lstStyle/>
          <a:p>
            <a:pPr eaLnBrk="1" hangingPunct="1" indent="-571500" marL="571500"/>
            <a:r>
              <a:rPr altLang="en-US" lang="en-US"/>
              <a:t>A series of reactions for stoppage of bleeding</a:t>
            </a:r>
          </a:p>
          <a:p>
            <a:pPr eaLnBrk="1" hangingPunct="1" indent="-571500" marL="571500"/>
            <a:r>
              <a:rPr altLang="en-US" lang="en-US"/>
              <a:t>During hemostasis, </a:t>
            </a:r>
            <a:r>
              <a:rPr altLang="en-US" lang="en-US" u="sng"/>
              <a:t>three phases</a:t>
            </a:r>
            <a:r>
              <a:rPr altLang="en-US" lang="en-US"/>
              <a:t> occur in rapid sequence</a:t>
            </a:r>
          </a:p>
          <a:p>
            <a:pPr eaLnBrk="1" hangingPunct="1" indent="-533400" lvl="1" marL="990600">
              <a:buFont charset="2" panose="05000000000000000000" pitchFamily="2" typeface="Wingdings"/>
              <a:buAutoNum type="arabicPeriod"/>
            </a:pPr>
            <a:r>
              <a:rPr altLang="en-US" lang="en-US" sz="3200"/>
              <a:t>Vascular spasms – immediate vasoconstriction in response to injury</a:t>
            </a:r>
          </a:p>
          <a:p>
            <a:pPr eaLnBrk="1" hangingPunct="1" indent="-533400" lvl="1" marL="990600">
              <a:buFont charset="2" panose="05000000000000000000" pitchFamily="2" typeface="Wingdings"/>
              <a:buAutoNum type="arabicPeriod"/>
            </a:pPr>
            <a:r>
              <a:rPr altLang="en-US" lang="en-US" sz="3200"/>
              <a:t>Platelet plug formation</a:t>
            </a:r>
          </a:p>
          <a:p>
            <a:pPr eaLnBrk="1" hangingPunct="1" indent="-533400" lvl="1" marL="990600">
              <a:buFont charset="2" panose="05000000000000000000" pitchFamily="2" typeface="Wingdings"/>
              <a:buAutoNum type="arabicPeriod"/>
            </a:pPr>
            <a:r>
              <a:rPr altLang="en-US" lang="en-US" sz="3200"/>
              <a:t>Coagulation (blood clotting)</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95941">
                                            <p:txEl>
                                              <p:pRg end="2" st="2"/>
                                            </p:txEl>
                                          </p:spTgt>
                                        </p:tgtEl>
                                        <p:attrNameLst>
                                          <p:attrName>style.visibility</p:attrName>
                                        </p:attrNameLst>
                                      </p:cBhvr>
                                      <p:to>
                                        <p:strVal val="visible"/>
                                      </p:to>
                                    </p:set>
                                    <p:anim calcmode="discrete" valueType="clr">
                                      <p:cBhvr override="childStyle">
                                        <p:cTn dur="80" id="7"/>
                                        <p:tgtEl>
                                          <p:spTgt spid="295941">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95941">
                                            <p:txEl>
                                              <p:pRg end="2" st="2"/>
                                            </p:txEl>
                                          </p:spTgt>
                                        </p:tgtEl>
                                        <p:attrNameLst>
                                          <p:attrName>fillcolor</p:attrName>
                                        </p:attrNameLst>
                                      </p:cBhvr>
                                      <p:tavLst>
                                        <p:tav tm="0">
                                          <p:val>
                                            <p:clrVal>
                                              <a:schemeClr val="accent2"/>
                                            </p:clrVal>
                                          </p:val>
                                        </p:tav>
                                        <p:tav tm="50000">
                                          <p:val>
                                            <p:clrVal>
                                              <a:schemeClr val="hlink"/>
                                            </p:clrVal>
                                          </p:val>
                                        </p:tav>
                                      </p:tavLst>
                                    </p:anim>
                                    <p:set>
                                      <p:cBhvr>
                                        <p:cTn dur="80" id="9"/>
                                        <p:tgtEl>
                                          <p:spTgt spid="295941">
                                            <p:txEl>
                                              <p:pRg end="2" st="2"/>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95941">
                                            <p:txEl>
                                              <p:pRg end="3" st="3"/>
                                            </p:txEl>
                                          </p:spTgt>
                                        </p:tgtEl>
                                        <p:attrNameLst>
                                          <p:attrName>style.visibility</p:attrName>
                                        </p:attrNameLst>
                                      </p:cBhvr>
                                      <p:to>
                                        <p:strVal val="visible"/>
                                      </p:to>
                                    </p:set>
                                    <p:anim calcmode="discrete" valueType="clr">
                                      <p:cBhvr override="childStyle">
                                        <p:cTn dur="80" id="14"/>
                                        <p:tgtEl>
                                          <p:spTgt spid="295941">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95941">
                                            <p:txEl>
                                              <p:pRg end="3" st="3"/>
                                            </p:txEl>
                                          </p:spTgt>
                                        </p:tgtEl>
                                        <p:attrNameLst>
                                          <p:attrName>fillcolor</p:attrName>
                                        </p:attrNameLst>
                                      </p:cBhvr>
                                      <p:tavLst>
                                        <p:tav tm="0">
                                          <p:val>
                                            <p:clrVal>
                                              <a:schemeClr val="accent2"/>
                                            </p:clrVal>
                                          </p:val>
                                        </p:tav>
                                        <p:tav tm="50000">
                                          <p:val>
                                            <p:clrVal>
                                              <a:schemeClr val="hlink"/>
                                            </p:clrVal>
                                          </p:val>
                                        </p:tav>
                                      </p:tavLst>
                                    </p:anim>
                                    <p:set>
                                      <p:cBhvr>
                                        <p:cTn dur="80" id="16"/>
                                        <p:tgtEl>
                                          <p:spTgt spid="295941">
                                            <p:txEl>
                                              <p:pRg end="3" st="3"/>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95941">
                                            <p:txEl>
                                              <p:pRg end="4" st="4"/>
                                            </p:txEl>
                                          </p:spTgt>
                                        </p:tgtEl>
                                        <p:attrNameLst>
                                          <p:attrName>style.visibility</p:attrName>
                                        </p:attrNameLst>
                                      </p:cBhvr>
                                      <p:to>
                                        <p:strVal val="visible"/>
                                      </p:to>
                                    </p:set>
                                    <p:anim calcmode="discrete" valueType="clr">
                                      <p:cBhvr override="childStyle">
                                        <p:cTn dur="80" id="21"/>
                                        <p:tgtEl>
                                          <p:spTgt spid="295941">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95941">
                                            <p:txEl>
                                              <p:pRg end="4" st="4"/>
                                            </p:txEl>
                                          </p:spTgt>
                                        </p:tgtEl>
                                        <p:attrNameLst>
                                          <p:attrName>fillcolor</p:attrName>
                                        </p:attrNameLst>
                                      </p:cBhvr>
                                      <p:tavLst>
                                        <p:tav tm="0">
                                          <p:val>
                                            <p:clrVal>
                                              <a:schemeClr val="accent2"/>
                                            </p:clrVal>
                                          </p:val>
                                        </p:tav>
                                        <p:tav tm="50000">
                                          <p:val>
                                            <p:clrVal>
                                              <a:schemeClr val="hlink"/>
                                            </p:clrVal>
                                          </p:val>
                                        </p:tav>
                                      </p:tavLst>
                                    </p:anim>
                                    <p:set>
                                      <p:cBhvr>
                                        <p:cTn dur="80" id="23"/>
                                        <p:tgtEl>
                                          <p:spTgt spid="295941">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3970" name="Rectangle 4">
            <a:extLst>
              <a:ext uri="{FF2B5EF4-FFF2-40B4-BE49-F238E27FC236}">
                <a16:creationId xmlns:a16="http://schemas.microsoft.com/office/drawing/2014/main" id="{B2D3ABF3-471A-419E-80AE-2F713B748203}"/>
              </a:ext>
            </a:extLst>
          </p:cNvPr>
          <p:cNvSpPr>
            <a:spLocks noChangeArrowheads="1" noGrp="1"/>
          </p:cNvSpPr>
          <p:nvPr>
            <p:ph type="title"/>
          </p:nvPr>
        </p:nvSpPr>
        <p:spPr/>
        <p:txBody>
          <a:bodyPr/>
          <a:lstStyle/>
          <a:p>
            <a:pPr eaLnBrk="1" hangingPunct="1"/>
            <a:r>
              <a:rPr altLang="en-US" lang="en-US"/>
              <a:t>Platelet Plug Formation</a:t>
            </a:r>
          </a:p>
        </p:txBody>
      </p:sp>
      <p:sp>
        <p:nvSpPr>
          <p:cNvPr id="83971" name="Rectangle 5">
            <a:extLst>
              <a:ext uri="{FF2B5EF4-FFF2-40B4-BE49-F238E27FC236}">
                <a16:creationId xmlns:a16="http://schemas.microsoft.com/office/drawing/2014/main" id="{59511CB1-3306-4C58-B4A6-283658E2208E}"/>
              </a:ext>
            </a:extLst>
          </p:cNvPr>
          <p:cNvSpPr>
            <a:spLocks noChangeArrowheads="1" noGrp="1"/>
          </p:cNvSpPr>
          <p:nvPr>
            <p:ph idx="1" type="body"/>
          </p:nvPr>
        </p:nvSpPr>
        <p:spPr/>
        <p:txBody>
          <a:bodyPr/>
          <a:lstStyle/>
          <a:p>
            <a:pPr eaLnBrk="1" hangingPunct="1">
              <a:lnSpc>
                <a:spcPct val="90000"/>
              </a:lnSpc>
            </a:pPr>
            <a:r>
              <a:rPr altLang="en-US" lang="en-US" sz="2600"/>
              <a:t>Platelets do not stick to each other or to blood vessels</a:t>
            </a:r>
          </a:p>
          <a:p>
            <a:pPr eaLnBrk="1" hangingPunct="1">
              <a:lnSpc>
                <a:spcPct val="90000"/>
              </a:lnSpc>
            </a:pPr>
            <a:r>
              <a:rPr altLang="en-US" lang="en-US" sz="2600"/>
              <a:t>Upon damage to blood vessel endothelium platelets:</a:t>
            </a:r>
          </a:p>
          <a:p>
            <a:pPr eaLnBrk="1" hangingPunct="1" lvl="1">
              <a:lnSpc>
                <a:spcPct val="90000"/>
              </a:lnSpc>
            </a:pPr>
            <a:r>
              <a:rPr altLang="en-US" lang="en-US" sz="2400"/>
              <a:t>With the help of von Willebrand factor (VWF) adhere to collagen</a:t>
            </a:r>
          </a:p>
          <a:p>
            <a:pPr eaLnBrk="1" hangingPunct="1" lvl="1">
              <a:lnSpc>
                <a:spcPct val="90000"/>
              </a:lnSpc>
            </a:pPr>
            <a:r>
              <a:rPr altLang="en-US" lang="en-US" sz="2400"/>
              <a:t>Are stimulated by thromboxane A2</a:t>
            </a:r>
          </a:p>
          <a:p>
            <a:pPr eaLnBrk="1" hangingPunct="1" lvl="1">
              <a:lnSpc>
                <a:spcPct val="90000"/>
              </a:lnSpc>
            </a:pPr>
            <a:r>
              <a:rPr altLang="en-US" b="1" lang="en-US" sz="2400"/>
              <a:t>Stick to exposed collagen fibers</a:t>
            </a:r>
            <a:r>
              <a:rPr altLang="en-US" lang="en-US" sz="2400"/>
              <a:t> and form a platelet plug</a:t>
            </a:r>
          </a:p>
          <a:p>
            <a:pPr eaLnBrk="1" hangingPunct="1" lvl="1">
              <a:lnSpc>
                <a:spcPct val="90000"/>
              </a:lnSpc>
            </a:pPr>
            <a:r>
              <a:rPr altLang="en-US" lang="en-US" sz="2400"/>
              <a:t>Release serotonin and ADP, which attract still more platelets</a:t>
            </a:r>
          </a:p>
          <a:p>
            <a:pPr eaLnBrk="1" hangingPunct="1">
              <a:lnSpc>
                <a:spcPct val="90000"/>
              </a:lnSpc>
            </a:pPr>
            <a:r>
              <a:rPr altLang="en-US" lang="en-US" sz="2600"/>
              <a:t>The platelet plug is limited to the immediate area of injury by prostacyclin</a:t>
            </a:r>
          </a:p>
        </p:txBody>
      </p:sp>
    </p:spTree>
  </p:cSld>
  <p:clrMapOvr>
    <a:masterClrMapping/>
  </p:clrMapOvr>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97986" name="Rectangle 2">
            <a:extLst>
              <a:ext uri="{FF2B5EF4-FFF2-40B4-BE49-F238E27FC236}">
                <a16:creationId xmlns:a16="http://schemas.microsoft.com/office/drawing/2014/main" id="{DE65C0D9-4A56-4341-887E-07DA8D47BBF7}"/>
              </a:ext>
            </a:extLst>
          </p:cNvPr>
          <p:cNvSpPr>
            <a:spLocks noChangeArrowheads="1" noGrp="1"/>
          </p:cNvSpPr>
          <p:nvPr>
            <p:ph idx="1" type="body"/>
          </p:nvPr>
        </p:nvSpPr>
        <p:spPr/>
        <p:txBody>
          <a:bodyPr/>
          <a:lstStyle/>
          <a:p>
            <a:pPr eaLnBrk="1" hangingPunct="1" indent="-571500" marL="571500"/>
            <a:r>
              <a:rPr altLang="en-US" lang="en-US" sz="2600">
                <a:solidFill>
                  <a:srgbClr val="000000"/>
                </a:solidFill>
              </a:rPr>
              <a:t>A set of reactions in which blood is transformed from a liquid to a gel</a:t>
            </a:r>
          </a:p>
          <a:p>
            <a:pPr eaLnBrk="1" hangingPunct="1" indent="-571500" marL="571500"/>
            <a:r>
              <a:rPr altLang="en-US" lang="en-US" sz="2600">
                <a:solidFill>
                  <a:srgbClr val="000000"/>
                </a:solidFill>
              </a:rPr>
              <a:t>Coagulation follows intrinsic and extrinsic pathways</a:t>
            </a:r>
          </a:p>
          <a:p>
            <a:pPr eaLnBrk="1" hangingPunct="1" indent="-571500" marL="571500"/>
            <a:r>
              <a:rPr altLang="en-US" lang="en-US" sz="2600">
                <a:solidFill>
                  <a:srgbClr val="000000"/>
                </a:solidFill>
              </a:rPr>
              <a:t>The final three steps of this series of reactions are:</a:t>
            </a:r>
          </a:p>
          <a:p>
            <a:pPr eaLnBrk="1" hangingPunct="1" indent="-533400" lvl="1" marL="990600">
              <a:buFont charset="2" panose="05000000000000000000" pitchFamily="2" typeface="Wingdings"/>
              <a:buAutoNum type="arabicPeriod"/>
            </a:pPr>
            <a:r>
              <a:rPr altLang="en-US" lang="en-US" sz="3200">
                <a:solidFill>
                  <a:srgbClr val="000000"/>
                </a:solidFill>
              </a:rPr>
              <a:t>Prothrombin activator is formed</a:t>
            </a:r>
          </a:p>
          <a:p>
            <a:pPr eaLnBrk="1" hangingPunct="1" indent="-533400" lvl="1" marL="990600">
              <a:buFont charset="2" panose="05000000000000000000" pitchFamily="2" typeface="Wingdings"/>
              <a:buAutoNum type="arabicPeriod"/>
            </a:pPr>
            <a:r>
              <a:rPr altLang="en-US" lang="en-US" sz="3200">
                <a:solidFill>
                  <a:srgbClr val="000000"/>
                </a:solidFill>
              </a:rPr>
              <a:t>Prothrombin is converted into thrombin</a:t>
            </a:r>
          </a:p>
          <a:p>
            <a:pPr eaLnBrk="1" hangingPunct="1" indent="-533400" lvl="1" marL="990600">
              <a:buFont charset="2" panose="05000000000000000000" pitchFamily="2" typeface="Wingdings"/>
              <a:buAutoNum type="arabicPeriod"/>
            </a:pPr>
            <a:r>
              <a:rPr altLang="en-US" lang="en-US" sz="3200"/>
              <a:t>Thrombin catalyzes the joining of fibrinogen into a fibrin mesh</a:t>
            </a:r>
          </a:p>
        </p:txBody>
      </p:sp>
      <p:sp>
        <p:nvSpPr>
          <p:cNvPr id="84995" name="Rectangle 3">
            <a:extLst>
              <a:ext uri="{FF2B5EF4-FFF2-40B4-BE49-F238E27FC236}">
                <a16:creationId xmlns:a16="http://schemas.microsoft.com/office/drawing/2014/main" id="{BEE9155C-1B77-49F5-967C-9AE1F0A29F0A}"/>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Coagulation</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297986">
                                            <p:txEl>
                                              <p:pRg end="3" st="3"/>
                                            </p:txEl>
                                          </p:spTgt>
                                        </p:tgtEl>
                                        <p:attrNameLst>
                                          <p:attrName>style.visibility</p:attrName>
                                        </p:attrNameLst>
                                      </p:cBhvr>
                                      <p:to>
                                        <p:strVal val="visible"/>
                                      </p:to>
                                    </p:set>
                                    <p:anim calcmode="discrete" valueType="clr">
                                      <p:cBhvr override="childStyle">
                                        <p:cTn dur="80" id="7"/>
                                        <p:tgtEl>
                                          <p:spTgt spid="297986">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297986">
                                            <p:txEl>
                                              <p:pRg end="3" st="3"/>
                                            </p:txEl>
                                          </p:spTgt>
                                        </p:tgtEl>
                                        <p:attrNameLst>
                                          <p:attrName>fillcolor</p:attrName>
                                        </p:attrNameLst>
                                      </p:cBhvr>
                                      <p:tavLst>
                                        <p:tav tm="0">
                                          <p:val>
                                            <p:clrVal>
                                              <a:schemeClr val="accent2"/>
                                            </p:clrVal>
                                          </p:val>
                                        </p:tav>
                                        <p:tav tm="50000">
                                          <p:val>
                                            <p:clrVal>
                                              <a:schemeClr val="hlink"/>
                                            </p:clrVal>
                                          </p:val>
                                        </p:tav>
                                      </p:tavLst>
                                    </p:anim>
                                    <p:set>
                                      <p:cBhvr>
                                        <p:cTn dur="80" id="9"/>
                                        <p:tgtEl>
                                          <p:spTgt spid="297986">
                                            <p:txEl>
                                              <p:pRg end="3" st="3"/>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297986">
                                            <p:txEl>
                                              <p:pRg end="4" st="4"/>
                                            </p:txEl>
                                          </p:spTgt>
                                        </p:tgtEl>
                                        <p:attrNameLst>
                                          <p:attrName>style.visibility</p:attrName>
                                        </p:attrNameLst>
                                      </p:cBhvr>
                                      <p:to>
                                        <p:strVal val="visible"/>
                                      </p:to>
                                    </p:set>
                                    <p:anim calcmode="discrete" valueType="clr">
                                      <p:cBhvr override="childStyle">
                                        <p:cTn dur="80" id="14"/>
                                        <p:tgtEl>
                                          <p:spTgt spid="297986">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297986">
                                            <p:txEl>
                                              <p:pRg end="4" st="4"/>
                                            </p:txEl>
                                          </p:spTgt>
                                        </p:tgtEl>
                                        <p:attrNameLst>
                                          <p:attrName>fillcolor</p:attrName>
                                        </p:attrNameLst>
                                      </p:cBhvr>
                                      <p:tavLst>
                                        <p:tav tm="0">
                                          <p:val>
                                            <p:clrVal>
                                              <a:schemeClr val="accent2"/>
                                            </p:clrVal>
                                          </p:val>
                                        </p:tav>
                                        <p:tav tm="50000">
                                          <p:val>
                                            <p:clrVal>
                                              <a:schemeClr val="hlink"/>
                                            </p:clrVal>
                                          </p:val>
                                        </p:tav>
                                      </p:tavLst>
                                    </p:anim>
                                    <p:set>
                                      <p:cBhvr>
                                        <p:cTn dur="80" id="16"/>
                                        <p:tgtEl>
                                          <p:spTgt spid="297986">
                                            <p:txEl>
                                              <p:pRg end="4" st="4"/>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297986">
                                            <p:txEl>
                                              <p:pRg end="5" st="5"/>
                                            </p:txEl>
                                          </p:spTgt>
                                        </p:tgtEl>
                                        <p:attrNameLst>
                                          <p:attrName>style.visibility</p:attrName>
                                        </p:attrNameLst>
                                      </p:cBhvr>
                                      <p:to>
                                        <p:strVal val="visible"/>
                                      </p:to>
                                    </p:set>
                                    <p:anim calcmode="discrete" valueType="clr">
                                      <p:cBhvr override="childStyle">
                                        <p:cTn dur="80" id="21"/>
                                        <p:tgtEl>
                                          <p:spTgt spid="297986">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297986">
                                            <p:txEl>
                                              <p:pRg end="5" st="5"/>
                                            </p:txEl>
                                          </p:spTgt>
                                        </p:tgtEl>
                                        <p:attrNameLst>
                                          <p:attrName>fillcolor</p:attrName>
                                        </p:attrNameLst>
                                      </p:cBhvr>
                                      <p:tavLst>
                                        <p:tav tm="0">
                                          <p:val>
                                            <p:clrVal>
                                              <a:schemeClr val="accent2"/>
                                            </p:clrVal>
                                          </p:val>
                                        </p:tav>
                                        <p:tav tm="50000">
                                          <p:val>
                                            <p:clrVal>
                                              <a:schemeClr val="hlink"/>
                                            </p:clrVal>
                                          </p:val>
                                        </p:tav>
                                      </p:tavLst>
                                    </p:anim>
                                    <p:set>
                                      <p:cBhvr>
                                        <p:cTn dur="80" id="23"/>
                                        <p:tgtEl>
                                          <p:spTgt spid="297986">
                                            <p:txEl>
                                              <p:pRg end="5" st="5"/>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86024" name="Title 7">
            <a:extLst>
              <a:ext uri="{FF2B5EF4-FFF2-40B4-BE49-F238E27FC236}">
                <a16:creationId xmlns:a16="http://schemas.microsoft.com/office/drawing/2014/main" id="{9FD296B7-2A9E-48E8-8482-96476453BE19}"/>
              </a:ext>
            </a:extLst>
          </p:cNvPr>
          <p:cNvSpPr>
            <a:spLocks noGrp="1"/>
          </p:cNvSpPr>
          <p:nvPr>
            <p:ph type="title"/>
          </p:nvPr>
        </p:nvSpPr>
        <p:spPr>
          <a:xfrm>
            <a:off x="304800" y="261938"/>
            <a:ext cx="2470151" cy="609600"/>
          </a:xfrm>
        </p:spPr>
        <p:txBody>
          <a:bodyPr/>
          <a:lstStyle/>
          <a:p>
            <a:pPr eaLnBrk="1" hangingPunct="1"/>
            <a:r>
              <a:rPr altLang="en-US" dirty="0" lang="en-US"/>
              <a:t>Steps of hemostasis part I</a:t>
            </a:r>
          </a:p>
        </p:txBody>
      </p:sp>
      <p:pic>
        <p:nvPicPr>
          <p:cNvPr descr="First step of hemostasis showing vascular spasm where smooth muscle causes vasoconstriction" id="86018" name="Picture 1">
            <a:extLst>
              <a:ext uri="{FF2B5EF4-FFF2-40B4-BE49-F238E27FC236}">
                <a16:creationId xmlns:a16="http://schemas.microsoft.com/office/drawing/2014/main" id="{67B17822-32F3-4715-8E4E-3D4F1D4F4E5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8172" y="844550"/>
            <a:ext cx="4412866" cy="590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Rectangle 20">
            <a:extLst>
              <a:ext uri="{FF2B5EF4-FFF2-40B4-BE49-F238E27FC236}">
                <a16:creationId xmlns:a16="http://schemas.microsoft.com/office/drawing/2014/main" id="{A8215A1F-E61C-43D0-BC87-3455DF35C5E5}"/>
              </a:ext>
            </a:extLst>
          </p:cNvPr>
          <p:cNvSpPr>
            <a:spLocks noChangeArrowheads="1"/>
          </p:cNvSpPr>
          <p:nvPr/>
        </p:nvSpPr>
        <p:spPr bwMode="auto">
          <a:xfrm>
            <a:off x="5034407" y="1302957"/>
            <a:ext cx="19819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eaLnBrk="1" hangingPunct="1">
              <a:spcAft>
                <a:spcPct val="0"/>
              </a:spcAft>
              <a:buClrTx/>
              <a:buSzTx/>
              <a:buFontTx/>
              <a:buNone/>
            </a:pPr>
            <a:r>
              <a:rPr altLang="en-US" dirty="0" lang="en-US" sz="1400">
                <a:solidFill>
                  <a:srgbClr val="00435C"/>
                </a:solidFill>
                <a:latin charset="0" panose="020B0A04020102020204" pitchFamily="34" typeface="Arial Black"/>
                <a:ea charset="0" panose="020B0A04020102020204" pitchFamily="34" typeface="Arial Black"/>
                <a:cs charset="0" panose="020B0A04020102020204" pitchFamily="34" typeface="Arial Black"/>
              </a:rPr>
              <a:t>1. Vascular spasm</a:t>
            </a:r>
          </a:p>
        </p:txBody>
      </p:sp>
      <p:sp>
        <p:nvSpPr>
          <p:cNvPr id="24" name="Rectangle 23">
            <a:extLst>
              <a:ext uri="{FF2B5EF4-FFF2-40B4-BE49-F238E27FC236}">
                <a16:creationId xmlns:a16="http://schemas.microsoft.com/office/drawing/2014/main" id="{28CE2C89-B2D2-494D-814F-5591B05773C0}"/>
              </a:ext>
            </a:extLst>
          </p:cNvPr>
          <p:cNvSpPr/>
          <p:nvPr/>
        </p:nvSpPr>
        <p:spPr>
          <a:xfrm>
            <a:off x="4705795" y="1539494"/>
            <a:ext cx="2667000" cy="522288"/>
          </a:xfrm>
          <a:prstGeom prst="rect">
            <a:avLst/>
          </a:prstGeom>
        </p:spPr>
        <p:txBody>
          <a:bodyPr>
            <a:spAutoFit/>
          </a:bodyPr>
          <a:lstStyle/>
          <a:p>
            <a:pPr eaLnBrk="1" fontAlgn="auto" hangingPunct="1">
              <a:spcBef>
                <a:spcPts val="0"/>
              </a:spcBef>
              <a:spcAft>
                <a:spcPts val="0"/>
              </a:spcAft>
              <a:defRPr/>
            </a:pPr>
            <a:r>
              <a:rPr b="1" dirty="0" lang="en-US" sz="1400">
                <a:solidFill>
                  <a:srgbClr val="0092C8"/>
                </a:solidFill>
                <a:latin typeface="Arial"/>
              </a:rPr>
              <a:t>•</a:t>
            </a:r>
            <a:r>
              <a:rPr b="1" dirty="0" lang="en-US" spc="300" sz="1400">
                <a:solidFill>
                  <a:srgbClr val="0092C8"/>
                </a:solidFill>
                <a:latin typeface="Arial"/>
              </a:rPr>
              <a:t> </a:t>
            </a:r>
            <a:r>
              <a:rPr b="1" dirty="0" lang="en-US" sz="1400">
                <a:solidFill>
                  <a:srgbClr val="0092C8"/>
                </a:solidFill>
                <a:latin typeface="Arial"/>
              </a:rPr>
              <a:t>Smooth muscle contracts, </a:t>
            </a:r>
          </a:p>
          <a:p>
            <a:pPr eaLnBrk="1" fontAlgn="auto" hangingPunct="1" indent="155575">
              <a:spcBef>
                <a:spcPts val="0"/>
              </a:spcBef>
              <a:spcAft>
                <a:spcPts val="0"/>
              </a:spcAft>
              <a:defRPr/>
            </a:pPr>
            <a:r>
              <a:rPr b="1" dirty="0" lang="en-US" sz="1400">
                <a:solidFill>
                  <a:srgbClr val="0092C8"/>
                </a:solidFill>
                <a:latin typeface="Arial"/>
              </a:rPr>
              <a:t>causing vasoconstriction.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24EC17F7-136C-71E7-FEE1-8C645B2D0237}"/>
              </a:ext>
            </a:extLst>
          </p:cNvPr>
          <p:cNvSpPr>
            <a:spLocks noGrp="1"/>
          </p:cNvSpPr>
          <p:nvPr>
            <p:ph type="title"/>
          </p:nvPr>
        </p:nvSpPr>
        <p:spPr>
          <a:xfrm>
            <a:off x="304800" y="261938"/>
            <a:ext cx="2828926" cy="609600"/>
          </a:xfrm>
        </p:spPr>
        <p:txBody>
          <a:bodyPr/>
          <a:lstStyle/>
          <a:p>
            <a:pPr eaLnBrk="1" hangingPunct="1"/>
            <a:r>
              <a:rPr altLang="en-US" dirty="0" lang="en-US"/>
              <a:t>Steps of hemostasis</a:t>
            </a:r>
            <a:br>
              <a:rPr altLang="en-US" dirty="0" lang="en-US"/>
            </a:br>
            <a:r>
              <a:rPr altLang="en-US" dirty="0" lang="en-US"/>
              <a:t>part II</a:t>
            </a:r>
          </a:p>
        </p:txBody>
      </p:sp>
      <p:pic>
        <p:nvPicPr>
          <p:cNvPr descr="Diagram illustrating early stages of blood vessel injury response, focusing on vascular spasm and platelet plug formation. It shows smooth muscle contraction causing vasoconstriction, exposure of collagen fibers, and platelet adhesion with chemical release to form a platelet plug, highlighted with labeled vessel cross-sections and arrows." id="5" name="Picture 4">
            <a:extLst>
              <a:ext uri="{FF2B5EF4-FFF2-40B4-BE49-F238E27FC236}">
                <a16:creationId xmlns:a16="http://schemas.microsoft.com/office/drawing/2014/main" id="{E56BD1BF-F923-4576-FE57-93611D151621}"/>
              </a:ext>
            </a:extLst>
          </p:cNvPr>
          <p:cNvPicPr>
            <a:picLocks noChangeAspect="1"/>
          </p:cNvPicPr>
          <p:nvPr/>
        </p:nvPicPr>
        <p:blipFill>
          <a:blip r:embed="rId3"/>
          <a:stretch>
            <a:fillRect/>
          </a:stretch>
        </p:blipFill>
        <p:spPr>
          <a:xfrm>
            <a:off x="2869335" y="648283"/>
            <a:ext cx="5106113" cy="5287113"/>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7">
            <a:extLst>
              <a:ext uri="{FF2B5EF4-FFF2-40B4-BE49-F238E27FC236}">
                <a16:creationId xmlns:a16="http://schemas.microsoft.com/office/drawing/2014/main" id="{852346D7-9439-57F8-787C-C4CF22858A52}"/>
              </a:ext>
            </a:extLst>
          </p:cNvPr>
          <p:cNvSpPr>
            <a:spLocks noGrp="1"/>
          </p:cNvSpPr>
          <p:nvPr>
            <p:ph type="title"/>
          </p:nvPr>
        </p:nvSpPr>
        <p:spPr>
          <a:xfrm>
            <a:off x="296988" y="279400"/>
            <a:ext cx="2574926" cy="609600"/>
          </a:xfrm>
        </p:spPr>
        <p:txBody>
          <a:bodyPr/>
          <a:lstStyle/>
          <a:p>
            <a:pPr eaLnBrk="1" hangingPunct="1"/>
            <a:r>
              <a:rPr altLang="en-US" dirty="0" lang="en-US"/>
              <a:t>Steps of hemostasis</a:t>
            </a:r>
            <a:br>
              <a:rPr altLang="en-US" dirty="0" lang="en-US"/>
            </a:br>
            <a:r>
              <a:rPr altLang="en-US" dirty="0" lang="en-US"/>
              <a:t>part III</a:t>
            </a:r>
          </a:p>
        </p:txBody>
      </p:sp>
      <p:pic>
        <p:nvPicPr>
          <p:cNvPr descr="Diagram illustrating three stages of blood vessel injury response: vascular spasm, platelet plug formation, and coagulation. Each stage is depicted with cross-sectional views of a blood vessel, highlighting smooth muscle contraction, exposure of collagen fibers, platelet adhesion, chemical release, and fibrin mesh formation, with labeled components in blue text." id="5" name="Picture 4">
            <a:extLst>
              <a:ext uri="{FF2B5EF4-FFF2-40B4-BE49-F238E27FC236}">
                <a16:creationId xmlns:a16="http://schemas.microsoft.com/office/drawing/2014/main" id="{B30595E6-3451-8ABF-4867-85A2D8F612FD}"/>
              </a:ext>
            </a:extLst>
          </p:cNvPr>
          <p:cNvPicPr>
            <a:picLocks noChangeAspect="1"/>
          </p:cNvPicPr>
          <p:nvPr/>
        </p:nvPicPr>
        <p:blipFill>
          <a:blip r:embed="rId3"/>
          <a:stretch>
            <a:fillRect/>
          </a:stretch>
        </p:blipFill>
        <p:spPr>
          <a:xfrm>
            <a:off x="2528538" y="390292"/>
            <a:ext cx="4558061" cy="6077415"/>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w0462-n" id="92162" name="Picture 2">
            <a:extLst>
              <a:ext uri="{FF2B5EF4-FFF2-40B4-BE49-F238E27FC236}">
                <a16:creationId xmlns:a16="http://schemas.microsoft.com/office/drawing/2014/main" id="{294A667D-C0D5-4B2B-A51B-9ABE8BFC7370}"/>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75375" y="990600"/>
            <a:ext cx="2892425"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3" name="Rectangle 3">
            <a:extLst>
              <a:ext uri="{FF2B5EF4-FFF2-40B4-BE49-F238E27FC236}">
                <a16:creationId xmlns:a16="http://schemas.microsoft.com/office/drawing/2014/main" id="{0E7F1AD2-F2B5-414F-A3DC-2F690564F022}"/>
              </a:ext>
            </a:extLst>
          </p:cNvPr>
          <p:cNvSpPr>
            <a:spLocks noChangeArrowheads="1" noGrp="1"/>
          </p:cNvSpPr>
          <p:nvPr>
            <p:ph type="title"/>
          </p:nvPr>
        </p:nvSpPr>
        <p:spPr>
          <a:xfrm>
            <a:off x="0" y="266700"/>
            <a:ext cx="9144000" cy="1143000"/>
          </a:xfrm>
        </p:spPr>
        <p:txBody>
          <a:bodyPr/>
          <a:lstStyle/>
          <a:p>
            <a:pPr eaLnBrk="1" hangingPunct="1"/>
            <a:r>
              <a:rPr altLang="en-US" lang="en-US"/>
              <a:t>Overview of the Clotting Cascade  </a:t>
            </a:r>
          </a:p>
        </p:txBody>
      </p:sp>
      <p:sp>
        <p:nvSpPr>
          <p:cNvPr id="92164" name="Rectangle 4">
            <a:extLst>
              <a:ext uri="{FF2B5EF4-FFF2-40B4-BE49-F238E27FC236}">
                <a16:creationId xmlns:a16="http://schemas.microsoft.com/office/drawing/2014/main" id="{7AAFD328-1BB9-4090-8E10-603A9ABEEB43}"/>
              </a:ext>
            </a:extLst>
          </p:cNvPr>
          <p:cNvSpPr>
            <a:spLocks noChangeArrowheads="1" noGrp="1"/>
          </p:cNvSpPr>
          <p:nvPr>
            <p:ph idx="1" sz="half" type="body"/>
          </p:nvPr>
        </p:nvSpPr>
        <p:spPr>
          <a:xfrm>
            <a:off x="369888" y="1436688"/>
            <a:ext cx="5370512" cy="2070100"/>
          </a:xfrm>
        </p:spPr>
        <p:txBody>
          <a:bodyPr/>
          <a:lstStyle/>
          <a:p>
            <a:pPr eaLnBrk="1" hangingPunct="1"/>
            <a:r>
              <a:rPr altLang="en-US" lang="en-US" sz="3400"/>
              <a:t>Prothrombinase is formed by either the intrinsic or extrinsic pathway</a:t>
            </a:r>
          </a:p>
          <a:p>
            <a:pPr eaLnBrk="1" hangingPunct="1"/>
            <a:r>
              <a:rPr altLang="en-US" lang="en-US" sz="3400"/>
              <a:t>Final common pathway produces  fibrin threads</a:t>
            </a:r>
          </a:p>
        </p:txBody>
      </p:sp>
      <p:sp>
        <p:nvSpPr>
          <p:cNvPr id="399365" name="Oval 5">
            <a:extLst>
              <a:ext uri="{FF2B5EF4-FFF2-40B4-BE49-F238E27FC236}">
                <a16:creationId xmlns:a16="http://schemas.microsoft.com/office/drawing/2014/main" id="{4791E561-6FB5-4800-8022-899901864718}"/>
              </a:ext>
              <a:ext uri="{C183D7F6-B498-43B3-948B-1728B52AA6E4}">
                <adec:decorative xmlns:adec="http://schemas.microsoft.com/office/drawing/2017/decorative" val="1"/>
              </a:ext>
            </a:extLst>
          </p:cNvPr>
          <p:cNvSpPr>
            <a:spLocks noChangeArrowheads="1"/>
          </p:cNvSpPr>
          <p:nvPr/>
        </p:nvSpPr>
        <p:spPr bwMode="auto">
          <a:xfrm>
            <a:off x="6781800" y="4419600"/>
            <a:ext cx="1295400" cy="304800"/>
          </a:xfrm>
          <a:prstGeom prst="ellipse">
            <a:avLst/>
          </a:prstGeom>
          <a:noFill/>
          <a:ln w="571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399366" name="Rectangle 6">
            <a:extLst>
              <a:ext uri="{FF2B5EF4-FFF2-40B4-BE49-F238E27FC236}">
                <a16:creationId xmlns:a16="http://schemas.microsoft.com/office/drawing/2014/main" id="{594D8CB5-FF22-4805-90EB-62BD6545C108}"/>
              </a:ext>
              <a:ext uri="{C183D7F6-B498-43B3-948B-1728B52AA6E4}">
                <adec:decorative xmlns:adec="http://schemas.microsoft.com/office/drawing/2017/decorative" val="1"/>
              </a:ext>
            </a:extLst>
          </p:cNvPr>
          <p:cNvSpPr>
            <a:spLocks noChangeArrowheads="1"/>
          </p:cNvSpPr>
          <p:nvPr/>
        </p:nvSpPr>
        <p:spPr bwMode="auto">
          <a:xfrm>
            <a:off x="6248400" y="1066800"/>
            <a:ext cx="1143000" cy="304800"/>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399367" name="Rectangle 7">
            <a:extLst>
              <a:ext uri="{FF2B5EF4-FFF2-40B4-BE49-F238E27FC236}">
                <a16:creationId xmlns:a16="http://schemas.microsoft.com/office/drawing/2014/main" id="{C8F8E301-A95C-4FCC-AA5C-6A0716B92C36}"/>
              </a:ext>
              <a:ext uri="{C183D7F6-B498-43B3-948B-1728B52AA6E4}">
                <adec:decorative xmlns:adec="http://schemas.microsoft.com/office/drawing/2017/decorative" val="1"/>
              </a:ext>
            </a:extLst>
          </p:cNvPr>
          <p:cNvSpPr>
            <a:spLocks noChangeArrowheads="1"/>
          </p:cNvSpPr>
          <p:nvPr/>
        </p:nvSpPr>
        <p:spPr bwMode="auto">
          <a:xfrm>
            <a:off x="7543800" y="1066800"/>
            <a:ext cx="990600" cy="304800"/>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399368" name="Rectangle 8">
            <a:extLst>
              <a:ext uri="{FF2B5EF4-FFF2-40B4-BE49-F238E27FC236}">
                <a16:creationId xmlns:a16="http://schemas.microsoft.com/office/drawing/2014/main" id="{98AFA67F-3EF9-4DE6-8977-7F52103925BE}"/>
              </a:ext>
              <a:ext uri="{C183D7F6-B498-43B3-948B-1728B52AA6E4}">
                <adec:decorative xmlns:adec="http://schemas.microsoft.com/office/drawing/2017/decorative" val="1"/>
              </a:ext>
            </a:extLst>
          </p:cNvPr>
          <p:cNvSpPr>
            <a:spLocks noChangeArrowheads="1"/>
          </p:cNvSpPr>
          <p:nvPr/>
        </p:nvSpPr>
        <p:spPr bwMode="auto">
          <a:xfrm>
            <a:off x="7543800" y="6172200"/>
            <a:ext cx="762000" cy="60960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3" presetSubtype="16">
                                  <p:stCondLst>
                                    <p:cond delay="0"/>
                                  </p:stCondLst>
                                  <p:childTnLst>
                                    <p:set>
                                      <p:cBhvr>
                                        <p:cTn dur="1" fill="hold" id="6">
                                          <p:stCondLst>
                                            <p:cond delay="0"/>
                                          </p:stCondLst>
                                        </p:cTn>
                                        <p:tgtEl>
                                          <p:spTgt spid="399365"/>
                                        </p:tgtEl>
                                        <p:attrNameLst>
                                          <p:attrName>style.visibility</p:attrName>
                                        </p:attrNameLst>
                                      </p:cBhvr>
                                      <p:to>
                                        <p:strVal val="visible"/>
                                      </p:to>
                                    </p:set>
                                    <p:anim calcmode="lin" valueType="num">
                                      <p:cBhvr>
                                        <p:cTn dur="500" fill="hold" id="7"/>
                                        <p:tgtEl>
                                          <p:spTgt spid="399365"/>
                                        </p:tgtEl>
                                        <p:attrNameLst>
                                          <p:attrName>ppt_w</p:attrName>
                                        </p:attrNameLst>
                                      </p:cBhvr>
                                      <p:tavLst>
                                        <p:tav tm="0">
                                          <p:val>
                                            <p:fltVal val="0"/>
                                          </p:val>
                                        </p:tav>
                                        <p:tav tm="100000">
                                          <p:val>
                                            <p:strVal val="#ppt_w"/>
                                          </p:val>
                                        </p:tav>
                                      </p:tavLst>
                                    </p:anim>
                                    <p:anim calcmode="lin" valueType="num">
                                      <p:cBhvr>
                                        <p:cTn dur="500" fill="hold" id="8"/>
                                        <p:tgtEl>
                                          <p:spTgt spid="399365"/>
                                        </p:tgtEl>
                                        <p:attrNameLst>
                                          <p:attrName>ppt_h</p:attrName>
                                        </p:attrNameLst>
                                      </p:cBhvr>
                                      <p:tavLst>
                                        <p:tav tm="0">
                                          <p:val>
                                            <p:fltVal val="0"/>
                                          </p:val>
                                        </p:tav>
                                        <p:tav tm="100000">
                                          <p:val>
                                            <p:strVal val="#ppt_h"/>
                                          </p:val>
                                        </p:tav>
                                      </p:tavLst>
                                    </p:anim>
                                  </p:childTnLst>
                                </p:cTn>
                              </p:par>
                            </p:childTnLst>
                          </p:cTn>
                        </p:par>
                      </p:childTnLst>
                    </p:cTn>
                  </p:par>
                  <p:par>
                    <p:cTn fill="hold" id="9" nodeType="clickPar">
                      <p:stCondLst>
                        <p:cond delay="indefinite"/>
                      </p:stCondLst>
                      <p:childTnLst>
                        <p:par>
                          <p:cTn fill="hold" id="10" nodeType="withGroup">
                            <p:stCondLst>
                              <p:cond delay="0"/>
                            </p:stCondLst>
                            <p:childTnLst>
                              <p:par>
                                <p:cTn fill="hold" grpId="0" id="11" nodeType="clickEffect" presetClass="entr" presetID="23" presetSubtype="16">
                                  <p:stCondLst>
                                    <p:cond delay="0"/>
                                  </p:stCondLst>
                                  <p:childTnLst>
                                    <p:set>
                                      <p:cBhvr>
                                        <p:cTn dur="1" fill="hold" id="12">
                                          <p:stCondLst>
                                            <p:cond delay="0"/>
                                          </p:stCondLst>
                                        </p:cTn>
                                        <p:tgtEl>
                                          <p:spTgt spid="399366"/>
                                        </p:tgtEl>
                                        <p:attrNameLst>
                                          <p:attrName>style.visibility</p:attrName>
                                        </p:attrNameLst>
                                      </p:cBhvr>
                                      <p:to>
                                        <p:strVal val="visible"/>
                                      </p:to>
                                    </p:set>
                                    <p:anim calcmode="lin" valueType="num">
                                      <p:cBhvr>
                                        <p:cTn dur="500" fill="hold" id="13"/>
                                        <p:tgtEl>
                                          <p:spTgt spid="399366"/>
                                        </p:tgtEl>
                                        <p:attrNameLst>
                                          <p:attrName>ppt_w</p:attrName>
                                        </p:attrNameLst>
                                      </p:cBhvr>
                                      <p:tavLst>
                                        <p:tav tm="0">
                                          <p:val>
                                            <p:fltVal val="0"/>
                                          </p:val>
                                        </p:tav>
                                        <p:tav tm="100000">
                                          <p:val>
                                            <p:strVal val="#ppt_w"/>
                                          </p:val>
                                        </p:tav>
                                      </p:tavLst>
                                    </p:anim>
                                    <p:anim calcmode="lin" valueType="num">
                                      <p:cBhvr>
                                        <p:cTn dur="500" fill="hold" id="14"/>
                                        <p:tgtEl>
                                          <p:spTgt spid="399366"/>
                                        </p:tgtEl>
                                        <p:attrNameLst>
                                          <p:attrName>ppt_h</p:attrName>
                                        </p:attrNameLst>
                                      </p:cBhvr>
                                      <p:tavLst>
                                        <p:tav tm="0">
                                          <p:val>
                                            <p:fltVal val="0"/>
                                          </p:val>
                                        </p:tav>
                                        <p:tav tm="100000">
                                          <p:val>
                                            <p:strVal val="#ppt_h"/>
                                          </p:val>
                                        </p:tav>
                                      </p:tavLst>
                                    </p:anim>
                                  </p:childTnLst>
                                </p:cTn>
                              </p:par>
                            </p:childTnLst>
                          </p:cTn>
                        </p:par>
                      </p:childTnLst>
                    </p:cTn>
                  </p:par>
                  <p:par>
                    <p:cTn fill="hold" id="15" nodeType="clickPar">
                      <p:stCondLst>
                        <p:cond delay="indefinite"/>
                      </p:stCondLst>
                      <p:childTnLst>
                        <p:par>
                          <p:cTn fill="hold" id="16" nodeType="withGroup">
                            <p:stCondLst>
                              <p:cond delay="0"/>
                            </p:stCondLst>
                            <p:childTnLst>
                              <p:par>
                                <p:cTn fill="hold" grpId="0" id="17" nodeType="clickEffect" presetClass="entr" presetID="23" presetSubtype="16">
                                  <p:stCondLst>
                                    <p:cond delay="0"/>
                                  </p:stCondLst>
                                  <p:childTnLst>
                                    <p:set>
                                      <p:cBhvr>
                                        <p:cTn dur="1" fill="hold" id="18">
                                          <p:stCondLst>
                                            <p:cond delay="0"/>
                                          </p:stCondLst>
                                        </p:cTn>
                                        <p:tgtEl>
                                          <p:spTgt spid="399367"/>
                                        </p:tgtEl>
                                        <p:attrNameLst>
                                          <p:attrName>style.visibility</p:attrName>
                                        </p:attrNameLst>
                                      </p:cBhvr>
                                      <p:to>
                                        <p:strVal val="visible"/>
                                      </p:to>
                                    </p:set>
                                    <p:anim calcmode="lin" valueType="num">
                                      <p:cBhvr>
                                        <p:cTn dur="500" fill="hold" id="19"/>
                                        <p:tgtEl>
                                          <p:spTgt spid="399367"/>
                                        </p:tgtEl>
                                        <p:attrNameLst>
                                          <p:attrName>ppt_w</p:attrName>
                                        </p:attrNameLst>
                                      </p:cBhvr>
                                      <p:tavLst>
                                        <p:tav tm="0">
                                          <p:val>
                                            <p:fltVal val="0"/>
                                          </p:val>
                                        </p:tav>
                                        <p:tav tm="100000">
                                          <p:val>
                                            <p:strVal val="#ppt_w"/>
                                          </p:val>
                                        </p:tav>
                                      </p:tavLst>
                                    </p:anim>
                                    <p:anim calcmode="lin" valueType="num">
                                      <p:cBhvr>
                                        <p:cTn dur="500" fill="hold" id="20"/>
                                        <p:tgtEl>
                                          <p:spTgt spid="399367"/>
                                        </p:tgtEl>
                                        <p:attrNameLst>
                                          <p:attrName>ppt_h</p:attrName>
                                        </p:attrNameLst>
                                      </p:cBhvr>
                                      <p:tavLst>
                                        <p:tav tm="0">
                                          <p:val>
                                            <p:fltVal val="0"/>
                                          </p:val>
                                        </p:tav>
                                        <p:tav tm="100000">
                                          <p:val>
                                            <p:strVal val="#ppt_h"/>
                                          </p:val>
                                        </p:tav>
                                      </p:tavLst>
                                    </p:anim>
                                  </p:childTnLst>
                                </p:cTn>
                              </p:par>
                            </p:childTnLst>
                          </p:cTn>
                        </p:par>
                      </p:childTnLst>
                    </p:cTn>
                  </p:par>
                  <p:par>
                    <p:cTn fill="hold" id="21" nodeType="clickPar">
                      <p:stCondLst>
                        <p:cond delay="indefinite"/>
                      </p:stCondLst>
                      <p:childTnLst>
                        <p:par>
                          <p:cTn fill="hold" id="22" nodeType="withGroup">
                            <p:stCondLst>
                              <p:cond delay="0"/>
                            </p:stCondLst>
                            <p:childTnLst>
                              <p:par>
                                <p:cTn fill="hold" grpId="0" id="23" nodeType="clickEffect" presetClass="entr" presetID="23" presetSubtype="16">
                                  <p:stCondLst>
                                    <p:cond delay="0"/>
                                  </p:stCondLst>
                                  <p:childTnLst>
                                    <p:set>
                                      <p:cBhvr>
                                        <p:cTn dur="1" fill="hold" id="24">
                                          <p:stCondLst>
                                            <p:cond delay="0"/>
                                          </p:stCondLst>
                                        </p:cTn>
                                        <p:tgtEl>
                                          <p:spTgt spid="399368"/>
                                        </p:tgtEl>
                                        <p:attrNameLst>
                                          <p:attrName>style.visibility</p:attrName>
                                        </p:attrNameLst>
                                      </p:cBhvr>
                                      <p:to>
                                        <p:strVal val="visible"/>
                                      </p:to>
                                    </p:set>
                                    <p:anim calcmode="lin" valueType="num">
                                      <p:cBhvr>
                                        <p:cTn dur="500" fill="hold" id="25"/>
                                        <p:tgtEl>
                                          <p:spTgt spid="399368"/>
                                        </p:tgtEl>
                                        <p:attrNameLst>
                                          <p:attrName>ppt_w</p:attrName>
                                        </p:attrNameLst>
                                      </p:cBhvr>
                                      <p:tavLst>
                                        <p:tav tm="0">
                                          <p:val>
                                            <p:fltVal val="0"/>
                                          </p:val>
                                        </p:tav>
                                        <p:tav tm="100000">
                                          <p:val>
                                            <p:strVal val="#ppt_w"/>
                                          </p:val>
                                        </p:tav>
                                      </p:tavLst>
                                    </p:anim>
                                    <p:anim calcmode="lin" valueType="num">
                                      <p:cBhvr>
                                        <p:cTn dur="500" fill="hold" id="26"/>
                                        <p:tgtEl>
                                          <p:spTgt spid="399368"/>
                                        </p:tgtEl>
                                        <p:attrNameLst>
                                          <p:attrName>ppt_h</p:attrName>
                                        </p:attrNameLst>
                                      </p:cBhvr>
                                      <p:tavLst>
                                        <p:tav tm="0">
                                          <p:val>
                                            <p:fltVal val="0"/>
                                          </p:val>
                                        </p:tav>
                                        <p:tav tm="100000">
                                          <p:val>
                                            <p:strVal val="#ppt_h"/>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399365"/>
      <p:bldP animBg="1" grpId="0" spid="399366"/>
      <p:bldP animBg="1" grpId="0" spid="399367"/>
      <p:bldP animBg="1" grpId="0" spid="399368"/>
    </p:bld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3186" name="Rectangle 6">
            <a:extLst>
              <a:ext uri="{FF2B5EF4-FFF2-40B4-BE49-F238E27FC236}">
                <a16:creationId xmlns:a16="http://schemas.microsoft.com/office/drawing/2014/main" id="{24D8481A-985E-415F-AECE-68D86E99420B}"/>
              </a:ext>
            </a:extLst>
          </p:cNvPr>
          <p:cNvSpPr>
            <a:spLocks noChangeArrowheads="1" noGrp="1"/>
          </p:cNvSpPr>
          <p:nvPr>
            <p:ph idx="1"/>
          </p:nvPr>
        </p:nvSpPr>
        <p:spPr>
          <a:xfrm>
            <a:off x="-560070" y="566738"/>
            <a:ext cx="9704070" cy="5351462"/>
          </a:xfrm>
        </p:spPr>
        <p:txBody>
          <a:bodyPr/>
          <a:lstStyle/>
          <a:p>
            <a:pPr eaLnBrk="1" hangingPunct="1" lvl="1"/>
            <a:r>
              <a:rPr altLang="en-US" b="1" dirty="0" lang="en-US"/>
              <a:t>Intrinsic pathway</a:t>
            </a:r>
          </a:p>
          <a:p>
            <a:pPr eaLnBrk="1" hangingPunct="1" lvl="2"/>
            <a:r>
              <a:rPr altLang="en-US" dirty="0" lang="en-US"/>
              <a:t>Called </a:t>
            </a:r>
            <a:r>
              <a:rPr altLang="en-US" dirty="0" lang="ja-JP">
                <a:ea charset="-128" panose="020B0600070205080204" pitchFamily="34" typeface="MS PGothic"/>
              </a:rPr>
              <a:t>“</a:t>
            </a:r>
            <a:r>
              <a:rPr altLang="ja-JP" dirty="0" lang="en-US">
                <a:ea charset="-128" panose="020B0600070205080204" pitchFamily="34" typeface="MS PGothic"/>
              </a:rPr>
              <a:t>intrinsic</a:t>
            </a:r>
            <a:r>
              <a:rPr altLang="en-US" dirty="0" lang="ja-JP">
                <a:ea charset="-128" panose="020B0600070205080204" pitchFamily="34" typeface="MS PGothic"/>
              </a:rPr>
              <a:t>”</a:t>
            </a:r>
            <a:r>
              <a:rPr altLang="ja-JP" dirty="0" lang="en-US">
                <a:ea charset="-128" panose="020B0600070205080204" pitchFamily="34" typeface="MS PGothic"/>
              </a:rPr>
              <a:t> because clotting factors are present </a:t>
            </a:r>
            <a:r>
              <a:rPr altLang="ja-JP" dirty="0" i="1" lang="en-US">
                <a:ea charset="-128" panose="020B0600070205080204" pitchFamily="34" typeface="MS PGothic"/>
              </a:rPr>
              <a:t>within</a:t>
            </a:r>
            <a:r>
              <a:rPr altLang="ja-JP" dirty="0" lang="en-US">
                <a:ea charset="-128" panose="020B0600070205080204" pitchFamily="34" typeface="MS PGothic"/>
              </a:rPr>
              <a:t> the blood</a:t>
            </a:r>
          </a:p>
          <a:p>
            <a:pPr eaLnBrk="1" hangingPunct="1" lvl="2"/>
            <a:r>
              <a:rPr altLang="en-US" dirty="0" lang="en-US"/>
              <a:t>Triggered by negatively charged surfaces such as activated platelets, collagen, or even a test tube</a:t>
            </a:r>
          </a:p>
          <a:p>
            <a:pPr eaLnBrk="1" hangingPunct="1" lvl="1"/>
            <a:r>
              <a:rPr altLang="en-US" b="1" dirty="0" lang="en-US"/>
              <a:t>Extrinsic pathway</a:t>
            </a:r>
          </a:p>
          <a:p>
            <a:pPr eaLnBrk="1" hangingPunct="1" lvl="2"/>
            <a:r>
              <a:rPr altLang="en-US" dirty="0" lang="en-US"/>
              <a:t>Called </a:t>
            </a:r>
            <a:r>
              <a:rPr altLang="en-US" dirty="0" lang="ja-JP">
                <a:ea charset="-128" panose="020B0600070205080204" pitchFamily="34" typeface="MS PGothic"/>
              </a:rPr>
              <a:t>“</a:t>
            </a:r>
            <a:r>
              <a:rPr altLang="ja-JP" dirty="0" lang="en-US">
                <a:ea charset="-128" panose="020B0600070205080204" pitchFamily="34" typeface="MS PGothic"/>
              </a:rPr>
              <a:t>extrinsic</a:t>
            </a:r>
            <a:r>
              <a:rPr altLang="en-US" dirty="0" lang="ja-JP">
                <a:ea charset="-128" panose="020B0600070205080204" pitchFamily="34" typeface="MS PGothic"/>
              </a:rPr>
              <a:t>”</a:t>
            </a:r>
            <a:r>
              <a:rPr altLang="ja-JP" dirty="0" lang="en-US">
                <a:ea charset="-128" panose="020B0600070205080204" pitchFamily="34" typeface="MS PGothic"/>
              </a:rPr>
              <a:t> because factors needed for clotting are located </a:t>
            </a:r>
            <a:r>
              <a:rPr altLang="ja-JP" dirty="0" i="1" lang="en-US">
                <a:ea charset="-128" panose="020B0600070205080204" pitchFamily="34" typeface="MS PGothic"/>
              </a:rPr>
              <a:t>outside</a:t>
            </a:r>
            <a:r>
              <a:rPr altLang="ja-JP" dirty="0" lang="en-US">
                <a:ea charset="-128" panose="020B0600070205080204" pitchFamily="34" typeface="MS PGothic"/>
              </a:rPr>
              <a:t> blood </a:t>
            </a:r>
          </a:p>
          <a:p>
            <a:pPr eaLnBrk="1" hangingPunct="1" lvl="2"/>
            <a:r>
              <a:rPr altLang="en-US" dirty="0" lang="en-US"/>
              <a:t>Triggered by exposure to </a:t>
            </a:r>
            <a:r>
              <a:rPr altLang="en-US" b="1" dirty="0" lang="en-US"/>
              <a:t>tissue factor </a:t>
            </a:r>
            <a:r>
              <a:rPr altLang="en-US" dirty="0" lang="en-US"/>
              <a:t>(</a:t>
            </a:r>
            <a:r>
              <a:rPr altLang="en-US" b="1" dirty="0" lang="en-US"/>
              <a:t>TF</a:t>
            </a:r>
            <a:r>
              <a:rPr altLang="en-US" dirty="0" lang="en-US"/>
              <a:t>); also called </a:t>
            </a:r>
            <a:r>
              <a:rPr altLang="en-US" b="1" dirty="0" lang="en-US"/>
              <a:t>factor III</a:t>
            </a:r>
          </a:p>
          <a:p>
            <a:pPr eaLnBrk="1" hangingPunct="1" lvl="2"/>
            <a:r>
              <a:rPr altLang="en-US" dirty="0" lang="en-US"/>
              <a:t>Bypasses several steps of intrinsic pathway, so faster</a:t>
            </a:r>
          </a:p>
        </p:txBody>
      </p:sp>
      <p:sp>
        <p:nvSpPr>
          <p:cNvPr id="2" name="Title 1">
            <a:extLst>
              <a:ext uri="{FF2B5EF4-FFF2-40B4-BE49-F238E27FC236}">
                <a16:creationId xmlns:a16="http://schemas.microsoft.com/office/drawing/2014/main" id="{BD58DCBF-EE93-D7C9-A29C-6AB8CE375E61}"/>
              </a:ext>
            </a:extLst>
          </p:cNvPr>
          <p:cNvSpPr>
            <a:spLocks noGrp="1"/>
          </p:cNvSpPr>
          <p:nvPr>
            <p:ph type="title"/>
          </p:nvPr>
        </p:nvSpPr>
        <p:spPr/>
        <p:txBody>
          <a:bodyPr/>
          <a:lstStyle/>
          <a:p>
            <a:r>
              <a:rPr dirty="0" lang="en-US"/>
              <a:t>The two clotting pathways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5234" name="Rectangle 4">
            <a:extLst>
              <a:ext uri="{FF2B5EF4-FFF2-40B4-BE49-F238E27FC236}">
                <a16:creationId xmlns:a16="http://schemas.microsoft.com/office/drawing/2014/main" id="{A8B96133-0F3E-4826-B797-B7FD8626E89D}"/>
              </a:ext>
            </a:extLst>
          </p:cNvPr>
          <p:cNvSpPr>
            <a:spLocks noChangeArrowheads="1" noGrp="1"/>
          </p:cNvSpPr>
          <p:nvPr>
            <p:ph type="title"/>
          </p:nvPr>
        </p:nvSpPr>
        <p:spPr/>
        <p:txBody>
          <a:bodyPr/>
          <a:lstStyle/>
          <a:p>
            <a:pPr eaLnBrk="1" hangingPunct="1"/>
            <a:r>
              <a:rPr altLang="en-US" lang="en-US"/>
              <a:t>Clot Retraction and Repair</a:t>
            </a:r>
          </a:p>
        </p:txBody>
      </p:sp>
      <p:sp>
        <p:nvSpPr>
          <p:cNvPr id="95235" name="Rectangle 5">
            <a:extLst>
              <a:ext uri="{FF2B5EF4-FFF2-40B4-BE49-F238E27FC236}">
                <a16:creationId xmlns:a16="http://schemas.microsoft.com/office/drawing/2014/main" id="{70EE46A1-BD6B-4339-9100-0B97F7C9A76D}"/>
              </a:ext>
            </a:extLst>
          </p:cNvPr>
          <p:cNvSpPr>
            <a:spLocks noChangeArrowheads="1" noGrp="1"/>
          </p:cNvSpPr>
          <p:nvPr>
            <p:ph idx="1" type="body"/>
          </p:nvPr>
        </p:nvSpPr>
        <p:spPr/>
        <p:txBody>
          <a:bodyPr/>
          <a:lstStyle/>
          <a:p>
            <a:pPr eaLnBrk="1" hangingPunct="1">
              <a:lnSpc>
                <a:spcPct val="90000"/>
              </a:lnSpc>
            </a:pPr>
            <a:r>
              <a:rPr altLang="en-US" lang="en-US"/>
              <a:t>Clot retraction – stabilization of the clot by squeezing serum from the fibrin strands</a:t>
            </a:r>
          </a:p>
          <a:p>
            <a:pPr eaLnBrk="1" hangingPunct="1">
              <a:lnSpc>
                <a:spcPct val="90000"/>
              </a:lnSpc>
            </a:pPr>
            <a:r>
              <a:rPr altLang="en-US" lang="en-US"/>
              <a:t>Repair</a:t>
            </a:r>
          </a:p>
          <a:p>
            <a:pPr eaLnBrk="1" hangingPunct="1" lvl="1">
              <a:lnSpc>
                <a:spcPct val="90000"/>
              </a:lnSpc>
            </a:pPr>
            <a:r>
              <a:rPr altLang="en-US" lang="en-US"/>
              <a:t>Platelet-derived growth factor (PDGF) stimulates rebuilding of blood vessel wall</a:t>
            </a:r>
          </a:p>
          <a:p>
            <a:pPr eaLnBrk="1" hangingPunct="1" lvl="1">
              <a:lnSpc>
                <a:spcPct val="90000"/>
              </a:lnSpc>
            </a:pPr>
            <a:r>
              <a:rPr altLang="en-US" lang="en-US"/>
              <a:t>Fibroblasts form a connective tissue patch</a:t>
            </a:r>
          </a:p>
          <a:p>
            <a:pPr eaLnBrk="1" hangingPunct="1" lvl="1">
              <a:lnSpc>
                <a:spcPct val="90000"/>
              </a:lnSpc>
            </a:pPr>
            <a:r>
              <a:rPr altLang="en-US" lang="en-US"/>
              <a:t>Stimulated by vascular endothelial growth factor (VEGF), endothelial cells multiply and restore the endothelial lining</a:t>
            </a:r>
          </a:p>
        </p:txBody>
      </p:sp>
    </p:spTree>
  </p:cSld>
  <p:clrMapOvr>
    <a:masterClrMapping/>
  </p:clrMapOvr>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6258" name="Rectangle 4">
            <a:extLst>
              <a:ext uri="{FF2B5EF4-FFF2-40B4-BE49-F238E27FC236}">
                <a16:creationId xmlns:a16="http://schemas.microsoft.com/office/drawing/2014/main" id="{5DD50B2E-D720-4BBC-ADBB-E97D82CC97C6}"/>
              </a:ext>
            </a:extLst>
          </p:cNvPr>
          <p:cNvSpPr>
            <a:spLocks noChangeArrowheads="1" noGrp="1"/>
          </p:cNvSpPr>
          <p:nvPr>
            <p:ph type="title"/>
          </p:nvPr>
        </p:nvSpPr>
        <p:spPr/>
        <p:txBody>
          <a:bodyPr/>
          <a:lstStyle/>
          <a:p>
            <a:pPr eaLnBrk="1" hangingPunct="1"/>
            <a:r>
              <a:rPr altLang="en-US" lang="en-US"/>
              <a:t>Factors Limiting Clot Growth or Formation</a:t>
            </a:r>
          </a:p>
        </p:txBody>
      </p:sp>
      <p:sp>
        <p:nvSpPr>
          <p:cNvPr id="96259" name="Rectangle 5">
            <a:extLst>
              <a:ext uri="{FF2B5EF4-FFF2-40B4-BE49-F238E27FC236}">
                <a16:creationId xmlns:a16="http://schemas.microsoft.com/office/drawing/2014/main" id="{2E1C421F-4F28-49E5-8648-8834D9D08C9C}"/>
              </a:ext>
            </a:extLst>
          </p:cNvPr>
          <p:cNvSpPr>
            <a:spLocks noChangeArrowheads="1" noGrp="1"/>
          </p:cNvSpPr>
          <p:nvPr>
            <p:ph idx="1" type="body"/>
          </p:nvPr>
        </p:nvSpPr>
        <p:spPr/>
        <p:txBody>
          <a:bodyPr/>
          <a:lstStyle/>
          <a:p>
            <a:pPr eaLnBrk="1" hangingPunct="1"/>
            <a:r>
              <a:rPr altLang="en-US" lang="en-US"/>
              <a:t>Two homeostatic mechanisms prevent clots from becoming large</a:t>
            </a:r>
          </a:p>
          <a:p>
            <a:pPr eaLnBrk="1" hangingPunct="1" lvl="1"/>
            <a:r>
              <a:rPr altLang="en-US" lang="en-US"/>
              <a:t>Swift removal of clotting factors </a:t>
            </a:r>
          </a:p>
          <a:p>
            <a:pPr eaLnBrk="1" hangingPunct="1" lvl="1"/>
            <a:r>
              <a:rPr altLang="en-US" lang="en-US"/>
              <a:t>Inhibition of activated clotting factors</a:t>
            </a:r>
          </a:p>
        </p:txBody>
      </p:sp>
    </p:spTree>
  </p:cSld>
  <p:clrMapOvr>
    <a:masterClrMapping/>
  </p:clrMapOvr>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9A73A14-4431-4454-A22A-E83E488E2360}"/>
              </a:ext>
            </a:extLst>
          </p:cNvPr>
          <p:cNvSpPr>
            <a:spLocks noChangeArrowheads="1" noGrp="1"/>
          </p:cNvSpPr>
          <p:nvPr>
            <p:ph type="title"/>
          </p:nvPr>
        </p:nvSpPr>
        <p:spPr>
          <a:xfrm>
            <a:off x="0" y="241300"/>
            <a:ext cx="8458200" cy="1143000"/>
          </a:xfrm>
        </p:spPr>
        <p:txBody>
          <a:bodyPr/>
          <a:lstStyle/>
          <a:p>
            <a:pPr eaLnBrk="1" hangingPunct="1"/>
            <a:r>
              <a:rPr altLang="en-US" lang="en-US"/>
              <a:t>Hemostatic Control Mechanisms</a:t>
            </a:r>
          </a:p>
        </p:txBody>
      </p:sp>
      <p:sp>
        <p:nvSpPr>
          <p:cNvPr id="400387" name="Rectangle 3">
            <a:extLst>
              <a:ext uri="{FF2B5EF4-FFF2-40B4-BE49-F238E27FC236}">
                <a16:creationId xmlns:a16="http://schemas.microsoft.com/office/drawing/2014/main" id="{9C143415-1792-4EFD-8FAD-F0DEE0897280}"/>
              </a:ext>
            </a:extLst>
          </p:cNvPr>
          <p:cNvSpPr>
            <a:spLocks noChangeArrowheads="1" noGrp="1"/>
          </p:cNvSpPr>
          <p:nvPr>
            <p:ph idx="1" type="body"/>
          </p:nvPr>
        </p:nvSpPr>
        <p:spPr>
          <a:xfrm>
            <a:off x="228600" y="914400"/>
            <a:ext cx="8915400" cy="6248400"/>
          </a:xfrm>
        </p:spPr>
        <p:txBody>
          <a:bodyPr/>
          <a:lstStyle/>
          <a:p>
            <a:pPr eaLnBrk="1" hangingPunct="1">
              <a:lnSpc>
                <a:spcPct val="90000"/>
              </a:lnSpc>
            </a:pPr>
            <a:r>
              <a:rPr altLang="en-US" lang="en-US"/>
              <a:t>Fibrinolytic system dissolves small, inappropriate clots &amp; clots at a site of a completed repair</a:t>
            </a:r>
          </a:p>
          <a:p>
            <a:pPr eaLnBrk="1" hangingPunct="1" lvl="1">
              <a:lnSpc>
                <a:spcPct val="90000"/>
              </a:lnSpc>
            </a:pPr>
            <a:r>
              <a:rPr altLang="en-US" lang="en-US"/>
              <a:t>fibrinolysis is dissolution of a clot	</a:t>
            </a:r>
          </a:p>
          <a:p>
            <a:pPr eaLnBrk="1" hangingPunct="1">
              <a:lnSpc>
                <a:spcPct val="90000"/>
              </a:lnSpc>
            </a:pPr>
            <a:r>
              <a:rPr altLang="en-US" lang="en-US"/>
              <a:t>Inactive plasminogen is incorporated into the clot</a:t>
            </a:r>
          </a:p>
          <a:p>
            <a:pPr eaLnBrk="1" hangingPunct="1" lvl="1">
              <a:lnSpc>
                <a:spcPct val="90000"/>
              </a:lnSpc>
            </a:pPr>
            <a:r>
              <a:rPr altLang="en-US" lang="en-US"/>
              <a:t>activation occurs because of factor XII and thrombin</a:t>
            </a:r>
          </a:p>
          <a:p>
            <a:pPr eaLnBrk="1" hangingPunct="1" lvl="1">
              <a:lnSpc>
                <a:spcPct val="90000"/>
              </a:lnSpc>
            </a:pPr>
            <a:r>
              <a:rPr altLang="en-US" lang="en-US"/>
              <a:t>plasminogen becomes </a:t>
            </a:r>
            <a:r>
              <a:rPr altLang="en-US" b="1" lang="en-US"/>
              <a:t>plasmin</a:t>
            </a:r>
            <a:r>
              <a:rPr altLang="en-US" lang="en-US"/>
              <a:t> (fibrinolysin) which digests fibrin threads</a:t>
            </a:r>
          </a:p>
          <a:p>
            <a:pPr eaLnBrk="1" hangingPunct="1">
              <a:lnSpc>
                <a:spcPct val="90000"/>
              </a:lnSpc>
            </a:pPr>
            <a:r>
              <a:rPr altLang="en-US" lang="en-US"/>
              <a:t>Clot formation remains localized</a:t>
            </a:r>
          </a:p>
          <a:p>
            <a:pPr eaLnBrk="1" hangingPunct="1">
              <a:lnSpc>
                <a:spcPct val="90000"/>
              </a:lnSpc>
            </a:pPr>
            <a:r>
              <a:rPr altLang="en-US" lang="en-US"/>
              <a:t>Anticoagulants present in blood produced by mast cells</a:t>
            </a:r>
            <a:endParaRPr altLang="en-US" lang="en-US" sz="3400"/>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400387">
                                            <p:txEl>
                                              <p:pRg end="0" st="0"/>
                                            </p:txEl>
                                          </p:spTgt>
                                        </p:tgtEl>
                                        <p:attrNameLst>
                                          <p:attrName>style.visibility</p:attrName>
                                        </p:attrNameLst>
                                      </p:cBhvr>
                                      <p:to>
                                        <p:strVal val="visible"/>
                                      </p:to>
                                    </p:set>
                                    <p:anim calcmode="discrete" valueType="clr">
                                      <p:cBhvr override="childStyle">
                                        <p:cTn dur="80" id="7"/>
                                        <p:tgtEl>
                                          <p:spTgt spid="400387">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400387">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400387">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400387">
                                            <p:txEl>
                                              <p:pRg end="1" st="1"/>
                                            </p:txEl>
                                          </p:spTgt>
                                        </p:tgtEl>
                                        <p:attrNameLst>
                                          <p:attrName>style.visibility</p:attrName>
                                        </p:attrNameLst>
                                      </p:cBhvr>
                                      <p:to>
                                        <p:strVal val="visible"/>
                                      </p:to>
                                    </p:set>
                                    <p:anim calcmode="discrete" valueType="clr">
                                      <p:cBhvr override="childStyle">
                                        <p:cTn dur="80" id="14"/>
                                        <p:tgtEl>
                                          <p:spTgt spid="400387">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400387">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400387">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400387">
                                            <p:txEl>
                                              <p:pRg end="2" st="2"/>
                                            </p:txEl>
                                          </p:spTgt>
                                        </p:tgtEl>
                                        <p:attrNameLst>
                                          <p:attrName>style.visibility</p:attrName>
                                        </p:attrNameLst>
                                      </p:cBhvr>
                                      <p:to>
                                        <p:strVal val="visible"/>
                                      </p:to>
                                    </p:set>
                                    <p:anim calcmode="discrete" valueType="clr">
                                      <p:cBhvr override="childStyle">
                                        <p:cTn dur="80" id="21"/>
                                        <p:tgtEl>
                                          <p:spTgt spid="400387">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400387">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400387">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400387">
                                            <p:txEl>
                                              <p:pRg end="3" st="3"/>
                                            </p:txEl>
                                          </p:spTgt>
                                        </p:tgtEl>
                                        <p:attrNameLst>
                                          <p:attrName>style.visibility</p:attrName>
                                        </p:attrNameLst>
                                      </p:cBhvr>
                                      <p:to>
                                        <p:strVal val="visible"/>
                                      </p:to>
                                    </p:set>
                                    <p:anim calcmode="discrete" valueType="clr">
                                      <p:cBhvr override="childStyle">
                                        <p:cTn dur="80" id="28"/>
                                        <p:tgtEl>
                                          <p:spTgt spid="400387">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400387">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400387">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400387">
                                            <p:txEl>
                                              <p:pRg end="4" st="4"/>
                                            </p:txEl>
                                          </p:spTgt>
                                        </p:tgtEl>
                                        <p:attrNameLst>
                                          <p:attrName>style.visibility</p:attrName>
                                        </p:attrNameLst>
                                      </p:cBhvr>
                                      <p:to>
                                        <p:strVal val="visible"/>
                                      </p:to>
                                    </p:set>
                                    <p:anim calcmode="discrete" valueType="clr">
                                      <p:cBhvr override="childStyle">
                                        <p:cTn dur="80" id="35"/>
                                        <p:tgtEl>
                                          <p:spTgt spid="400387">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400387">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400387">
                                            <p:txEl>
                                              <p:pRg end="4" st="4"/>
                                            </p:txEl>
                                          </p:spTgt>
                                        </p:tgtEl>
                                        <p:attrNameLst>
                                          <p:attrName>fill.type</p:attrName>
                                        </p:attrNameLst>
                                      </p:cBhvr>
                                      <p:to>
                                        <p:strVal val="solid"/>
                                      </p:to>
                                    </p:set>
                                  </p:childTnLst>
                                </p:cTn>
                              </p:par>
                            </p:childTnLst>
                          </p:cTn>
                        </p:par>
                      </p:childTnLst>
                    </p:cTn>
                  </p:par>
                  <p:par>
                    <p:cTn fill="hold" id="38" nodeType="clickPar">
                      <p:stCondLst>
                        <p:cond delay="indefinite"/>
                      </p:stCondLst>
                      <p:childTnLst>
                        <p:par>
                          <p:cTn fill="hold" id="39" nodeType="withGroup">
                            <p:stCondLst>
                              <p:cond delay="0"/>
                            </p:stCondLst>
                            <p:childTnLst>
                              <p:par>
                                <p:cTn fill="hold" id="40" nodeType="clickEffect" presetClass="entr" presetID="27" presetSubtype="0">
                                  <p:stCondLst>
                                    <p:cond delay="0"/>
                                  </p:stCondLst>
                                  <p:iterate type="lt">
                                    <p:tmPct val="50000"/>
                                  </p:iterate>
                                  <p:childTnLst>
                                    <p:set>
                                      <p:cBhvr>
                                        <p:cTn dur="1" fill="hold" id="41">
                                          <p:stCondLst>
                                            <p:cond delay="0"/>
                                          </p:stCondLst>
                                        </p:cTn>
                                        <p:tgtEl>
                                          <p:spTgt spid="400387">
                                            <p:txEl>
                                              <p:pRg end="5" st="5"/>
                                            </p:txEl>
                                          </p:spTgt>
                                        </p:tgtEl>
                                        <p:attrNameLst>
                                          <p:attrName>style.visibility</p:attrName>
                                        </p:attrNameLst>
                                      </p:cBhvr>
                                      <p:to>
                                        <p:strVal val="visible"/>
                                      </p:to>
                                    </p:set>
                                    <p:anim calcmode="discrete" valueType="clr">
                                      <p:cBhvr override="childStyle">
                                        <p:cTn dur="80" id="42"/>
                                        <p:tgtEl>
                                          <p:spTgt spid="400387">
                                            <p:txEl>
                                              <p:pRg end="5" st="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43"/>
                                        <p:tgtEl>
                                          <p:spTgt spid="400387">
                                            <p:txEl>
                                              <p:pRg end="5" st="5"/>
                                            </p:txEl>
                                          </p:spTgt>
                                        </p:tgtEl>
                                        <p:attrNameLst>
                                          <p:attrName>fillcolor</p:attrName>
                                        </p:attrNameLst>
                                      </p:cBhvr>
                                      <p:tavLst>
                                        <p:tav tm="0">
                                          <p:val>
                                            <p:clrVal>
                                              <a:schemeClr val="accent2"/>
                                            </p:clrVal>
                                          </p:val>
                                        </p:tav>
                                        <p:tav tm="50000">
                                          <p:val>
                                            <p:clrVal>
                                              <a:schemeClr val="hlink"/>
                                            </p:clrVal>
                                          </p:val>
                                        </p:tav>
                                      </p:tavLst>
                                    </p:anim>
                                    <p:set>
                                      <p:cBhvr>
                                        <p:cTn dur="80" id="44"/>
                                        <p:tgtEl>
                                          <p:spTgt spid="400387">
                                            <p:txEl>
                                              <p:pRg end="5" st="5"/>
                                            </p:txEl>
                                          </p:spTgt>
                                        </p:tgtEl>
                                        <p:attrNameLst>
                                          <p:attrName>fill.type</p:attrName>
                                        </p:attrNameLst>
                                      </p:cBhvr>
                                      <p:to>
                                        <p:strVal val="solid"/>
                                      </p:to>
                                    </p:set>
                                  </p:childTnLst>
                                </p:cTn>
                              </p:par>
                            </p:childTnLst>
                          </p:cTn>
                        </p:par>
                      </p:childTnLst>
                    </p:cTn>
                  </p:par>
                  <p:par>
                    <p:cTn fill="hold" id="45" nodeType="clickPar">
                      <p:stCondLst>
                        <p:cond delay="indefinite"/>
                      </p:stCondLst>
                      <p:childTnLst>
                        <p:par>
                          <p:cTn fill="hold" id="46" nodeType="withGroup">
                            <p:stCondLst>
                              <p:cond delay="0"/>
                            </p:stCondLst>
                            <p:childTnLst>
                              <p:par>
                                <p:cTn fill="hold" id="47" nodeType="clickEffect" presetClass="entr" presetID="27" presetSubtype="0">
                                  <p:stCondLst>
                                    <p:cond delay="0"/>
                                  </p:stCondLst>
                                  <p:iterate type="lt">
                                    <p:tmPct val="50000"/>
                                  </p:iterate>
                                  <p:childTnLst>
                                    <p:set>
                                      <p:cBhvr>
                                        <p:cTn dur="1" fill="hold" id="48">
                                          <p:stCondLst>
                                            <p:cond delay="0"/>
                                          </p:stCondLst>
                                        </p:cTn>
                                        <p:tgtEl>
                                          <p:spTgt spid="400387">
                                            <p:txEl>
                                              <p:pRg end="6" st="6"/>
                                            </p:txEl>
                                          </p:spTgt>
                                        </p:tgtEl>
                                        <p:attrNameLst>
                                          <p:attrName>style.visibility</p:attrName>
                                        </p:attrNameLst>
                                      </p:cBhvr>
                                      <p:to>
                                        <p:strVal val="visible"/>
                                      </p:to>
                                    </p:set>
                                    <p:anim calcmode="discrete" valueType="clr">
                                      <p:cBhvr override="childStyle">
                                        <p:cTn dur="80" id="49"/>
                                        <p:tgtEl>
                                          <p:spTgt spid="400387">
                                            <p:txEl>
                                              <p:pRg end="6" st="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50"/>
                                        <p:tgtEl>
                                          <p:spTgt spid="400387">
                                            <p:txEl>
                                              <p:pRg end="6" st="6"/>
                                            </p:txEl>
                                          </p:spTgt>
                                        </p:tgtEl>
                                        <p:attrNameLst>
                                          <p:attrName>fillcolor</p:attrName>
                                        </p:attrNameLst>
                                      </p:cBhvr>
                                      <p:tavLst>
                                        <p:tav tm="0">
                                          <p:val>
                                            <p:clrVal>
                                              <a:schemeClr val="accent2"/>
                                            </p:clrVal>
                                          </p:val>
                                        </p:tav>
                                        <p:tav tm="50000">
                                          <p:val>
                                            <p:clrVal>
                                              <a:schemeClr val="hlink"/>
                                            </p:clrVal>
                                          </p:val>
                                        </p:tav>
                                      </p:tavLst>
                                    </p:anim>
                                    <p:set>
                                      <p:cBhvr>
                                        <p:cTn dur="80" id="51"/>
                                        <p:tgtEl>
                                          <p:spTgt spid="400387">
                                            <p:txEl>
                                              <p:pRg end="6" st="6"/>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330" name="Rectangle 3">
            <a:extLst>
              <a:ext uri="{FF2B5EF4-FFF2-40B4-BE49-F238E27FC236}">
                <a16:creationId xmlns:a16="http://schemas.microsoft.com/office/drawing/2014/main" id="{25957881-35CB-42E9-8EF4-34AD81D98DE1}"/>
              </a:ext>
              <a:ext uri="{C183D7F6-B498-43B3-948B-1728B52AA6E4}">
                <adec:decorative xmlns:adec="http://schemas.microsoft.com/office/drawing/2017/decorative" val="1"/>
              </a:ext>
            </a:extLst>
          </p:cNvPr>
          <p:cNvSpPr>
            <a:spLocks noChangeArrowheads="1"/>
          </p:cNvSpPr>
          <p:nvPr/>
        </p:nvSpPr>
        <p:spPr bwMode="auto">
          <a:xfrm>
            <a:off x="0" y="533400"/>
            <a:ext cx="9144000" cy="152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wrap="none"/>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spcAft>
                <a:spcPct val="0"/>
              </a:spcAft>
              <a:buClrTx/>
              <a:buSzTx/>
              <a:buFontTx/>
              <a:buNone/>
            </a:pPr>
            <a:endParaRPr altLang="en-US" lang="en-US" sz="2400"/>
          </a:p>
        </p:txBody>
      </p:sp>
      <p:sp>
        <p:nvSpPr>
          <p:cNvPr id="99331" name="Rectangle 6">
            <a:extLst>
              <a:ext uri="{FF2B5EF4-FFF2-40B4-BE49-F238E27FC236}">
                <a16:creationId xmlns:a16="http://schemas.microsoft.com/office/drawing/2014/main" id="{951954F3-73CA-4C22-B2C7-CA1CD58D59AC}"/>
              </a:ext>
            </a:extLst>
          </p:cNvPr>
          <p:cNvSpPr>
            <a:spLocks noChangeArrowheads="1" noGrp="1"/>
          </p:cNvSpPr>
          <p:nvPr>
            <p:ph type="title"/>
          </p:nvPr>
        </p:nvSpPr>
        <p:spPr/>
        <p:txBody>
          <a:bodyPr/>
          <a:lstStyle/>
          <a:p>
            <a:pPr eaLnBrk="1" hangingPunct="1"/>
            <a:r>
              <a:rPr altLang="en-US" lang="en-US"/>
              <a:t>Hemostasis Disorders:</a:t>
            </a:r>
            <a:br>
              <a:rPr altLang="en-US" lang="en-US"/>
            </a:br>
            <a:r>
              <a:rPr altLang="en-US" lang="en-US"/>
              <a:t>Thromboembolytic Conditions</a:t>
            </a:r>
          </a:p>
        </p:txBody>
      </p:sp>
      <p:sp>
        <p:nvSpPr>
          <p:cNvPr id="99332" name="Rectangle 7">
            <a:extLst>
              <a:ext uri="{FF2B5EF4-FFF2-40B4-BE49-F238E27FC236}">
                <a16:creationId xmlns:a16="http://schemas.microsoft.com/office/drawing/2014/main" id="{FB1A6B6E-4AC0-448D-B98A-0F463E3054F4}"/>
              </a:ext>
            </a:extLst>
          </p:cNvPr>
          <p:cNvSpPr>
            <a:spLocks noChangeArrowheads="1" noGrp="1"/>
          </p:cNvSpPr>
          <p:nvPr>
            <p:ph idx="1" type="body"/>
          </p:nvPr>
        </p:nvSpPr>
        <p:spPr>
          <a:xfrm>
            <a:off x="298450" y="1358900"/>
            <a:ext cx="8270875" cy="5056188"/>
          </a:xfrm>
        </p:spPr>
        <p:txBody>
          <a:bodyPr/>
          <a:lstStyle/>
          <a:p>
            <a:pPr eaLnBrk="1" hangingPunct="1"/>
            <a:r>
              <a:rPr altLang="en-US" b="1" lang="en-US"/>
              <a:t>Thrombus</a:t>
            </a:r>
            <a:r>
              <a:rPr altLang="en-US" lang="en-US"/>
              <a:t> – a clot that develops and persists in an unbroken blood vessel</a:t>
            </a:r>
          </a:p>
          <a:p>
            <a:pPr eaLnBrk="1" hangingPunct="1" lvl="1"/>
            <a:r>
              <a:rPr altLang="en-US" lang="en-US"/>
              <a:t>Thrombi can block circulation, resulting in tissue death</a:t>
            </a:r>
          </a:p>
          <a:p>
            <a:pPr eaLnBrk="1" hangingPunct="1" lvl="1"/>
            <a:r>
              <a:rPr altLang="en-US" lang="en-US"/>
              <a:t>Coronary thrombosis – thrombus in blood vessel of the heart</a:t>
            </a:r>
          </a:p>
        </p:txBody>
      </p:sp>
    </p:spTree>
  </p:cSld>
  <p:clrMapOvr>
    <a:masterClrMapping/>
  </p:clrMapOvr>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355" name="Rectangle 6">
            <a:extLst>
              <a:ext uri="{FF2B5EF4-FFF2-40B4-BE49-F238E27FC236}">
                <a16:creationId xmlns:a16="http://schemas.microsoft.com/office/drawing/2014/main" id="{0AD2B07F-2CF6-4A45-96A0-2B3799B162D9}"/>
              </a:ext>
            </a:extLst>
          </p:cNvPr>
          <p:cNvSpPr>
            <a:spLocks noChangeArrowheads="1" noGrp="1"/>
          </p:cNvSpPr>
          <p:nvPr>
            <p:ph type="title"/>
          </p:nvPr>
        </p:nvSpPr>
        <p:spPr/>
        <p:txBody>
          <a:bodyPr/>
          <a:lstStyle/>
          <a:p>
            <a:pPr eaLnBrk="1" hangingPunct="1"/>
            <a:r>
              <a:rPr altLang="en-US" dirty="0" lang="en-US"/>
              <a:t>Hemostasis Disorders:</a:t>
            </a:r>
            <a:br>
              <a:rPr altLang="en-US" dirty="0" lang="en-US"/>
            </a:br>
            <a:r>
              <a:rPr altLang="en-US" dirty="0" err="1" lang="en-US"/>
              <a:t>Thromboembolytic</a:t>
            </a:r>
            <a:r>
              <a:rPr altLang="en-US" dirty="0" lang="en-US"/>
              <a:t> Conditions (continued)</a:t>
            </a:r>
          </a:p>
        </p:txBody>
      </p:sp>
      <p:sp>
        <p:nvSpPr>
          <p:cNvPr id="100356" name="Rectangle 7">
            <a:extLst>
              <a:ext uri="{FF2B5EF4-FFF2-40B4-BE49-F238E27FC236}">
                <a16:creationId xmlns:a16="http://schemas.microsoft.com/office/drawing/2014/main" id="{3C217D4F-DBB9-4E35-955D-C06FE7660A51}"/>
              </a:ext>
            </a:extLst>
          </p:cNvPr>
          <p:cNvSpPr>
            <a:spLocks noChangeArrowheads="1" noGrp="1"/>
          </p:cNvSpPr>
          <p:nvPr>
            <p:ph idx="1" type="body"/>
          </p:nvPr>
        </p:nvSpPr>
        <p:spPr>
          <a:xfrm>
            <a:off x="298450" y="1320800"/>
            <a:ext cx="8270875" cy="5056188"/>
          </a:xfrm>
        </p:spPr>
        <p:txBody>
          <a:bodyPr/>
          <a:lstStyle/>
          <a:p>
            <a:pPr eaLnBrk="1" hangingPunct="1"/>
            <a:r>
              <a:rPr altLang="en-US" b="1" lang="en-US"/>
              <a:t>Embolus</a:t>
            </a:r>
            <a:r>
              <a:rPr altLang="en-US" lang="en-US"/>
              <a:t> – a thrombus freely floating in the blood stream</a:t>
            </a:r>
          </a:p>
          <a:p>
            <a:pPr eaLnBrk="1" hangingPunct="1" lvl="1"/>
            <a:r>
              <a:rPr altLang="en-US" lang="en-US"/>
              <a:t>Pulmonary emboli can impair the ability of the body to obtain oxygen</a:t>
            </a:r>
          </a:p>
          <a:p>
            <a:pPr eaLnBrk="1" hangingPunct="1" lvl="1"/>
            <a:r>
              <a:rPr altLang="en-US" lang="en-US"/>
              <a:t>Cerebral emboli can cause strokes</a:t>
            </a:r>
          </a:p>
        </p:txBody>
      </p:sp>
    </p:spTree>
  </p:cSld>
  <p:clrMapOvr>
    <a:masterClrMapping/>
  </p:clrMapOvr>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1184C1BB-ACA2-4EAB-B688-FA9C23FD2A02}"/>
              </a:ext>
            </a:extLst>
          </p:cNvPr>
          <p:cNvSpPr>
            <a:spLocks noChangeArrowheads="1" noGrp="1"/>
          </p:cNvSpPr>
          <p:nvPr>
            <p:ph idx="1" type="body"/>
          </p:nvPr>
        </p:nvSpPr>
        <p:spPr/>
        <p:txBody>
          <a:bodyPr/>
          <a:lstStyle/>
          <a:p>
            <a:pPr eaLnBrk="1" hangingPunct="1"/>
            <a:r>
              <a:rPr altLang="en-US" lang="en-US">
                <a:solidFill>
                  <a:srgbClr val="000000"/>
                </a:solidFill>
              </a:rPr>
              <a:t>Substances used to prevent undesirable clots:</a:t>
            </a:r>
          </a:p>
          <a:p>
            <a:pPr eaLnBrk="1" hangingPunct="1" lvl="1"/>
            <a:r>
              <a:rPr altLang="en-US" lang="en-US">
                <a:solidFill>
                  <a:srgbClr val="000000"/>
                </a:solidFill>
              </a:rPr>
              <a:t>Aspirin – an antiprostaglandin that inhibits thromboxane A</a:t>
            </a:r>
            <a:r>
              <a:rPr altLang="en-US" baseline="-25000" lang="en-US">
                <a:solidFill>
                  <a:srgbClr val="000000"/>
                </a:solidFill>
              </a:rPr>
              <a:t>2</a:t>
            </a:r>
            <a:endParaRPr altLang="en-US" lang="en-US">
              <a:solidFill>
                <a:srgbClr val="000000"/>
              </a:solidFill>
            </a:endParaRPr>
          </a:p>
          <a:p>
            <a:pPr eaLnBrk="1" hangingPunct="1" lvl="1"/>
            <a:r>
              <a:rPr altLang="en-US" lang="en-US">
                <a:solidFill>
                  <a:srgbClr val="000000"/>
                </a:solidFill>
              </a:rPr>
              <a:t>Heparin – an anticoagulant used clinically for pre- and postoperative cardiac care</a:t>
            </a:r>
          </a:p>
          <a:p>
            <a:pPr eaLnBrk="1" hangingPunct="1" lvl="1"/>
            <a:r>
              <a:rPr altLang="en-US" lang="en-US"/>
              <a:t>Warfarin – used for those prone to atrial fibrillation </a:t>
            </a:r>
          </a:p>
        </p:txBody>
      </p:sp>
      <p:sp>
        <p:nvSpPr>
          <p:cNvPr id="101379" name="Rectangle 3">
            <a:extLst>
              <a:ext uri="{FF2B5EF4-FFF2-40B4-BE49-F238E27FC236}">
                <a16:creationId xmlns:a16="http://schemas.microsoft.com/office/drawing/2014/main" id="{D9FB5367-3FA0-4BDD-BBB5-1BDDB75025B0}"/>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Prevention of Undesirable Clots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310274">
                                            <p:txEl>
                                              <p:pRg end="1" st="1"/>
                                            </p:txEl>
                                          </p:spTgt>
                                        </p:tgtEl>
                                        <p:attrNameLst>
                                          <p:attrName>style.visibility</p:attrName>
                                        </p:attrNameLst>
                                      </p:cBhvr>
                                      <p:to>
                                        <p:strVal val="visible"/>
                                      </p:to>
                                    </p:set>
                                    <p:anim calcmode="discrete" valueType="clr">
                                      <p:cBhvr override="childStyle">
                                        <p:cTn dur="80" id="7"/>
                                        <p:tgtEl>
                                          <p:spTgt spid="310274">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310274">
                                            <p:txEl>
                                              <p:pRg end="1" st="1"/>
                                            </p:txEl>
                                          </p:spTgt>
                                        </p:tgtEl>
                                        <p:attrNameLst>
                                          <p:attrName>fillcolor</p:attrName>
                                        </p:attrNameLst>
                                      </p:cBhvr>
                                      <p:tavLst>
                                        <p:tav tm="0">
                                          <p:val>
                                            <p:clrVal>
                                              <a:schemeClr val="accent2"/>
                                            </p:clrVal>
                                          </p:val>
                                        </p:tav>
                                        <p:tav tm="50000">
                                          <p:val>
                                            <p:clrVal>
                                              <a:schemeClr val="hlink"/>
                                            </p:clrVal>
                                          </p:val>
                                        </p:tav>
                                      </p:tavLst>
                                    </p:anim>
                                    <p:set>
                                      <p:cBhvr>
                                        <p:cTn dur="80" id="9"/>
                                        <p:tgtEl>
                                          <p:spTgt spid="310274">
                                            <p:txEl>
                                              <p:pRg end="1" st="1"/>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310274">
                                            <p:txEl>
                                              <p:pRg end="2" st="2"/>
                                            </p:txEl>
                                          </p:spTgt>
                                        </p:tgtEl>
                                        <p:attrNameLst>
                                          <p:attrName>style.visibility</p:attrName>
                                        </p:attrNameLst>
                                      </p:cBhvr>
                                      <p:to>
                                        <p:strVal val="visible"/>
                                      </p:to>
                                    </p:set>
                                    <p:anim calcmode="discrete" valueType="clr">
                                      <p:cBhvr override="childStyle">
                                        <p:cTn dur="80" id="14"/>
                                        <p:tgtEl>
                                          <p:spTgt spid="310274">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310274">
                                            <p:txEl>
                                              <p:pRg end="2" st="2"/>
                                            </p:txEl>
                                          </p:spTgt>
                                        </p:tgtEl>
                                        <p:attrNameLst>
                                          <p:attrName>fillcolor</p:attrName>
                                        </p:attrNameLst>
                                      </p:cBhvr>
                                      <p:tavLst>
                                        <p:tav tm="0">
                                          <p:val>
                                            <p:clrVal>
                                              <a:schemeClr val="accent2"/>
                                            </p:clrVal>
                                          </p:val>
                                        </p:tav>
                                        <p:tav tm="50000">
                                          <p:val>
                                            <p:clrVal>
                                              <a:schemeClr val="hlink"/>
                                            </p:clrVal>
                                          </p:val>
                                        </p:tav>
                                      </p:tavLst>
                                    </p:anim>
                                    <p:set>
                                      <p:cBhvr>
                                        <p:cTn dur="80" id="16"/>
                                        <p:tgtEl>
                                          <p:spTgt spid="310274">
                                            <p:txEl>
                                              <p:pRg end="2" st="2"/>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310274">
                                            <p:txEl>
                                              <p:pRg end="3" st="3"/>
                                            </p:txEl>
                                          </p:spTgt>
                                        </p:tgtEl>
                                        <p:attrNameLst>
                                          <p:attrName>style.visibility</p:attrName>
                                        </p:attrNameLst>
                                      </p:cBhvr>
                                      <p:to>
                                        <p:strVal val="visible"/>
                                      </p:to>
                                    </p:set>
                                    <p:anim calcmode="discrete" valueType="clr">
                                      <p:cBhvr override="childStyle">
                                        <p:cTn dur="80" id="21"/>
                                        <p:tgtEl>
                                          <p:spTgt spid="310274">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310274">
                                            <p:txEl>
                                              <p:pRg end="3" st="3"/>
                                            </p:txEl>
                                          </p:spTgt>
                                        </p:tgtEl>
                                        <p:attrNameLst>
                                          <p:attrName>fillcolor</p:attrName>
                                        </p:attrNameLst>
                                      </p:cBhvr>
                                      <p:tavLst>
                                        <p:tav tm="0">
                                          <p:val>
                                            <p:clrVal>
                                              <a:schemeClr val="accent2"/>
                                            </p:clrVal>
                                          </p:val>
                                        </p:tav>
                                        <p:tav tm="50000">
                                          <p:val>
                                            <p:clrVal>
                                              <a:schemeClr val="hlink"/>
                                            </p:clrVal>
                                          </p:val>
                                        </p:tav>
                                      </p:tavLst>
                                    </p:anim>
                                    <p:set>
                                      <p:cBhvr>
                                        <p:cTn dur="80" id="23"/>
                                        <p:tgtEl>
                                          <p:spTgt spid="310274">
                                            <p:txEl>
                                              <p:pRg end="3" st="3"/>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2403" name="Rectangle 3">
            <a:extLst>
              <a:ext uri="{FF2B5EF4-FFF2-40B4-BE49-F238E27FC236}">
                <a16:creationId xmlns:a16="http://schemas.microsoft.com/office/drawing/2014/main" id="{4BFC21E3-BA25-4C16-91CB-CD3638F0EC23}"/>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Hemostasis Disorders: Bleeding Disorders</a:t>
            </a:r>
          </a:p>
        </p:txBody>
      </p:sp>
      <p:sp>
        <p:nvSpPr>
          <p:cNvPr id="102402" name="Rectangle 2">
            <a:extLst>
              <a:ext uri="{FF2B5EF4-FFF2-40B4-BE49-F238E27FC236}">
                <a16:creationId xmlns:a16="http://schemas.microsoft.com/office/drawing/2014/main" id="{B51408B6-D220-46CD-8B55-6E60F93CC64B}"/>
              </a:ext>
            </a:extLst>
          </p:cNvPr>
          <p:cNvSpPr>
            <a:spLocks noChangeArrowheads="1" noGrp="1"/>
          </p:cNvSpPr>
          <p:nvPr>
            <p:ph idx="1" type="body"/>
          </p:nvPr>
        </p:nvSpPr>
        <p:spPr/>
        <p:txBody>
          <a:bodyPr/>
          <a:lstStyle/>
          <a:p>
            <a:pPr eaLnBrk="1" hangingPunct="1"/>
            <a:r>
              <a:rPr altLang="en-US" lang="en-US">
                <a:solidFill>
                  <a:srgbClr val="000000"/>
                </a:solidFill>
              </a:rPr>
              <a:t>Hemophilias – hereditary bleeding disorders caused by lack of clotting factors</a:t>
            </a:r>
          </a:p>
          <a:p>
            <a:pPr eaLnBrk="1" hangingPunct="1" lvl="1"/>
            <a:r>
              <a:rPr altLang="en-US" lang="en-US">
                <a:solidFill>
                  <a:srgbClr val="000000"/>
                </a:solidFill>
              </a:rPr>
              <a:t>Hemophilia A – most common type (83% of all cases) due to a deficiency of factor VIII</a:t>
            </a:r>
          </a:p>
          <a:p>
            <a:pPr eaLnBrk="1" hangingPunct="1" lvl="1"/>
            <a:r>
              <a:rPr altLang="en-US" lang="en-US">
                <a:solidFill>
                  <a:srgbClr val="000000"/>
                </a:solidFill>
              </a:rPr>
              <a:t>Hemophilia B – due to a deficiency of factor IX</a:t>
            </a:r>
          </a:p>
          <a:p>
            <a:pPr eaLnBrk="1" hangingPunct="1" lvl="1"/>
            <a:r>
              <a:rPr altLang="en-US" lang="en-US">
                <a:solidFill>
                  <a:srgbClr val="000000"/>
                </a:solidFill>
              </a:rPr>
              <a:t>Hemophilia C – mild type, due to a deficiency of factor XI</a:t>
            </a:r>
            <a:endParaRPr altLang="en-US" lang="en-US"/>
          </a:p>
        </p:txBody>
      </p:sp>
    </p:spTree>
  </p:cSld>
  <p:clrMapOvr>
    <a:masterClrMapping/>
  </p:clrMapOvr>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4450" name="Rectangle 5">
            <a:extLst>
              <a:ext uri="{FF2B5EF4-FFF2-40B4-BE49-F238E27FC236}">
                <a16:creationId xmlns:a16="http://schemas.microsoft.com/office/drawing/2014/main" id="{2DB16C95-6C68-4E9B-B295-A189CCD151C9}"/>
              </a:ext>
            </a:extLst>
          </p:cNvPr>
          <p:cNvSpPr>
            <a:spLocks noChangeArrowheads="1" noGrp="1"/>
          </p:cNvSpPr>
          <p:nvPr>
            <p:ph type="title"/>
          </p:nvPr>
        </p:nvSpPr>
        <p:spPr/>
        <p:txBody>
          <a:bodyPr/>
          <a:lstStyle/>
          <a:p>
            <a:pPr eaLnBrk="1" hangingPunct="1"/>
            <a:r>
              <a:rPr altLang="en-US" lang="en-US"/>
              <a:t>Transfusing Red Blood Cells</a:t>
            </a:r>
          </a:p>
        </p:txBody>
      </p:sp>
      <p:sp>
        <p:nvSpPr>
          <p:cNvPr id="104451" name="Rectangle 6">
            <a:extLst>
              <a:ext uri="{FF2B5EF4-FFF2-40B4-BE49-F238E27FC236}">
                <a16:creationId xmlns:a16="http://schemas.microsoft.com/office/drawing/2014/main" id="{142C3FFE-D963-4F54-A38B-242AC4B15260}"/>
              </a:ext>
            </a:extLst>
          </p:cNvPr>
          <p:cNvSpPr>
            <a:spLocks noChangeArrowheads="1" noGrp="1"/>
          </p:cNvSpPr>
          <p:nvPr>
            <p:ph idx="1"/>
          </p:nvPr>
        </p:nvSpPr>
        <p:spPr/>
        <p:txBody>
          <a:bodyPr/>
          <a:lstStyle/>
          <a:p>
            <a:pPr eaLnBrk="1" hangingPunct="1"/>
            <a:r>
              <a:rPr altLang="en-US" b="1" lang="en-US" sz="2800"/>
              <a:t>Whole-blood transfusions </a:t>
            </a:r>
            <a:r>
              <a:rPr altLang="en-US" lang="en-US" sz="2800"/>
              <a:t>are used only when blood loss is rapid and substantial </a:t>
            </a:r>
          </a:p>
          <a:p>
            <a:pPr eaLnBrk="1" hangingPunct="1"/>
            <a:r>
              <a:rPr altLang="en-US" lang="en-US" sz="2800"/>
              <a:t>Infusions of </a:t>
            </a:r>
            <a:r>
              <a:rPr altLang="en-US" b="1" lang="en-US" sz="2800"/>
              <a:t>packed red blood cells</a:t>
            </a:r>
            <a:r>
              <a:rPr altLang="en-US" lang="en-US" sz="2800"/>
              <a:t>, or </a:t>
            </a:r>
            <a:r>
              <a:rPr altLang="en-US" b="1" lang="en-US" sz="2800"/>
              <a:t>PRBCs</a:t>
            </a:r>
            <a:r>
              <a:rPr altLang="en-US" lang="en-US" sz="2800"/>
              <a:t> (plasma and WBCs removed), are preferred to restore oxygen-carrying capacity</a:t>
            </a:r>
          </a:p>
          <a:p>
            <a:pPr eaLnBrk="1" hangingPunct="1"/>
            <a:r>
              <a:rPr altLang="en-US" lang="en-US" sz="2800"/>
              <a:t>Blood banks usually separate donated blood into components; shelf life of blood is about 35 days</a:t>
            </a:r>
          </a:p>
          <a:p>
            <a:pPr eaLnBrk="1" hangingPunct="1"/>
            <a:r>
              <a:rPr altLang="en-US" b="1" lang="en-US" sz="2800"/>
              <a:t>Human blood groups </a:t>
            </a:r>
            <a:r>
              <a:rPr altLang="en-US" lang="en-US" sz="2800"/>
              <a:t>of donated blood must be determined because </a:t>
            </a:r>
            <a:r>
              <a:rPr altLang="en-US" b="1" lang="en-US" sz="2800"/>
              <a:t>transfusion reactions </a:t>
            </a:r>
            <a:r>
              <a:rPr altLang="en-US" lang="en-US" sz="2800"/>
              <a:t>can be fatal</a:t>
            </a:r>
          </a:p>
          <a:p>
            <a:pPr eaLnBrk="1" hangingPunct="1" lvl="1"/>
            <a:r>
              <a:rPr altLang="en-US" b="1" lang="en-US" sz="2600"/>
              <a:t>Blood typing </a:t>
            </a:r>
            <a:r>
              <a:rPr altLang="en-US" lang="en-US" sz="2600"/>
              <a:t>determines groups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353D9A99-C211-4555-BD98-8B0FBE6F1DEA}"/>
              </a:ext>
            </a:extLst>
          </p:cNvPr>
          <p:cNvSpPr>
            <a:spLocks noChangeArrowheads="1" noGrp="1"/>
          </p:cNvSpPr>
          <p:nvPr>
            <p:ph type="title"/>
          </p:nvPr>
        </p:nvSpPr>
        <p:spPr/>
        <p:txBody>
          <a:bodyPr/>
          <a:lstStyle/>
          <a:p>
            <a:pPr eaLnBrk="1" hangingPunct="1"/>
            <a:r>
              <a:rPr altLang="en-US" lang="en-US"/>
              <a:t>ABO Blood Groups</a:t>
            </a:r>
          </a:p>
        </p:txBody>
      </p:sp>
      <p:sp>
        <p:nvSpPr>
          <p:cNvPr id="109571" name="Text Box 5">
            <a:extLst>
              <a:ext uri="{FF2B5EF4-FFF2-40B4-BE49-F238E27FC236}">
                <a16:creationId xmlns:a16="http://schemas.microsoft.com/office/drawing/2014/main" id="{D50D97D2-DCC9-4DEF-BE11-EB8C8EE93FC5}"/>
              </a:ext>
            </a:extLst>
          </p:cNvPr>
          <p:cNvSpPr txBox="1">
            <a:spLocks noChangeArrowheads="1"/>
          </p:cNvSpPr>
          <p:nvPr/>
        </p:nvSpPr>
        <p:spPr bwMode="auto">
          <a:xfrm>
            <a:off x="7315200" y="6507163"/>
            <a:ext cx="1600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spAutoFit/>
          </a:bodyPr>
          <a:lstStyle>
            <a:lvl1pPr>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r">
              <a:spcAft>
                <a:spcPct val="0"/>
              </a:spcAft>
              <a:buClrTx/>
              <a:buSzTx/>
              <a:buFontTx/>
              <a:buNone/>
            </a:pPr>
            <a:r>
              <a:rPr altLang="en-US" b="1" lang="en-US" sz="1200">
                <a:solidFill>
                  <a:schemeClr val="accent2"/>
                </a:solidFill>
                <a:latin charset="0" panose="020B0604020202020204" pitchFamily="34" typeface="Arial"/>
              </a:rPr>
              <a:t>Table 17.4</a:t>
            </a:r>
          </a:p>
        </p:txBody>
      </p:sp>
      <p:pic>
        <p:nvPicPr>
          <p:cNvPr descr="table showing the relative frequency of the 4 blood groups in different populations as well as what antigens and antibodies each one has and which other blood types they can receive" id="109572" name="Picture 6">
            <a:extLst>
              <a:ext uri="{FF2B5EF4-FFF2-40B4-BE49-F238E27FC236}">
                <a16:creationId xmlns:a16="http://schemas.microsoft.com/office/drawing/2014/main" id="{949F5D4D-5EF2-41CA-9096-0AF312106F6E}"/>
              </a:ext>
            </a:extLst>
          </p:cNvPr>
          <p:cNvPicPr>
            <a:picLocks noChangeArrowheads="1" noChangeAspect="1"/>
          </p:cNvPicPr>
          <p:nvPr/>
        </p:nvPicPr>
        <p:blipFill>
          <a:blip r:embed="rId2">
            <a:extLst>
              <a:ext uri="{28A0092B-C50C-407E-A947-70E740481C1C}">
                <a14:useLocalDpi xmlns:a14="http://schemas.microsoft.com/office/drawing/2010/main" val="0"/>
              </a:ext>
            </a:extLst>
          </a:blip>
          <a:srcRect b="6183" t="2071"/>
          <a:stretch>
            <a:fillRect/>
          </a:stretch>
        </p:blipFill>
        <p:spPr bwMode="auto">
          <a:xfrm>
            <a:off x="314325" y="931863"/>
            <a:ext cx="8513763" cy="499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descr="Diagram illustrating blood types with red blood cells and corresponding antibodies labeled for Type A, Type B, Type AB, and Type O blood, showing antigen and antibody interactions. Additional microscopic images depict agglutination of red blood cells caused by antibody binding, highlighting key differences in blood type compatibility and immune response." id="4" name="Picture 3">
            <a:extLst>
              <a:ext uri="{FF2B5EF4-FFF2-40B4-BE49-F238E27FC236}">
                <a16:creationId xmlns:a16="http://schemas.microsoft.com/office/drawing/2014/main" id="{A3023ABB-89F8-A4E4-FCF2-F32BABDC8082}"/>
              </a:ext>
            </a:extLst>
          </p:cNvPr>
          <p:cNvPicPr>
            <a:picLocks noChangeAspect="1"/>
          </p:cNvPicPr>
          <p:nvPr/>
        </p:nvPicPr>
        <p:blipFill>
          <a:blip r:embed="rId2"/>
          <a:stretch>
            <a:fillRect/>
          </a:stretch>
        </p:blipFill>
        <p:spPr>
          <a:xfrm>
            <a:off x="963369" y="201661"/>
            <a:ext cx="8040222" cy="6582694"/>
          </a:xfrm>
          <a:prstGeom prst="rect">
            <a:avLst/>
          </a:prstGeom>
        </p:spPr>
      </p:pic>
      <p:sp>
        <p:nvSpPr>
          <p:cNvPr id="2" name="Title 1">
            <a:extLst>
              <a:ext uri="{FF2B5EF4-FFF2-40B4-BE49-F238E27FC236}">
                <a16:creationId xmlns:a16="http://schemas.microsoft.com/office/drawing/2014/main" id="{1CF87265-CF68-71D9-401E-418036382225}"/>
              </a:ext>
            </a:extLst>
          </p:cNvPr>
          <p:cNvSpPr>
            <a:spLocks noGrp="1"/>
          </p:cNvSpPr>
          <p:nvPr>
            <p:ph type="title"/>
          </p:nvPr>
        </p:nvSpPr>
        <p:spPr>
          <a:xfrm>
            <a:off x="0" y="307658"/>
            <a:ext cx="2735580" cy="609600"/>
          </a:xfrm>
        </p:spPr>
        <p:txBody>
          <a:bodyPr/>
          <a:lstStyle/>
          <a:p>
            <a:r>
              <a:rPr dirty="0" lang="en-US"/>
              <a:t>Agglutination</a:t>
            </a:r>
          </a:p>
        </p:txBody>
      </p:sp>
    </p:spTree>
  </p:cSld>
  <p:clrMapOvr>
    <a:masterClrMapping/>
  </p:clrMapOvr>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21538" name="Rectangle 2">
            <a:extLst>
              <a:ext uri="{FF2B5EF4-FFF2-40B4-BE49-F238E27FC236}">
                <a16:creationId xmlns:a16="http://schemas.microsoft.com/office/drawing/2014/main" id="{37F0C625-00B0-4D95-A966-15257327A500}"/>
              </a:ext>
            </a:extLst>
          </p:cNvPr>
          <p:cNvSpPr>
            <a:spLocks noChangeArrowheads="1" noGrp="1"/>
          </p:cNvSpPr>
          <p:nvPr>
            <p:ph idx="1" type="body"/>
          </p:nvPr>
        </p:nvSpPr>
        <p:spPr>
          <a:xfrm>
            <a:off x="298450" y="977900"/>
            <a:ext cx="8270875" cy="5732463"/>
          </a:xfrm>
        </p:spPr>
        <p:txBody>
          <a:bodyPr/>
          <a:lstStyle/>
          <a:p>
            <a:pPr eaLnBrk="1" hangingPunct="1">
              <a:lnSpc>
                <a:spcPct val="90000"/>
              </a:lnSpc>
            </a:pPr>
            <a:r>
              <a:rPr altLang="en-US" lang="en-US">
                <a:solidFill>
                  <a:srgbClr val="000000"/>
                </a:solidFill>
              </a:rPr>
              <a:t>There are eight different Rh agglutinogens, three of which (C, D, and E) are common</a:t>
            </a:r>
          </a:p>
          <a:p>
            <a:pPr eaLnBrk="1" hangingPunct="1">
              <a:lnSpc>
                <a:spcPct val="90000"/>
              </a:lnSpc>
            </a:pPr>
            <a:r>
              <a:rPr altLang="en-US" lang="en-US">
                <a:solidFill>
                  <a:srgbClr val="000000"/>
                </a:solidFill>
              </a:rPr>
              <a:t>Presence of the Rh agglutinogens on RBCs is indicated as Rh</a:t>
            </a:r>
            <a:r>
              <a:rPr altLang="en-US" baseline="30000" lang="en-US">
                <a:solidFill>
                  <a:srgbClr val="000000"/>
                </a:solidFill>
              </a:rPr>
              <a:t>+</a:t>
            </a:r>
            <a:endParaRPr altLang="en-US" lang="en-US">
              <a:solidFill>
                <a:srgbClr val="000000"/>
              </a:solidFill>
            </a:endParaRPr>
          </a:p>
          <a:p>
            <a:pPr eaLnBrk="1" hangingPunct="1">
              <a:lnSpc>
                <a:spcPct val="90000"/>
              </a:lnSpc>
            </a:pPr>
            <a:r>
              <a:rPr altLang="en-US" lang="en-US">
                <a:solidFill>
                  <a:srgbClr val="000000"/>
                </a:solidFill>
              </a:rPr>
              <a:t>Anti-Rh antibodies are not spontaneously formed in Rh</a:t>
            </a:r>
            <a:r>
              <a:rPr altLang="en-US" baseline="30000" lang="en-US">
                <a:solidFill>
                  <a:srgbClr val="000000"/>
                </a:solidFill>
              </a:rPr>
              <a:t>–</a:t>
            </a:r>
            <a:r>
              <a:rPr altLang="en-US" lang="en-US">
                <a:solidFill>
                  <a:srgbClr val="000000"/>
                </a:solidFill>
              </a:rPr>
              <a:t> individuals</a:t>
            </a:r>
          </a:p>
          <a:p>
            <a:pPr eaLnBrk="1" hangingPunct="1">
              <a:lnSpc>
                <a:spcPct val="90000"/>
              </a:lnSpc>
            </a:pPr>
            <a:r>
              <a:rPr altLang="en-US" lang="en-US">
                <a:solidFill>
                  <a:srgbClr val="000000"/>
                </a:solidFill>
              </a:rPr>
              <a:t>However, if an Rh</a:t>
            </a:r>
            <a:r>
              <a:rPr altLang="en-US" baseline="30000" lang="en-US">
                <a:solidFill>
                  <a:srgbClr val="000000"/>
                </a:solidFill>
              </a:rPr>
              <a:t>–</a:t>
            </a:r>
            <a:r>
              <a:rPr altLang="en-US" lang="en-US">
                <a:solidFill>
                  <a:srgbClr val="000000"/>
                </a:solidFill>
              </a:rPr>
              <a:t> individual receives Rh</a:t>
            </a:r>
            <a:r>
              <a:rPr altLang="en-US" baseline="30000" lang="en-US">
                <a:solidFill>
                  <a:srgbClr val="000000"/>
                </a:solidFill>
              </a:rPr>
              <a:t>+</a:t>
            </a:r>
            <a:r>
              <a:rPr altLang="en-US" lang="en-US">
                <a:solidFill>
                  <a:srgbClr val="000000"/>
                </a:solidFill>
              </a:rPr>
              <a:t> blood, anti-Rh antibodies form</a:t>
            </a:r>
          </a:p>
          <a:p>
            <a:pPr eaLnBrk="1" hangingPunct="1">
              <a:lnSpc>
                <a:spcPct val="90000"/>
              </a:lnSpc>
            </a:pPr>
            <a:r>
              <a:rPr altLang="en-US" lang="en-US"/>
              <a:t>Named for the rhesus monkey where they were originally discovered</a:t>
            </a:r>
          </a:p>
        </p:txBody>
      </p:sp>
      <p:sp>
        <p:nvSpPr>
          <p:cNvPr id="111619" name="Rectangle 3">
            <a:extLst>
              <a:ext uri="{FF2B5EF4-FFF2-40B4-BE49-F238E27FC236}">
                <a16:creationId xmlns:a16="http://schemas.microsoft.com/office/drawing/2014/main" id="{982226DA-78C2-4D8D-BFCB-76E0074A0589}"/>
              </a:ext>
            </a:extLst>
          </p:cNvPr>
          <p:cNvSpPr>
            <a:spLocks noChangeArrowheads="1" noGrp="1"/>
          </p:cNvSpPr>
          <p:nvPr>
            <p:ph type="title"/>
          </p:nvPr>
        </p:nvSpPr>
        <p:spPr>
          <a:extLst>
            <a:ext uri="{909E8E84-426E-40DD-AFC4-6F175D3DCCD1}">
              <a14:hiddenFill xmlns:a14="http://schemas.microsoft.com/office/drawing/2010/main">
                <a:solidFill>
                  <a:schemeClr val="accent1"/>
                </a:solidFill>
              </a14:hiddenFill>
            </a:ext>
          </a:extLst>
        </p:spPr>
        <p:txBody>
          <a:bodyPr/>
          <a:lstStyle/>
          <a:p>
            <a:pPr eaLnBrk="1" hangingPunct="1"/>
            <a:r>
              <a:rPr altLang="en-US" lang="en-US"/>
              <a:t>Rh Blood Groups</a:t>
            </a:r>
          </a:p>
        </p:txBody>
      </p:sp>
    </p:spTree>
  </p:cSld>
  <p:clrMapOvr>
    <a:masterClrMapping/>
  </p:clrMapOvr>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27" presetSubtype="0">
                                  <p:stCondLst>
                                    <p:cond delay="0"/>
                                  </p:stCondLst>
                                  <p:iterate type="lt">
                                    <p:tmPct val="50000"/>
                                  </p:iterate>
                                  <p:childTnLst>
                                    <p:set>
                                      <p:cBhvr>
                                        <p:cTn dur="1" fill="hold" id="6">
                                          <p:stCondLst>
                                            <p:cond delay="0"/>
                                          </p:stCondLst>
                                        </p:cTn>
                                        <p:tgtEl>
                                          <p:spTgt spid="321538">
                                            <p:txEl>
                                              <p:pRg end="0" st="0"/>
                                            </p:txEl>
                                          </p:spTgt>
                                        </p:tgtEl>
                                        <p:attrNameLst>
                                          <p:attrName>style.visibility</p:attrName>
                                        </p:attrNameLst>
                                      </p:cBhvr>
                                      <p:to>
                                        <p:strVal val="visible"/>
                                      </p:to>
                                    </p:set>
                                    <p:anim calcmode="discrete" valueType="clr">
                                      <p:cBhvr override="childStyle">
                                        <p:cTn dur="80" id="7"/>
                                        <p:tgtEl>
                                          <p:spTgt spid="321538">
                                            <p:txEl>
                                              <p:pRg end="0" st="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8"/>
                                        <p:tgtEl>
                                          <p:spTgt spid="321538">
                                            <p:txEl>
                                              <p:pRg end="0" st="0"/>
                                            </p:txEl>
                                          </p:spTgt>
                                        </p:tgtEl>
                                        <p:attrNameLst>
                                          <p:attrName>fillcolor</p:attrName>
                                        </p:attrNameLst>
                                      </p:cBhvr>
                                      <p:tavLst>
                                        <p:tav tm="0">
                                          <p:val>
                                            <p:clrVal>
                                              <a:schemeClr val="accent2"/>
                                            </p:clrVal>
                                          </p:val>
                                        </p:tav>
                                        <p:tav tm="50000">
                                          <p:val>
                                            <p:clrVal>
                                              <a:schemeClr val="hlink"/>
                                            </p:clrVal>
                                          </p:val>
                                        </p:tav>
                                      </p:tavLst>
                                    </p:anim>
                                    <p:set>
                                      <p:cBhvr>
                                        <p:cTn dur="80" id="9"/>
                                        <p:tgtEl>
                                          <p:spTgt spid="321538">
                                            <p:txEl>
                                              <p:pRg end="0" st="0"/>
                                            </p:txEl>
                                          </p:spTgt>
                                        </p:tgtEl>
                                        <p:attrNameLst>
                                          <p:attrName>fill.type</p:attrName>
                                        </p:attrNameLst>
                                      </p:cBhvr>
                                      <p:to>
                                        <p:strVal val="solid"/>
                                      </p:to>
                                    </p:set>
                                  </p:childTnLst>
                                </p:cTn>
                              </p:par>
                            </p:childTnLst>
                          </p:cTn>
                        </p:par>
                      </p:childTnLst>
                    </p:cTn>
                  </p:par>
                  <p:par>
                    <p:cTn fill="hold" id="10" nodeType="clickPar">
                      <p:stCondLst>
                        <p:cond delay="indefinite"/>
                      </p:stCondLst>
                      <p:childTnLst>
                        <p:par>
                          <p:cTn fill="hold" id="11" nodeType="withGroup">
                            <p:stCondLst>
                              <p:cond delay="0"/>
                            </p:stCondLst>
                            <p:childTnLst>
                              <p:par>
                                <p:cTn fill="hold" id="12" nodeType="clickEffect" presetClass="entr" presetID="27" presetSubtype="0">
                                  <p:stCondLst>
                                    <p:cond delay="0"/>
                                  </p:stCondLst>
                                  <p:iterate type="lt">
                                    <p:tmPct val="50000"/>
                                  </p:iterate>
                                  <p:childTnLst>
                                    <p:set>
                                      <p:cBhvr>
                                        <p:cTn dur="1" fill="hold" id="13">
                                          <p:stCondLst>
                                            <p:cond delay="0"/>
                                          </p:stCondLst>
                                        </p:cTn>
                                        <p:tgtEl>
                                          <p:spTgt spid="321538">
                                            <p:txEl>
                                              <p:pRg end="1" st="1"/>
                                            </p:txEl>
                                          </p:spTgt>
                                        </p:tgtEl>
                                        <p:attrNameLst>
                                          <p:attrName>style.visibility</p:attrName>
                                        </p:attrNameLst>
                                      </p:cBhvr>
                                      <p:to>
                                        <p:strVal val="visible"/>
                                      </p:to>
                                    </p:set>
                                    <p:anim calcmode="discrete" valueType="clr">
                                      <p:cBhvr override="childStyle">
                                        <p:cTn dur="80" id="14"/>
                                        <p:tgtEl>
                                          <p:spTgt spid="321538">
                                            <p:txEl>
                                              <p:pRg end="1" st="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15"/>
                                        <p:tgtEl>
                                          <p:spTgt spid="321538">
                                            <p:txEl>
                                              <p:pRg end="1" st="1"/>
                                            </p:txEl>
                                          </p:spTgt>
                                        </p:tgtEl>
                                        <p:attrNameLst>
                                          <p:attrName>fillcolor</p:attrName>
                                        </p:attrNameLst>
                                      </p:cBhvr>
                                      <p:tavLst>
                                        <p:tav tm="0">
                                          <p:val>
                                            <p:clrVal>
                                              <a:schemeClr val="accent2"/>
                                            </p:clrVal>
                                          </p:val>
                                        </p:tav>
                                        <p:tav tm="50000">
                                          <p:val>
                                            <p:clrVal>
                                              <a:schemeClr val="hlink"/>
                                            </p:clrVal>
                                          </p:val>
                                        </p:tav>
                                      </p:tavLst>
                                    </p:anim>
                                    <p:set>
                                      <p:cBhvr>
                                        <p:cTn dur="80" id="16"/>
                                        <p:tgtEl>
                                          <p:spTgt spid="321538">
                                            <p:txEl>
                                              <p:pRg end="1" st="1"/>
                                            </p:txEl>
                                          </p:spTgt>
                                        </p:tgtEl>
                                        <p:attrNameLst>
                                          <p:attrName>fill.type</p:attrName>
                                        </p:attrNameLst>
                                      </p:cBhvr>
                                      <p:to>
                                        <p:strVal val="solid"/>
                                      </p:to>
                                    </p:set>
                                  </p:childTnLst>
                                </p:cTn>
                              </p:par>
                            </p:childTnLst>
                          </p:cTn>
                        </p:par>
                      </p:childTnLst>
                    </p:cTn>
                  </p:par>
                  <p:par>
                    <p:cTn fill="hold" id="17" nodeType="clickPar">
                      <p:stCondLst>
                        <p:cond delay="indefinite"/>
                      </p:stCondLst>
                      <p:childTnLst>
                        <p:par>
                          <p:cTn fill="hold" id="18" nodeType="withGroup">
                            <p:stCondLst>
                              <p:cond delay="0"/>
                            </p:stCondLst>
                            <p:childTnLst>
                              <p:par>
                                <p:cTn fill="hold" id="19" nodeType="clickEffect" presetClass="entr" presetID="27" presetSubtype="0">
                                  <p:stCondLst>
                                    <p:cond delay="0"/>
                                  </p:stCondLst>
                                  <p:iterate type="lt">
                                    <p:tmPct val="50000"/>
                                  </p:iterate>
                                  <p:childTnLst>
                                    <p:set>
                                      <p:cBhvr>
                                        <p:cTn dur="1" fill="hold" id="20">
                                          <p:stCondLst>
                                            <p:cond delay="0"/>
                                          </p:stCondLst>
                                        </p:cTn>
                                        <p:tgtEl>
                                          <p:spTgt spid="321538">
                                            <p:txEl>
                                              <p:pRg end="2" st="2"/>
                                            </p:txEl>
                                          </p:spTgt>
                                        </p:tgtEl>
                                        <p:attrNameLst>
                                          <p:attrName>style.visibility</p:attrName>
                                        </p:attrNameLst>
                                      </p:cBhvr>
                                      <p:to>
                                        <p:strVal val="visible"/>
                                      </p:to>
                                    </p:set>
                                    <p:anim calcmode="discrete" valueType="clr">
                                      <p:cBhvr override="childStyle">
                                        <p:cTn dur="80" id="21"/>
                                        <p:tgtEl>
                                          <p:spTgt spid="321538">
                                            <p:txEl>
                                              <p:pRg end="2" st="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2"/>
                                        <p:tgtEl>
                                          <p:spTgt spid="321538">
                                            <p:txEl>
                                              <p:pRg end="2" st="2"/>
                                            </p:txEl>
                                          </p:spTgt>
                                        </p:tgtEl>
                                        <p:attrNameLst>
                                          <p:attrName>fillcolor</p:attrName>
                                        </p:attrNameLst>
                                      </p:cBhvr>
                                      <p:tavLst>
                                        <p:tav tm="0">
                                          <p:val>
                                            <p:clrVal>
                                              <a:schemeClr val="accent2"/>
                                            </p:clrVal>
                                          </p:val>
                                        </p:tav>
                                        <p:tav tm="50000">
                                          <p:val>
                                            <p:clrVal>
                                              <a:schemeClr val="hlink"/>
                                            </p:clrVal>
                                          </p:val>
                                        </p:tav>
                                      </p:tavLst>
                                    </p:anim>
                                    <p:set>
                                      <p:cBhvr>
                                        <p:cTn dur="80" id="23"/>
                                        <p:tgtEl>
                                          <p:spTgt spid="321538">
                                            <p:txEl>
                                              <p:pRg end="2" st="2"/>
                                            </p:txEl>
                                          </p:spTgt>
                                        </p:tgtEl>
                                        <p:attrNameLst>
                                          <p:attrName>fill.type</p:attrName>
                                        </p:attrNameLst>
                                      </p:cBhvr>
                                      <p:to>
                                        <p:strVal val="solid"/>
                                      </p:to>
                                    </p:set>
                                  </p:childTnLst>
                                </p:cTn>
                              </p:par>
                            </p:childTnLst>
                          </p:cTn>
                        </p:par>
                      </p:childTnLst>
                    </p:cTn>
                  </p:par>
                  <p:par>
                    <p:cTn fill="hold" id="24" nodeType="clickPar">
                      <p:stCondLst>
                        <p:cond delay="indefinite"/>
                      </p:stCondLst>
                      <p:childTnLst>
                        <p:par>
                          <p:cTn fill="hold" id="25" nodeType="withGroup">
                            <p:stCondLst>
                              <p:cond delay="0"/>
                            </p:stCondLst>
                            <p:childTnLst>
                              <p:par>
                                <p:cTn fill="hold" id="26" nodeType="clickEffect" presetClass="entr" presetID="27" presetSubtype="0">
                                  <p:stCondLst>
                                    <p:cond delay="0"/>
                                  </p:stCondLst>
                                  <p:iterate type="lt">
                                    <p:tmPct val="50000"/>
                                  </p:iterate>
                                  <p:childTnLst>
                                    <p:set>
                                      <p:cBhvr>
                                        <p:cTn dur="1" fill="hold" id="27">
                                          <p:stCondLst>
                                            <p:cond delay="0"/>
                                          </p:stCondLst>
                                        </p:cTn>
                                        <p:tgtEl>
                                          <p:spTgt spid="321538">
                                            <p:txEl>
                                              <p:pRg end="3" st="3"/>
                                            </p:txEl>
                                          </p:spTgt>
                                        </p:tgtEl>
                                        <p:attrNameLst>
                                          <p:attrName>style.visibility</p:attrName>
                                        </p:attrNameLst>
                                      </p:cBhvr>
                                      <p:to>
                                        <p:strVal val="visible"/>
                                      </p:to>
                                    </p:set>
                                    <p:anim calcmode="discrete" valueType="clr">
                                      <p:cBhvr override="childStyle">
                                        <p:cTn dur="80" id="28"/>
                                        <p:tgtEl>
                                          <p:spTgt spid="321538">
                                            <p:txEl>
                                              <p:pRg end="3" st="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29"/>
                                        <p:tgtEl>
                                          <p:spTgt spid="321538">
                                            <p:txEl>
                                              <p:pRg end="3" st="3"/>
                                            </p:txEl>
                                          </p:spTgt>
                                        </p:tgtEl>
                                        <p:attrNameLst>
                                          <p:attrName>fillcolor</p:attrName>
                                        </p:attrNameLst>
                                      </p:cBhvr>
                                      <p:tavLst>
                                        <p:tav tm="0">
                                          <p:val>
                                            <p:clrVal>
                                              <a:schemeClr val="accent2"/>
                                            </p:clrVal>
                                          </p:val>
                                        </p:tav>
                                        <p:tav tm="50000">
                                          <p:val>
                                            <p:clrVal>
                                              <a:schemeClr val="hlink"/>
                                            </p:clrVal>
                                          </p:val>
                                        </p:tav>
                                      </p:tavLst>
                                    </p:anim>
                                    <p:set>
                                      <p:cBhvr>
                                        <p:cTn dur="80" id="30"/>
                                        <p:tgtEl>
                                          <p:spTgt spid="321538">
                                            <p:txEl>
                                              <p:pRg end="3" st="3"/>
                                            </p:txEl>
                                          </p:spTgt>
                                        </p:tgtEl>
                                        <p:attrNameLst>
                                          <p:attrName>fill.type</p:attrName>
                                        </p:attrNameLst>
                                      </p:cBhvr>
                                      <p:to>
                                        <p:strVal val="solid"/>
                                      </p:to>
                                    </p:set>
                                  </p:childTnLst>
                                </p:cTn>
                              </p:par>
                            </p:childTnLst>
                          </p:cTn>
                        </p:par>
                      </p:childTnLst>
                    </p:cTn>
                  </p:par>
                  <p:par>
                    <p:cTn fill="hold" id="31" nodeType="clickPar">
                      <p:stCondLst>
                        <p:cond delay="indefinite"/>
                      </p:stCondLst>
                      <p:childTnLst>
                        <p:par>
                          <p:cTn fill="hold" id="32" nodeType="withGroup">
                            <p:stCondLst>
                              <p:cond delay="0"/>
                            </p:stCondLst>
                            <p:childTnLst>
                              <p:par>
                                <p:cTn fill="hold" id="33" nodeType="clickEffect" presetClass="entr" presetID="27" presetSubtype="0">
                                  <p:stCondLst>
                                    <p:cond delay="0"/>
                                  </p:stCondLst>
                                  <p:iterate type="lt">
                                    <p:tmPct val="50000"/>
                                  </p:iterate>
                                  <p:childTnLst>
                                    <p:set>
                                      <p:cBhvr>
                                        <p:cTn dur="1" fill="hold" id="34">
                                          <p:stCondLst>
                                            <p:cond delay="0"/>
                                          </p:stCondLst>
                                        </p:cTn>
                                        <p:tgtEl>
                                          <p:spTgt spid="321538">
                                            <p:txEl>
                                              <p:pRg end="4" st="4"/>
                                            </p:txEl>
                                          </p:spTgt>
                                        </p:tgtEl>
                                        <p:attrNameLst>
                                          <p:attrName>style.visibility</p:attrName>
                                        </p:attrNameLst>
                                      </p:cBhvr>
                                      <p:to>
                                        <p:strVal val="visible"/>
                                      </p:to>
                                    </p:set>
                                    <p:anim calcmode="discrete" valueType="clr">
                                      <p:cBhvr override="childStyle">
                                        <p:cTn dur="80" id="35"/>
                                        <p:tgtEl>
                                          <p:spTgt spid="321538">
                                            <p:txEl>
                                              <p:pRg end="4" st="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dur="80" id="36"/>
                                        <p:tgtEl>
                                          <p:spTgt spid="321538">
                                            <p:txEl>
                                              <p:pRg end="4" st="4"/>
                                            </p:txEl>
                                          </p:spTgt>
                                        </p:tgtEl>
                                        <p:attrNameLst>
                                          <p:attrName>fillcolor</p:attrName>
                                        </p:attrNameLst>
                                      </p:cBhvr>
                                      <p:tavLst>
                                        <p:tav tm="0">
                                          <p:val>
                                            <p:clrVal>
                                              <a:schemeClr val="accent2"/>
                                            </p:clrVal>
                                          </p:val>
                                        </p:tav>
                                        <p:tav tm="50000">
                                          <p:val>
                                            <p:clrVal>
                                              <a:schemeClr val="hlink"/>
                                            </p:clrVal>
                                          </p:val>
                                        </p:tav>
                                      </p:tavLst>
                                    </p:anim>
                                    <p:set>
                                      <p:cBhvr>
                                        <p:cTn dur="80" id="37"/>
                                        <p:tgtEl>
                                          <p:spTgt spid="321538">
                                            <p:txEl>
                                              <p:pRg end="4" st="4"/>
                                            </p:txEl>
                                          </p:spTgt>
                                        </p:tgtEl>
                                        <p:attrNameLst>
                                          <p:attrName>fill.type</p:attrName>
                                        </p:attrNameLst>
                                      </p:cBhvr>
                                      <p:to>
                                        <p:strVal val="solid"/>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9D114226-98F8-4AAE-9390-290E7073DA40}"/>
              </a:ext>
            </a:extLst>
          </p:cNvPr>
          <p:cNvSpPr>
            <a:spLocks noChangeArrowheads="1"/>
          </p:cNvSpPr>
          <p:nvPr/>
        </p:nvSpPr>
        <p:spPr bwMode="auto">
          <a:xfrm>
            <a:off x="1371600" y="228600"/>
            <a:ext cx="6400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nchor="ctr" bIns="46038" lIns="92075" rIns="92075" tIns="46038"/>
          <a:lstStyle>
            <a:lvl1pPr indent="-342900" marL="342900">
              <a:spcAft>
                <a:spcPct val="50000"/>
              </a:spcAft>
              <a:buClr>
                <a:srgbClr val="0989C9"/>
              </a:buClr>
              <a:buSzPct val="60000"/>
              <a:buFont charset="2" panose="05000000000000000000" pitchFamily="2" typeface="Wingdings"/>
              <a:buChar char="§"/>
              <a:defRPr sz="3000">
                <a:solidFill>
                  <a:schemeClr val="tx1"/>
                </a:solidFill>
                <a:latin charset="0" panose="02020603050405020304" pitchFamily="18" typeface="Times New Roman"/>
              </a:defRPr>
            </a:lvl1pPr>
            <a:lvl2pPr indent="-285750" marL="74295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2pPr>
            <a:lvl3pPr indent="-228600" marL="11430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3pPr>
            <a:lvl4pPr indent="-228600" marL="16002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4pPr>
            <a:lvl5pPr indent="-228600" marL="2057400">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5pPr>
            <a:lvl6pPr eaLnBrk="0" fontAlgn="base" hangingPunct="0" indent="-228600" marL="25146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6pPr>
            <a:lvl7pPr eaLnBrk="0" fontAlgn="base" hangingPunct="0" indent="-228600" marL="29718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7pPr>
            <a:lvl8pPr eaLnBrk="0" fontAlgn="base" hangingPunct="0" indent="-228600" marL="34290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8pPr>
            <a:lvl9pPr eaLnBrk="0" fontAlgn="base" hangingPunct="0" indent="-228600" marL="3886200">
              <a:spcBef>
                <a:spcPct val="0"/>
              </a:spcBef>
              <a:spcAft>
                <a:spcPct val="50000"/>
              </a:spcAft>
              <a:buClr>
                <a:srgbClr val="0989C9"/>
              </a:buClr>
              <a:buSzPct val="60000"/>
              <a:buFont charset="2" panose="05000000000000000000" pitchFamily="2" typeface="Wingdings"/>
              <a:buChar char="§"/>
              <a:defRPr sz="2800">
                <a:solidFill>
                  <a:schemeClr val="tx1"/>
                </a:solidFill>
                <a:latin charset="0" panose="02020603050405020304" pitchFamily="18" typeface="Times New Roman"/>
              </a:defRPr>
            </a:lvl9pPr>
          </a:lstStyle>
          <a:p>
            <a:pPr algn="ctr">
              <a:spcBef>
                <a:spcPct val="20000"/>
              </a:spcBef>
              <a:spcAft>
                <a:spcPct val="0"/>
              </a:spcAft>
              <a:buClr>
                <a:schemeClr val="accent1"/>
              </a:buClr>
              <a:buSzPct val="75000"/>
              <a:buFont charset="2" pitchFamily="1" typeface="Monotype Sorts"/>
              <a:buNone/>
            </a:pPr>
            <a:r>
              <a:rPr altLang="en-US" lang="en-US" sz="1000">
                <a:latin charset="0" panose="020B0604020202020204" pitchFamily="34" typeface="Arial"/>
              </a:rPr>
              <a:t>Copyright</a:t>
            </a:r>
            <a:r>
              <a:rPr altLang="en-US" lang="en-US" sz="700">
                <a:latin charset="0" panose="020B0604020202020204" pitchFamily="34" typeface="Arial"/>
                <a:sym charset="2" panose="05050102010706020507" pitchFamily="18" typeface="Symbol"/>
              </a:rPr>
              <a:t>The McGraw-Hill Companies, Inc. Permission required for reproduction or display.</a:t>
            </a:r>
          </a:p>
        </p:txBody>
      </p:sp>
      <p:pic>
        <p:nvPicPr>
          <p:cNvPr descr="Table listing all blood formed elements, their anatomical desciption, number present and function" id="114691" name="Picture 3">
            <a:extLst>
              <a:ext uri="{FF2B5EF4-FFF2-40B4-BE49-F238E27FC236}">
                <a16:creationId xmlns:a16="http://schemas.microsoft.com/office/drawing/2014/main" id="{6107AEE2-31AD-4DBF-9C58-C168A1A16EDB}"/>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85800"/>
            <a:ext cx="9144000" cy="565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
        <p:nvSpPr>
          <p:cNvPr id="2" name="Title 1">
            <a:extLst>
              <a:ext uri="{FF2B5EF4-FFF2-40B4-BE49-F238E27FC236}">
                <a16:creationId xmlns:a16="http://schemas.microsoft.com/office/drawing/2014/main" id="{36E6A2A8-F49F-3EC1-FEFF-B4C5232D84C2}"/>
              </a:ext>
            </a:extLst>
          </p:cNvPr>
          <p:cNvSpPr>
            <a:spLocks noGrp="1"/>
          </p:cNvSpPr>
          <p:nvPr>
            <p:ph type="title"/>
          </p:nvPr>
        </p:nvSpPr>
        <p:spPr/>
        <p:txBody>
          <a:bodyPr/>
          <a:lstStyle/>
          <a:p>
            <a:r>
              <a:rPr dirty="0" lang="en-US"/>
              <a:t>Formed elements of the blood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7762" name="Rectangle 4">
            <a:extLst>
              <a:ext uri="{FF2B5EF4-FFF2-40B4-BE49-F238E27FC236}">
                <a16:creationId xmlns:a16="http://schemas.microsoft.com/office/drawing/2014/main" id="{3BC603D8-A564-4B88-9A46-E07700574129}"/>
              </a:ext>
            </a:extLst>
          </p:cNvPr>
          <p:cNvSpPr>
            <a:spLocks noChangeArrowheads="1" noGrp="1"/>
          </p:cNvSpPr>
          <p:nvPr>
            <p:ph type="title"/>
          </p:nvPr>
        </p:nvSpPr>
        <p:spPr/>
        <p:txBody>
          <a:bodyPr/>
          <a:lstStyle/>
          <a:p>
            <a:pPr eaLnBrk="1" hangingPunct="1"/>
            <a:r>
              <a:rPr altLang="en-US" lang="en-US"/>
              <a:t>Developmental Aspects</a:t>
            </a:r>
          </a:p>
        </p:txBody>
      </p:sp>
      <p:sp>
        <p:nvSpPr>
          <p:cNvPr id="117763" name="Rectangle 5">
            <a:extLst>
              <a:ext uri="{FF2B5EF4-FFF2-40B4-BE49-F238E27FC236}">
                <a16:creationId xmlns:a16="http://schemas.microsoft.com/office/drawing/2014/main" id="{DBF20BBD-1C6A-4B14-BA1A-96ADC12EB21B}"/>
              </a:ext>
            </a:extLst>
          </p:cNvPr>
          <p:cNvSpPr>
            <a:spLocks noChangeArrowheads="1" noGrp="1"/>
          </p:cNvSpPr>
          <p:nvPr>
            <p:ph idx="1" type="body"/>
          </p:nvPr>
        </p:nvSpPr>
        <p:spPr/>
        <p:txBody>
          <a:bodyPr/>
          <a:lstStyle/>
          <a:p>
            <a:pPr eaLnBrk="1" hangingPunct="1"/>
            <a:r>
              <a:rPr altLang="en-US" lang="en-US"/>
              <a:t>Before birth, blood cell formation takes place in the fetal yolk sac, liver, and spleen</a:t>
            </a:r>
          </a:p>
          <a:p>
            <a:pPr eaLnBrk="1" hangingPunct="1"/>
            <a:r>
              <a:rPr altLang="en-US" lang="en-US"/>
              <a:t>By the seventh month, red bone marrow is the primary hematopoietic area</a:t>
            </a:r>
          </a:p>
          <a:p>
            <a:pPr eaLnBrk="1" hangingPunct="1"/>
            <a:r>
              <a:rPr altLang="en-US" lang="en-US"/>
              <a:t>Blood cells develop from mesenchymal cells called blood islands</a:t>
            </a:r>
          </a:p>
          <a:p>
            <a:pPr eaLnBrk="1" hangingPunct="1"/>
            <a:r>
              <a:rPr altLang="en-US" lang="en-US"/>
              <a:t>The fetus forms HbF, which has a higher affinity for oxygen than adult hemoglobin</a:t>
            </a:r>
          </a:p>
        </p:txBody>
      </p:sp>
    </p:spTree>
  </p:cSld>
  <p:clrMapOvr>
    <a:masterClrMapping/>
  </p:clrMapOvr>
  <p:transition/>
</p:sld>
</file>

<file path=ppt/theme/theme1.xml><?xml version="1.0" encoding="utf-8"?>
<a:theme xmlns:a="http://schemas.openxmlformats.org/drawingml/2006/main" name="HAP7">
  <a:themeElements>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AP7">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AP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AP7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AP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AP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AP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AP7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AP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AP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AP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AP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AP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HD:Users:kym:Left Coast Work:HAP7:HAP7.pot</Template>
  <TotalTime>5073</TotalTime>
  <Words>2522</Words>
  <Application>Microsoft Office PowerPoint</Application>
  <PresentationFormat>On-screen Show (4:3)</PresentationFormat>
  <Paragraphs>360</Paragraphs>
  <Slides>68</Slides>
  <Notes>10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68</vt:i4>
      </vt:variant>
    </vt:vector>
  </HeadingPairs>
  <TitlesOfParts>
    <vt:vector size="82" baseType="lpstr">
      <vt:lpstr>MS PGothic</vt:lpstr>
      <vt:lpstr>Arial</vt:lpstr>
      <vt:lpstr>Arial Black</vt:lpstr>
      <vt:lpstr>Calibri</vt:lpstr>
      <vt:lpstr>Chiller</vt:lpstr>
      <vt:lpstr>Courier New</vt:lpstr>
      <vt:lpstr>Helvetica</vt:lpstr>
      <vt:lpstr>Monotype Sorts</vt:lpstr>
      <vt:lpstr>Symbol</vt:lpstr>
      <vt:lpstr>Tahoma</vt:lpstr>
      <vt:lpstr>Times</vt:lpstr>
      <vt:lpstr>Times New Roman</vt:lpstr>
      <vt:lpstr>Wingdings</vt:lpstr>
      <vt:lpstr>HAP7</vt:lpstr>
      <vt:lpstr> Chapter 17  Blood </vt:lpstr>
      <vt:lpstr>Introduction</vt:lpstr>
      <vt:lpstr>Summary of blood components</vt:lpstr>
      <vt:lpstr>Physical Characteristics and Volume</vt:lpstr>
      <vt:lpstr>Functions of Blood</vt:lpstr>
      <vt:lpstr>Distribution</vt:lpstr>
      <vt:lpstr>Regulation</vt:lpstr>
      <vt:lpstr>Protection</vt:lpstr>
      <vt:lpstr>Blood Plasma</vt:lpstr>
      <vt:lpstr>Formed Elements</vt:lpstr>
      <vt:lpstr>Erythrocytes (RBCs)</vt:lpstr>
      <vt:lpstr>Erythrocytes (RBC)</vt:lpstr>
      <vt:lpstr>Components of Whole Blood</vt:lpstr>
      <vt:lpstr>Erythrocytes (RBCs) - descriptions</vt:lpstr>
      <vt:lpstr>Structure of Hemoglobin</vt:lpstr>
      <vt:lpstr>Hemoglobin (Hb)</vt:lpstr>
      <vt:lpstr>Production of Erythrocytes</vt:lpstr>
      <vt:lpstr>Production of Erythrocytes: Erythropoiesis</vt:lpstr>
      <vt:lpstr>Regulation and Requirements for Erythropoiesis</vt:lpstr>
      <vt:lpstr>Erythrocyte Disorders</vt:lpstr>
      <vt:lpstr>Blood Doping</vt:lpstr>
      <vt:lpstr>Hormonal Control of Erythropoiesis</vt:lpstr>
      <vt:lpstr>Fate and Destruction of Erythrocytes</vt:lpstr>
      <vt:lpstr>Process of erythropoiesis</vt:lpstr>
      <vt:lpstr>How RBC’s are removed from circulation</vt:lpstr>
      <vt:lpstr>Erythrocyte Disorders - Anemia</vt:lpstr>
      <vt:lpstr>Anemia: Insufficient Erythrocytes</vt:lpstr>
      <vt:lpstr>Anemia: Decreased Hemoglobin Content</vt:lpstr>
      <vt:lpstr>Erythrocyte Disorders (cont.)</vt:lpstr>
      <vt:lpstr>Erythrocyte Disorders (continued)</vt:lpstr>
      <vt:lpstr>Figure 17.8 Sickle-cell anemia.</vt:lpstr>
      <vt:lpstr>Leukocytes (WBCs)</vt:lpstr>
      <vt:lpstr>Percentages of Leukocytes</vt:lpstr>
      <vt:lpstr>Leukocytes</vt:lpstr>
      <vt:lpstr>Granulocytes</vt:lpstr>
      <vt:lpstr>Agranulocytes</vt:lpstr>
      <vt:lpstr>Inflammation responses are a series of events.</vt:lpstr>
      <vt:lpstr>Summary of Formed Elements</vt:lpstr>
      <vt:lpstr>Summary of Formed Elements (continued)</vt:lpstr>
      <vt:lpstr>Production of Leukocytes</vt:lpstr>
      <vt:lpstr>Blood cell developmental cell lines</vt:lpstr>
      <vt:lpstr>Leukemia</vt:lpstr>
      <vt:lpstr>Leukocyte Disorders (cont.)</vt:lpstr>
      <vt:lpstr>Platelets</vt:lpstr>
      <vt:lpstr>Genesis of Platelets</vt:lpstr>
      <vt:lpstr>Hematopoiesis</vt:lpstr>
      <vt:lpstr>Hemopoietic Growth Factors</vt:lpstr>
      <vt:lpstr>Hemostasis</vt:lpstr>
      <vt:lpstr>Platelet Plug Formation</vt:lpstr>
      <vt:lpstr>Coagulation</vt:lpstr>
      <vt:lpstr>Steps of hemostasis part I</vt:lpstr>
      <vt:lpstr>Steps of hemostasis part II</vt:lpstr>
      <vt:lpstr>Steps of hemostasis part III</vt:lpstr>
      <vt:lpstr>Overview of the Clotting Cascade  </vt:lpstr>
      <vt:lpstr>The two clotting pathways</vt:lpstr>
      <vt:lpstr>Clot Retraction and Repair</vt:lpstr>
      <vt:lpstr>Factors Limiting Clot Growth or Formation</vt:lpstr>
      <vt:lpstr>Hemostatic Control Mechanisms</vt:lpstr>
      <vt:lpstr>Hemostasis Disorders: Thromboembolytic Conditions</vt:lpstr>
      <vt:lpstr>Hemostasis Disorders: Thromboembolytic Conditions (continued)</vt:lpstr>
      <vt:lpstr>Prevention of Undesirable Clots</vt:lpstr>
      <vt:lpstr>Hemostasis Disorders: Bleeding Disorders</vt:lpstr>
      <vt:lpstr>Transfusing Red Blood Cells</vt:lpstr>
      <vt:lpstr>ABO Blood Groups</vt:lpstr>
      <vt:lpstr>Agglutination</vt:lpstr>
      <vt:lpstr>Rh Blood Groups</vt:lpstr>
      <vt:lpstr>Formed elements of the blood</vt:lpstr>
      <vt:lpstr>Developmental Aspects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2002-11-19T06:42:31Z</dcterms:created>
  <dc:creator>Karl Miyajima</dc:creator>
  <cp:lastModifiedBy>Dr. Alexander Cheroske</cp:lastModifiedBy>
  <dcterms:modified xsi:type="dcterms:W3CDTF">2026-01-13T05:46:37Z</dcterms:modified>
  <cp:revision>177</cp:revision>
  <dc:title>29</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ReadingOrderVerifiedPages">
    <vt:lpwstr>2,3,12,15,18,24,28,38,39,50,54,55,61,64,66,67</vt:lpwstr>
  </property>
</Properties>
</file>